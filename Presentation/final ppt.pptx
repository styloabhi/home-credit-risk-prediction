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8" r:id="rId3"/>
    <p:sldId id="260" r:id="rId4"/>
    <p:sldId id="257" r:id="rId5"/>
    <p:sldId id="259" r:id="rId6"/>
    <p:sldId id="261" r:id="rId7"/>
    <p:sldId id="262" r:id="rId8"/>
    <p:sldId id="1558" r:id="rId9"/>
    <p:sldId id="1559" r:id="rId10"/>
    <p:sldId id="264" r:id="rId11"/>
    <p:sldId id="272" r:id="rId12"/>
    <p:sldId id="265" r:id="rId13"/>
    <p:sldId id="266" r:id="rId14"/>
    <p:sldId id="267" r:id="rId15"/>
    <p:sldId id="268" r:id="rId16"/>
    <p:sldId id="269" r:id="rId17"/>
    <p:sldId id="270" r:id="rId18"/>
    <p:sldId id="271" r:id="rId19"/>
    <p:sldId id="274" r:id="rId20"/>
    <p:sldId id="273" r:id="rId21"/>
    <p:sldId id="275" r:id="rId22"/>
    <p:sldId id="1577" r:id="rId23"/>
    <p:sldId id="277" r:id="rId24"/>
    <p:sldId id="1573" r:id="rId25"/>
    <p:sldId id="1574" r:id="rId26"/>
    <p:sldId id="1575" r:id="rId27"/>
    <p:sldId id="1576" r:id="rId28"/>
    <p:sldId id="1578" r:id="rId29"/>
    <p:sldId id="278" r:id="rId30"/>
    <p:sldId id="1579" r:id="rId31"/>
    <p:sldId id="1580" r:id="rId32"/>
    <p:sldId id="279" r:id="rId33"/>
    <p:sldId id="1581" r:id="rId34"/>
    <p:sldId id="280" r:id="rId35"/>
    <p:sldId id="1582" r:id="rId36"/>
    <p:sldId id="1583" r:id="rId37"/>
    <p:sldId id="1584" r:id="rId38"/>
    <p:sldId id="1585" r:id="rId39"/>
    <p:sldId id="281" r:id="rId40"/>
    <p:sldId id="282" r:id="rId41"/>
    <p:sldId id="289" r:id="rId42"/>
    <p:sldId id="1555" r:id="rId43"/>
    <p:sldId id="1556" r:id="rId44"/>
    <p:sldId id="1557" r:id="rId45"/>
    <p:sldId id="1587" r:id="rId46"/>
    <p:sldId id="1592" r:id="rId47"/>
    <p:sldId id="1588" r:id="rId48"/>
    <p:sldId id="1589" r:id="rId49"/>
    <p:sldId id="1590" r:id="rId50"/>
    <p:sldId id="1591" r:id="rId51"/>
    <p:sldId id="1593" r:id="rId52"/>
    <p:sldId id="1594" r:id="rId53"/>
    <p:sldId id="1595" r:id="rId54"/>
    <p:sldId id="1597" r:id="rId55"/>
    <p:sldId id="1598" r:id="rId56"/>
    <p:sldId id="1599" r:id="rId57"/>
    <p:sldId id="1603" r:id="rId58"/>
    <p:sldId id="1604" r:id="rId59"/>
    <p:sldId id="1605" r:id="rId60"/>
    <p:sldId id="1600" r:id="rId61"/>
    <p:sldId id="263" r:id="rId62"/>
    <p:sldId id="1602" r:id="rId63"/>
    <p:sldId id="1622" r:id="rId64"/>
    <p:sldId id="1608" r:id="rId65"/>
    <p:sldId id="1596" r:id="rId66"/>
    <p:sldId id="1612" r:id="rId67"/>
    <p:sldId id="1613" r:id="rId68"/>
    <p:sldId id="1614" r:id="rId69"/>
    <p:sldId id="1624" r:id="rId70"/>
    <p:sldId id="1609" r:id="rId71"/>
    <p:sldId id="1607" r:id="rId72"/>
    <p:sldId id="1615" r:id="rId73"/>
    <p:sldId id="1616" r:id="rId74"/>
    <p:sldId id="1625" r:id="rId75"/>
    <p:sldId id="1610" r:id="rId76"/>
    <p:sldId id="1617" r:id="rId77"/>
    <p:sldId id="1618" r:id="rId78"/>
    <p:sldId id="1619" r:id="rId79"/>
    <p:sldId id="1620" r:id="rId80"/>
    <p:sldId id="1626" r:id="rId81"/>
    <p:sldId id="1627" r:id="rId82"/>
    <p:sldId id="1623" r:id="rId83"/>
    <p:sldId id="1601" r:id="rId84"/>
  </p:sldIdLst>
  <p:sldSz cx="18288000" cy="10287000"/>
  <p:notesSz cx="6858000" cy="9144000"/>
  <p:embeddedFontLst>
    <p:embeddedFont>
      <p:font typeface="Arial Bold" panose="020B0704020202020204" pitchFamily="34" charset="0"/>
      <p:regular r:id="rId85"/>
      <p:bold r:id="rId86"/>
    </p:embeddedFont>
    <p:embeddedFont>
      <p:font typeface="Consolas" panose="020B0609020204030204" pitchFamily="49" charset="0"/>
      <p:regular r:id="rId87"/>
      <p:bold r:id="rId88"/>
      <p:italic r:id="rId89"/>
      <p:boldItalic r:id="rId90"/>
    </p:embeddedFont>
    <p:embeddedFont>
      <p:font typeface="Inter" panose="020B0604020202020204" charset="0"/>
      <p:regular r:id="rId91"/>
    </p:embeddedFont>
    <p:embeddedFont>
      <p:font typeface="Poppins" panose="00000500000000000000" pitchFamily="2" charset="0"/>
      <p:regular r:id="rId92"/>
      <p:bold r:id="rId93"/>
      <p:italic r:id="rId94"/>
      <p:boldItalic r:id="rId95"/>
    </p:embeddedFont>
    <p:embeddedFont>
      <p:font typeface="Poppins Bold" panose="00000800000000000000" charset="0"/>
      <p:regular r:id="rId96"/>
    </p:embeddedFont>
    <p:embeddedFont>
      <p:font typeface="Raleway Bold" panose="020B0604020202020204" charset="0"/>
      <p:regular r:id="rId9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A8A95"/>
    <a:srgbClr val="348E90"/>
    <a:srgbClr val="FAC1A2"/>
    <a:srgbClr val="FF7A5B"/>
    <a:srgbClr val="FF603B"/>
    <a:srgbClr val="FF3300"/>
    <a:srgbClr val="FF967D"/>
    <a:srgbClr val="FFB8A7"/>
    <a:srgbClr val="C5D6CA"/>
    <a:srgbClr val="EEE9E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39" d="100"/>
          <a:sy n="39" d="100"/>
        </p:scale>
        <p:origin x="60" y="101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font" Target="fonts/font5.fntdata"/><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font" Target="fonts/font6.fntdata"/><Relationship Id="rId95" Type="http://schemas.openxmlformats.org/officeDocument/2006/relationships/font" Target="fonts/font11.fntdata"/><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font" Target="fonts/font1.fntdata"/><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font" Target="fonts/font4.fntdata"/><Relationship Id="rId91" Type="http://schemas.openxmlformats.org/officeDocument/2006/relationships/font" Target="fonts/font7.fntdata"/><Relationship Id="rId96"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font" Target="fonts/font2.fntdata"/><Relationship Id="rId94" Type="http://schemas.openxmlformats.org/officeDocument/2006/relationships/font" Target="fonts/font10.fntdata"/><Relationship Id="rId99" Type="http://schemas.openxmlformats.org/officeDocument/2006/relationships/viewProps" Target="viewProps.xml"/><Relationship Id="rId10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font" Target="fonts/font13.fntdata"/><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font" Target="fonts/font8.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font" Target="fonts/font3.fntdata"/><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font" Target="fonts/font9.fntdata"/><Relationship Id="rId98" Type="http://schemas.openxmlformats.org/officeDocument/2006/relationships/presProps" Target="presProps.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5/26/2026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hyperlink" Target="https://whoknowsabout.com/blogpage/hidden-gems-boutiques-and-independent-consultants.html" TargetMode="External"/><Relationship Id="rId2" Type="http://schemas.openxmlformats.org/officeDocument/2006/relationships/hyperlink" Target="https://www.analyticsindiamag.com/top-10-data-scientists-in-india-2015/)" TargetMode="External"/><Relationship Id="rId1" Type="http://schemas.openxmlformats.org/officeDocument/2006/relationships/slideLayout" Target="../slideLayouts/slideLayout7.xml"/><Relationship Id="rId5" Type="http://schemas.openxmlformats.org/officeDocument/2006/relationships/image" Target="../media/image3.jpeg"/><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5E5E5"/>
        </a:solidFill>
        <a:effectLst/>
      </p:bgPr>
    </p:bg>
    <p:spTree>
      <p:nvGrpSpPr>
        <p:cNvPr id="1" name=""/>
        <p:cNvGrpSpPr/>
        <p:nvPr/>
      </p:nvGrpSpPr>
      <p:grpSpPr>
        <a:xfrm>
          <a:off x="0" y="0"/>
          <a:ext cx="0" cy="0"/>
          <a:chOff x="0" y="0"/>
          <a:chExt cx="0" cy="0"/>
        </a:xfrm>
      </p:grpSpPr>
      <p:grpSp>
        <p:nvGrpSpPr>
          <p:cNvPr id="2" name="Group 2"/>
          <p:cNvGrpSpPr/>
          <p:nvPr/>
        </p:nvGrpSpPr>
        <p:grpSpPr>
          <a:xfrm>
            <a:off x="-105" y="0"/>
            <a:ext cx="18288000" cy="9491967"/>
            <a:chOff x="0" y="0"/>
            <a:chExt cx="24384000" cy="12655956"/>
          </a:xfrm>
        </p:grpSpPr>
        <p:sp>
          <p:nvSpPr>
            <p:cNvPr id="3" name="Freeform 3"/>
            <p:cNvSpPr/>
            <p:nvPr/>
          </p:nvSpPr>
          <p:spPr>
            <a:xfrm>
              <a:off x="0" y="0"/>
              <a:ext cx="24384000" cy="12655931"/>
            </a:xfrm>
            <a:custGeom>
              <a:avLst/>
              <a:gdLst/>
              <a:ahLst/>
              <a:cxnLst/>
              <a:rect l="l" t="t" r="r" b="b"/>
              <a:pathLst>
                <a:path w="24384000" h="12655931">
                  <a:moveTo>
                    <a:pt x="0" y="0"/>
                  </a:moveTo>
                  <a:lnTo>
                    <a:pt x="24384000" y="0"/>
                  </a:lnTo>
                  <a:lnTo>
                    <a:pt x="24384000" y="12655931"/>
                  </a:lnTo>
                  <a:lnTo>
                    <a:pt x="0" y="12655931"/>
                  </a:lnTo>
                  <a:close/>
                </a:path>
              </a:pathLst>
            </a:custGeom>
            <a:solidFill>
              <a:srgbClr val="C5D6CA"/>
            </a:solidFill>
          </p:spPr>
          <p:txBody>
            <a:bodyPr/>
            <a:lstStyle/>
            <a:p>
              <a:endParaRPr lang="en-IN"/>
            </a:p>
          </p:txBody>
        </p:sp>
      </p:grpSp>
      <p:grpSp>
        <p:nvGrpSpPr>
          <p:cNvPr id="4" name="Group 4"/>
          <p:cNvGrpSpPr/>
          <p:nvPr/>
        </p:nvGrpSpPr>
        <p:grpSpPr>
          <a:xfrm>
            <a:off x="609600" y="2074943"/>
            <a:ext cx="7637716" cy="6729508"/>
            <a:chOff x="-564568" y="205391"/>
            <a:chExt cx="10183622" cy="8972677"/>
          </a:xfrm>
        </p:grpSpPr>
        <p:sp>
          <p:nvSpPr>
            <p:cNvPr id="5" name="Freeform 5"/>
            <p:cNvSpPr/>
            <p:nvPr/>
          </p:nvSpPr>
          <p:spPr>
            <a:xfrm flipH="1">
              <a:off x="-564568" y="205391"/>
              <a:ext cx="10183622" cy="8972677"/>
            </a:xfrm>
            <a:custGeom>
              <a:avLst/>
              <a:gdLst/>
              <a:ahLst/>
              <a:cxnLst/>
              <a:rect l="l" t="t" r="r" b="b"/>
              <a:pathLst>
                <a:path w="10183622" h="8972677">
                  <a:moveTo>
                    <a:pt x="10183622" y="0"/>
                  </a:moveTo>
                  <a:lnTo>
                    <a:pt x="0" y="0"/>
                  </a:lnTo>
                  <a:lnTo>
                    <a:pt x="0" y="8972677"/>
                  </a:lnTo>
                  <a:lnTo>
                    <a:pt x="10183622" y="8972677"/>
                  </a:lnTo>
                  <a:lnTo>
                    <a:pt x="10183622" y="0"/>
                  </a:lnTo>
                  <a:close/>
                </a:path>
              </a:pathLst>
            </a:custGeom>
            <a:blipFill>
              <a:blip r:embed="rId2"/>
              <a:stretch>
                <a:fillRect r="-5972" b="-4439"/>
              </a:stretch>
            </a:blipFill>
          </p:spPr>
          <p:txBody>
            <a:bodyPr/>
            <a:lstStyle/>
            <a:p>
              <a:endParaRPr lang="en-IN" dirty="0"/>
            </a:p>
          </p:txBody>
        </p:sp>
      </p:grpSp>
      <p:sp>
        <p:nvSpPr>
          <p:cNvPr id="6" name="TextBox 6"/>
          <p:cNvSpPr txBox="1"/>
          <p:nvPr/>
        </p:nvSpPr>
        <p:spPr>
          <a:xfrm>
            <a:off x="9541764" y="2038902"/>
            <a:ext cx="6929123" cy="6621108"/>
          </a:xfrm>
          <a:prstGeom prst="rect">
            <a:avLst/>
          </a:prstGeom>
        </p:spPr>
        <p:txBody>
          <a:bodyPr lIns="0" tIns="0" rIns="0" bIns="0" rtlCol="0" anchor="t">
            <a:spAutoFit/>
          </a:bodyPr>
          <a:lstStyle/>
          <a:p>
            <a:pPr algn="ctr">
              <a:lnSpc>
                <a:spcPts val="4253"/>
              </a:lnSpc>
            </a:pPr>
            <a:r>
              <a:rPr lang="en-US" sz="4500" b="1" dirty="0"/>
              <a:t>Data-Driven Credit Risk Analysis &amp; Loan Default Prediction</a:t>
            </a:r>
          </a:p>
          <a:p>
            <a:pPr algn="ctr">
              <a:lnSpc>
                <a:spcPts val="4253"/>
              </a:lnSpc>
            </a:pPr>
            <a:endParaRPr lang="en-US" sz="3544" b="1" dirty="0">
              <a:solidFill>
                <a:srgbClr val="14293C"/>
              </a:solidFill>
              <a:latin typeface="Poppins Bold"/>
              <a:ea typeface="Poppins Bold"/>
              <a:cs typeface="Poppins Bold"/>
              <a:sym typeface="Poppins Bold"/>
            </a:endParaRPr>
          </a:p>
          <a:p>
            <a:pPr algn="ctr">
              <a:lnSpc>
                <a:spcPts val="4253"/>
              </a:lnSpc>
            </a:pPr>
            <a:endParaRPr lang="en-US" sz="3544" b="1" dirty="0">
              <a:solidFill>
                <a:srgbClr val="14293C"/>
              </a:solidFill>
              <a:latin typeface="Poppins Bold"/>
              <a:ea typeface="Poppins Bold"/>
              <a:cs typeface="Poppins Bold"/>
              <a:sym typeface="Poppins Bold"/>
            </a:endParaRPr>
          </a:p>
          <a:p>
            <a:pPr algn="ctr">
              <a:lnSpc>
                <a:spcPts val="4253"/>
              </a:lnSpc>
            </a:pPr>
            <a:r>
              <a:rPr lang="en-US" sz="3600" dirty="0"/>
              <a:t>Understanding customer credit behavior using multi-table financial and behavioral data.</a:t>
            </a:r>
            <a:endParaRPr lang="en-US" sz="3544" b="1" dirty="0">
              <a:solidFill>
                <a:srgbClr val="14293C"/>
              </a:solidFill>
              <a:latin typeface="Poppins Bold"/>
              <a:ea typeface="Poppins Bold"/>
              <a:cs typeface="Poppins Bold"/>
              <a:sym typeface="Poppins Bold"/>
            </a:endParaRPr>
          </a:p>
          <a:p>
            <a:pPr algn="ctr">
              <a:lnSpc>
                <a:spcPts val="4253"/>
              </a:lnSpc>
            </a:pPr>
            <a:endParaRPr lang="en-US" sz="3544" b="1" dirty="0">
              <a:solidFill>
                <a:srgbClr val="14293C"/>
              </a:solidFill>
              <a:latin typeface="Poppins Bold"/>
              <a:ea typeface="Poppins Bold"/>
              <a:cs typeface="Poppins Bold"/>
              <a:sym typeface="Poppins Bold"/>
            </a:endParaRPr>
          </a:p>
          <a:p>
            <a:pPr algn="ctr">
              <a:lnSpc>
                <a:spcPts val="4253"/>
              </a:lnSpc>
            </a:pPr>
            <a:endParaRPr lang="en-US" sz="3544" b="1" dirty="0">
              <a:solidFill>
                <a:srgbClr val="14293C"/>
              </a:solidFill>
              <a:latin typeface="Poppins Bold"/>
              <a:ea typeface="Poppins Bold"/>
              <a:cs typeface="Poppins Bold"/>
              <a:sym typeface="Poppins Bold"/>
            </a:endParaRPr>
          </a:p>
          <a:p>
            <a:pPr algn="ctr">
              <a:lnSpc>
                <a:spcPts val="4253"/>
              </a:lnSpc>
            </a:pPr>
            <a:r>
              <a:rPr lang="en-US" sz="4000" b="1" dirty="0"/>
              <a:t>Presented By:</a:t>
            </a:r>
            <a:r>
              <a:rPr lang="en-US" sz="4000" dirty="0"/>
              <a:t> Abhishek Kumar Pandey</a:t>
            </a:r>
            <a:endParaRPr lang="en-US" sz="3544" dirty="0">
              <a:solidFill>
                <a:srgbClr val="14293C"/>
              </a:solidFill>
              <a:latin typeface="Poppins"/>
              <a:ea typeface="Poppins"/>
              <a:cs typeface="Poppins"/>
              <a:sym typeface="Poppins"/>
            </a:endParaRPr>
          </a:p>
        </p:txBody>
      </p:sp>
      <p:grpSp>
        <p:nvGrpSpPr>
          <p:cNvPr id="7" name="Group 7"/>
          <p:cNvGrpSpPr/>
          <p:nvPr/>
        </p:nvGrpSpPr>
        <p:grpSpPr>
          <a:xfrm>
            <a:off x="0" y="9497082"/>
            <a:ext cx="18292543" cy="787203"/>
            <a:chOff x="0" y="0"/>
            <a:chExt cx="24390058" cy="1049604"/>
          </a:xfrm>
        </p:grpSpPr>
        <p:sp>
          <p:nvSpPr>
            <p:cNvPr id="8" name="Freeform 8"/>
            <p:cNvSpPr/>
            <p:nvPr/>
          </p:nvSpPr>
          <p:spPr>
            <a:xfrm>
              <a:off x="0" y="0"/>
              <a:ext cx="24390096" cy="1049655"/>
            </a:xfrm>
            <a:custGeom>
              <a:avLst/>
              <a:gdLst/>
              <a:ahLst/>
              <a:cxnLst/>
              <a:rect l="l" t="t" r="r" b="b"/>
              <a:pathLst>
                <a:path w="24390096" h="1049655">
                  <a:moveTo>
                    <a:pt x="0" y="0"/>
                  </a:moveTo>
                  <a:lnTo>
                    <a:pt x="24390096" y="0"/>
                  </a:lnTo>
                  <a:lnTo>
                    <a:pt x="24390096" y="1049655"/>
                  </a:lnTo>
                  <a:lnTo>
                    <a:pt x="0" y="1049655"/>
                  </a:lnTo>
                  <a:close/>
                </a:path>
              </a:pathLst>
            </a:custGeom>
            <a:solidFill>
              <a:srgbClr val="348E90"/>
            </a:solidFill>
          </p:spPr>
          <p:txBody>
            <a:bodyPr/>
            <a:lstStyle/>
            <a:p>
              <a:endParaRPr lang="en-IN"/>
            </a:p>
          </p:txBody>
        </p:sp>
      </p:grpSp>
      <p:grpSp>
        <p:nvGrpSpPr>
          <p:cNvPr id="9" name="Group 9"/>
          <p:cNvGrpSpPr/>
          <p:nvPr/>
        </p:nvGrpSpPr>
        <p:grpSpPr>
          <a:xfrm>
            <a:off x="0" y="0"/>
            <a:ext cx="18292543" cy="787203"/>
            <a:chOff x="0" y="0"/>
            <a:chExt cx="24390058" cy="1049604"/>
          </a:xfrm>
        </p:grpSpPr>
        <p:sp>
          <p:nvSpPr>
            <p:cNvPr id="10" name="Freeform 10"/>
            <p:cNvSpPr/>
            <p:nvPr/>
          </p:nvSpPr>
          <p:spPr>
            <a:xfrm>
              <a:off x="0" y="0"/>
              <a:ext cx="24390096" cy="1049655"/>
            </a:xfrm>
            <a:custGeom>
              <a:avLst/>
              <a:gdLst/>
              <a:ahLst/>
              <a:cxnLst/>
              <a:rect l="l" t="t" r="r" b="b"/>
              <a:pathLst>
                <a:path w="24390096" h="1049655">
                  <a:moveTo>
                    <a:pt x="0" y="0"/>
                  </a:moveTo>
                  <a:lnTo>
                    <a:pt x="24390096" y="0"/>
                  </a:lnTo>
                  <a:lnTo>
                    <a:pt x="24390096" y="1049655"/>
                  </a:lnTo>
                  <a:lnTo>
                    <a:pt x="0" y="1049655"/>
                  </a:lnTo>
                  <a:close/>
                </a:path>
              </a:pathLst>
            </a:custGeom>
            <a:solidFill>
              <a:srgbClr val="348E90"/>
            </a:solidFill>
          </p:spPr>
          <p:txBody>
            <a:bodyPr/>
            <a:lstStyle/>
            <a:p>
              <a:endParaRPr lang="en-IN"/>
            </a:p>
          </p:txBody>
        </p:sp>
      </p:grpSp>
      <p:sp>
        <p:nvSpPr>
          <p:cNvPr id="11" name="Rectangle 10">
            <a:extLst>
              <a:ext uri="{FF2B5EF4-FFF2-40B4-BE49-F238E27FC236}">
                <a16:creationId xmlns:a16="http://schemas.microsoft.com/office/drawing/2014/main" id="{9A700C59-869F-2612-4843-1ABE15D32F34}"/>
              </a:ext>
            </a:extLst>
          </p:cNvPr>
          <p:cNvSpPr/>
          <p:nvPr/>
        </p:nvSpPr>
        <p:spPr>
          <a:xfrm>
            <a:off x="15544800" y="0"/>
            <a:ext cx="1143000" cy="1823056"/>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497082"/>
            <a:ext cx="18292543" cy="787203"/>
            <a:chOff x="0" y="0"/>
            <a:chExt cx="24390058" cy="1049604"/>
          </a:xfrm>
        </p:grpSpPr>
        <p:sp>
          <p:nvSpPr>
            <p:cNvPr id="3" name="Freeform 3"/>
            <p:cNvSpPr/>
            <p:nvPr/>
          </p:nvSpPr>
          <p:spPr>
            <a:xfrm>
              <a:off x="0" y="0"/>
              <a:ext cx="24390096" cy="1049655"/>
            </a:xfrm>
            <a:custGeom>
              <a:avLst/>
              <a:gdLst/>
              <a:ahLst/>
              <a:cxnLst/>
              <a:rect l="l" t="t" r="r" b="b"/>
              <a:pathLst>
                <a:path w="24390096" h="1049655">
                  <a:moveTo>
                    <a:pt x="0" y="0"/>
                  </a:moveTo>
                  <a:lnTo>
                    <a:pt x="24390096" y="0"/>
                  </a:lnTo>
                  <a:lnTo>
                    <a:pt x="24390096" y="1049655"/>
                  </a:lnTo>
                  <a:lnTo>
                    <a:pt x="0" y="1049655"/>
                  </a:lnTo>
                  <a:close/>
                </a:path>
              </a:pathLst>
            </a:custGeom>
            <a:solidFill>
              <a:srgbClr val="348E90"/>
            </a:solidFill>
          </p:spPr>
          <p:txBody>
            <a:bodyPr/>
            <a:lstStyle/>
            <a:p>
              <a:endParaRPr lang="en-IN"/>
            </a:p>
          </p:txBody>
        </p:sp>
      </p:grpSp>
      <p:grpSp>
        <p:nvGrpSpPr>
          <p:cNvPr id="4" name="Group 4"/>
          <p:cNvGrpSpPr/>
          <p:nvPr/>
        </p:nvGrpSpPr>
        <p:grpSpPr>
          <a:xfrm>
            <a:off x="242973" y="1258929"/>
            <a:ext cx="3910298" cy="8140665"/>
            <a:chOff x="0" y="0"/>
            <a:chExt cx="5213731" cy="10854220"/>
          </a:xfrm>
        </p:grpSpPr>
        <p:sp>
          <p:nvSpPr>
            <p:cNvPr id="5" name="Freeform 5"/>
            <p:cNvSpPr/>
            <p:nvPr/>
          </p:nvSpPr>
          <p:spPr>
            <a:xfrm>
              <a:off x="0" y="0"/>
              <a:ext cx="5213731" cy="10854182"/>
            </a:xfrm>
            <a:custGeom>
              <a:avLst/>
              <a:gdLst/>
              <a:ahLst/>
              <a:cxnLst/>
              <a:rect l="l" t="t" r="r" b="b"/>
              <a:pathLst>
                <a:path w="5213731" h="10854182">
                  <a:moveTo>
                    <a:pt x="0" y="0"/>
                  </a:moveTo>
                  <a:lnTo>
                    <a:pt x="5213731" y="0"/>
                  </a:lnTo>
                  <a:lnTo>
                    <a:pt x="5213731" y="10854182"/>
                  </a:lnTo>
                  <a:lnTo>
                    <a:pt x="0" y="10854182"/>
                  </a:lnTo>
                  <a:close/>
                </a:path>
              </a:pathLst>
            </a:custGeom>
            <a:solidFill>
              <a:srgbClr val="EAEAEA"/>
            </a:solidFill>
          </p:spPr>
          <p:txBody>
            <a:bodyPr/>
            <a:lstStyle/>
            <a:p>
              <a:endParaRPr lang="en-IN"/>
            </a:p>
          </p:txBody>
        </p:sp>
      </p:grpSp>
      <p:grpSp>
        <p:nvGrpSpPr>
          <p:cNvPr id="6" name="Group 6"/>
          <p:cNvGrpSpPr/>
          <p:nvPr/>
        </p:nvGrpSpPr>
        <p:grpSpPr>
          <a:xfrm>
            <a:off x="4318930" y="2189340"/>
            <a:ext cx="13943436" cy="6280128"/>
            <a:chOff x="0" y="0"/>
            <a:chExt cx="18591248" cy="8373504"/>
          </a:xfrm>
        </p:grpSpPr>
        <p:sp>
          <p:nvSpPr>
            <p:cNvPr id="7" name="Freeform 7"/>
            <p:cNvSpPr/>
            <p:nvPr/>
          </p:nvSpPr>
          <p:spPr>
            <a:xfrm>
              <a:off x="19202" y="19050"/>
              <a:ext cx="18552883" cy="8335391"/>
            </a:xfrm>
            <a:custGeom>
              <a:avLst/>
              <a:gdLst/>
              <a:ahLst/>
              <a:cxnLst/>
              <a:rect l="l" t="t" r="r" b="b"/>
              <a:pathLst>
                <a:path w="18552883" h="8335391">
                  <a:moveTo>
                    <a:pt x="0" y="0"/>
                  </a:moveTo>
                  <a:lnTo>
                    <a:pt x="18552883" y="0"/>
                  </a:lnTo>
                  <a:lnTo>
                    <a:pt x="18552883" y="8335391"/>
                  </a:lnTo>
                  <a:lnTo>
                    <a:pt x="0" y="8335391"/>
                  </a:lnTo>
                  <a:close/>
                </a:path>
              </a:pathLst>
            </a:custGeom>
            <a:solidFill>
              <a:srgbClr val="FFFFFF"/>
            </a:solidFill>
          </p:spPr>
          <p:txBody>
            <a:bodyPr/>
            <a:lstStyle/>
            <a:p>
              <a:endParaRPr lang="en-IN"/>
            </a:p>
          </p:txBody>
        </p:sp>
        <p:sp>
          <p:nvSpPr>
            <p:cNvPr id="8" name="Freeform 8"/>
            <p:cNvSpPr/>
            <p:nvPr/>
          </p:nvSpPr>
          <p:spPr>
            <a:xfrm>
              <a:off x="0" y="0"/>
              <a:ext cx="18591285" cy="8373491"/>
            </a:xfrm>
            <a:custGeom>
              <a:avLst/>
              <a:gdLst/>
              <a:ahLst/>
              <a:cxnLst/>
              <a:rect l="l" t="t" r="r" b="b"/>
              <a:pathLst>
                <a:path w="18591285" h="8373491">
                  <a:moveTo>
                    <a:pt x="19202" y="0"/>
                  </a:moveTo>
                  <a:lnTo>
                    <a:pt x="18572085" y="0"/>
                  </a:lnTo>
                  <a:cubicBezTo>
                    <a:pt x="18582709" y="0"/>
                    <a:pt x="18591285" y="8509"/>
                    <a:pt x="18591285" y="19050"/>
                  </a:cubicBezTo>
                  <a:lnTo>
                    <a:pt x="18591285" y="8354441"/>
                  </a:lnTo>
                  <a:cubicBezTo>
                    <a:pt x="18591285" y="8364982"/>
                    <a:pt x="18582709" y="8373491"/>
                    <a:pt x="18572085" y="8373491"/>
                  </a:cubicBezTo>
                  <a:lnTo>
                    <a:pt x="19202" y="8373491"/>
                  </a:lnTo>
                  <a:cubicBezTo>
                    <a:pt x="8577" y="8373491"/>
                    <a:pt x="0" y="8364982"/>
                    <a:pt x="0" y="8354441"/>
                  </a:cubicBezTo>
                  <a:lnTo>
                    <a:pt x="0" y="19050"/>
                  </a:lnTo>
                  <a:cubicBezTo>
                    <a:pt x="0" y="8509"/>
                    <a:pt x="8577" y="0"/>
                    <a:pt x="19202" y="0"/>
                  </a:cubicBezTo>
                  <a:moveTo>
                    <a:pt x="19202" y="38100"/>
                  </a:moveTo>
                  <a:lnTo>
                    <a:pt x="19202" y="19050"/>
                  </a:lnTo>
                  <a:lnTo>
                    <a:pt x="38403" y="19050"/>
                  </a:lnTo>
                  <a:lnTo>
                    <a:pt x="38403" y="8354441"/>
                  </a:lnTo>
                  <a:lnTo>
                    <a:pt x="19202" y="8354441"/>
                  </a:lnTo>
                  <a:lnTo>
                    <a:pt x="19202" y="8335391"/>
                  </a:lnTo>
                  <a:lnTo>
                    <a:pt x="18572085" y="8335391"/>
                  </a:lnTo>
                  <a:lnTo>
                    <a:pt x="18572085" y="8354441"/>
                  </a:lnTo>
                  <a:lnTo>
                    <a:pt x="18552883" y="8354441"/>
                  </a:lnTo>
                  <a:lnTo>
                    <a:pt x="18552883" y="19050"/>
                  </a:lnTo>
                  <a:lnTo>
                    <a:pt x="18572085" y="19050"/>
                  </a:lnTo>
                  <a:lnTo>
                    <a:pt x="18572085" y="38100"/>
                  </a:lnTo>
                  <a:lnTo>
                    <a:pt x="19202" y="38100"/>
                  </a:lnTo>
                  <a:close/>
                </a:path>
              </a:pathLst>
            </a:custGeom>
            <a:solidFill>
              <a:srgbClr val="DDDDDD"/>
            </a:solidFill>
          </p:spPr>
          <p:txBody>
            <a:bodyPr/>
            <a:lstStyle/>
            <a:p>
              <a:endParaRPr lang="en-IN"/>
            </a:p>
          </p:txBody>
        </p:sp>
      </p:grpSp>
      <p:grpSp>
        <p:nvGrpSpPr>
          <p:cNvPr id="9" name="Group 9"/>
          <p:cNvGrpSpPr/>
          <p:nvPr/>
        </p:nvGrpSpPr>
        <p:grpSpPr>
          <a:xfrm>
            <a:off x="4306948" y="8992476"/>
            <a:ext cx="13981052" cy="551250"/>
            <a:chOff x="0" y="0"/>
            <a:chExt cx="18641403" cy="735000"/>
          </a:xfrm>
        </p:grpSpPr>
        <p:sp>
          <p:nvSpPr>
            <p:cNvPr id="10" name="Freeform 10"/>
            <p:cNvSpPr/>
            <p:nvPr/>
          </p:nvSpPr>
          <p:spPr>
            <a:xfrm>
              <a:off x="19237" y="19050"/>
              <a:ext cx="18602992" cy="696849"/>
            </a:xfrm>
            <a:custGeom>
              <a:avLst/>
              <a:gdLst/>
              <a:ahLst/>
              <a:cxnLst/>
              <a:rect l="l" t="t" r="r" b="b"/>
              <a:pathLst>
                <a:path w="18602992" h="696849">
                  <a:moveTo>
                    <a:pt x="0" y="0"/>
                  </a:moveTo>
                  <a:lnTo>
                    <a:pt x="18602992" y="0"/>
                  </a:lnTo>
                  <a:lnTo>
                    <a:pt x="18602992" y="696849"/>
                  </a:lnTo>
                  <a:lnTo>
                    <a:pt x="0" y="696849"/>
                  </a:lnTo>
                  <a:close/>
                </a:path>
              </a:pathLst>
            </a:custGeom>
            <a:solidFill>
              <a:srgbClr val="FFFFFF"/>
            </a:solidFill>
          </p:spPr>
          <p:txBody>
            <a:bodyPr/>
            <a:lstStyle/>
            <a:p>
              <a:endParaRPr lang="en-IN"/>
            </a:p>
          </p:txBody>
        </p:sp>
        <p:sp>
          <p:nvSpPr>
            <p:cNvPr id="11" name="Freeform 11"/>
            <p:cNvSpPr/>
            <p:nvPr/>
          </p:nvSpPr>
          <p:spPr>
            <a:xfrm>
              <a:off x="0" y="0"/>
              <a:ext cx="18641465" cy="734949"/>
            </a:xfrm>
            <a:custGeom>
              <a:avLst/>
              <a:gdLst/>
              <a:ahLst/>
              <a:cxnLst/>
              <a:rect l="l" t="t" r="r" b="b"/>
              <a:pathLst>
                <a:path w="18641465" h="734949">
                  <a:moveTo>
                    <a:pt x="19237" y="0"/>
                  </a:moveTo>
                  <a:lnTo>
                    <a:pt x="18622229" y="0"/>
                  </a:lnTo>
                  <a:cubicBezTo>
                    <a:pt x="18632874" y="0"/>
                    <a:pt x="18641465" y="8509"/>
                    <a:pt x="18641465" y="19050"/>
                  </a:cubicBezTo>
                  <a:lnTo>
                    <a:pt x="18641465" y="715899"/>
                  </a:lnTo>
                  <a:cubicBezTo>
                    <a:pt x="18641465" y="726440"/>
                    <a:pt x="18632874" y="734949"/>
                    <a:pt x="18622229" y="734949"/>
                  </a:cubicBezTo>
                  <a:lnTo>
                    <a:pt x="19237" y="734949"/>
                  </a:lnTo>
                  <a:cubicBezTo>
                    <a:pt x="8592" y="734949"/>
                    <a:pt x="0" y="726440"/>
                    <a:pt x="0" y="715899"/>
                  </a:cubicBezTo>
                  <a:lnTo>
                    <a:pt x="0" y="19050"/>
                  </a:lnTo>
                  <a:cubicBezTo>
                    <a:pt x="0" y="8509"/>
                    <a:pt x="8592" y="0"/>
                    <a:pt x="19237" y="0"/>
                  </a:cubicBezTo>
                  <a:moveTo>
                    <a:pt x="19237" y="38100"/>
                  </a:moveTo>
                  <a:lnTo>
                    <a:pt x="19237" y="19050"/>
                  </a:lnTo>
                  <a:lnTo>
                    <a:pt x="38474" y="19050"/>
                  </a:lnTo>
                  <a:lnTo>
                    <a:pt x="38474" y="715899"/>
                  </a:lnTo>
                  <a:lnTo>
                    <a:pt x="19237" y="715899"/>
                  </a:lnTo>
                  <a:lnTo>
                    <a:pt x="19237" y="696849"/>
                  </a:lnTo>
                  <a:lnTo>
                    <a:pt x="18622229" y="696849"/>
                  </a:lnTo>
                  <a:lnTo>
                    <a:pt x="18622229" y="715899"/>
                  </a:lnTo>
                  <a:lnTo>
                    <a:pt x="18602993" y="715899"/>
                  </a:lnTo>
                  <a:lnTo>
                    <a:pt x="18602993" y="19050"/>
                  </a:lnTo>
                  <a:lnTo>
                    <a:pt x="18622229" y="19050"/>
                  </a:lnTo>
                  <a:lnTo>
                    <a:pt x="18622229" y="38100"/>
                  </a:lnTo>
                  <a:lnTo>
                    <a:pt x="19237" y="38100"/>
                  </a:lnTo>
                  <a:close/>
                </a:path>
              </a:pathLst>
            </a:custGeom>
            <a:solidFill>
              <a:srgbClr val="DDDDDD"/>
            </a:solidFill>
          </p:spPr>
          <p:txBody>
            <a:bodyPr/>
            <a:lstStyle/>
            <a:p>
              <a:endParaRPr lang="en-IN"/>
            </a:p>
          </p:txBody>
        </p:sp>
      </p:grpSp>
      <p:grpSp>
        <p:nvGrpSpPr>
          <p:cNvPr id="12" name="Group 12"/>
          <p:cNvGrpSpPr/>
          <p:nvPr/>
        </p:nvGrpSpPr>
        <p:grpSpPr>
          <a:xfrm>
            <a:off x="4318930" y="8447214"/>
            <a:ext cx="13969070" cy="542581"/>
            <a:chOff x="0" y="0"/>
            <a:chExt cx="18625427" cy="723441"/>
          </a:xfrm>
        </p:grpSpPr>
        <p:sp>
          <p:nvSpPr>
            <p:cNvPr id="13" name="Freeform 13"/>
            <p:cNvSpPr/>
            <p:nvPr/>
          </p:nvSpPr>
          <p:spPr>
            <a:xfrm>
              <a:off x="0" y="0"/>
              <a:ext cx="18625465" cy="723427"/>
            </a:xfrm>
            <a:custGeom>
              <a:avLst/>
              <a:gdLst/>
              <a:ahLst/>
              <a:cxnLst/>
              <a:rect l="l" t="t" r="r" b="b"/>
              <a:pathLst>
                <a:path w="18625465" h="723427">
                  <a:moveTo>
                    <a:pt x="0" y="0"/>
                  </a:moveTo>
                  <a:lnTo>
                    <a:pt x="18625465" y="0"/>
                  </a:lnTo>
                  <a:lnTo>
                    <a:pt x="18625465" y="723427"/>
                  </a:lnTo>
                  <a:lnTo>
                    <a:pt x="0" y="723427"/>
                  </a:lnTo>
                  <a:close/>
                </a:path>
              </a:pathLst>
            </a:custGeom>
            <a:solidFill>
              <a:srgbClr val="969696"/>
            </a:solidFill>
          </p:spPr>
          <p:txBody>
            <a:bodyPr/>
            <a:lstStyle/>
            <a:p>
              <a:endParaRPr lang="en-IN"/>
            </a:p>
          </p:txBody>
        </p:sp>
        <p:sp>
          <p:nvSpPr>
            <p:cNvPr id="14" name="TextBox 14"/>
            <p:cNvSpPr txBox="1"/>
            <p:nvPr/>
          </p:nvSpPr>
          <p:spPr>
            <a:xfrm>
              <a:off x="0" y="-19050"/>
              <a:ext cx="18625427" cy="742491"/>
            </a:xfrm>
            <a:prstGeom prst="rect">
              <a:avLst/>
            </a:prstGeom>
          </p:spPr>
          <p:txBody>
            <a:bodyPr lIns="50800" tIns="50800" rIns="50800" bIns="50800" rtlCol="0" anchor="ctr"/>
            <a:lstStyle/>
            <a:p>
              <a:pPr algn="l">
                <a:lnSpc>
                  <a:spcPts val="2700"/>
                </a:lnSpc>
              </a:pPr>
              <a:r>
                <a:rPr lang="en-US" sz="2250" b="1">
                  <a:solidFill>
                    <a:srgbClr val="000000"/>
                  </a:solidFill>
                  <a:latin typeface="Arial Bold"/>
                  <a:ea typeface="Arial Bold"/>
                  <a:cs typeface="Arial Bold"/>
                  <a:sym typeface="Arial Bold"/>
                </a:rPr>
                <a:t>Academic Credentials</a:t>
              </a:r>
            </a:p>
          </p:txBody>
        </p:sp>
      </p:grpSp>
      <p:sp>
        <p:nvSpPr>
          <p:cNvPr id="15" name="TextBox 15"/>
          <p:cNvSpPr txBox="1"/>
          <p:nvPr/>
        </p:nvSpPr>
        <p:spPr>
          <a:xfrm>
            <a:off x="4134145" y="8989794"/>
            <a:ext cx="13577621" cy="654492"/>
          </a:xfrm>
          <a:prstGeom prst="rect">
            <a:avLst/>
          </a:prstGeom>
        </p:spPr>
        <p:txBody>
          <a:bodyPr lIns="0" tIns="0" rIns="0" bIns="0" rtlCol="0" anchor="t">
            <a:spAutoFit/>
          </a:bodyPr>
          <a:lstStyle/>
          <a:p>
            <a:pPr marL="392354" lvl="2" indent="-130785" algn="l">
              <a:lnSpc>
                <a:spcPts val="2585"/>
              </a:lnSpc>
              <a:buFont typeface="Arial"/>
              <a:buChar char="⚬"/>
            </a:pPr>
            <a:r>
              <a:rPr lang="en-US" sz="2154">
                <a:solidFill>
                  <a:srgbClr val="000000"/>
                </a:solidFill>
                <a:latin typeface="Arial"/>
                <a:ea typeface="Arial"/>
                <a:cs typeface="Arial"/>
                <a:sym typeface="Arial"/>
              </a:rPr>
              <a:t>Master of Science(Mathematics/Statistics): IIT-Madras, Chennai</a:t>
            </a:r>
          </a:p>
          <a:p>
            <a:pPr marL="392354" lvl="2" indent="-130785" algn="l">
              <a:lnSpc>
                <a:spcPts val="2585"/>
              </a:lnSpc>
            </a:pPr>
            <a:endParaRPr lang="en-US" sz="2154">
              <a:solidFill>
                <a:srgbClr val="000000"/>
              </a:solidFill>
              <a:latin typeface="Arial"/>
              <a:ea typeface="Arial"/>
              <a:cs typeface="Arial"/>
              <a:sym typeface="Arial"/>
            </a:endParaRPr>
          </a:p>
        </p:txBody>
      </p:sp>
      <p:grpSp>
        <p:nvGrpSpPr>
          <p:cNvPr id="16" name="Group 16"/>
          <p:cNvGrpSpPr/>
          <p:nvPr/>
        </p:nvGrpSpPr>
        <p:grpSpPr>
          <a:xfrm>
            <a:off x="4343508" y="2158523"/>
            <a:ext cx="13886590" cy="542581"/>
            <a:chOff x="0" y="0"/>
            <a:chExt cx="18515453" cy="723441"/>
          </a:xfrm>
        </p:grpSpPr>
        <p:sp>
          <p:nvSpPr>
            <p:cNvPr id="17" name="Freeform 17"/>
            <p:cNvSpPr/>
            <p:nvPr/>
          </p:nvSpPr>
          <p:spPr>
            <a:xfrm>
              <a:off x="0" y="0"/>
              <a:ext cx="18515504" cy="723427"/>
            </a:xfrm>
            <a:custGeom>
              <a:avLst/>
              <a:gdLst/>
              <a:ahLst/>
              <a:cxnLst/>
              <a:rect l="l" t="t" r="r" b="b"/>
              <a:pathLst>
                <a:path w="18515504" h="723427">
                  <a:moveTo>
                    <a:pt x="0" y="0"/>
                  </a:moveTo>
                  <a:lnTo>
                    <a:pt x="18515504" y="0"/>
                  </a:lnTo>
                  <a:lnTo>
                    <a:pt x="18515504" y="723427"/>
                  </a:lnTo>
                  <a:lnTo>
                    <a:pt x="0" y="723427"/>
                  </a:lnTo>
                  <a:close/>
                </a:path>
              </a:pathLst>
            </a:custGeom>
            <a:solidFill>
              <a:srgbClr val="969696"/>
            </a:solidFill>
          </p:spPr>
          <p:txBody>
            <a:bodyPr/>
            <a:lstStyle/>
            <a:p>
              <a:endParaRPr lang="en-IN"/>
            </a:p>
          </p:txBody>
        </p:sp>
        <p:sp>
          <p:nvSpPr>
            <p:cNvPr id="18" name="TextBox 18"/>
            <p:cNvSpPr txBox="1"/>
            <p:nvPr/>
          </p:nvSpPr>
          <p:spPr>
            <a:xfrm>
              <a:off x="0" y="-19050"/>
              <a:ext cx="18515453" cy="742491"/>
            </a:xfrm>
            <a:prstGeom prst="rect">
              <a:avLst/>
            </a:prstGeom>
          </p:spPr>
          <p:txBody>
            <a:bodyPr lIns="50800" tIns="50800" rIns="50800" bIns="50800" rtlCol="0" anchor="b"/>
            <a:lstStyle/>
            <a:p>
              <a:pPr algn="l">
                <a:lnSpc>
                  <a:spcPts val="2700"/>
                </a:lnSpc>
              </a:pPr>
              <a:r>
                <a:rPr lang="en-US" sz="2250" b="1">
                  <a:solidFill>
                    <a:srgbClr val="000000"/>
                  </a:solidFill>
                  <a:latin typeface="Arial Bold"/>
                  <a:ea typeface="Arial Bold"/>
                  <a:cs typeface="Arial Bold"/>
                  <a:sym typeface="Arial Bold"/>
                </a:rPr>
                <a:t>Professional Experience</a:t>
              </a:r>
            </a:p>
          </p:txBody>
        </p:sp>
      </p:grpSp>
      <p:sp>
        <p:nvSpPr>
          <p:cNvPr id="19" name="TextBox 19"/>
          <p:cNvSpPr txBox="1"/>
          <p:nvPr/>
        </p:nvSpPr>
        <p:spPr>
          <a:xfrm>
            <a:off x="4401410" y="2688374"/>
            <a:ext cx="12338569" cy="5774358"/>
          </a:xfrm>
          <a:prstGeom prst="rect">
            <a:avLst/>
          </a:prstGeom>
        </p:spPr>
        <p:txBody>
          <a:bodyPr lIns="0" tIns="0" rIns="0" bIns="0" rtlCol="0" anchor="t">
            <a:spAutoFit/>
          </a:bodyPr>
          <a:lstStyle/>
          <a:p>
            <a:pPr marL="314769" lvl="2" indent="-104923" algn="l">
              <a:lnSpc>
                <a:spcPts val="2073"/>
              </a:lnSpc>
              <a:buFont typeface="Arial"/>
              <a:buChar char="⚬"/>
            </a:pPr>
            <a:r>
              <a:rPr lang="en-US" sz="1727">
                <a:solidFill>
                  <a:srgbClr val="000000"/>
                </a:solidFill>
                <a:latin typeface="Arial"/>
                <a:ea typeface="Arial"/>
                <a:cs typeface="Arial"/>
                <a:sym typeface="Arial"/>
              </a:rPr>
              <a:t>- Worked on Marketing Analytics(CSI, CLM &amp; Pricing), Risk Analytics(Credit Risk), Operation Analytics, and Digital Analytics with a focus on Retail/E-Commerce, Banking, Insurance, Telecom, and Media clients in Asia, Australia, Europe, and the US</a:t>
            </a:r>
          </a:p>
          <a:p>
            <a:pPr marL="314769" lvl="2" indent="-104923" algn="l">
              <a:lnSpc>
                <a:spcPts val="2073"/>
              </a:lnSpc>
            </a:pPr>
            <a:endParaRPr lang="en-US" sz="1727">
              <a:solidFill>
                <a:srgbClr val="000000"/>
              </a:solidFill>
              <a:latin typeface="Arial"/>
              <a:ea typeface="Arial"/>
              <a:cs typeface="Arial"/>
              <a:sym typeface="Arial"/>
            </a:endParaRPr>
          </a:p>
          <a:p>
            <a:pPr marL="314769" lvl="2" indent="-104923" algn="l">
              <a:lnSpc>
                <a:spcPts val="2073"/>
              </a:lnSpc>
              <a:buFont typeface="Arial"/>
              <a:buChar char="⚬"/>
            </a:pPr>
            <a:r>
              <a:rPr lang="en-US" sz="1727">
                <a:solidFill>
                  <a:srgbClr val="000000"/>
                </a:solidFill>
                <a:latin typeface="Arial"/>
                <a:ea typeface="Arial"/>
                <a:cs typeface="Arial"/>
                <a:sym typeface="Arial"/>
              </a:rPr>
              <a:t>- Hands on experience in development of Marketing &amp; CRM Models (Acquisition, LTV Models, Cross Sell &amp; Upsell, Attrition and MROI, Price and Promotion Models), Pricing Models(price &amp; promo) and Risk Models (PD, LGD, EAD Models for Credit Cards, Consumer Loans and Insurance Portfolios)</a:t>
            </a:r>
          </a:p>
          <a:p>
            <a:pPr marL="314769" lvl="2" indent="-104923" algn="l">
              <a:lnSpc>
                <a:spcPts val="2073"/>
              </a:lnSpc>
            </a:pPr>
            <a:endParaRPr lang="en-US" sz="1727">
              <a:solidFill>
                <a:srgbClr val="000000"/>
              </a:solidFill>
              <a:latin typeface="Arial"/>
              <a:ea typeface="Arial"/>
              <a:cs typeface="Arial"/>
              <a:sym typeface="Arial"/>
            </a:endParaRPr>
          </a:p>
          <a:p>
            <a:pPr marL="314769" lvl="2" indent="-104923" algn="l">
              <a:lnSpc>
                <a:spcPts val="2073"/>
              </a:lnSpc>
              <a:buFont typeface="Arial"/>
              <a:buChar char="⚬"/>
            </a:pPr>
            <a:r>
              <a:rPr lang="en-US" sz="1727">
                <a:solidFill>
                  <a:srgbClr val="000000"/>
                </a:solidFill>
                <a:latin typeface="Arial"/>
                <a:ea typeface="Arial"/>
                <a:cs typeface="Arial"/>
                <a:sym typeface="Arial"/>
              </a:rPr>
              <a:t>- Hands-on expertise in Big data and Multivariate analytical techniques, including classical &amp; machine learning algorithms, including regression, instance-based, regularization, Decision tree, Bayesian, clustering, Association rules, ANN, Deep learning, Generative AI, and Ensemble algorithms</a:t>
            </a:r>
          </a:p>
          <a:p>
            <a:pPr marL="314769" lvl="2" indent="-104923" algn="l">
              <a:lnSpc>
                <a:spcPts val="2073"/>
              </a:lnSpc>
            </a:pPr>
            <a:endParaRPr lang="en-US" sz="1727">
              <a:solidFill>
                <a:srgbClr val="000000"/>
              </a:solidFill>
              <a:latin typeface="Arial"/>
              <a:ea typeface="Arial"/>
              <a:cs typeface="Arial"/>
              <a:sym typeface="Arial"/>
            </a:endParaRPr>
          </a:p>
          <a:p>
            <a:pPr marL="314769" lvl="2" indent="-104923" algn="l">
              <a:lnSpc>
                <a:spcPts val="2073"/>
              </a:lnSpc>
              <a:buFont typeface="Arial"/>
              <a:buChar char="⚬"/>
            </a:pPr>
            <a:r>
              <a:rPr lang="en-US" sz="1727">
                <a:solidFill>
                  <a:srgbClr val="000000"/>
                </a:solidFill>
                <a:latin typeface="Arial"/>
                <a:ea typeface="Arial"/>
                <a:cs typeface="Arial"/>
                <a:sym typeface="Arial"/>
              </a:rPr>
              <a:t>- Have used different statistical flat forms like SAS/SAS EM, R, Python, SPSS, SPSS Modeler, Hadoop, Spark, Tableau, Matlab, Julia, Salesforce, SQL, Excel, VBA, PowerBI, Cloud Platforms (AWS, GCP), MongoDB, Hbase.</a:t>
            </a:r>
          </a:p>
          <a:p>
            <a:pPr marL="314769" lvl="2" indent="-104923" algn="l">
              <a:lnSpc>
                <a:spcPts val="2073"/>
              </a:lnSpc>
            </a:pPr>
            <a:endParaRPr lang="en-US" sz="1727">
              <a:solidFill>
                <a:srgbClr val="000000"/>
              </a:solidFill>
              <a:latin typeface="Arial"/>
              <a:ea typeface="Arial"/>
              <a:cs typeface="Arial"/>
              <a:sym typeface="Arial"/>
            </a:endParaRPr>
          </a:p>
          <a:p>
            <a:pPr marL="314769" lvl="2" indent="-104923" algn="l">
              <a:lnSpc>
                <a:spcPts val="2073"/>
              </a:lnSpc>
              <a:buFont typeface="Arial"/>
              <a:buChar char="⚬"/>
            </a:pPr>
            <a:r>
              <a:rPr lang="en-US" sz="1727">
                <a:solidFill>
                  <a:srgbClr val="000000"/>
                </a:solidFill>
                <a:latin typeface="Arial"/>
                <a:ea typeface="Arial"/>
                <a:cs typeface="Arial"/>
                <a:sym typeface="Arial"/>
              </a:rPr>
              <a:t>- Trained and coached several client teams and various individuals on advanced analytics, Big data analytics tools and techniques as part of capability building programs</a:t>
            </a:r>
          </a:p>
          <a:p>
            <a:pPr marL="314769" lvl="2" indent="-104923" algn="l">
              <a:lnSpc>
                <a:spcPts val="2073"/>
              </a:lnSpc>
              <a:buFont typeface="Arial"/>
              <a:buChar char="⚬"/>
            </a:pPr>
            <a:r>
              <a:rPr lang="en-US" sz="1727">
                <a:solidFill>
                  <a:srgbClr val="000000"/>
                </a:solidFill>
                <a:latin typeface="Arial"/>
                <a:ea typeface="Arial"/>
                <a:cs typeface="Arial"/>
                <a:sym typeface="Arial"/>
              </a:rPr>
              <a:t>- Chandra Name is Featured as</a:t>
            </a:r>
          </a:p>
          <a:p>
            <a:pPr marL="314769" lvl="2" indent="-104923" algn="l">
              <a:lnSpc>
                <a:spcPts val="2073"/>
              </a:lnSpc>
              <a:buFont typeface="Arial"/>
              <a:buChar char="⚬"/>
            </a:pPr>
            <a:r>
              <a:rPr lang="en-US" sz="1727">
                <a:solidFill>
                  <a:srgbClr val="000000"/>
                </a:solidFill>
                <a:latin typeface="Arial"/>
                <a:ea typeface="Arial"/>
                <a:cs typeface="Arial"/>
                <a:sym typeface="Arial"/>
              </a:rPr>
              <a:t>  - Top 10 data scientists (2015) in India by Analytics India Magazine </a:t>
            </a:r>
            <a:r>
              <a:rPr lang="en-US" sz="1727">
                <a:solidFill>
                  <a:srgbClr val="FFFFFF"/>
                </a:solidFill>
                <a:latin typeface="Arial"/>
                <a:ea typeface="Arial"/>
                <a:cs typeface="Arial"/>
                <a:sym typeface="Arial"/>
              </a:rPr>
              <a:t>(</a:t>
            </a:r>
            <a:r>
              <a:rPr lang="en-US" sz="1727" u="sng">
                <a:solidFill>
                  <a:srgbClr val="FFFFFF"/>
                </a:solidFill>
                <a:latin typeface="Arial"/>
                <a:ea typeface="Arial"/>
                <a:cs typeface="Arial"/>
                <a:sym typeface="Arial"/>
                <a:hlinkClick r:id="rId2" tooltip="https://www.analyticsindiamag.com/top-10-data-scientists-in-india-2015/)"/>
              </a:rPr>
              <a:t>https://www.analyticsindiamag.com/top-10-data-scientists-in-india-2015/</a:t>
            </a:r>
            <a:r>
              <a:rPr lang="en-US" sz="1727">
                <a:solidFill>
                  <a:srgbClr val="FFFFFF"/>
                </a:solidFill>
                <a:latin typeface="Arial"/>
                <a:ea typeface="Arial"/>
                <a:cs typeface="Arial"/>
                <a:sym typeface="Arial"/>
              </a:rPr>
              <a:t>) </a:t>
            </a:r>
          </a:p>
          <a:p>
            <a:pPr marL="314769" lvl="2" indent="-104923" algn="l">
              <a:lnSpc>
                <a:spcPts val="2073"/>
              </a:lnSpc>
              <a:buFont typeface="Arial"/>
              <a:buChar char="⚬"/>
            </a:pPr>
            <a:r>
              <a:rPr lang="en-US" sz="1727">
                <a:solidFill>
                  <a:srgbClr val="000000"/>
                </a:solidFill>
                <a:latin typeface="Arial"/>
                <a:ea typeface="Arial"/>
                <a:cs typeface="Arial"/>
                <a:sym typeface="Arial"/>
              </a:rPr>
              <a:t> -  Featured as expert in Data Analytics &amp; AI by whoknowsabout.</a:t>
            </a:r>
            <a:r>
              <a:rPr lang="en-US" sz="1727">
                <a:solidFill>
                  <a:srgbClr val="FFFFFF"/>
                </a:solidFill>
                <a:latin typeface="Arial"/>
                <a:ea typeface="Arial"/>
                <a:cs typeface="Arial"/>
                <a:sym typeface="Arial"/>
              </a:rPr>
              <a:t>com (</a:t>
            </a:r>
            <a:r>
              <a:rPr lang="en-US" sz="1727" u="sng">
                <a:solidFill>
                  <a:srgbClr val="FFFFFF"/>
                </a:solidFill>
                <a:latin typeface="Arial"/>
                <a:ea typeface="Arial"/>
                <a:cs typeface="Arial"/>
                <a:sym typeface="Arial"/>
                <a:hlinkClick r:id="rId3" tooltip="https://whoknowsabout.com/blogpage/hidden-gems-boutiques-and-independent-consultants.html"/>
              </a:rPr>
              <a:t>https://whoknowsabout.com/blogpage/hidden-gems-boutiques-and-independent-consultants.html</a:t>
            </a:r>
            <a:r>
              <a:rPr lang="en-US" sz="1727">
                <a:solidFill>
                  <a:srgbClr val="FFFFFF"/>
                </a:solidFill>
                <a:latin typeface="Arial"/>
                <a:ea typeface="Arial"/>
                <a:cs typeface="Arial"/>
                <a:sym typeface="Arial"/>
              </a:rPr>
              <a:t>)</a:t>
            </a:r>
          </a:p>
          <a:p>
            <a:pPr marL="314769" lvl="2" indent="-104923" algn="l">
              <a:lnSpc>
                <a:spcPts val="2073"/>
              </a:lnSpc>
            </a:pPr>
            <a:endParaRPr lang="en-US" sz="1727">
              <a:solidFill>
                <a:srgbClr val="FFFFFF"/>
              </a:solidFill>
              <a:latin typeface="Arial"/>
              <a:ea typeface="Arial"/>
              <a:cs typeface="Arial"/>
              <a:sym typeface="Arial"/>
            </a:endParaRPr>
          </a:p>
        </p:txBody>
      </p:sp>
      <p:sp>
        <p:nvSpPr>
          <p:cNvPr id="20" name="TextBox 20"/>
          <p:cNvSpPr txBox="1"/>
          <p:nvPr/>
        </p:nvSpPr>
        <p:spPr>
          <a:xfrm>
            <a:off x="376114" y="4974203"/>
            <a:ext cx="3758032" cy="4533843"/>
          </a:xfrm>
          <a:prstGeom prst="rect">
            <a:avLst/>
          </a:prstGeom>
        </p:spPr>
        <p:txBody>
          <a:bodyPr lIns="0" tIns="0" rIns="0" bIns="0" rtlCol="0" anchor="t">
            <a:spAutoFit/>
          </a:bodyPr>
          <a:lstStyle/>
          <a:p>
            <a:pPr algn="l">
              <a:lnSpc>
                <a:spcPts val="2520"/>
              </a:lnSpc>
            </a:pPr>
            <a:r>
              <a:rPr lang="en-US" sz="2100" b="1">
                <a:solidFill>
                  <a:srgbClr val="000000"/>
                </a:solidFill>
                <a:latin typeface="Arial Bold"/>
                <a:ea typeface="Arial Bold"/>
                <a:cs typeface="Arial Bold"/>
                <a:sym typeface="Arial Bold"/>
              </a:rPr>
              <a:t>Areas of Expertise:</a:t>
            </a:r>
          </a:p>
          <a:p>
            <a:pPr marL="382428" lvl="2" indent="-127476" algn="l">
              <a:lnSpc>
                <a:spcPts val="2520"/>
              </a:lnSpc>
              <a:buFont typeface="Arial"/>
              <a:buChar char="⚬"/>
            </a:pPr>
            <a:r>
              <a:rPr lang="en-US" sz="2100">
                <a:solidFill>
                  <a:srgbClr val="000000"/>
                </a:solidFill>
                <a:latin typeface="Arial"/>
                <a:ea typeface="Arial"/>
                <a:cs typeface="Arial"/>
                <a:sym typeface="Arial"/>
              </a:rPr>
              <a:t>Big Data Analytics</a:t>
            </a:r>
          </a:p>
          <a:p>
            <a:pPr marL="382428" lvl="2" indent="-127476" algn="l">
              <a:lnSpc>
                <a:spcPts val="2520"/>
              </a:lnSpc>
              <a:buFont typeface="Arial"/>
              <a:buChar char="⚬"/>
            </a:pPr>
            <a:r>
              <a:rPr lang="en-US" sz="2100">
                <a:solidFill>
                  <a:srgbClr val="000000"/>
                </a:solidFill>
                <a:latin typeface="Arial"/>
                <a:ea typeface="Arial"/>
                <a:cs typeface="Arial"/>
                <a:sym typeface="Arial"/>
              </a:rPr>
              <a:t>Business Analytics</a:t>
            </a:r>
          </a:p>
          <a:p>
            <a:pPr marL="382428" lvl="2" indent="-127476" algn="l">
              <a:lnSpc>
                <a:spcPts val="2520"/>
              </a:lnSpc>
              <a:buFont typeface="Arial"/>
              <a:buChar char="⚬"/>
            </a:pPr>
            <a:r>
              <a:rPr lang="en-US" sz="2100">
                <a:solidFill>
                  <a:srgbClr val="000000"/>
                </a:solidFill>
                <a:latin typeface="Arial"/>
                <a:ea typeface="Arial"/>
                <a:cs typeface="Arial"/>
                <a:sym typeface="Arial"/>
              </a:rPr>
              <a:t>Machine Learning</a:t>
            </a:r>
          </a:p>
          <a:p>
            <a:pPr marL="382428" lvl="2" indent="-127476" algn="l">
              <a:lnSpc>
                <a:spcPts val="2520"/>
              </a:lnSpc>
              <a:buFont typeface="Arial"/>
              <a:buChar char="⚬"/>
            </a:pPr>
            <a:r>
              <a:rPr lang="en-US" sz="2100">
                <a:solidFill>
                  <a:srgbClr val="000000"/>
                </a:solidFill>
                <a:latin typeface="Arial"/>
                <a:ea typeface="Arial"/>
                <a:cs typeface="Arial"/>
                <a:sym typeface="Arial"/>
              </a:rPr>
              <a:t>Deep Learning</a:t>
            </a:r>
          </a:p>
          <a:p>
            <a:pPr marL="382428" lvl="2" indent="-127476" algn="l">
              <a:lnSpc>
                <a:spcPts val="2520"/>
              </a:lnSpc>
              <a:buFont typeface="Arial"/>
              <a:buChar char="⚬"/>
            </a:pPr>
            <a:r>
              <a:rPr lang="en-US" sz="2100">
                <a:solidFill>
                  <a:srgbClr val="000000"/>
                </a:solidFill>
                <a:latin typeface="Arial"/>
                <a:ea typeface="Arial"/>
                <a:cs typeface="Arial"/>
                <a:sym typeface="Arial"/>
              </a:rPr>
              <a:t>Marketing Analytics</a:t>
            </a:r>
          </a:p>
          <a:p>
            <a:pPr marL="382428" lvl="2" indent="-127476" algn="l">
              <a:lnSpc>
                <a:spcPts val="2520"/>
              </a:lnSpc>
              <a:buFont typeface="Arial"/>
              <a:buChar char="⚬"/>
            </a:pPr>
            <a:r>
              <a:rPr lang="en-US" sz="2100">
                <a:solidFill>
                  <a:srgbClr val="000000"/>
                </a:solidFill>
                <a:latin typeface="Arial"/>
                <a:ea typeface="Arial"/>
                <a:cs typeface="Arial"/>
                <a:sym typeface="Arial"/>
              </a:rPr>
              <a:t>Risk Analytics</a:t>
            </a:r>
          </a:p>
          <a:p>
            <a:pPr marL="382428" lvl="2" indent="-127476" algn="l">
              <a:lnSpc>
                <a:spcPts val="2520"/>
              </a:lnSpc>
              <a:buFont typeface="Arial"/>
              <a:buChar char="⚬"/>
            </a:pPr>
            <a:r>
              <a:rPr lang="en-US" sz="2100">
                <a:solidFill>
                  <a:srgbClr val="000000"/>
                </a:solidFill>
                <a:latin typeface="Arial"/>
                <a:ea typeface="Arial"/>
                <a:cs typeface="Arial"/>
                <a:sym typeface="Arial"/>
              </a:rPr>
              <a:t>Operation Analytics</a:t>
            </a:r>
          </a:p>
          <a:p>
            <a:pPr marL="382428" lvl="2" indent="-127476" algn="l">
              <a:lnSpc>
                <a:spcPts val="2520"/>
              </a:lnSpc>
              <a:buFont typeface="Arial"/>
              <a:buChar char="⚬"/>
            </a:pPr>
            <a:r>
              <a:rPr lang="en-US" sz="2100">
                <a:solidFill>
                  <a:srgbClr val="000000"/>
                </a:solidFill>
                <a:latin typeface="Arial"/>
                <a:ea typeface="Arial"/>
                <a:cs typeface="Arial"/>
                <a:sym typeface="Arial"/>
              </a:rPr>
              <a:t>Digital Analytics</a:t>
            </a:r>
          </a:p>
          <a:p>
            <a:pPr marL="382428" lvl="2" indent="-127476" algn="l">
              <a:lnSpc>
                <a:spcPts val="2520"/>
              </a:lnSpc>
              <a:buFont typeface="Arial"/>
              <a:buChar char="⚬"/>
            </a:pPr>
            <a:r>
              <a:rPr lang="en-US" sz="2100">
                <a:solidFill>
                  <a:srgbClr val="000000"/>
                </a:solidFill>
                <a:latin typeface="Arial"/>
                <a:ea typeface="Arial"/>
                <a:cs typeface="Arial"/>
                <a:sym typeface="Arial"/>
              </a:rPr>
              <a:t>Business Intelligence</a:t>
            </a:r>
          </a:p>
          <a:p>
            <a:pPr marL="382428" lvl="2" indent="-127476" algn="l">
              <a:lnSpc>
                <a:spcPts val="2520"/>
              </a:lnSpc>
              <a:buFont typeface="Arial"/>
              <a:buChar char="⚬"/>
            </a:pPr>
            <a:r>
              <a:rPr lang="en-US" sz="2100">
                <a:solidFill>
                  <a:srgbClr val="000000"/>
                </a:solidFill>
                <a:latin typeface="Arial"/>
                <a:ea typeface="Arial"/>
                <a:cs typeface="Arial"/>
                <a:sym typeface="Arial"/>
              </a:rPr>
              <a:t>Artificial Intelligence</a:t>
            </a:r>
          </a:p>
        </p:txBody>
      </p:sp>
      <p:sp>
        <p:nvSpPr>
          <p:cNvPr id="21" name="TextBox 21"/>
          <p:cNvSpPr txBox="1"/>
          <p:nvPr/>
        </p:nvSpPr>
        <p:spPr>
          <a:xfrm>
            <a:off x="4321235" y="1076477"/>
            <a:ext cx="13856351" cy="1127150"/>
          </a:xfrm>
          <a:prstGeom prst="rect">
            <a:avLst/>
          </a:prstGeom>
        </p:spPr>
        <p:txBody>
          <a:bodyPr lIns="0" tIns="0" rIns="0" bIns="0" rtlCol="0" anchor="t">
            <a:spAutoFit/>
          </a:bodyPr>
          <a:lstStyle/>
          <a:p>
            <a:pPr algn="l">
              <a:lnSpc>
                <a:spcPts val="2879"/>
              </a:lnSpc>
            </a:pPr>
            <a:r>
              <a:rPr lang="en-US" sz="2400">
                <a:solidFill>
                  <a:srgbClr val="000000"/>
                </a:solidFill>
                <a:latin typeface="Arial"/>
                <a:ea typeface="Arial"/>
                <a:cs typeface="Arial"/>
                <a:sym typeface="Arial"/>
              </a:rPr>
              <a:t>Chandra Mouli Kotta Kota is a former Business Consultant/Data Scientist and has worked with prestigious companies like McKinsey, Citigroup(E-serve), Genpact in the past 19+ years. He has worked for clients across the globe and is an expert in Business and Big Data Analytics. </a:t>
            </a:r>
          </a:p>
        </p:txBody>
      </p:sp>
      <p:grpSp>
        <p:nvGrpSpPr>
          <p:cNvPr id="22" name="Group 22"/>
          <p:cNvGrpSpPr/>
          <p:nvPr/>
        </p:nvGrpSpPr>
        <p:grpSpPr>
          <a:xfrm>
            <a:off x="242192" y="302400"/>
            <a:ext cx="15773400" cy="753894"/>
            <a:chOff x="0" y="0"/>
            <a:chExt cx="21031200" cy="1005192"/>
          </a:xfrm>
        </p:grpSpPr>
        <p:sp>
          <p:nvSpPr>
            <p:cNvPr id="23" name="Freeform 23"/>
            <p:cNvSpPr/>
            <p:nvPr/>
          </p:nvSpPr>
          <p:spPr>
            <a:xfrm>
              <a:off x="0" y="0"/>
              <a:ext cx="21031200" cy="1005186"/>
            </a:xfrm>
            <a:custGeom>
              <a:avLst/>
              <a:gdLst/>
              <a:ahLst/>
              <a:cxnLst/>
              <a:rect l="l" t="t" r="r" b="b"/>
              <a:pathLst>
                <a:path w="21031200" h="1005186">
                  <a:moveTo>
                    <a:pt x="0" y="0"/>
                  </a:moveTo>
                  <a:lnTo>
                    <a:pt x="21031200" y="0"/>
                  </a:lnTo>
                  <a:lnTo>
                    <a:pt x="21031200" y="1005186"/>
                  </a:lnTo>
                  <a:lnTo>
                    <a:pt x="0" y="1005186"/>
                  </a:lnTo>
                  <a:close/>
                </a:path>
              </a:pathLst>
            </a:custGeom>
            <a:blipFill>
              <a:blip r:embed="rId4">
                <a:alphaModFix amt="0"/>
              </a:blip>
              <a:stretch>
                <a:fillRect t="-357679" b="-357679"/>
              </a:stretch>
            </a:blipFill>
          </p:spPr>
          <p:txBody>
            <a:bodyPr/>
            <a:lstStyle/>
            <a:p>
              <a:endParaRPr lang="en-IN"/>
            </a:p>
          </p:txBody>
        </p:sp>
        <p:sp>
          <p:nvSpPr>
            <p:cNvPr id="24" name="TextBox 24"/>
            <p:cNvSpPr txBox="1"/>
            <p:nvPr/>
          </p:nvSpPr>
          <p:spPr>
            <a:xfrm>
              <a:off x="0" y="38100"/>
              <a:ext cx="21031200" cy="967092"/>
            </a:xfrm>
            <a:prstGeom prst="rect">
              <a:avLst/>
            </a:prstGeom>
          </p:spPr>
          <p:txBody>
            <a:bodyPr lIns="0" tIns="0" rIns="0" bIns="0" rtlCol="0" anchor="ctr"/>
            <a:lstStyle/>
            <a:p>
              <a:pPr algn="l">
                <a:lnSpc>
                  <a:spcPts val="5184"/>
                </a:lnSpc>
              </a:pPr>
              <a:r>
                <a:rPr lang="en-US" sz="4800" b="1">
                  <a:solidFill>
                    <a:srgbClr val="2CB22F"/>
                  </a:solidFill>
                  <a:latin typeface="Arial Bold"/>
                  <a:ea typeface="Arial Bold"/>
                  <a:cs typeface="Arial Bold"/>
                  <a:sym typeface="Arial Bold"/>
                </a:rPr>
                <a:t>Chandra Mouli Kotta Kota</a:t>
              </a:r>
            </a:p>
          </p:txBody>
        </p:sp>
      </p:grpSp>
      <p:grpSp>
        <p:nvGrpSpPr>
          <p:cNvPr id="25" name="Group 25"/>
          <p:cNvGrpSpPr/>
          <p:nvPr/>
        </p:nvGrpSpPr>
        <p:grpSpPr>
          <a:xfrm>
            <a:off x="422834" y="1556356"/>
            <a:ext cx="3430714" cy="3129934"/>
            <a:chOff x="0" y="0"/>
            <a:chExt cx="4574286" cy="4173245"/>
          </a:xfrm>
        </p:grpSpPr>
        <p:sp>
          <p:nvSpPr>
            <p:cNvPr id="26" name="Freeform 26"/>
            <p:cNvSpPr/>
            <p:nvPr/>
          </p:nvSpPr>
          <p:spPr>
            <a:xfrm>
              <a:off x="0" y="0"/>
              <a:ext cx="4574286" cy="4173220"/>
            </a:xfrm>
            <a:custGeom>
              <a:avLst/>
              <a:gdLst/>
              <a:ahLst/>
              <a:cxnLst/>
              <a:rect l="l" t="t" r="r" b="b"/>
              <a:pathLst>
                <a:path w="4574286" h="4173220">
                  <a:moveTo>
                    <a:pt x="0" y="0"/>
                  </a:moveTo>
                  <a:lnTo>
                    <a:pt x="4574286" y="0"/>
                  </a:lnTo>
                  <a:lnTo>
                    <a:pt x="4574286" y="4173220"/>
                  </a:lnTo>
                  <a:lnTo>
                    <a:pt x="0" y="4173220"/>
                  </a:lnTo>
                  <a:lnTo>
                    <a:pt x="0" y="0"/>
                  </a:lnTo>
                  <a:close/>
                </a:path>
              </a:pathLst>
            </a:custGeom>
            <a:blipFill>
              <a:blip r:embed="rId5"/>
              <a:stretch>
                <a:fillRect b="-6438"/>
              </a:stretch>
            </a:blipFill>
          </p:spPr>
          <p:txBody>
            <a:bodyPr/>
            <a:lstStyle/>
            <a:p>
              <a:endParaRPr lang="en-IN"/>
            </a:p>
          </p:txBody>
        </p:sp>
      </p:grpSp>
      <p:sp>
        <p:nvSpPr>
          <p:cNvPr id="27" name="TextBox 27"/>
          <p:cNvSpPr txBox="1"/>
          <p:nvPr/>
        </p:nvSpPr>
        <p:spPr>
          <a:xfrm>
            <a:off x="490366" y="4697330"/>
            <a:ext cx="2742695" cy="332689"/>
          </a:xfrm>
          <a:prstGeom prst="rect">
            <a:avLst/>
          </a:prstGeom>
        </p:spPr>
        <p:txBody>
          <a:bodyPr lIns="0" tIns="0" rIns="0" bIns="0" rtlCol="0" anchor="t">
            <a:spAutoFit/>
          </a:bodyPr>
          <a:lstStyle/>
          <a:p>
            <a:pPr algn="l">
              <a:lnSpc>
                <a:spcPts val="2520"/>
              </a:lnSpc>
            </a:pPr>
            <a:r>
              <a:rPr lang="en-US" sz="2100" b="1">
                <a:solidFill>
                  <a:srgbClr val="000000"/>
                </a:solidFill>
                <a:latin typeface="Arial Bold"/>
                <a:ea typeface="Arial Bold"/>
                <a:cs typeface="Arial Bold"/>
                <a:sym typeface="Arial Bold"/>
              </a:rPr>
              <a:t>Chief Data Scientist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C5D6CA"/>
        </a:solidFill>
        <a:effectLst/>
      </p:bgPr>
    </p:bg>
    <p:spTree>
      <p:nvGrpSpPr>
        <p:cNvPr id="1" name=""/>
        <p:cNvGrpSpPr/>
        <p:nvPr/>
      </p:nvGrpSpPr>
      <p:grpSpPr>
        <a:xfrm>
          <a:off x="0" y="0"/>
          <a:ext cx="0" cy="0"/>
          <a:chOff x="0" y="0"/>
          <a:chExt cx="0" cy="0"/>
        </a:xfrm>
      </p:grpSpPr>
      <p:grpSp>
        <p:nvGrpSpPr>
          <p:cNvPr id="2" name="Group 2"/>
          <p:cNvGrpSpPr/>
          <p:nvPr/>
        </p:nvGrpSpPr>
        <p:grpSpPr>
          <a:xfrm>
            <a:off x="0" y="9497082"/>
            <a:ext cx="18292543" cy="787203"/>
            <a:chOff x="0" y="0"/>
            <a:chExt cx="24390058" cy="1049604"/>
          </a:xfrm>
        </p:grpSpPr>
        <p:sp>
          <p:nvSpPr>
            <p:cNvPr id="3" name="Freeform 3"/>
            <p:cNvSpPr/>
            <p:nvPr/>
          </p:nvSpPr>
          <p:spPr>
            <a:xfrm>
              <a:off x="0" y="0"/>
              <a:ext cx="24390096" cy="1049655"/>
            </a:xfrm>
            <a:custGeom>
              <a:avLst/>
              <a:gdLst/>
              <a:ahLst/>
              <a:cxnLst/>
              <a:rect l="l" t="t" r="r" b="b"/>
              <a:pathLst>
                <a:path w="24390096" h="1049655">
                  <a:moveTo>
                    <a:pt x="0" y="0"/>
                  </a:moveTo>
                  <a:lnTo>
                    <a:pt x="24390096" y="0"/>
                  </a:lnTo>
                  <a:lnTo>
                    <a:pt x="24390096" y="1049655"/>
                  </a:lnTo>
                  <a:lnTo>
                    <a:pt x="0" y="1049655"/>
                  </a:lnTo>
                  <a:close/>
                </a:path>
              </a:pathLst>
            </a:custGeom>
            <a:solidFill>
              <a:srgbClr val="348E90"/>
            </a:solidFill>
          </p:spPr>
          <p:txBody>
            <a:bodyPr/>
            <a:lstStyle/>
            <a:p>
              <a:endParaRPr lang="en-IN"/>
            </a:p>
          </p:txBody>
        </p:sp>
      </p:grpSp>
      <p:sp>
        <p:nvSpPr>
          <p:cNvPr id="4" name="Rectangle 3">
            <a:extLst>
              <a:ext uri="{FF2B5EF4-FFF2-40B4-BE49-F238E27FC236}">
                <a16:creationId xmlns:a16="http://schemas.microsoft.com/office/drawing/2014/main" id="{0B342564-4584-1F0D-FFA8-E7F73AEA5054}"/>
              </a:ext>
            </a:extLst>
          </p:cNvPr>
          <p:cNvSpPr/>
          <p:nvPr/>
        </p:nvSpPr>
        <p:spPr>
          <a:xfrm>
            <a:off x="15544800" y="0"/>
            <a:ext cx="1143000" cy="1823056"/>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IN"/>
          </a:p>
        </p:txBody>
      </p:sp>
      <p:sp>
        <p:nvSpPr>
          <p:cNvPr id="5" name="TextBox 19">
            <a:extLst>
              <a:ext uri="{FF2B5EF4-FFF2-40B4-BE49-F238E27FC236}">
                <a16:creationId xmlns:a16="http://schemas.microsoft.com/office/drawing/2014/main" id="{F208BC5A-9D13-1CCD-19AE-B1D89CF03DBE}"/>
              </a:ext>
            </a:extLst>
          </p:cNvPr>
          <p:cNvSpPr txBox="1"/>
          <p:nvPr/>
        </p:nvSpPr>
        <p:spPr>
          <a:xfrm>
            <a:off x="6896100" y="898142"/>
            <a:ext cx="4495800" cy="732316"/>
          </a:xfrm>
          <a:prstGeom prst="rect">
            <a:avLst/>
          </a:prstGeom>
        </p:spPr>
        <p:txBody>
          <a:bodyPr wrap="square" lIns="0" tIns="0" rIns="0" bIns="0" rtlCol="0" anchor="t">
            <a:spAutoFit/>
          </a:bodyPr>
          <a:lstStyle/>
          <a:p>
            <a:pPr algn="l">
              <a:lnSpc>
                <a:spcPts val="6399"/>
              </a:lnSpc>
            </a:pPr>
            <a:r>
              <a:rPr lang="en-US" sz="4000" b="1" dirty="0">
                <a:solidFill>
                  <a:srgbClr val="000000"/>
                </a:solidFill>
                <a:latin typeface="Inter" panose="020B0604020202020204" charset="0"/>
                <a:ea typeface="Inter" panose="020B0604020202020204" charset="0"/>
                <a:cs typeface="Neue Machina Ultra-Bold"/>
                <a:sym typeface="Neue Machina Ultra-Bold"/>
              </a:rPr>
              <a:t>Business Context</a:t>
            </a:r>
          </a:p>
        </p:txBody>
      </p:sp>
      <p:sp>
        <p:nvSpPr>
          <p:cNvPr id="6" name="TextBox 20">
            <a:extLst>
              <a:ext uri="{FF2B5EF4-FFF2-40B4-BE49-F238E27FC236}">
                <a16:creationId xmlns:a16="http://schemas.microsoft.com/office/drawing/2014/main" id="{58371F5A-E756-318D-F794-4FA76A14AA5F}"/>
              </a:ext>
            </a:extLst>
          </p:cNvPr>
          <p:cNvSpPr txBox="1"/>
          <p:nvPr/>
        </p:nvSpPr>
        <p:spPr>
          <a:xfrm>
            <a:off x="838200" y="2691549"/>
            <a:ext cx="16116300" cy="4431983"/>
          </a:xfrm>
          <a:prstGeom prst="rect">
            <a:avLst/>
          </a:prstGeom>
        </p:spPr>
        <p:txBody>
          <a:bodyPr wrap="square" lIns="0" tIns="0" rIns="0" bIns="0" rtlCol="0" anchor="t">
            <a:spAutoFit/>
          </a:bodyPr>
          <a:lstStyle/>
          <a:p>
            <a:r>
              <a:rPr lang="en-US" dirty="0">
                <a:latin typeface="Inter" panose="020B0604020202020204" charset="0"/>
                <a:ea typeface="Inter" panose="020B0604020202020204" charset="0"/>
              </a:rPr>
              <a:t>Financial institutions must evaluate whether a customer is capable of repaying a loan before approval.</a:t>
            </a:r>
          </a:p>
          <a:p>
            <a:pPr>
              <a:lnSpc>
                <a:spcPct val="200000"/>
              </a:lnSpc>
            </a:pPr>
            <a:r>
              <a:rPr lang="en-US" b="1" dirty="0">
                <a:latin typeface="Inter" panose="020B0604020202020204" charset="0"/>
                <a:ea typeface="Inter" panose="020B0604020202020204" charset="0"/>
              </a:rPr>
              <a:t>Incorrect risk assessment can lead to:</a:t>
            </a:r>
          </a:p>
          <a:p>
            <a:pPr marL="285750" indent="-285750">
              <a:buFont typeface="Arial" panose="020B0604020202020204" pitchFamily="34" charset="0"/>
              <a:buChar char="•"/>
            </a:pPr>
            <a:r>
              <a:rPr lang="en-US" dirty="0">
                <a:latin typeface="Inter" panose="020B0604020202020204" charset="0"/>
                <a:ea typeface="Inter" panose="020B0604020202020204" charset="0"/>
              </a:rPr>
              <a:t>High loan default rates</a:t>
            </a:r>
          </a:p>
          <a:p>
            <a:pPr marL="285750" indent="-285750">
              <a:buFont typeface="Arial" panose="020B0604020202020204" pitchFamily="34" charset="0"/>
              <a:buChar char="•"/>
            </a:pPr>
            <a:r>
              <a:rPr lang="en-US" dirty="0">
                <a:latin typeface="Inter" panose="020B0604020202020204" charset="0"/>
                <a:ea typeface="Inter" panose="020B0604020202020204" charset="0"/>
              </a:rPr>
              <a:t>Financial losses</a:t>
            </a:r>
          </a:p>
          <a:p>
            <a:pPr marL="285750" indent="-285750">
              <a:buFont typeface="Arial" panose="020B0604020202020204" pitchFamily="34" charset="0"/>
              <a:buChar char="•"/>
            </a:pPr>
            <a:r>
              <a:rPr lang="en-US" dirty="0">
                <a:latin typeface="Inter" panose="020B0604020202020204" charset="0"/>
                <a:ea typeface="Inter" panose="020B0604020202020204" charset="0"/>
              </a:rPr>
              <a:t>Increased NPAs (Non-Performing Assets)</a:t>
            </a:r>
          </a:p>
          <a:p>
            <a:pPr marL="285750" indent="-285750">
              <a:buFont typeface="Arial" panose="020B0604020202020204" pitchFamily="34" charset="0"/>
              <a:buChar char="•"/>
            </a:pPr>
            <a:r>
              <a:rPr lang="en-US" dirty="0">
                <a:latin typeface="Inter" panose="020B0604020202020204" charset="0"/>
                <a:ea typeface="Inter" panose="020B0604020202020204" charset="0"/>
              </a:rPr>
              <a:t>Poor customer targeting</a:t>
            </a:r>
          </a:p>
          <a:p>
            <a:pPr marL="285750" indent="-285750">
              <a:buFont typeface="Arial" panose="020B0604020202020204" pitchFamily="34" charset="0"/>
              <a:buChar char="•"/>
            </a:pPr>
            <a:r>
              <a:rPr lang="en-US" dirty="0">
                <a:latin typeface="Inter" panose="020B0604020202020204" charset="0"/>
                <a:ea typeface="Inter" panose="020B0604020202020204" charset="0"/>
              </a:rPr>
              <a:t>Rejection of eligible customers</a:t>
            </a:r>
          </a:p>
          <a:p>
            <a:pPr>
              <a:lnSpc>
                <a:spcPct val="200000"/>
              </a:lnSpc>
            </a:pPr>
            <a:r>
              <a:rPr lang="en-US" dirty="0">
                <a:latin typeface="Inter" panose="020B0604020202020204" charset="0"/>
                <a:ea typeface="Inter" panose="020B0604020202020204" charset="0"/>
              </a:rPr>
              <a:t>With increasing customer data availability, organizations require data-driven systems to improve credit approval decisions</a:t>
            </a:r>
          </a:p>
          <a:p>
            <a:r>
              <a:rPr lang="en-US" b="1" dirty="0">
                <a:latin typeface="Inter" panose="020B0604020202020204" charset="0"/>
                <a:ea typeface="Inter" panose="020B0604020202020204" charset="0"/>
              </a:rPr>
              <a:t>. Business Impact</a:t>
            </a:r>
          </a:p>
          <a:p>
            <a:pPr marL="285750" indent="-285750">
              <a:buFont typeface="Arial" panose="020B0604020202020204" pitchFamily="34" charset="0"/>
              <a:buChar char="•"/>
            </a:pPr>
            <a:r>
              <a:rPr lang="en-US" dirty="0">
                <a:latin typeface="Inter" panose="020B0604020202020204" charset="0"/>
                <a:cs typeface="Inter" panose="020B0604020202020204" charset="0"/>
              </a:rPr>
              <a:t>Reduce loan defaults</a:t>
            </a:r>
          </a:p>
          <a:p>
            <a:pPr marL="285750" indent="-285750">
              <a:buFont typeface="Arial" panose="020B0604020202020204" pitchFamily="34" charset="0"/>
              <a:buChar char="•"/>
            </a:pPr>
            <a:r>
              <a:rPr lang="en-US" dirty="0">
                <a:latin typeface="Inter" panose="020B0604020202020204" charset="0"/>
                <a:cs typeface="Inter" panose="020B0604020202020204" charset="0"/>
              </a:rPr>
              <a:t>Improve approval quality</a:t>
            </a:r>
          </a:p>
          <a:p>
            <a:pPr marL="285750" indent="-285750">
              <a:buFont typeface="Arial" panose="020B0604020202020204" pitchFamily="34" charset="0"/>
              <a:buChar char="•"/>
            </a:pPr>
            <a:r>
              <a:rPr lang="en-US" dirty="0">
                <a:latin typeface="Inter" panose="020B0604020202020204" charset="0"/>
                <a:cs typeface="Inter" panose="020B0604020202020204" charset="0"/>
              </a:rPr>
              <a:t>Identify risky applicants early</a:t>
            </a:r>
          </a:p>
          <a:p>
            <a:pPr marL="285750" indent="-285750">
              <a:buFont typeface="Arial" panose="020B0604020202020204" pitchFamily="34" charset="0"/>
              <a:buChar char="•"/>
            </a:pPr>
            <a:r>
              <a:rPr lang="en-US" dirty="0">
                <a:latin typeface="Inter" panose="020B0604020202020204" charset="0"/>
                <a:cs typeface="Inter" panose="020B0604020202020204" charset="0"/>
              </a:rPr>
              <a:t>Increase profitability</a:t>
            </a:r>
          </a:p>
          <a:p>
            <a:pPr marL="285750" indent="-285750">
              <a:buFont typeface="Arial" panose="020B0604020202020204" pitchFamily="34" charset="0"/>
              <a:buChar char="•"/>
            </a:pPr>
            <a:r>
              <a:rPr lang="en-US" dirty="0">
                <a:latin typeface="Inter" panose="020B0604020202020204" charset="0"/>
                <a:cs typeface="Inter" panose="020B0604020202020204" charset="0"/>
              </a:rPr>
              <a:t>Improve customer retention</a:t>
            </a:r>
          </a:p>
        </p:txBody>
      </p:sp>
      <p:sp>
        <p:nvSpPr>
          <p:cNvPr id="9" name="TextBox 8">
            <a:extLst>
              <a:ext uri="{FF2B5EF4-FFF2-40B4-BE49-F238E27FC236}">
                <a16:creationId xmlns:a16="http://schemas.microsoft.com/office/drawing/2014/main" id="{609BB809-C9F6-8A4D-DB64-F12B87334A42}"/>
              </a:ext>
            </a:extLst>
          </p:cNvPr>
          <p:cNvSpPr txBox="1"/>
          <p:nvPr/>
        </p:nvSpPr>
        <p:spPr>
          <a:xfrm>
            <a:off x="838200" y="1922476"/>
            <a:ext cx="9144000" cy="477054"/>
          </a:xfrm>
          <a:prstGeom prst="rect">
            <a:avLst/>
          </a:prstGeom>
          <a:noFill/>
        </p:spPr>
        <p:txBody>
          <a:bodyPr wrap="square">
            <a:spAutoFit/>
          </a:bodyPr>
          <a:lstStyle/>
          <a:p>
            <a:r>
              <a:rPr lang="en-US" sz="2500" b="1" dirty="0">
                <a:latin typeface="Inter" panose="020B0604020202020204" charset="0"/>
                <a:ea typeface="Inter" panose="020B0604020202020204" charset="0"/>
              </a:rPr>
              <a:t>Why Credit Risk Analysis Matters</a:t>
            </a:r>
            <a:endParaRPr lang="en-IN" sz="2500" b="1" dirty="0">
              <a:latin typeface="Inter" panose="020B0604020202020204" charset="0"/>
              <a:ea typeface="Inter" panose="020B060402020202020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C5D6CA"/>
        </a:solidFill>
        <a:effectLst/>
      </p:bgPr>
    </p:bg>
    <p:spTree>
      <p:nvGrpSpPr>
        <p:cNvPr id="1" name=""/>
        <p:cNvGrpSpPr/>
        <p:nvPr/>
      </p:nvGrpSpPr>
      <p:grpSpPr>
        <a:xfrm>
          <a:off x="0" y="0"/>
          <a:ext cx="0" cy="0"/>
          <a:chOff x="0" y="0"/>
          <a:chExt cx="0" cy="0"/>
        </a:xfrm>
      </p:grpSpPr>
      <p:grpSp>
        <p:nvGrpSpPr>
          <p:cNvPr id="2" name="Group 2"/>
          <p:cNvGrpSpPr/>
          <p:nvPr/>
        </p:nvGrpSpPr>
        <p:grpSpPr>
          <a:xfrm>
            <a:off x="0" y="9497082"/>
            <a:ext cx="18292543" cy="787203"/>
            <a:chOff x="0" y="0"/>
            <a:chExt cx="24390058" cy="1049604"/>
          </a:xfrm>
        </p:grpSpPr>
        <p:sp>
          <p:nvSpPr>
            <p:cNvPr id="3" name="Freeform 3"/>
            <p:cNvSpPr/>
            <p:nvPr/>
          </p:nvSpPr>
          <p:spPr>
            <a:xfrm>
              <a:off x="0" y="0"/>
              <a:ext cx="24390096" cy="1049655"/>
            </a:xfrm>
            <a:custGeom>
              <a:avLst/>
              <a:gdLst/>
              <a:ahLst/>
              <a:cxnLst/>
              <a:rect l="l" t="t" r="r" b="b"/>
              <a:pathLst>
                <a:path w="24390096" h="1049655">
                  <a:moveTo>
                    <a:pt x="0" y="0"/>
                  </a:moveTo>
                  <a:lnTo>
                    <a:pt x="24390096" y="0"/>
                  </a:lnTo>
                  <a:lnTo>
                    <a:pt x="24390096" y="1049655"/>
                  </a:lnTo>
                  <a:lnTo>
                    <a:pt x="0" y="1049655"/>
                  </a:lnTo>
                  <a:close/>
                </a:path>
              </a:pathLst>
            </a:custGeom>
            <a:solidFill>
              <a:srgbClr val="348E90"/>
            </a:solidFill>
          </p:spPr>
          <p:txBody>
            <a:bodyPr/>
            <a:lstStyle/>
            <a:p>
              <a:endParaRPr lang="en-IN"/>
            </a:p>
          </p:txBody>
        </p:sp>
      </p:grpSp>
      <p:sp>
        <p:nvSpPr>
          <p:cNvPr id="4" name="Rectangle 3">
            <a:extLst>
              <a:ext uri="{FF2B5EF4-FFF2-40B4-BE49-F238E27FC236}">
                <a16:creationId xmlns:a16="http://schemas.microsoft.com/office/drawing/2014/main" id="{44D02812-5A21-3754-B86C-EFE815DDF57D}"/>
              </a:ext>
            </a:extLst>
          </p:cNvPr>
          <p:cNvSpPr/>
          <p:nvPr/>
        </p:nvSpPr>
        <p:spPr>
          <a:xfrm>
            <a:off x="15544800" y="0"/>
            <a:ext cx="1143000" cy="1823056"/>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26B08021-4EC5-F811-1B04-C8187ECD5540}"/>
              </a:ext>
            </a:extLst>
          </p:cNvPr>
          <p:cNvSpPr txBox="1"/>
          <p:nvPr/>
        </p:nvSpPr>
        <p:spPr>
          <a:xfrm>
            <a:off x="6991350" y="548329"/>
            <a:ext cx="5067300" cy="707886"/>
          </a:xfrm>
          <a:prstGeom prst="rect">
            <a:avLst/>
          </a:prstGeom>
          <a:noFill/>
        </p:spPr>
        <p:txBody>
          <a:bodyPr wrap="square">
            <a:spAutoFit/>
          </a:bodyPr>
          <a:lstStyle/>
          <a:p>
            <a:pPr algn="ctr"/>
            <a:r>
              <a:rPr lang="en-IN" sz="4000" b="1" dirty="0">
                <a:latin typeface="Inter" panose="020B0604020202020204" charset="0"/>
                <a:ea typeface="Inter" panose="020B0604020202020204" charset="0"/>
              </a:rPr>
              <a:t>Problem Statement</a:t>
            </a:r>
            <a:endParaRPr lang="en-IN" sz="4000" b="1" dirty="0">
              <a:latin typeface="Inter" panose="020B0604020202020204" charset="0"/>
              <a:ea typeface="Inter" panose="020B0604020202020204" charset="0"/>
              <a:cs typeface="Times New Roman" panose="02020603050405020304" pitchFamily="18" charset="0"/>
            </a:endParaRPr>
          </a:p>
        </p:txBody>
      </p:sp>
      <p:sp>
        <p:nvSpPr>
          <p:cNvPr id="8" name="TextBox 7">
            <a:extLst>
              <a:ext uri="{FF2B5EF4-FFF2-40B4-BE49-F238E27FC236}">
                <a16:creationId xmlns:a16="http://schemas.microsoft.com/office/drawing/2014/main" id="{DC4DA8AF-4D83-FCDE-DCE6-E2CF44A1BFA8}"/>
              </a:ext>
            </a:extLst>
          </p:cNvPr>
          <p:cNvSpPr txBox="1"/>
          <p:nvPr/>
        </p:nvSpPr>
        <p:spPr>
          <a:xfrm>
            <a:off x="685800" y="1584529"/>
            <a:ext cx="9144000" cy="477054"/>
          </a:xfrm>
          <a:prstGeom prst="rect">
            <a:avLst/>
          </a:prstGeom>
          <a:noFill/>
        </p:spPr>
        <p:txBody>
          <a:bodyPr wrap="square">
            <a:spAutoFit/>
          </a:bodyPr>
          <a:lstStyle/>
          <a:p>
            <a:r>
              <a:rPr lang="en-IN" sz="2500" b="1" dirty="0">
                <a:latin typeface="Inter" panose="020B0604020202020204" charset="0"/>
                <a:ea typeface="Inter" panose="020B0604020202020204" charset="0"/>
              </a:rPr>
              <a:t>Business Problem</a:t>
            </a:r>
            <a:endParaRPr lang="en-IN" sz="2500" b="1" dirty="0">
              <a:latin typeface="Inter" panose="020B0604020202020204" charset="0"/>
              <a:ea typeface="Inter" panose="020B0604020202020204" charset="0"/>
              <a:cs typeface="Times New Roman" panose="02020603050405020304" pitchFamily="18" charset="0"/>
            </a:endParaRPr>
          </a:p>
        </p:txBody>
      </p:sp>
      <p:sp>
        <p:nvSpPr>
          <p:cNvPr id="9" name="TextBox 4">
            <a:extLst>
              <a:ext uri="{FF2B5EF4-FFF2-40B4-BE49-F238E27FC236}">
                <a16:creationId xmlns:a16="http://schemas.microsoft.com/office/drawing/2014/main" id="{7288906E-304D-4E46-BF2A-7BB750CFCB67}"/>
              </a:ext>
            </a:extLst>
          </p:cNvPr>
          <p:cNvSpPr txBox="1"/>
          <p:nvPr/>
        </p:nvSpPr>
        <p:spPr>
          <a:xfrm>
            <a:off x="685800" y="2171700"/>
            <a:ext cx="16840200" cy="5870838"/>
          </a:xfrm>
          <a:prstGeom prst="rect">
            <a:avLst/>
          </a:prstGeom>
        </p:spPr>
        <p:txBody>
          <a:bodyPr wrap="square" lIns="0" tIns="0" rIns="0" bIns="0" rtlCol="0" anchor="t">
            <a:spAutoFit/>
          </a:bodyPr>
          <a:lstStyle/>
          <a:p>
            <a:r>
              <a:rPr lang="en-US" dirty="0">
                <a:latin typeface="Inter" panose="020B0604020202020204" charset="0"/>
                <a:ea typeface="Inter" panose="020B0604020202020204" charset="0"/>
              </a:rPr>
              <a:t>The objective of this project is to analyze customer financial, behavioral, and historical credit data to understand factors influencing loan default.</a:t>
            </a:r>
          </a:p>
          <a:p>
            <a:pPr>
              <a:lnSpc>
                <a:spcPct val="150000"/>
              </a:lnSpc>
            </a:pPr>
            <a:r>
              <a:rPr lang="en-US" dirty="0">
                <a:latin typeface="Inter" panose="020B0604020202020204" charset="0"/>
                <a:ea typeface="Inter" panose="020B0604020202020204" charset="0"/>
              </a:rPr>
              <a:t>The dataset contains multiple relational tables capturing:</a:t>
            </a:r>
          </a:p>
          <a:p>
            <a:pPr marL="285750" indent="-285750">
              <a:buFont typeface="Arial" panose="020B0604020202020204" pitchFamily="34" charset="0"/>
              <a:buChar char="•"/>
            </a:pPr>
            <a:r>
              <a:rPr lang="en-US" dirty="0">
                <a:latin typeface="Inter" panose="020B0604020202020204" charset="0"/>
                <a:ea typeface="Inter" panose="020B0604020202020204" charset="0"/>
              </a:rPr>
              <a:t>Customer demographics</a:t>
            </a:r>
          </a:p>
          <a:p>
            <a:pPr marL="285750" indent="-285750">
              <a:buFont typeface="Arial" panose="020B0604020202020204" pitchFamily="34" charset="0"/>
              <a:buChar char="•"/>
            </a:pPr>
            <a:r>
              <a:rPr lang="en-US" dirty="0">
                <a:latin typeface="Inter" panose="020B0604020202020204" charset="0"/>
                <a:ea typeface="Inter" panose="020B0604020202020204" charset="0"/>
              </a:rPr>
              <a:t>Credit bureau records</a:t>
            </a:r>
          </a:p>
          <a:p>
            <a:pPr marL="285750" indent="-285750">
              <a:buFont typeface="Arial" panose="020B0604020202020204" pitchFamily="34" charset="0"/>
              <a:buChar char="•"/>
            </a:pPr>
            <a:r>
              <a:rPr lang="en-US" dirty="0">
                <a:latin typeface="Inter" panose="020B0604020202020204" charset="0"/>
                <a:ea typeface="Inter" panose="020B0604020202020204" charset="0"/>
              </a:rPr>
              <a:t>Previous loan applications</a:t>
            </a:r>
          </a:p>
          <a:p>
            <a:pPr marL="285750" indent="-285750">
              <a:buFont typeface="Arial" panose="020B0604020202020204" pitchFamily="34" charset="0"/>
              <a:buChar char="•"/>
            </a:pPr>
            <a:r>
              <a:rPr lang="en-US" dirty="0">
                <a:latin typeface="Inter" panose="020B0604020202020204" charset="0"/>
                <a:ea typeface="Inter" panose="020B0604020202020204" charset="0"/>
              </a:rPr>
              <a:t>Installment payment behavior</a:t>
            </a:r>
          </a:p>
          <a:p>
            <a:pPr marL="285750" indent="-285750">
              <a:buFont typeface="Arial" panose="020B0604020202020204" pitchFamily="34" charset="0"/>
              <a:buChar char="•"/>
            </a:pPr>
            <a:r>
              <a:rPr lang="en-US" dirty="0">
                <a:latin typeface="Inter" panose="020B0604020202020204" charset="0"/>
                <a:ea typeface="Inter" panose="020B0604020202020204" charset="0"/>
              </a:rPr>
              <a:t>Credit card spending behavior</a:t>
            </a:r>
          </a:p>
          <a:p>
            <a:pPr marL="285750" indent="-285750">
              <a:buFont typeface="Arial" panose="020B0604020202020204" pitchFamily="34" charset="0"/>
              <a:buChar char="•"/>
            </a:pPr>
            <a:r>
              <a:rPr lang="en-US" dirty="0">
                <a:latin typeface="Inter" panose="020B0604020202020204" charset="0"/>
                <a:ea typeface="Inter" panose="020B0604020202020204" charset="0"/>
              </a:rPr>
              <a:t>POS cash loan behavior</a:t>
            </a:r>
          </a:p>
          <a:p>
            <a:pPr>
              <a:lnSpc>
                <a:spcPct val="200000"/>
              </a:lnSpc>
            </a:pPr>
            <a:r>
              <a:rPr lang="en-US" sz="2500" b="1" dirty="0">
                <a:latin typeface="Inter" panose="020B0604020202020204" charset="0"/>
                <a:ea typeface="Inter" panose="020B0604020202020204" charset="0"/>
              </a:rPr>
              <a:t>Analytical Goals</a:t>
            </a:r>
          </a:p>
          <a:p>
            <a:r>
              <a:rPr lang="en-US" sz="2100" b="1" dirty="0">
                <a:latin typeface="Inter" panose="020B0604020202020204" charset="0"/>
                <a:ea typeface="Inter" panose="020B0604020202020204" charset="0"/>
              </a:rPr>
              <a:t>EDA Perspective</a:t>
            </a:r>
          </a:p>
          <a:p>
            <a:pPr marL="285750" indent="-285750">
              <a:buFont typeface="Arial" panose="020B0604020202020204" pitchFamily="34" charset="0"/>
              <a:buChar char="•"/>
            </a:pPr>
            <a:r>
              <a:rPr lang="en-US" dirty="0">
                <a:latin typeface="Inter" panose="020B0604020202020204" charset="0"/>
                <a:ea typeface="Inter" panose="020B0604020202020204" charset="0"/>
              </a:rPr>
              <a:t>Identify risk patterns</a:t>
            </a:r>
          </a:p>
          <a:p>
            <a:pPr marL="285750" indent="-285750">
              <a:buFont typeface="Arial" panose="020B0604020202020204" pitchFamily="34" charset="0"/>
              <a:buChar char="•"/>
            </a:pPr>
            <a:r>
              <a:rPr lang="en-US" dirty="0">
                <a:latin typeface="Inter" panose="020B0604020202020204" charset="0"/>
                <a:ea typeface="Inter" panose="020B0604020202020204" charset="0"/>
              </a:rPr>
              <a:t>Analyze repayment behavior</a:t>
            </a:r>
          </a:p>
          <a:p>
            <a:pPr marL="285750" indent="-285750">
              <a:buFont typeface="Arial" panose="020B0604020202020204" pitchFamily="34" charset="0"/>
              <a:buChar char="•"/>
            </a:pPr>
            <a:r>
              <a:rPr lang="en-US" dirty="0">
                <a:latin typeface="Inter" panose="020B0604020202020204" charset="0"/>
                <a:ea typeface="Inter" panose="020B0604020202020204" charset="0"/>
              </a:rPr>
              <a:t>Detect financial instability indicators</a:t>
            </a:r>
          </a:p>
          <a:p>
            <a:pPr marL="285750" indent="-285750">
              <a:buFont typeface="Arial" panose="020B0604020202020204" pitchFamily="34" charset="0"/>
              <a:buChar char="•"/>
            </a:pPr>
            <a:r>
              <a:rPr lang="en-US" dirty="0">
                <a:latin typeface="Inter" panose="020B0604020202020204" charset="0"/>
                <a:ea typeface="Inter" panose="020B0604020202020204" charset="0"/>
              </a:rPr>
              <a:t>Understand customer segments</a:t>
            </a:r>
          </a:p>
          <a:p>
            <a:pPr>
              <a:lnSpc>
                <a:spcPct val="150000"/>
              </a:lnSpc>
            </a:pPr>
            <a:r>
              <a:rPr lang="en-US" sz="2100" b="1" dirty="0">
                <a:latin typeface="Inter" panose="020B0604020202020204" charset="0"/>
                <a:ea typeface="Inter" panose="020B0604020202020204" charset="0"/>
              </a:rPr>
              <a:t>ML Perspective</a:t>
            </a:r>
          </a:p>
          <a:p>
            <a:pPr marL="285750" indent="-285750">
              <a:buFont typeface="Arial" panose="020B0604020202020204" pitchFamily="34" charset="0"/>
              <a:buChar char="•"/>
            </a:pPr>
            <a:r>
              <a:rPr lang="en-US" dirty="0">
                <a:latin typeface="Inter" panose="020B0604020202020204" charset="0"/>
                <a:ea typeface="Inter" panose="020B0604020202020204" charset="0"/>
              </a:rPr>
              <a:t>Predict whether a customer will default</a:t>
            </a:r>
          </a:p>
          <a:p>
            <a:pPr marL="285750" indent="-285750">
              <a:buFont typeface="Arial" panose="020B0604020202020204" pitchFamily="34" charset="0"/>
              <a:buChar char="•"/>
            </a:pPr>
            <a:r>
              <a:rPr lang="en-US" dirty="0">
                <a:latin typeface="Inter" panose="020B0604020202020204" charset="0"/>
                <a:ea typeface="Inter" panose="020B0604020202020204" charset="0"/>
              </a:rPr>
              <a:t>Improve risk classification</a:t>
            </a:r>
          </a:p>
          <a:p>
            <a:pPr marL="285750" indent="-285750">
              <a:buFont typeface="Arial" panose="020B0604020202020204" pitchFamily="34" charset="0"/>
              <a:buChar char="•"/>
            </a:pPr>
            <a:r>
              <a:rPr lang="en-US" dirty="0">
                <a:latin typeface="Inter" panose="020B0604020202020204" charset="0"/>
                <a:ea typeface="Inter" panose="020B0604020202020204" charset="0"/>
              </a:rPr>
              <a:t>Create meaningful engineered features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C5D6CA"/>
        </a:solidFill>
        <a:effectLst/>
      </p:bgPr>
    </p:bg>
    <p:spTree>
      <p:nvGrpSpPr>
        <p:cNvPr id="1" name=""/>
        <p:cNvGrpSpPr/>
        <p:nvPr/>
      </p:nvGrpSpPr>
      <p:grpSpPr>
        <a:xfrm>
          <a:off x="0" y="0"/>
          <a:ext cx="0" cy="0"/>
          <a:chOff x="0" y="0"/>
          <a:chExt cx="0" cy="0"/>
        </a:xfrm>
      </p:grpSpPr>
      <p:grpSp>
        <p:nvGrpSpPr>
          <p:cNvPr id="2" name="Group 2"/>
          <p:cNvGrpSpPr/>
          <p:nvPr/>
        </p:nvGrpSpPr>
        <p:grpSpPr>
          <a:xfrm>
            <a:off x="0" y="9497082"/>
            <a:ext cx="18292543" cy="787203"/>
            <a:chOff x="0" y="0"/>
            <a:chExt cx="24390058" cy="1049604"/>
          </a:xfrm>
        </p:grpSpPr>
        <p:sp>
          <p:nvSpPr>
            <p:cNvPr id="3" name="Freeform 3"/>
            <p:cNvSpPr/>
            <p:nvPr/>
          </p:nvSpPr>
          <p:spPr>
            <a:xfrm>
              <a:off x="0" y="0"/>
              <a:ext cx="24390096" cy="1049655"/>
            </a:xfrm>
            <a:custGeom>
              <a:avLst/>
              <a:gdLst/>
              <a:ahLst/>
              <a:cxnLst/>
              <a:rect l="l" t="t" r="r" b="b"/>
              <a:pathLst>
                <a:path w="24390096" h="1049655">
                  <a:moveTo>
                    <a:pt x="0" y="0"/>
                  </a:moveTo>
                  <a:lnTo>
                    <a:pt x="24390096" y="0"/>
                  </a:lnTo>
                  <a:lnTo>
                    <a:pt x="24390096" y="1049655"/>
                  </a:lnTo>
                  <a:lnTo>
                    <a:pt x="0" y="1049655"/>
                  </a:lnTo>
                  <a:close/>
                </a:path>
              </a:pathLst>
            </a:custGeom>
            <a:solidFill>
              <a:srgbClr val="348E90"/>
            </a:solidFill>
          </p:spPr>
          <p:txBody>
            <a:bodyPr/>
            <a:lstStyle/>
            <a:p>
              <a:endParaRPr lang="en-IN"/>
            </a:p>
          </p:txBody>
        </p:sp>
      </p:grpSp>
      <p:sp>
        <p:nvSpPr>
          <p:cNvPr id="4" name="Rectangle 3">
            <a:extLst>
              <a:ext uri="{FF2B5EF4-FFF2-40B4-BE49-F238E27FC236}">
                <a16:creationId xmlns:a16="http://schemas.microsoft.com/office/drawing/2014/main" id="{DA9497D5-0954-17F2-D03E-B40B8EC15014}"/>
              </a:ext>
            </a:extLst>
          </p:cNvPr>
          <p:cNvSpPr/>
          <p:nvPr/>
        </p:nvSpPr>
        <p:spPr>
          <a:xfrm>
            <a:off x="15544800" y="0"/>
            <a:ext cx="1143000" cy="1823056"/>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IN"/>
          </a:p>
        </p:txBody>
      </p:sp>
      <p:sp>
        <p:nvSpPr>
          <p:cNvPr id="5" name="TextBox 5">
            <a:extLst>
              <a:ext uri="{FF2B5EF4-FFF2-40B4-BE49-F238E27FC236}">
                <a16:creationId xmlns:a16="http://schemas.microsoft.com/office/drawing/2014/main" id="{3B4ACEE3-FF43-F3B5-7459-64B33E34F9FB}"/>
              </a:ext>
            </a:extLst>
          </p:cNvPr>
          <p:cNvSpPr txBox="1"/>
          <p:nvPr/>
        </p:nvSpPr>
        <p:spPr>
          <a:xfrm>
            <a:off x="6657975" y="911528"/>
            <a:ext cx="4972050" cy="746999"/>
          </a:xfrm>
          <a:prstGeom prst="rect">
            <a:avLst/>
          </a:prstGeom>
        </p:spPr>
        <p:txBody>
          <a:bodyPr wrap="square" lIns="0" tIns="0" rIns="0" bIns="0" rtlCol="0" anchor="t">
            <a:spAutoFit/>
          </a:bodyPr>
          <a:lstStyle/>
          <a:p>
            <a:pPr algn="ctr">
              <a:lnSpc>
                <a:spcPts val="6399"/>
              </a:lnSpc>
            </a:pPr>
            <a:r>
              <a:rPr lang="en-IN" sz="4000" b="1" dirty="0">
                <a:latin typeface="Inter" panose="020B0604020202020204" charset="0"/>
                <a:ea typeface="Inter" panose="020B0604020202020204" charset="0"/>
              </a:rPr>
              <a:t>Business Objectives</a:t>
            </a:r>
            <a:endParaRPr lang="en-US" sz="4000" b="1" dirty="0">
              <a:solidFill>
                <a:srgbClr val="000000"/>
              </a:solidFill>
              <a:latin typeface="Inter" panose="020B0604020202020204" charset="0"/>
              <a:ea typeface="Inter" panose="020B0604020202020204" charset="0"/>
              <a:cs typeface="Neue Machina Ultra-Bold"/>
              <a:sym typeface="Neue Machina Ultra-Bold"/>
            </a:endParaRPr>
          </a:p>
        </p:txBody>
      </p:sp>
      <p:sp>
        <p:nvSpPr>
          <p:cNvPr id="9" name="TextBox 8">
            <a:extLst>
              <a:ext uri="{FF2B5EF4-FFF2-40B4-BE49-F238E27FC236}">
                <a16:creationId xmlns:a16="http://schemas.microsoft.com/office/drawing/2014/main" id="{54985248-D2B7-0B66-EB78-D68C02A34B2F}"/>
              </a:ext>
            </a:extLst>
          </p:cNvPr>
          <p:cNvSpPr txBox="1"/>
          <p:nvPr/>
        </p:nvSpPr>
        <p:spPr>
          <a:xfrm>
            <a:off x="7848600" y="2108655"/>
            <a:ext cx="9144000" cy="477054"/>
          </a:xfrm>
          <a:prstGeom prst="rect">
            <a:avLst/>
          </a:prstGeom>
          <a:noFill/>
        </p:spPr>
        <p:txBody>
          <a:bodyPr wrap="square">
            <a:spAutoFit/>
          </a:bodyPr>
          <a:lstStyle/>
          <a:p>
            <a:r>
              <a:rPr lang="en-IN" sz="2500" b="1" dirty="0">
                <a:latin typeface="Inter" panose="020B0604020202020204" charset="0"/>
                <a:ea typeface="Inter" panose="020B0604020202020204" charset="0"/>
              </a:rPr>
              <a:t>Project Objectives</a:t>
            </a:r>
            <a:endParaRPr lang="en-IN" sz="2500" b="1" dirty="0">
              <a:latin typeface="Inter" panose="020B0604020202020204" charset="0"/>
              <a:ea typeface="Inter" panose="020B0604020202020204" charset="0"/>
              <a:cs typeface="Times New Roman" panose="02020603050405020304" pitchFamily="18" charset="0"/>
            </a:endParaRPr>
          </a:p>
        </p:txBody>
      </p:sp>
      <p:sp>
        <p:nvSpPr>
          <p:cNvPr id="10" name="Rectangle: Rounded Corners 9">
            <a:extLst>
              <a:ext uri="{FF2B5EF4-FFF2-40B4-BE49-F238E27FC236}">
                <a16:creationId xmlns:a16="http://schemas.microsoft.com/office/drawing/2014/main" id="{FB78F3BC-429B-712C-794B-2160959D9933}"/>
              </a:ext>
            </a:extLst>
          </p:cNvPr>
          <p:cNvSpPr/>
          <p:nvPr/>
        </p:nvSpPr>
        <p:spPr>
          <a:xfrm>
            <a:off x="990600" y="3238500"/>
            <a:ext cx="7772400" cy="4953000"/>
          </a:xfrm>
          <a:prstGeom prst="roundRect">
            <a:avLst/>
          </a:prstGeom>
          <a:solidFill>
            <a:srgbClr val="348E9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500" b="1" dirty="0">
                <a:solidFill>
                  <a:schemeClr val="bg1"/>
                </a:solidFill>
                <a:latin typeface="Inter" panose="020B0604020202020204" charset="0"/>
                <a:ea typeface="Inter" panose="020B0604020202020204" charset="0"/>
              </a:rPr>
              <a:t>Primary Objectives</a:t>
            </a:r>
          </a:p>
          <a:p>
            <a:pPr algn="ctr"/>
            <a:endParaRPr lang="en-IN" sz="2500" b="1" dirty="0">
              <a:solidFill>
                <a:schemeClr val="bg1"/>
              </a:solidFill>
              <a:latin typeface="Inter" panose="020B0604020202020204" charset="0"/>
              <a:ea typeface="Inter" panose="020B0604020202020204" charset="0"/>
            </a:endParaRPr>
          </a:p>
          <a:p>
            <a:pPr marL="285750" indent="-285750">
              <a:buFont typeface="Arial" panose="020B0604020202020204" pitchFamily="34" charset="0"/>
              <a:buChar char="•"/>
            </a:pPr>
            <a:r>
              <a:rPr lang="en-IN" dirty="0">
                <a:solidFill>
                  <a:schemeClr val="bg1"/>
                </a:solidFill>
                <a:latin typeface="Inter" panose="020B0604020202020204" charset="0"/>
                <a:ea typeface="Inter" panose="020B0604020202020204" charset="0"/>
              </a:rPr>
              <a:t>Understand customer credit behaviour</a:t>
            </a:r>
          </a:p>
          <a:p>
            <a:pPr marL="285750" indent="-285750">
              <a:buFont typeface="Arial" panose="020B0604020202020204" pitchFamily="34" charset="0"/>
              <a:buChar char="•"/>
            </a:pPr>
            <a:r>
              <a:rPr lang="en-IN" dirty="0">
                <a:solidFill>
                  <a:schemeClr val="bg1"/>
                </a:solidFill>
                <a:latin typeface="Inter" panose="020B0604020202020204" charset="0"/>
                <a:ea typeface="Inter" panose="020B0604020202020204" charset="0"/>
              </a:rPr>
              <a:t>Analyze repayment and default patterns</a:t>
            </a:r>
          </a:p>
          <a:p>
            <a:pPr marL="285750" indent="-285750">
              <a:buFont typeface="Arial" panose="020B0604020202020204" pitchFamily="34" charset="0"/>
              <a:buChar char="•"/>
            </a:pPr>
            <a:r>
              <a:rPr lang="en-IN" dirty="0">
                <a:solidFill>
                  <a:schemeClr val="bg1"/>
                </a:solidFill>
                <a:latin typeface="Inter" panose="020B0604020202020204" charset="0"/>
                <a:ea typeface="Inter" panose="020B0604020202020204" charset="0"/>
              </a:rPr>
              <a:t>Identify high-risk customer segments</a:t>
            </a:r>
          </a:p>
          <a:p>
            <a:pPr marL="285750" indent="-285750">
              <a:buFont typeface="Arial" panose="020B0604020202020204" pitchFamily="34" charset="0"/>
              <a:buChar char="•"/>
            </a:pPr>
            <a:r>
              <a:rPr lang="en-IN" dirty="0">
                <a:solidFill>
                  <a:schemeClr val="bg1"/>
                </a:solidFill>
                <a:latin typeface="Inter" panose="020B0604020202020204" charset="0"/>
                <a:ea typeface="Inter" panose="020B0604020202020204" charset="0"/>
              </a:rPr>
              <a:t>Perform customer-level feature engineering</a:t>
            </a:r>
          </a:p>
          <a:p>
            <a:pPr marL="285750" indent="-285750">
              <a:buFont typeface="Arial" panose="020B0604020202020204" pitchFamily="34" charset="0"/>
              <a:buChar char="•"/>
            </a:pPr>
            <a:r>
              <a:rPr lang="en-IN" dirty="0">
                <a:solidFill>
                  <a:schemeClr val="bg1"/>
                </a:solidFill>
                <a:latin typeface="Inter" panose="020B0604020202020204" charset="0"/>
                <a:ea typeface="Inter" panose="020B0604020202020204" charset="0"/>
              </a:rPr>
              <a:t>Build analytical foundation for ML model development</a:t>
            </a:r>
          </a:p>
        </p:txBody>
      </p:sp>
      <p:sp>
        <p:nvSpPr>
          <p:cNvPr id="11" name="Rectangle: Rounded Corners 10">
            <a:extLst>
              <a:ext uri="{FF2B5EF4-FFF2-40B4-BE49-F238E27FC236}">
                <a16:creationId xmlns:a16="http://schemas.microsoft.com/office/drawing/2014/main" id="{994DCD57-785A-AB9E-2FA2-BBCE510DE117}"/>
              </a:ext>
            </a:extLst>
          </p:cNvPr>
          <p:cNvSpPr/>
          <p:nvPr/>
        </p:nvSpPr>
        <p:spPr>
          <a:xfrm>
            <a:off x="9525000" y="3238500"/>
            <a:ext cx="7772400" cy="4953000"/>
          </a:xfrm>
          <a:prstGeom prst="roundRect">
            <a:avLst/>
          </a:prstGeom>
          <a:solidFill>
            <a:srgbClr val="348E9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500" b="1" dirty="0">
                <a:solidFill>
                  <a:schemeClr val="bg1"/>
                </a:solidFill>
                <a:latin typeface="Inter" panose="020B0604020202020204" charset="0"/>
                <a:ea typeface="Inter" panose="020B0604020202020204" charset="0"/>
              </a:rPr>
              <a:t>Expected Outcomes</a:t>
            </a:r>
          </a:p>
          <a:p>
            <a:pPr algn="ctr"/>
            <a:endParaRPr lang="en-US" sz="2500" b="1" dirty="0">
              <a:solidFill>
                <a:schemeClr val="bg1"/>
              </a:solidFill>
              <a:latin typeface="Inter" panose="020B0604020202020204" charset="0"/>
              <a:ea typeface="Inter" panose="020B0604020202020204" charset="0"/>
            </a:endParaRPr>
          </a:p>
          <a:p>
            <a:pPr marL="285750" indent="-285750">
              <a:buFont typeface="Arial" panose="020B0604020202020204" pitchFamily="34" charset="0"/>
              <a:buChar char="•"/>
            </a:pPr>
            <a:r>
              <a:rPr lang="en-US" dirty="0">
                <a:solidFill>
                  <a:schemeClr val="bg1"/>
                </a:solidFill>
                <a:latin typeface="Inter" panose="020B0604020202020204" charset="0"/>
                <a:ea typeface="Inter" panose="020B0604020202020204" charset="0"/>
              </a:rPr>
              <a:t>Better risk assessment</a:t>
            </a:r>
          </a:p>
          <a:p>
            <a:pPr marL="285750" indent="-285750">
              <a:buFont typeface="Arial" panose="020B0604020202020204" pitchFamily="34" charset="0"/>
              <a:buChar char="•"/>
            </a:pPr>
            <a:r>
              <a:rPr lang="en-US" dirty="0">
                <a:solidFill>
                  <a:schemeClr val="bg1"/>
                </a:solidFill>
                <a:latin typeface="Inter" panose="020B0604020202020204" charset="0"/>
                <a:ea typeface="Inter" panose="020B0604020202020204" charset="0"/>
              </a:rPr>
              <a:t>Improved loan approval strategy</a:t>
            </a:r>
          </a:p>
          <a:p>
            <a:pPr marL="285750" indent="-285750">
              <a:buFont typeface="Arial" panose="020B0604020202020204" pitchFamily="34" charset="0"/>
              <a:buChar char="•"/>
            </a:pPr>
            <a:r>
              <a:rPr lang="en-US" dirty="0">
                <a:solidFill>
                  <a:schemeClr val="bg1"/>
                </a:solidFill>
                <a:latin typeface="Inter" panose="020B0604020202020204" charset="0"/>
                <a:ea typeface="Inter" panose="020B0604020202020204" charset="0"/>
              </a:rPr>
              <a:t>Data-driven lending decisions</a:t>
            </a:r>
          </a:p>
          <a:p>
            <a:pPr marL="285750" indent="-285750">
              <a:buFont typeface="Arial" panose="020B0604020202020204" pitchFamily="34" charset="0"/>
              <a:buChar char="•"/>
            </a:pPr>
            <a:r>
              <a:rPr lang="en-US" dirty="0">
                <a:solidFill>
                  <a:schemeClr val="bg1"/>
                </a:solidFill>
                <a:latin typeface="Inter" panose="020B0604020202020204" charset="0"/>
                <a:ea typeface="Inter" panose="020B0604020202020204" charset="0"/>
              </a:rPr>
              <a:t>Reduced financial losses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C5D6CA"/>
        </a:solidFill>
        <a:effectLst/>
      </p:bgPr>
    </p:bg>
    <p:spTree>
      <p:nvGrpSpPr>
        <p:cNvPr id="1" name=""/>
        <p:cNvGrpSpPr/>
        <p:nvPr/>
      </p:nvGrpSpPr>
      <p:grpSpPr>
        <a:xfrm>
          <a:off x="0" y="0"/>
          <a:ext cx="0" cy="0"/>
          <a:chOff x="0" y="0"/>
          <a:chExt cx="0" cy="0"/>
        </a:xfrm>
      </p:grpSpPr>
      <p:grpSp>
        <p:nvGrpSpPr>
          <p:cNvPr id="2" name="Group 2"/>
          <p:cNvGrpSpPr/>
          <p:nvPr/>
        </p:nvGrpSpPr>
        <p:grpSpPr>
          <a:xfrm>
            <a:off x="0" y="9497082"/>
            <a:ext cx="18292543" cy="787203"/>
            <a:chOff x="0" y="0"/>
            <a:chExt cx="24390058" cy="1049604"/>
          </a:xfrm>
        </p:grpSpPr>
        <p:sp>
          <p:nvSpPr>
            <p:cNvPr id="3" name="Freeform 3"/>
            <p:cNvSpPr/>
            <p:nvPr/>
          </p:nvSpPr>
          <p:spPr>
            <a:xfrm>
              <a:off x="0" y="0"/>
              <a:ext cx="24390096" cy="1049655"/>
            </a:xfrm>
            <a:custGeom>
              <a:avLst/>
              <a:gdLst/>
              <a:ahLst/>
              <a:cxnLst/>
              <a:rect l="l" t="t" r="r" b="b"/>
              <a:pathLst>
                <a:path w="24390096" h="1049655">
                  <a:moveTo>
                    <a:pt x="0" y="0"/>
                  </a:moveTo>
                  <a:lnTo>
                    <a:pt x="24390096" y="0"/>
                  </a:lnTo>
                  <a:lnTo>
                    <a:pt x="24390096" y="1049655"/>
                  </a:lnTo>
                  <a:lnTo>
                    <a:pt x="0" y="1049655"/>
                  </a:lnTo>
                  <a:close/>
                </a:path>
              </a:pathLst>
            </a:custGeom>
            <a:solidFill>
              <a:srgbClr val="348E90"/>
            </a:solidFill>
          </p:spPr>
          <p:txBody>
            <a:bodyPr/>
            <a:lstStyle/>
            <a:p>
              <a:endParaRPr lang="en-IN"/>
            </a:p>
          </p:txBody>
        </p:sp>
      </p:grpSp>
      <p:sp>
        <p:nvSpPr>
          <p:cNvPr id="4" name="Rectangle 3">
            <a:extLst>
              <a:ext uri="{FF2B5EF4-FFF2-40B4-BE49-F238E27FC236}">
                <a16:creationId xmlns:a16="http://schemas.microsoft.com/office/drawing/2014/main" id="{1693EC97-D0BC-4679-5252-58C074C2A0A9}"/>
              </a:ext>
            </a:extLst>
          </p:cNvPr>
          <p:cNvSpPr/>
          <p:nvPr/>
        </p:nvSpPr>
        <p:spPr>
          <a:xfrm>
            <a:off x="15544800" y="0"/>
            <a:ext cx="1143000" cy="1823056"/>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2154C671-FE0C-34EC-DCC3-82D545C00D28}"/>
              </a:ext>
            </a:extLst>
          </p:cNvPr>
          <p:cNvSpPr txBox="1"/>
          <p:nvPr/>
        </p:nvSpPr>
        <p:spPr>
          <a:xfrm>
            <a:off x="6400800" y="1083248"/>
            <a:ext cx="5486400" cy="707886"/>
          </a:xfrm>
          <a:prstGeom prst="rect">
            <a:avLst/>
          </a:prstGeom>
          <a:noFill/>
        </p:spPr>
        <p:txBody>
          <a:bodyPr wrap="square">
            <a:spAutoFit/>
          </a:bodyPr>
          <a:lstStyle/>
          <a:p>
            <a:r>
              <a:rPr lang="en-IN" sz="4000" b="1" dirty="0">
                <a:latin typeface="Inter" panose="020B0604020202020204" charset="0"/>
                <a:ea typeface="Inter" panose="020B0604020202020204" charset="0"/>
              </a:rPr>
              <a:t>Tools &amp; Technologies</a:t>
            </a:r>
          </a:p>
        </p:txBody>
      </p:sp>
      <p:graphicFrame>
        <p:nvGraphicFramePr>
          <p:cNvPr id="7" name="Table 6">
            <a:extLst>
              <a:ext uri="{FF2B5EF4-FFF2-40B4-BE49-F238E27FC236}">
                <a16:creationId xmlns:a16="http://schemas.microsoft.com/office/drawing/2014/main" id="{09D510AE-E80B-9BBE-51B2-674FC5ADD77A}"/>
              </a:ext>
            </a:extLst>
          </p:cNvPr>
          <p:cNvGraphicFramePr>
            <a:graphicFrameLocks noGrp="1"/>
          </p:cNvGraphicFramePr>
          <p:nvPr>
            <p:extLst>
              <p:ext uri="{D42A27DB-BD31-4B8C-83A1-F6EECF244321}">
                <p14:modId xmlns:p14="http://schemas.microsoft.com/office/powerpoint/2010/main" val="291541423"/>
              </p:ext>
            </p:extLst>
          </p:nvPr>
        </p:nvGraphicFramePr>
        <p:xfrm>
          <a:off x="1998704" y="2209362"/>
          <a:ext cx="14689096" cy="6744141"/>
        </p:xfrm>
        <a:graphic>
          <a:graphicData uri="http://schemas.openxmlformats.org/drawingml/2006/table">
            <a:tbl>
              <a:tblPr firstRow="1" bandRow="1">
                <a:tableStyleId>{37CE84F3-28C3-443E-9E96-99CF82512B78}</a:tableStyleId>
              </a:tblPr>
              <a:tblGrid>
                <a:gridCol w="7344548">
                  <a:extLst>
                    <a:ext uri="{9D8B030D-6E8A-4147-A177-3AD203B41FA5}">
                      <a16:colId xmlns:a16="http://schemas.microsoft.com/office/drawing/2014/main" val="3218159384"/>
                    </a:ext>
                  </a:extLst>
                </a:gridCol>
                <a:gridCol w="7344548">
                  <a:extLst>
                    <a:ext uri="{9D8B030D-6E8A-4147-A177-3AD203B41FA5}">
                      <a16:colId xmlns:a16="http://schemas.microsoft.com/office/drawing/2014/main" val="839464872"/>
                    </a:ext>
                  </a:extLst>
                </a:gridCol>
              </a:tblGrid>
              <a:tr h="749349">
                <a:tc>
                  <a:txBody>
                    <a:bodyPr/>
                    <a:lstStyle/>
                    <a:p>
                      <a:pPr algn="ctr"/>
                      <a:r>
                        <a:rPr lang="en-US" dirty="0">
                          <a:solidFill>
                            <a:schemeClr val="tx1"/>
                          </a:solidFill>
                          <a:latin typeface="Inter" panose="020B0604020202020204" charset="0"/>
                          <a:ea typeface="Inter" panose="020B0604020202020204" charset="0"/>
                        </a:rPr>
                        <a:t>Category</a:t>
                      </a:r>
                      <a:endParaRPr lang="en-IN" dirty="0">
                        <a:solidFill>
                          <a:schemeClr val="tx1"/>
                        </a:solidFill>
                        <a:latin typeface="Inter" panose="020B0604020202020204" charset="0"/>
                        <a:ea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ea typeface="Inter" panose="020B0604020202020204" charset="0"/>
                        </a:rPr>
                        <a:t>Tools</a:t>
                      </a:r>
                      <a:endParaRPr lang="en-IN" dirty="0">
                        <a:solidFill>
                          <a:schemeClr val="tx1"/>
                        </a:solidFill>
                        <a:latin typeface="Inter" panose="020B0604020202020204" charset="0"/>
                        <a:ea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198716639"/>
                  </a:ext>
                </a:extLst>
              </a:tr>
              <a:tr h="749349">
                <a:tc>
                  <a:txBody>
                    <a:bodyPr/>
                    <a:lstStyle/>
                    <a:p>
                      <a:pPr algn="ctr"/>
                      <a:r>
                        <a:rPr lang="en-US" dirty="0">
                          <a:solidFill>
                            <a:schemeClr val="tx1"/>
                          </a:solidFill>
                          <a:latin typeface="Inter" panose="020B0604020202020204" charset="0"/>
                          <a:ea typeface="Inter" panose="020B0604020202020204" charset="0"/>
                        </a:rPr>
                        <a:t>Programming</a:t>
                      </a:r>
                      <a:endParaRPr lang="en-IN" dirty="0">
                        <a:solidFill>
                          <a:schemeClr val="tx1"/>
                        </a:solidFill>
                        <a:latin typeface="Inter" panose="020B0604020202020204" charset="0"/>
                        <a:ea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ea typeface="Inter" panose="020B0604020202020204" charset="0"/>
                        </a:rPr>
                        <a:t>Python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2381953050"/>
                  </a:ext>
                </a:extLst>
              </a:tr>
              <a:tr h="749349">
                <a:tc>
                  <a:txBody>
                    <a:bodyPr/>
                    <a:lstStyle/>
                    <a:p>
                      <a:pPr algn="ctr"/>
                      <a:r>
                        <a:rPr lang="en-US" dirty="0">
                          <a:solidFill>
                            <a:schemeClr val="tx1"/>
                          </a:solidFill>
                          <a:latin typeface="Inter" panose="020B0604020202020204" charset="0"/>
                          <a:ea typeface="Inter" panose="020B0604020202020204" charset="0"/>
                        </a:rPr>
                        <a:t>Data Manipulation</a:t>
                      </a:r>
                      <a:endParaRPr lang="en-IN" dirty="0">
                        <a:solidFill>
                          <a:schemeClr val="tx1"/>
                        </a:solidFill>
                        <a:latin typeface="Inter" panose="020B0604020202020204" charset="0"/>
                        <a:ea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ea typeface="Inter" panose="020B0604020202020204" charset="0"/>
                        </a:rPr>
                        <a:t>Pandas, NumPy</a:t>
                      </a:r>
                      <a:endParaRPr lang="en-IN" dirty="0">
                        <a:solidFill>
                          <a:schemeClr val="tx1"/>
                        </a:solidFill>
                        <a:latin typeface="Inter" panose="020B0604020202020204" charset="0"/>
                        <a:ea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1571119768"/>
                  </a:ext>
                </a:extLst>
              </a:tr>
              <a:tr h="749349">
                <a:tc>
                  <a:txBody>
                    <a:bodyPr/>
                    <a:lstStyle/>
                    <a:p>
                      <a:pPr algn="ctr"/>
                      <a:r>
                        <a:rPr lang="en-US" dirty="0">
                          <a:solidFill>
                            <a:schemeClr val="tx1"/>
                          </a:solidFill>
                          <a:latin typeface="Inter" panose="020B0604020202020204" charset="0"/>
                          <a:ea typeface="Inter" panose="020B0604020202020204" charset="0"/>
                        </a:rPr>
                        <a:t>Visualization</a:t>
                      </a:r>
                      <a:endParaRPr lang="en-IN" dirty="0">
                        <a:solidFill>
                          <a:schemeClr val="tx1"/>
                        </a:solidFill>
                        <a:latin typeface="Inter" panose="020B0604020202020204" charset="0"/>
                        <a:ea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ea typeface="Inter" panose="020B0604020202020204" charset="0"/>
                        </a:rPr>
                        <a:t>Matplotlib, Seaborn, Plotly</a:t>
                      </a:r>
                      <a:endParaRPr lang="en-IN" dirty="0">
                        <a:solidFill>
                          <a:schemeClr val="tx1"/>
                        </a:solidFill>
                        <a:latin typeface="Inter" panose="020B0604020202020204" charset="0"/>
                        <a:ea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435543052"/>
                  </a:ext>
                </a:extLst>
              </a:tr>
              <a:tr h="749349">
                <a:tc>
                  <a:txBody>
                    <a:bodyPr/>
                    <a:lstStyle/>
                    <a:p>
                      <a:pPr algn="ctr"/>
                      <a:r>
                        <a:rPr lang="en-US" dirty="0">
                          <a:solidFill>
                            <a:schemeClr val="tx1"/>
                          </a:solidFill>
                          <a:latin typeface="Inter" panose="020B0604020202020204" charset="0"/>
                          <a:ea typeface="Inter" panose="020B0604020202020204" charset="0"/>
                        </a:rPr>
                        <a:t>Machine Learning</a:t>
                      </a:r>
                      <a:endParaRPr lang="en-IN" dirty="0">
                        <a:solidFill>
                          <a:schemeClr val="tx1"/>
                        </a:solidFill>
                        <a:latin typeface="Inter" panose="020B0604020202020204" charset="0"/>
                        <a:ea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ea typeface="Inter" panose="020B0604020202020204" charset="0"/>
                        </a:rPr>
                        <a:t>Scikit- Learn, XGBoost, LightGBM</a:t>
                      </a:r>
                      <a:endParaRPr lang="en-IN" dirty="0">
                        <a:solidFill>
                          <a:schemeClr val="tx1"/>
                        </a:solidFill>
                        <a:latin typeface="Inter" panose="020B0604020202020204" charset="0"/>
                        <a:ea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1636153953"/>
                  </a:ext>
                </a:extLst>
              </a:tr>
              <a:tr h="749349">
                <a:tc>
                  <a:txBody>
                    <a:bodyPr/>
                    <a:lstStyle/>
                    <a:p>
                      <a:pPr algn="ctr"/>
                      <a:r>
                        <a:rPr lang="en-US" dirty="0">
                          <a:solidFill>
                            <a:schemeClr val="tx1"/>
                          </a:solidFill>
                          <a:latin typeface="Inter" panose="020B0604020202020204" charset="0"/>
                          <a:ea typeface="Inter" panose="020B0604020202020204" charset="0"/>
                        </a:rPr>
                        <a:t>Deployment (Future Scope)</a:t>
                      </a:r>
                      <a:endParaRPr lang="en-IN" dirty="0">
                        <a:solidFill>
                          <a:schemeClr val="tx1"/>
                        </a:solidFill>
                        <a:latin typeface="Inter" panose="020B0604020202020204" charset="0"/>
                        <a:ea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ea typeface="Inter" panose="020B0604020202020204" charset="0"/>
                        </a:rPr>
                        <a:t>Streamlit</a:t>
                      </a:r>
                      <a:endParaRPr lang="en-IN" dirty="0">
                        <a:solidFill>
                          <a:schemeClr val="tx1"/>
                        </a:solidFill>
                        <a:latin typeface="Inter" panose="020B0604020202020204" charset="0"/>
                        <a:ea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2581941122"/>
                  </a:ext>
                </a:extLst>
              </a:tr>
              <a:tr h="749349">
                <a:tc>
                  <a:txBody>
                    <a:bodyPr/>
                    <a:lstStyle/>
                    <a:p>
                      <a:pPr algn="ctr"/>
                      <a:r>
                        <a:rPr lang="en-US" dirty="0">
                          <a:solidFill>
                            <a:schemeClr val="tx1"/>
                          </a:solidFill>
                          <a:latin typeface="Inter" panose="020B0604020202020204" charset="0"/>
                          <a:ea typeface="Inter" panose="020B0604020202020204" charset="0"/>
                        </a:rPr>
                        <a:t>Notebook Environment</a:t>
                      </a:r>
                      <a:endParaRPr lang="en-IN" dirty="0">
                        <a:solidFill>
                          <a:schemeClr val="tx1"/>
                        </a:solidFill>
                        <a:latin typeface="Inter" panose="020B0604020202020204" charset="0"/>
                        <a:ea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ea typeface="Inter" panose="020B0604020202020204" charset="0"/>
                        </a:rPr>
                        <a:t>Jupyter Notebook</a:t>
                      </a:r>
                      <a:endParaRPr lang="en-IN" dirty="0">
                        <a:solidFill>
                          <a:schemeClr val="tx1"/>
                        </a:solidFill>
                        <a:latin typeface="Inter" panose="020B0604020202020204" charset="0"/>
                        <a:ea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1844262841"/>
                  </a:ext>
                </a:extLst>
              </a:tr>
              <a:tr h="749349">
                <a:tc>
                  <a:txBody>
                    <a:bodyPr/>
                    <a:lstStyle/>
                    <a:p>
                      <a:pPr algn="ctr"/>
                      <a:r>
                        <a:rPr lang="en-US" dirty="0">
                          <a:solidFill>
                            <a:schemeClr val="tx1"/>
                          </a:solidFill>
                          <a:latin typeface="Inter" panose="020B0604020202020204" charset="0"/>
                          <a:ea typeface="Inter" panose="020B0604020202020204" charset="0"/>
                        </a:rPr>
                        <a:t>Version Control</a:t>
                      </a:r>
                      <a:endParaRPr lang="en-IN" dirty="0">
                        <a:solidFill>
                          <a:schemeClr val="tx1"/>
                        </a:solidFill>
                        <a:latin typeface="Inter" panose="020B0604020202020204" charset="0"/>
                        <a:ea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ea typeface="Inter" panose="020B0604020202020204" charset="0"/>
                        </a:rPr>
                        <a:t>Git/ GitHub</a:t>
                      </a:r>
                      <a:endParaRPr lang="en-IN" dirty="0">
                        <a:solidFill>
                          <a:schemeClr val="tx1"/>
                        </a:solidFill>
                        <a:latin typeface="Inter" panose="020B0604020202020204" charset="0"/>
                        <a:ea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734238098"/>
                  </a:ext>
                </a:extLst>
              </a:tr>
              <a:tr h="749349">
                <a:tc>
                  <a:txBody>
                    <a:bodyPr/>
                    <a:lstStyle/>
                    <a:p>
                      <a:pPr algn="ctr"/>
                      <a:r>
                        <a:rPr lang="en-US" dirty="0">
                          <a:solidFill>
                            <a:schemeClr val="tx1"/>
                          </a:solidFill>
                          <a:latin typeface="Inter" panose="020B0604020202020204" charset="0"/>
                          <a:ea typeface="Inter" panose="020B0604020202020204" charset="0"/>
                        </a:rPr>
                        <a:t>Dashboarding</a:t>
                      </a:r>
                      <a:endParaRPr lang="en-IN" dirty="0">
                        <a:solidFill>
                          <a:schemeClr val="tx1"/>
                        </a:solidFill>
                        <a:latin typeface="Inter" panose="020B0604020202020204" charset="0"/>
                        <a:ea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ea typeface="Inter" panose="020B0604020202020204" charset="0"/>
                        </a:rPr>
                        <a:t>Power BI, Streamlit</a:t>
                      </a:r>
                      <a:endParaRPr lang="en-IN" dirty="0">
                        <a:solidFill>
                          <a:schemeClr val="tx1"/>
                        </a:solidFill>
                        <a:latin typeface="Inter" panose="020B0604020202020204" charset="0"/>
                        <a:ea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1204979511"/>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C5D6CA"/>
        </a:solidFill>
        <a:effectLst/>
      </p:bgPr>
    </p:bg>
    <p:spTree>
      <p:nvGrpSpPr>
        <p:cNvPr id="1" name=""/>
        <p:cNvGrpSpPr/>
        <p:nvPr/>
      </p:nvGrpSpPr>
      <p:grpSpPr>
        <a:xfrm>
          <a:off x="0" y="0"/>
          <a:ext cx="0" cy="0"/>
          <a:chOff x="0" y="0"/>
          <a:chExt cx="0" cy="0"/>
        </a:xfrm>
      </p:grpSpPr>
      <p:grpSp>
        <p:nvGrpSpPr>
          <p:cNvPr id="2" name="Group 2"/>
          <p:cNvGrpSpPr/>
          <p:nvPr/>
        </p:nvGrpSpPr>
        <p:grpSpPr>
          <a:xfrm>
            <a:off x="0" y="9497082"/>
            <a:ext cx="18292543" cy="787203"/>
            <a:chOff x="0" y="0"/>
            <a:chExt cx="24390058" cy="1049604"/>
          </a:xfrm>
        </p:grpSpPr>
        <p:sp>
          <p:nvSpPr>
            <p:cNvPr id="3" name="Freeform 3"/>
            <p:cNvSpPr/>
            <p:nvPr/>
          </p:nvSpPr>
          <p:spPr>
            <a:xfrm>
              <a:off x="0" y="0"/>
              <a:ext cx="24390096" cy="1049655"/>
            </a:xfrm>
            <a:custGeom>
              <a:avLst/>
              <a:gdLst/>
              <a:ahLst/>
              <a:cxnLst/>
              <a:rect l="l" t="t" r="r" b="b"/>
              <a:pathLst>
                <a:path w="24390096" h="1049655">
                  <a:moveTo>
                    <a:pt x="0" y="0"/>
                  </a:moveTo>
                  <a:lnTo>
                    <a:pt x="24390096" y="0"/>
                  </a:lnTo>
                  <a:lnTo>
                    <a:pt x="24390096" y="1049655"/>
                  </a:lnTo>
                  <a:lnTo>
                    <a:pt x="0" y="1049655"/>
                  </a:lnTo>
                  <a:close/>
                </a:path>
              </a:pathLst>
            </a:custGeom>
            <a:solidFill>
              <a:srgbClr val="348E90"/>
            </a:solidFill>
          </p:spPr>
          <p:txBody>
            <a:bodyPr/>
            <a:lstStyle/>
            <a:p>
              <a:endParaRPr lang="en-IN"/>
            </a:p>
          </p:txBody>
        </p:sp>
      </p:grpSp>
      <p:sp>
        <p:nvSpPr>
          <p:cNvPr id="4" name="Rectangle 3">
            <a:extLst>
              <a:ext uri="{FF2B5EF4-FFF2-40B4-BE49-F238E27FC236}">
                <a16:creationId xmlns:a16="http://schemas.microsoft.com/office/drawing/2014/main" id="{65DCC621-E169-29C3-862C-1B17E3AF11F4}"/>
              </a:ext>
            </a:extLst>
          </p:cNvPr>
          <p:cNvSpPr/>
          <p:nvPr/>
        </p:nvSpPr>
        <p:spPr>
          <a:xfrm>
            <a:off x="15544800" y="0"/>
            <a:ext cx="1143000" cy="1823056"/>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9DE076CD-9503-D219-3B3C-21D60EEFEC16}"/>
              </a:ext>
            </a:extLst>
          </p:cNvPr>
          <p:cNvSpPr txBox="1"/>
          <p:nvPr/>
        </p:nvSpPr>
        <p:spPr>
          <a:xfrm>
            <a:off x="7467600" y="557585"/>
            <a:ext cx="4572000" cy="707886"/>
          </a:xfrm>
          <a:prstGeom prst="rect">
            <a:avLst/>
          </a:prstGeom>
          <a:noFill/>
        </p:spPr>
        <p:txBody>
          <a:bodyPr wrap="square">
            <a:spAutoFit/>
          </a:bodyPr>
          <a:lstStyle/>
          <a:p>
            <a:pPr algn="ctr"/>
            <a:r>
              <a:rPr lang="en-IN" sz="4000" b="1" dirty="0">
                <a:latin typeface="Inter" panose="020B0604020202020204" charset="0"/>
                <a:ea typeface="Inter" panose="020B0604020202020204" charset="0"/>
              </a:rPr>
              <a:t>Dataset Overview</a:t>
            </a:r>
          </a:p>
        </p:txBody>
      </p:sp>
      <p:sp>
        <p:nvSpPr>
          <p:cNvPr id="8" name="TextBox 7">
            <a:extLst>
              <a:ext uri="{FF2B5EF4-FFF2-40B4-BE49-F238E27FC236}">
                <a16:creationId xmlns:a16="http://schemas.microsoft.com/office/drawing/2014/main" id="{2CC2896C-9ABE-70F7-C698-2C37FC58533F}"/>
              </a:ext>
            </a:extLst>
          </p:cNvPr>
          <p:cNvSpPr txBox="1"/>
          <p:nvPr/>
        </p:nvSpPr>
        <p:spPr>
          <a:xfrm>
            <a:off x="1066800" y="1373805"/>
            <a:ext cx="9144000" cy="477054"/>
          </a:xfrm>
          <a:prstGeom prst="rect">
            <a:avLst/>
          </a:prstGeom>
          <a:noFill/>
        </p:spPr>
        <p:txBody>
          <a:bodyPr wrap="square">
            <a:spAutoFit/>
          </a:bodyPr>
          <a:lstStyle/>
          <a:p>
            <a:r>
              <a:rPr lang="en-US" sz="2500" b="1" dirty="0">
                <a:latin typeface="Inter" panose="020B0604020202020204" charset="0"/>
                <a:ea typeface="Inter" panose="020B0604020202020204" charset="0"/>
              </a:rPr>
              <a:t>Home Credit Default Risk Dataset</a:t>
            </a:r>
            <a:endParaRPr lang="en-IN" sz="2500" b="1" dirty="0">
              <a:latin typeface="Inter" panose="020B0604020202020204" charset="0"/>
              <a:ea typeface="Inter" panose="020B0604020202020204" charset="0"/>
            </a:endParaRPr>
          </a:p>
        </p:txBody>
      </p:sp>
      <p:sp>
        <p:nvSpPr>
          <p:cNvPr id="10" name="TextBox 9">
            <a:extLst>
              <a:ext uri="{FF2B5EF4-FFF2-40B4-BE49-F238E27FC236}">
                <a16:creationId xmlns:a16="http://schemas.microsoft.com/office/drawing/2014/main" id="{7ED48E09-5F18-0CD8-8CF4-67EF756D4447}"/>
              </a:ext>
            </a:extLst>
          </p:cNvPr>
          <p:cNvSpPr txBox="1"/>
          <p:nvPr/>
        </p:nvSpPr>
        <p:spPr>
          <a:xfrm>
            <a:off x="1066800" y="2171700"/>
            <a:ext cx="9144000" cy="1800493"/>
          </a:xfrm>
          <a:prstGeom prst="rect">
            <a:avLst/>
          </a:prstGeom>
          <a:noFill/>
        </p:spPr>
        <p:txBody>
          <a:bodyPr wrap="square">
            <a:spAutoFit/>
          </a:bodyPr>
          <a:lstStyle/>
          <a:p>
            <a:pPr>
              <a:buNone/>
            </a:pPr>
            <a:r>
              <a:rPr lang="en-US" sz="2100" b="1" dirty="0">
                <a:latin typeface="Inter" panose="020B0604020202020204" charset="0"/>
                <a:ea typeface="Inter" panose="020B0604020202020204" charset="0"/>
              </a:rPr>
              <a:t>Dataset Characteristics</a:t>
            </a:r>
          </a:p>
          <a:p>
            <a:pPr marL="285750" indent="-285750">
              <a:buFont typeface="Arial" panose="020B0604020202020204" pitchFamily="34" charset="0"/>
              <a:buChar char="•"/>
            </a:pPr>
            <a:r>
              <a:rPr lang="en-US" dirty="0">
                <a:latin typeface="Inter" panose="020B0604020202020204" charset="0"/>
                <a:ea typeface="Inter" panose="020B0604020202020204" charset="0"/>
              </a:rPr>
              <a:t>~300K+ customer records</a:t>
            </a:r>
          </a:p>
          <a:p>
            <a:pPr marL="285750" indent="-285750">
              <a:buFont typeface="Arial" panose="020B0604020202020204" pitchFamily="34" charset="0"/>
              <a:buChar char="•"/>
            </a:pPr>
            <a:r>
              <a:rPr lang="en-US" dirty="0">
                <a:latin typeface="Inter" panose="020B0604020202020204" charset="0"/>
                <a:ea typeface="Inter" panose="020B0604020202020204" charset="0"/>
              </a:rPr>
              <a:t>7 interconnected tables</a:t>
            </a:r>
          </a:p>
          <a:p>
            <a:pPr marL="285750" indent="-285750">
              <a:buFont typeface="Arial" panose="020B0604020202020204" pitchFamily="34" charset="0"/>
              <a:buChar char="•"/>
            </a:pPr>
            <a:r>
              <a:rPr lang="en-US" dirty="0">
                <a:latin typeface="Inter" panose="020B0604020202020204" charset="0"/>
                <a:ea typeface="Inter" panose="020B0604020202020204" charset="0"/>
              </a:rPr>
              <a:t>Multi-source financial data</a:t>
            </a:r>
          </a:p>
          <a:p>
            <a:pPr marL="285750" indent="-285750">
              <a:buFont typeface="Arial" panose="020B0604020202020204" pitchFamily="34" charset="0"/>
              <a:buChar char="•"/>
            </a:pPr>
            <a:r>
              <a:rPr lang="en-US" dirty="0">
                <a:latin typeface="Inter" panose="020B0604020202020204" charset="0"/>
                <a:ea typeface="Inter" panose="020B0604020202020204" charset="0"/>
              </a:rPr>
              <a:t>Combination of static + behavioral data</a:t>
            </a:r>
          </a:p>
          <a:p>
            <a:pPr marL="285750" indent="-285750">
              <a:buFont typeface="Arial" panose="020B0604020202020204" pitchFamily="34" charset="0"/>
              <a:buChar char="•"/>
            </a:pPr>
            <a:r>
              <a:rPr lang="en-US" dirty="0">
                <a:latin typeface="Inter" panose="020B0604020202020204" charset="0"/>
                <a:ea typeface="Inter" panose="020B0604020202020204" charset="0"/>
              </a:rPr>
              <a:t>Real-world credit risk dataset</a:t>
            </a:r>
          </a:p>
        </p:txBody>
      </p:sp>
      <p:sp>
        <p:nvSpPr>
          <p:cNvPr id="12" name="TextBox 11">
            <a:extLst>
              <a:ext uri="{FF2B5EF4-FFF2-40B4-BE49-F238E27FC236}">
                <a16:creationId xmlns:a16="http://schemas.microsoft.com/office/drawing/2014/main" id="{9D64EA07-8F63-6B89-3747-DE2C7CE7495A}"/>
              </a:ext>
            </a:extLst>
          </p:cNvPr>
          <p:cNvSpPr txBox="1"/>
          <p:nvPr/>
        </p:nvSpPr>
        <p:spPr>
          <a:xfrm>
            <a:off x="1072978" y="4365614"/>
            <a:ext cx="9144000" cy="2185214"/>
          </a:xfrm>
          <a:prstGeom prst="rect">
            <a:avLst/>
          </a:prstGeom>
          <a:noFill/>
        </p:spPr>
        <p:txBody>
          <a:bodyPr wrap="square">
            <a:spAutoFit/>
          </a:bodyPr>
          <a:lstStyle/>
          <a:p>
            <a:pPr>
              <a:buNone/>
            </a:pPr>
            <a:r>
              <a:rPr lang="en-IN" sz="2500" b="1" dirty="0">
                <a:latin typeface="Inter" panose="020B0604020202020204" charset="0"/>
                <a:ea typeface="Inter" panose="020B0604020202020204" charset="0"/>
              </a:rPr>
              <a:t>Central Dataset</a:t>
            </a:r>
          </a:p>
          <a:p>
            <a:pPr>
              <a:buNone/>
            </a:pPr>
            <a:r>
              <a:rPr lang="en-IN" sz="2100" b="1" dirty="0">
                <a:latin typeface="Inter" panose="020B0604020202020204" charset="0"/>
                <a:ea typeface="Inter" panose="020B0604020202020204" charset="0"/>
              </a:rPr>
              <a:t>application_train</a:t>
            </a:r>
          </a:p>
          <a:p>
            <a:pPr>
              <a:buNone/>
            </a:pPr>
            <a:r>
              <a:rPr lang="en-IN" dirty="0">
                <a:latin typeface="Inter" panose="020B0604020202020204" charset="0"/>
                <a:ea typeface="Inter" panose="020B0604020202020204" charset="0"/>
              </a:rPr>
              <a:t>Contains:</a:t>
            </a:r>
          </a:p>
          <a:p>
            <a:pPr marL="285750" indent="-285750">
              <a:buFont typeface="Arial" panose="020B0604020202020204" pitchFamily="34" charset="0"/>
              <a:buChar char="•"/>
            </a:pPr>
            <a:r>
              <a:rPr lang="en-IN" dirty="0">
                <a:latin typeface="Inter" panose="020B0604020202020204" charset="0"/>
                <a:ea typeface="Inter" panose="020B0604020202020204" charset="0"/>
              </a:rPr>
              <a:t>Customer demographics</a:t>
            </a:r>
          </a:p>
          <a:p>
            <a:pPr marL="285750" indent="-285750">
              <a:buFont typeface="Arial" panose="020B0604020202020204" pitchFamily="34" charset="0"/>
              <a:buChar char="•"/>
            </a:pPr>
            <a:r>
              <a:rPr lang="en-IN" dirty="0">
                <a:latin typeface="Inter" panose="020B0604020202020204" charset="0"/>
                <a:ea typeface="Inter" panose="020B0604020202020204" charset="0"/>
              </a:rPr>
              <a:t>Income details</a:t>
            </a:r>
          </a:p>
          <a:p>
            <a:pPr marL="285750" indent="-285750">
              <a:buFont typeface="Arial" panose="020B0604020202020204" pitchFamily="34" charset="0"/>
              <a:buChar char="•"/>
            </a:pPr>
            <a:r>
              <a:rPr lang="en-IN" dirty="0">
                <a:latin typeface="Inter" panose="020B0604020202020204" charset="0"/>
                <a:ea typeface="Inter" panose="020B0604020202020204" charset="0"/>
              </a:rPr>
              <a:t>Loan information</a:t>
            </a:r>
          </a:p>
          <a:p>
            <a:pPr marL="285750" indent="-285750">
              <a:buFont typeface="Arial" panose="020B0604020202020204" pitchFamily="34" charset="0"/>
              <a:buChar char="•"/>
            </a:pPr>
            <a:r>
              <a:rPr lang="en-IN" dirty="0">
                <a:latin typeface="Inter" panose="020B0604020202020204" charset="0"/>
                <a:ea typeface="Inter" panose="020B0604020202020204" charset="0"/>
              </a:rPr>
              <a:t>Default target variable</a:t>
            </a:r>
          </a:p>
        </p:txBody>
      </p:sp>
      <p:sp>
        <p:nvSpPr>
          <p:cNvPr id="14" name="TextBox 13">
            <a:extLst>
              <a:ext uri="{FF2B5EF4-FFF2-40B4-BE49-F238E27FC236}">
                <a16:creationId xmlns:a16="http://schemas.microsoft.com/office/drawing/2014/main" id="{A12C4B4B-F9B2-4AF9-A284-6070A7CD0A30}"/>
              </a:ext>
            </a:extLst>
          </p:cNvPr>
          <p:cNvSpPr txBox="1"/>
          <p:nvPr/>
        </p:nvSpPr>
        <p:spPr>
          <a:xfrm>
            <a:off x="1066800" y="6882693"/>
            <a:ext cx="9144000" cy="1031051"/>
          </a:xfrm>
          <a:prstGeom prst="rect">
            <a:avLst/>
          </a:prstGeom>
          <a:noFill/>
        </p:spPr>
        <p:txBody>
          <a:bodyPr wrap="square">
            <a:spAutoFit/>
          </a:bodyPr>
          <a:lstStyle/>
          <a:p>
            <a:pPr>
              <a:buNone/>
            </a:pPr>
            <a:r>
              <a:rPr lang="en-IN" sz="2500" b="1" dirty="0">
                <a:latin typeface="Inter" panose="020B0604020202020204" charset="0"/>
                <a:ea typeface="Inter" panose="020B0604020202020204" charset="0"/>
              </a:rPr>
              <a:t>Target Variable</a:t>
            </a:r>
          </a:p>
          <a:p>
            <a:pPr marL="285750" indent="-285750">
              <a:buFont typeface="Arial" panose="020B0604020202020204" pitchFamily="34" charset="0"/>
              <a:buChar char="•"/>
            </a:pPr>
            <a:r>
              <a:rPr lang="en-IN" dirty="0">
                <a:latin typeface="Inter" panose="020B0604020202020204" charset="0"/>
                <a:ea typeface="Inter" panose="020B0604020202020204" charset="0"/>
              </a:rPr>
              <a:t>TARGET = 1 → Default</a:t>
            </a:r>
          </a:p>
          <a:p>
            <a:pPr marL="285750" indent="-285750">
              <a:buFont typeface="Arial" panose="020B0604020202020204" pitchFamily="34" charset="0"/>
              <a:buChar char="•"/>
            </a:pPr>
            <a:r>
              <a:rPr lang="en-IN" dirty="0">
                <a:latin typeface="Inter" panose="020B0604020202020204" charset="0"/>
                <a:ea typeface="Inter" panose="020B0604020202020204" charset="0"/>
              </a:rPr>
              <a:t>TARGET = 0 → Non-default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C5D6CA"/>
        </a:solidFill>
        <a:effectLst/>
      </p:bgPr>
    </p:bg>
    <p:spTree>
      <p:nvGrpSpPr>
        <p:cNvPr id="1" name="">
          <a:extLst>
            <a:ext uri="{FF2B5EF4-FFF2-40B4-BE49-F238E27FC236}">
              <a16:creationId xmlns:a16="http://schemas.microsoft.com/office/drawing/2014/main" id="{31BAE4C7-7E7A-5DBC-01C3-7430C0139BF4}"/>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9BBFB6FE-CC5F-65F8-B8DF-8AA60D5CE3F1}"/>
              </a:ext>
            </a:extLst>
          </p:cNvPr>
          <p:cNvGrpSpPr/>
          <p:nvPr/>
        </p:nvGrpSpPr>
        <p:grpSpPr>
          <a:xfrm>
            <a:off x="0" y="9497082"/>
            <a:ext cx="18292543" cy="787203"/>
            <a:chOff x="0" y="0"/>
            <a:chExt cx="24390058" cy="1049604"/>
          </a:xfrm>
        </p:grpSpPr>
        <p:sp>
          <p:nvSpPr>
            <p:cNvPr id="3" name="Freeform 3">
              <a:extLst>
                <a:ext uri="{FF2B5EF4-FFF2-40B4-BE49-F238E27FC236}">
                  <a16:creationId xmlns:a16="http://schemas.microsoft.com/office/drawing/2014/main" id="{AE8DB119-5C60-8EE0-BA08-47BEC6A361DF}"/>
                </a:ext>
              </a:extLst>
            </p:cNvPr>
            <p:cNvSpPr/>
            <p:nvPr/>
          </p:nvSpPr>
          <p:spPr>
            <a:xfrm>
              <a:off x="0" y="0"/>
              <a:ext cx="24390096" cy="1049655"/>
            </a:xfrm>
            <a:custGeom>
              <a:avLst/>
              <a:gdLst/>
              <a:ahLst/>
              <a:cxnLst/>
              <a:rect l="l" t="t" r="r" b="b"/>
              <a:pathLst>
                <a:path w="24390096" h="1049655">
                  <a:moveTo>
                    <a:pt x="0" y="0"/>
                  </a:moveTo>
                  <a:lnTo>
                    <a:pt x="24390096" y="0"/>
                  </a:lnTo>
                  <a:lnTo>
                    <a:pt x="24390096" y="1049655"/>
                  </a:lnTo>
                  <a:lnTo>
                    <a:pt x="0" y="1049655"/>
                  </a:lnTo>
                  <a:close/>
                </a:path>
              </a:pathLst>
            </a:custGeom>
            <a:solidFill>
              <a:srgbClr val="348E90"/>
            </a:solidFill>
          </p:spPr>
          <p:txBody>
            <a:bodyPr/>
            <a:lstStyle/>
            <a:p>
              <a:endParaRPr lang="en-IN"/>
            </a:p>
          </p:txBody>
        </p:sp>
      </p:grpSp>
      <p:sp>
        <p:nvSpPr>
          <p:cNvPr id="4" name="Rectangle 3">
            <a:extLst>
              <a:ext uri="{FF2B5EF4-FFF2-40B4-BE49-F238E27FC236}">
                <a16:creationId xmlns:a16="http://schemas.microsoft.com/office/drawing/2014/main" id="{5D299209-AFC3-BD0B-CFA5-B21D5A8B9E98}"/>
              </a:ext>
            </a:extLst>
          </p:cNvPr>
          <p:cNvSpPr/>
          <p:nvPr/>
        </p:nvSpPr>
        <p:spPr>
          <a:xfrm>
            <a:off x="15544800" y="0"/>
            <a:ext cx="1143000" cy="1823056"/>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5C4E7172-C00C-2865-A66E-F04CA5B51AC4}"/>
              </a:ext>
            </a:extLst>
          </p:cNvPr>
          <p:cNvSpPr txBox="1"/>
          <p:nvPr/>
        </p:nvSpPr>
        <p:spPr>
          <a:xfrm>
            <a:off x="5562600" y="557585"/>
            <a:ext cx="6934200" cy="707886"/>
          </a:xfrm>
          <a:prstGeom prst="rect">
            <a:avLst/>
          </a:prstGeom>
          <a:noFill/>
        </p:spPr>
        <p:txBody>
          <a:bodyPr wrap="square">
            <a:spAutoFit/>
          </a:bodyPr>
          <a:lstStyle/>
          <a:p>
            <a:pPr algn="ctr"/>
            <a:r>
              <a:rPr lang="en-US" sz="4000" b="1" dirty="0">
                <a:latin typeface="Inter" panose="020B0604020202020204" charset="0"/>
                <a:ea typeface="Inter" panose="020B0604020202020204" charset="0"/>
              </a:rPr>
              <a:t>A</a:t>
            </a:r>
            <a:r>
              <a:rPr lang="en-IN" sz="4000" b="1" dirty="0">
                <a:latin typeface="Inter" panose="020B0604020202020204" charset="0"/>
                <a:ea typeface="Inter" panose="020B0604020202020204" charset="0"/>
              </a:rPr>
              <a:t>ll Dataset Tables Summary</a:t>
            </a:r>
          </a:p>
        </p:txBody>
      </p:sp>
      <p:graphicFrame>
        <p:nvGraphicFramePr>
          <p:cNvPr id="5" name="Table 4">
            <a:extLst>
              <a:ext uri="{FF2B5EF4-FFF2-40B4-BE49-F238E27FC236}">
                <a16:creationId xmlns:a16="http://schemas.microsoft.com/office/drawing/2014/main" id="{15BB6AAB-159E-C440-8A44-B9128B7505C1}"/>
              </a:ext>
            </a:extLst>
          </p:cNvPr>
          <p:cNvGraphicFramePr>
            <a:graphicFrameLocks noGrp="1"/>
          </p:cNvGraphicFramePr>
          <p:nvPr>
            <p:extLst>
              <p:ext uri="{D42A27DB-BD31-4B8C-83A1-F6EECF244321}">
                <p14:modId xmlns:p14="http://schemas.microsoft.com/office/powerpoint/2010/main" val="4265807538"/>
              </p:ext>
            </p:extLst>
          </p:nvPr>
        </p:nvGraphicFramePr>
        <p:xfrm>
          <a:off x="1371600" y="1921178"/>
          <a:ext cx="15316200" cy="4822524"/>
        </p:xfrm>
        <a:graphic>
          <a:graphicData uri="http://schemas.openxmlformats.org/drawingml/2006/table">
            <a:tbl>
              <a:tblPr firstRow="1" bandRow="1">
                <a:tableStyleId>{5C22544A-7EE6-4342-B048-85BDC9FD1C3A}</a:tableStyleId>
              </a:tblPr>
              <a:tblGrid>
                <a:gridCol w="2552700">
                  <a:extLst>
                    <a:ext uri="{9D8B030D-6E8A-4147-A177-3AD203B41FA5}">
                      <a16:colId xmlns:a16="http://schemas.microsoft.com/office/drawing/2014/main" val="1462894297"/>
                    </a:ext>
                  </a:extLst>
                </a:gridCol>
                <a:gridCol w="2552700">
                  <a:extLst>
                    <a:ext uri="{9D8B030D-6E8A-4147-A177-3AD203B41FA5}">
                      <a16:colId xmlns:a16="http://schemas.microsoft.com/office/drawing/2014/main" val="3100065400"/>
                    </a:ext>
                  </a:extLst>
                </a:gridCol>
                <a:gridCol w="2552700">
                  <a:extLst>
                    <a:ext uri="{9D8B030D-6E8A-4147-A177-3AD203B41FA5}">
                      <a16:colId xmlns:a16="http://schemas.microsoft.com/office/drawing/2014/main" val="1266630389"/>
                    </a:ext>
                  </a:extLst>
                </a:gridCol>
                <a:gridCol w="2552700">
                  <a:extLst>
                    <a:ext uri="{9D8B030D-6E8A-4147-A177-3AD203B41FA5}">
                      <a16:colId xmlns:a16="http://schemas.microsoft.com/office/drawing/2014/main" val="1632720985"/>
                    </a:ext>
                  </a:extLst>
                </a:gridCol>
                <a:gridCol w="2552700">
                  <a:extLst>
                    <a:ext uri="{9D8B030D-6E8A-4147-A177-3AD203B41FA5}">
                      <a16:colId xmlns:a16="http://schemas.microsoft.com/office/drawing/2014/main" val="2976522095"/>
                    </a:ext>
                  </a:extLst>
                </a:gridCol>
                <a:gridCol w="2552700">
                  <a:extLst>
                    <a:ext uri="{9D8B030D-6E8A-4147-A177-3AD203B41FA5}">
                      <a16:colId xmlns:a16="http://schemas.microsoft.com/office/drawing/2014/main" val="2464270639"/>
                    </a:ext>
                  </a:extLst>
                </a:gridCol>
              </a:tblGrid>
              <a:tr h="481263">
                <a:tc>
                  <a:txBody>
                    <a:bodyPr/>
                    <a:lstStyle/>
                    <a:p>
                      <a:pPr algn="ctr" fontAlgn="ctr">
                        <a:buNone/>
                      </a:pPr>
                      <a:r>
                        <a:rPr lang="en-IN" sz="1800" b="1" i="0" u="none" strike="noStrike">
                          <a:solidFill>
                            <a:srgbClr val="202020"/>
                          </a:solidFill>
                          <a:effectLst/>
                          <a:latin typeface="Inter" panose="020B0604020202020204" charset="0"/>
                          <a:cs typeface="Inter" panose="020B0604020202020204" charset="0"/>
                        </a:rPr>
                        <a:t>Table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ctr">
                        <a:buNone/>
                      </a:pPr>
                      <a:r>
                        <a:rPr lang="en-IN" sz="1800" b="1" i="0" u="none" strike="noStrike">
                          <a:solidFill>
                            <a:srgbClr val="202020"/>
                          </a:solidFill>
                          <a:effectLst/>
                          <a:latin typeface="Inter" panose="020B0604020202020204" charset="0"/>
                          <a:cs typeface="Inter" panose="020B0604020202020204" charset="0"/>
                        </a:rPr>
                        <a:t>Rows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ctr">
                        <a:buNone/>
                      </a:pPr>
                      <a:r>
                        <a:rPr lang="en-IN" sz="1800" b="1" i="0" u="none" strike="noStrike">
                          <a:solidFill>
                            <a:srgbClr val="202020"/>
                          </a:solidFill>
                          <a:effectLst/>
                          <a:latin typeface="Inter" panose="020B0604020202020204" charset="0"/>
                          <a:cs typeface="Inter" panose="020B0604020202020204" charset="0"/>
                        </a:rPr>
                        <a:t>Columns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ctr">
                        <a:buNone/>
                      </a:pPr>
                      <a:r>
                        <a:rPr lang="en-IN" sz="1800" b="1" i="0" u="none" strike="noStrike">
                          <a:solidFill>
                            <a:srgbClr val="202020"/>
                          </a:solidFill>
                          <a:effectLst/>
                          <a:latin typeface="Inter" panose="020B0604020202020204" charset="0"/>
                          <a:cs typeface="Inter" panose="020B0604020202020204" charset="0"/>
                        </a:rPr>
                        <a:t>Numeric Cols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ctr">
                        <a:buNone/>
                      </a:pPr>
                      <a:r>
                        <a:rPr lang="en-IN" sz="1800" b="1" i="0" u="none" strike="noStrike">
                          <a:solidFill>
                            <a:srgbClr val="202020"/>
                          </a:solidFill>
                          <a:effectLst/>
                          <a:latin typeface="Inter" panose="020B0604020202020204" charset="0"/>
                          <a:cs typeface="Inter" panose="020B0604020202020204" charset="0"/>
                        </a:rPr>
                        <a:t>Categorical Cols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ctr">
                        <a:buNone/>
                      </a:pPr>
                      <a:r>
                        <a:rPr lang="en-IN" sz="1800" b="1" i="0" u="none" strike="noStrike">
                          <a:solidFill>
                            <a:srgbClr val="202020"/>
                          </a:solidFill>
                          <a:effectLst/>
                          <a:latin typeface="Inter" panose="020B0604020202020204" charset="0"/>
                          <a:cs typeface="Inter" panose="020B0604020202020204" charset="0"/>
                        </a:rPr>
                        <a:t>Avg Missing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1655635065"/>
                  </a:ext>
                </a:extLst>
              </a:tr>
              <a:tr h="481263">
                <a:tc>
                  <a:txBody>
                    <a:bodyPr/>
                    <a:lstStyle/>
                    <a:p>
                      <a:pPr algn="ctr" fontAlgn="ctr">
                        <a:buNone/>
                      </a:pPr>
                      <a:r>
                        <a:rPr lang="en-IN" sz="1800" b="0" i="0" u="none" strike="noStrike">
                          <a:solidFill>
                            <a:srgbClr val="202020"/>
                          </a:solidFill>
                          <a:effectLst/>
                          <a:latin typeface="Inter" panose="020B0604020202020204" charset="0"/>
                          <a:cs typeface="Inter" panose="020B0604020202020204" charset="0"/>
                        </a:rPr>
                        <a:t>application_train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ctr">
                        <a:buNone/>
                      </a:pPr>
                      <a:r>
                        <a:rPr lang="en-IN" sz="1800" b="0" i="0" u="none" strike="noStrike">
                          <a:solidFill>
                            <a:srgbClr val="202020"/>
                          </a:solidFill>
                          <a:effectLst/>
                          <a:latin typeface="Inter" panose="020B0604020202020204" charset="0"/>
                          <a:cs typeface="Inter" panose="020B0604020202020204" charset="0"/>
                        </a:rPr>
                        <a:t>3,07,511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ctr">
                        <a:buNone/>
                      </a:pPr>
                      <a:r>
                        <a:rPr lang="en-IN" sz="1800" b="0" i="0" u="none" strike="noStrike">
                          <a:solidFill>
                            <a:srgbClr val="202020"/>
                          </a:solidFill>
                          <a:effectLst/>
                          <a:latin typeface="Inter" panose="020B0604020202020204" charset="0"/>
                          <a:cs typeface="Inter" panose="020B0604020202020204" charset="0"/>
                        </a:rPr>
                        <a:t>122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ctr">
                        <a:buNone/>
                      </a:pPr>
                      <a:r>
                        <a:rPr lang="en-IN" sz="1800" b="0" i="0" u="none" strike="noStrike">
                          <a:solidFill>
                            <a:srgbClr val="202020"/>
                          </a:solidFill>
                          <a:effectLst/>
                          <a:latin typeface="Inter" panose="020B0604020202020204" charset="0"/>
                          <a:cs typeface="Inter" panose="020B0604020202020204" charset="0"/>
                        </a:rPr>
                        <a:t>106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ctr">
                        <a:buNone/>
                      </a:pPr>
                      <a:r>
                        <a:rPr lang="en-IN" sz="1800" b="0" i="0" u="none" strike="noStrike">
                          <a:solidFill>
                            <a:srgbClr val="202020"/>
                          </a:solidFill>
                          <a:effectLst/>
                          <a:latin typeface="Inter" panose="020B0604020202020204" charset="0"/>
                          <a:cs typeface="Inter" panose="020B0604020202020204" charset="0"/>
                        </a:rPr>
                        <a:t>16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ctr">
                        <a:buNone/>
                      </a:pPr>
                      <a:r>
                        <a:rPr lang="en-IN" sz="1800" b="0" i="0" u="none" strike="noStrike" dirty="0">
                          <a:solidFill>
                            <a:schemeClr val="bg1"/>
                          </a:solidFill>
                          <a:effectLst/>
                          <a:latin typeface="Inter" panose="020B0604020202020204" charset="0"/>
                          <a:cs typeface="Inter" panose="020B0604020202020204" charset="0"/>
                        </a:rPr>
                        <a:t>24.4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75000"/>
                      </a:schemeClr>
                    </a:solidFill>
                  </a:tcPr>
                </a:tc>
                <a:extLst>
                  <a:ext uri="{0D108BD9-81ED-4DB2-BD59-A6C34878D82A}">
                    <a16:rowId xmlns:a16="http://schemas.microsoft.com/office/drawing/2014/main" val="2279375367"/>
                  </a:ext>
                </a:extLst>
              </a:tr>
              <a:tr h="481263">
                <a:tc>
                  <a:txBody>
                    <a:bodyPr/>
                    <a:lstStyle/>
                    <a:p>
                      <a:pPr algn="ctr" fontAlgn="ctr">
                        <a:buNone/>
                      </a:pPr>
                      <a:r>
                        <a:rPr lang="en-IN" sz="1800" b="0" i="0" u="none" strike="noStrike">
                          <a:solidFill>
                            <a:srgbClr val="202020"/>
                          </a:solidFill>
                          <a:effectLst/>
                          <a:latin typeface="Inter" panose="020B0604020202020204" charset="0"/>
                          <a:cs typeface="Inter" panose="020B0604020202020204" charset="0"/>
                        </a:rPr>
                        <a:t>bureau</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ctr">
                        <a:buNone/>
                      </a:pPr>
                      <a:r>
                        <a:rPr lang="en-IN" sz="1800" b="0" i="0" u="none" strike="noStrike">
                          <a:solidFill>
                            <a:srgbClr val="202020"/>
                          </a:solidFill>
                          <a:effectLst/>
                          <a:latin typeface="Inter" panose="020B0604020202020204" charset="0"/>
                          <a:cs typeface="Inter" panose="020B0604020202020204" charset="0"/>
                        </a:rPr>
                        <a:t>17,16,428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ctr">
                        <a:buNone/>
                      </a:pPr>
                      <a:r>
                        <a:rPr lang="en-IN" sz="1800" b="0" i="0" u="none" strike="noStrike">
                          <a:solidFill>
                            <a:srgbClr val="202020"/>
                          </a:solidFill>
                          <a:effectLst/>
                          <a:latin typeface="Inter" panose="020B0604020202020204" charset="0"/>
                          <a:cs typeface="Inter" panose="020B0604020202020204" charset="0"/>
                        </a:rPr>
                        <a:t>17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ctr">
                        <a:buNone/>
                      </a:pPr>
                      <a:r>
                        <a:rPr lang="en-IN" sz="1800" b="0" i="0" u="none" strike="noStrike">
                          <a:solidFill>
                            <a:srgbClr val="202020"/>
                          </a:solidFill>
                          <a:effectLst/>
                          <a:latin typeface="Inter" panose="020B0604020202020204" charset="0"/>
                          <a:cs typeface="Inter" panose="020B0604020202020204" charset="0"/>
                        </a:rPr>
                        <a:t>14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ctr">
                        <a:buNone/>
                      </a:pPr>
                      <a:r>
                        <a:rPr lang="en-IN" sz="1800" b="0" i="0" u="none" strike="noStrike">
                          <a:solidFill>
                            <a:srgbClr val="202020"/>
                          </a:solidFill>
                          <a:effectLst/>
                          <a:latin typeface="Inter" panose="020B0604020202020204" charset="0"/>
                          <a:cs typeface="Inter" panose="020B0604020202020204" charset="0"/>
                        </a:rPr>
                        <a:t>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ctr">
                        <a:buNone/>
                      </a:pPr>
                      <a:r>
                        <a:rPr lang="en-IN" sz="1800" b="0" i="0" u="none" strike="noStrike" dirty="0">
                          <a:solidFill>
                            <a:schemeClr val="bg1"/>
                          </a:solidFill>
                          <a:effectLst/>
                          <a:latin typeface="Inter" panose="020B0604020202020204" charset="0"/>
                          <a:cs typeface="Inter" panose="020B0604020202020204" charset="0"/>
                        </a:rPr>
                        <a:t>13.5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603B"/>
                    </a:solidFill>
                  </a:tcPr>
                </a:tc>
                <a:extLst>
                  <a:ext uri="{0D108BD9-81ED-4DB2-BD59-A6C34878D82A}">
                    <a16:rowId xmlns:a16="http://schemas.microsoft.com/office/drawing/2014/main" val="1344971033"/>
                  </a:ext>
                </a:extLst>
              </a:tr>
              <a:tr h="481263">
                <a:tc>
                  <a:txBody>
                    <a:bodyPr/>
                    <a:lstStyle/>
                    <a:p>
                      <a:pPr algn="ctr" fontAlgn="ctr">
                        <a:buNone/>
                      </a:pPr>
                      <a:r>
                        <a:rPr lang="en-IN" sz="1800" b="0" i="0" u="none" strike="noStrike">
                          <a:solidFill>
                            <a:srgbClr val="202020"/>
                          </a:solidFill>
                          <a:effectLst/>
                          <a:latin typeface="Inter" panose="020B0604020202020204" charset="0"/>
                          <a:cs typeface="Inter" panose="020B0604020202020204" charset="0"/>
                        </a:rPr>
                        <a:t>bureau_balance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ctr">
                        <a:buNone/>
                      </a:pPr>
                      <a:r>
                        <a:rPr lang="en-IN" sz="1800" b="0" i="0" u="none" strike="noStrike">
                          <a:solidFill>
                            <a:srgbClr val="202020"/>
                          </a:solidFill>
                          <a:effectLst/>
                          <a:latin typeface="Inter" panose="020B0604020202020204" charset="0"/>
                          <a:cs typeface="Inter" panose="020B0604020202020204" charset="0"/>
                        </a:rPr>
                        <a:t>2,72,99,925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ctr">
                        <a:buNone/>
                      </a:pPr>
                      <a:r>
                        <a:rPr lang="en-IN" sz="1800" b="0" i="0" u="none" strike="noStrike">
                          <a:solidFill>
                            <a:srgbClr val="202020"/>
                          </a:solidFill>
                          <a:effectLst/>
                          <a:latin typeface="Inter" panose="020B0604020202020204" charset="0"/>
                          <a:cs typeface="Inter" panose="020B0604020202020204" charset="0"/>
                        </a:rPr>
                        <a:t>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ctr">
                        <a:buNone/>
                      </a:pPr>
                      <a:r>
                        <a:rPr lang="en-IN" sz="1800" b="0" i="0" u="none" strike="noStrike">
                          <a:solidFill>
                            <a:srgbClr val="202020"/>
                          </a:solidFill>
                          <a:effectLst/>
                          <a:latin typeface="Inter" panose="020B0604020202020204" charset="0"/>
                          <a:cs typeface="Inter" panose="020B0604020202020204" charset="0"/>
                        </a:rPr>
                        <a:t>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ctr">
                        <a:buNone/>
                      </a:pPr>
                      <a:r>
                        <a:rPr lang="en-IN" sz="1800" b="0" i="0" u="none" strike="noStrike">
                          <a:solidFill>
                            <a:srgbClr val="202020"/>
                          </a:solidFill>
                          <a:effectLst/>
                          <a:latin typeface="Inter" panose="020B0604020202020204" charset="0"/>
                          <a:cs typeface="Inter" panose="020B0604020202020204" charset="0"/>
                        </a:rPr>
                        <a:t>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ctr">
                        <a:buNone/>
                      </a:pPr>
                      <a:r>
                        <a:rPr lang="en-IN" sz="1800" b="0" i="0" u="none" strike="noStrike" dirty="0">
                          <a:solidFill>
                            <a:schemeClr val="tx1"/>
                          </a:solidFill>
                          <a:effectLst/>
                          <a:latin typeface="Inter" panose="020B0604020202020204" charset="0"/>
                          <a:cs typeface="Inter" panose="020B0604020202020204" charset="0"/>
                        </a:rPr>
                        <a:t>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836883347"/>
                  </a:ext>
                </a:extLst>
              </a:tr>
              <a:tr h="724368">
                <a:tc>
                  <a:txBody>
                    <a:bodyPr/>
                    <a:lstStyle/>
                    <a:p>
                      <a:pPr algn="ctr" fontAlgn="ctr">
                        <a:buNone/>
                      </a:pPr>
                      <a:r>
                        <a:rPr lang="en-IN" sz="1800" b="0" i="0" u="none" strike="noStrike">
                          <a:solidFill>
                            <a:srgbClr val="202020"/>
                          </a:solidFill>
                          <a:effectLst/>
                          <a:latin typeface="Inter" panose="020B0604020202020204" charset="0"/>
                          <a:cs typeface="Inter" panose="020B0604020202020204" charset="0"/>
                        </a:rPr>
                        <a:t>previous_application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ctr">
                        <a:buNone/>
                      </a:pPr>
                      <a:r>
                        <a:rPr lang="en-IN" sz="1800" b="0" i="0" u="none" strike="noStrike">
                          <a:solidFill>
                            <a:srgbClr val="202020"/>
                          </a:solidFill>
                          <a:effectLst/>
                          <a:latin typeface="Inter" panose="020B0604020202020204" charset="0"/>
                          <a:cs typeface="Inter" panose="020B0604020202020204" charset="0"/>
                        </a:rPr>
                        <a:t>16,70,214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ctr">
                        <a:buNone/>
                      </a:pPr>
                      <a:r>
                        <a:rPr lang="en-IN" sz="1800" b="0" i="0" u="none" strike="noStrike">
                          <a:solidFill>
                            <a:srgbClr val="202020"/>
                          </a:solidFill>
                          <a:effectLst/>
                          <a:latin typeface="Inter" panose="020B0604020202020204" charset="0"/>
                          <a:cs typeface="Inter" panose="020B0604020202020204" charset="0"/>
                        </a:rPr>
                        <a:t>37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ctr">
                        <a:buNone/>
                      </a:pPr>
                      <a:r>
                        <a:rPr lang="en-IN" sz="1800" b="0" i="0" u="none" strike="noStrike">
                          <a:solidFill>
                            <a:srgbClr val="202020"/>
                          </a:solidFill>
                          <a:effectLst/>
                          <a:latin typeface="Inter" panose="020B0604020202020204" charset="0"/>
                          <a:cs typeface="Inter" panose="020B0604020202020204" charset="0"/>
                        </a:rPr>
                        <a:t>21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ctr">
                        <a:buNone/>
                      </a:pPr>
                      <a:r>
                        <a:rPr lang="en-IN" sz="1800" b="0" i="0" u="none" strike="noStrike">
                          <a:solidFill>
                            <a:srgbClr val="202020"/>
                          </a:solidFill>
                          <a:effectLst/>
                          <a:latin typeface="Inter" panose="020B0604020202020204" charset="0"/>
                          <a:cs typeface="Inter" panose="020B0604020202020204" charset="0"/>
                        </a:rPr>
                        <a:t>16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ctr">
                        <a:buNone/>
                      </a:pPr>
                      <a:r>
                        <a:rPr lang="en-IN" sz="1800" b="0" i="0" u="none" strike="noStrike" dirty="0">
                          <a:solidFill>
                            <a:schemeClr val="bg1"/>
                          </a:solidFill>
                          <a:effectLst/>
                          <a:latin typeface="Inter" panose="020B0604020202020204" charset="0"/>
                          <a:cs typeface="Inter" panose="020B0604020202020204" charset="0"/>
                        </a:rPr>
                        <a:t>17.98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extLst>
                  <a:ext uri="{0D108BD9-81ED-4DB2-BD59-A6C34878D82A}">
                    <a16:rowId xmlns:a16="http://schemas.microsoft.com/office/drawing/2014/main" val="3911620722"/>
                  </a:ext>
                </a:extLst>
              </a:tr>
              <a:tr h="724368">
                <a:tc>
                  <a:txBody>
                    <a:bodyPr/>
                    <a:lstStyle/>
                    <a:p>
                      <a:pPr algn="ctr" fontAlgn="ctr">
                        <a:buNone/>
                      </a:pPr>
                      <a:r>
                        <a:rPr lang="en-IN" sz="1800" b="0" i="0" u="none" strike="noStrike">
                          <a:solidFill>
                            <a:srgbClr val="202020"/>
                          </a:solidFill>
                          <a:effectLst/>
                          <a:latin typeface="Inter" panose="020B0604020202020204" charset="0"/>
                          <a:cs typeface="Inter" panose="020B0604020202020204" charset="0"/>
                        </a:rPr>
                        <a:t>POS_CASH_balance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ctr">
                        <a:buNone/>
                      </a:pPr>
                      <a:r>
                        <a:rPr lang="en-IN" sz="1800" b="0" i="0" u="none" strike="noStrike">
                          <a:solidFill>
                            <a:srgbClr val="202020"/>
                          </a:solidFill>
                          <a:effectLst/>
                          <a:latin typeface="Inter" panose="020B0604020202020204" charset="0"/>
                          <a:cs typeface="Inter" panose="020B0604020202020204" charset="0"/>
                        </a:rPr>
                        <a:t>1,00,01,358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ctr">
                        <a:buNone/>
                      </a:pPr>
                      <a:r>
                        <a:rPr lang="en-IN" sz="1800" b="0" i="0" u="none" strike="noStrike">
                          <a:solidFill>
                            <a:srgbClr val="202020"/>
                          </a:solidFill>
                          <a:effectLst/>
                          <a:latin typeface="Inter" panose="020B0604020202020204" charset="0"/>
                          <a:cs typeface="Inter" panose="020B0604020202020204" charset="0"/>
                        </a:rPr>
                        <a:t>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ctr">
                        <a:buNone/>
                      </a:pPr>
                      <a:r>
                        <a:rPr lang="en-IN" sz="1800" b="0" i="0" u="none" strike="noStrike">
                          <a:solidFill>
                            <a:srgbClr val="202020"/>
                          </a:solidFill>
                          <a:effectLst/>
                          <a:latin typeface="Inter" panose="020B0604020202020204" charset="0"/>
                          <a:cs typeface="Inter" panose="020B0604020202020204" charset="0"/>
                        </a:rPr>
                        <a:t>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ctr">
                        <a:buNone/>
                      </a:pPr>
                      <a:r>
                        <a:rPr lang="en-IN" sz="1800" b="0" i="0" u="none" strike="noStrike">
                          <a:solidFill>
                            <a:srgbClr val="202020"/>
                          </a:solidFill>
                          <a:effectLst/>
                          <a:latin typeface="Inter" panose="020B0604020202020204" charset="0"/>
                          <a:cs typeface="Inter" panose="020B0604020202020204" charset="0"/>
                        </a:rPr>
                        <a:t>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ctr">
                        <a:buNone/>
                      </a:pPr>
                      <a:r>
                        <a:rPr lang="en-IN" sz="1800" b="0" i="0" u="none" strike="noStrike">
                          <a:solidFill>
                            <a:srgbClr val="000000"/>
                          </a:solidFill>
                          <a:effectLst/>
                          <a:latin typeface="Inter" panose="020B0604020202020204" charset="0"/>
                          <a:cs typeface="Inter" panose="020B0604020202020204" charset="0"/>
                        </a:rPr>
                        <a:t>0.07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796703165"/>
                  </a:ext>
                </a:extLst>
              </a:tr>
              <a:tr h="724368">
                <a:tc>
                  <a:txBody>
                    <a:bodyPr/>
                    <a:lstStyle/>
                    <a:p>
                      <a:pPr algn="ctr" fontAlgn="ctr">
                        <a:buNone/>
                      </a:pPr>
                      <a:r>
                        <a:rPr lang="en-IN" sz="1800" b="0" i="0" u="none" strike="noStrike">
                          <a:solidFill>
                            <a:srgbClr val="202020"/>
                          </a:solidFill>
                          <a:effectLst/>
                          <a:latin typeface="Inter" panose="020B0604020202020204" charset="0"/>
                          <a:cs typeface="Inter" panose="020B0604020202020204" charset="0"/>
                        </a:rPr>
                        <a:t>credit_card_balance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ctr">
                        <a:buNone/>
                      </a:pPr>
                      <a:r>
                        <a:rPr lang="en-IN" sz="1800" b="0" i="0" u="none" strike="noStrike">
                          <a:solidFill>
                            <a:srgbClr val="202020"/>
                          </a:solidFill>
                          <a:effectLst/>
                          <a:latin typeface="Inter" panose="020B0604020202020204" charset="0"/>
                          <a:cs typeface="Inter" panose="020B0604020202020204" charset="0"/>
                        </a:rPr>
                        <a:t>38,40,312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ctr">
                        <a:buNone/>
                      </a:pPr>
                      <a:r>
                        <a:rPr lang="en-IN" sz="1800" b="0" i="0" u="none" strike="noStrike">
                          <a:solidFill>
                            <a:srgbClr val="202020"/>
                          </a:solidFill>
                          <a:effectLst/>
                          <a:latin typeface="Inter" panose="020B0604020202020204" charset="0"/>
                          <a:cs typeface="Inter" panose="020B0604020202020204" charset="0"/>
                        </a:rPr>
                        <a:t>23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ctr">
                        <a:buNone/>
                      </a:pPr>
                      <a:r>
                        <a:rPr lang="en-IN" sz="1800" b="0" i="0" u="none" strike="noStrike">
                          <a:solidFill>
                            <a:srgbClr val="202020"/>
                          </a:solidFill>
                          <a:effectLst/>
                          <a:latin typeface="Inter" panose="020B0604020202020204" charset="0"/>
                          <a:cs typeface="Inter" panose="020B0604020202020204" charset="0"/>
                        </a:rPr>
                        <a:t>22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ctr">
                        <a:buNone/>
                      </a:pPr>
                      <a:r>
                        <a:rPr lang="en-IN" sz="1800" b="0" i="0" u="none" strike="noStrike">
                          <a:solidFill>
                            <a:srgbClr val="202020"/>
                          </a:solidFill>
                          <a:effectLst/>
                          <a:latin typeface="Inter" panose="020B0604020202020204" charset="0"/>
                          <a:cs typeface="Inter" panose="020B0604020202020204" charset="0"/>
                        </a:rPr>
                        <a:t>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ctr">
                        <a:buNone/>
                      </a:pPr>
                      <a:r>
                        <a:rPr lang="en-IN" sz="1800" b="0" i="0" u="none" strike="noStrike" dirty="0">
                          <a:solidFill>
                            <a:schemeClr val="bg1"/>
                          </a:solidFill>
                          <a:effectLst/>
                          <a:latin typeface="Inter" panose="020B0604020202020204" charset="0"/>
                          <a:cs typeface="Inter" panose="020B0604020202020204" charset="0"/>
                        </a:rPr>
                        <a:t>6.65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967D"/>
                    </a:solidFill>
                  </a:tcPr>
                </a:tc>
                <a:extLst>
                  <a:ext uri="{0D108BD9-81ED-4DB2-BD59-A6C34878D82A}">
                    <a16:rowId xmlns:a16="http://schemas.microsoft.com/office/drawing/2014/main" val="71326430"/>
                  </a:ext>
                </a:extLst>
              </a:tr>
              <a:tr h="724368">
                <a:tc>
                  <a:txBody>
                    <a:bodyPr/>
                    <a:lstStyle/>
                    <a:p>
                      <a:pPr algn="ctr" fontAlgn="ctr">
                        <a:buNone/>
                      </a:pPr>
                      <a:r>
                        <a:rPr lang="en-IN" sz="1800" b="0" i="0" u="none" strike="noStrike" dirty="0">
                          <a:solidFill>
                            <a:srgbClr val="202020"/>
                          </a:solidFill>
                          <a:effectLst/>
                          <a:latin typeface="Inter" panose="020B0604020202020204" charset="0"/>
                          <a:cs typeface="Inter" panose="020B0604020202020204" charset="0"/>
                        </a:rPr>
                        <a:t>installments_payments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ctr">
                        <a:buNone/>
                      </a:pPr>
                      <a:r>
                        <a:rPr lang="en-IN" sz="1800" b="0" i="0" u="none" strike="noStrike">
                          <a:solidFill>
                            <a:srgbClr val="202020"/>
                          </a:solidFill>
                          <a:effectLst/>
                          <a:latin typeface="Inter" panose="020B0604020202020204" charset="0"/>
                          <a:cs typeface="Inter" panose="020B0604020202020204" charset="0"/>
                        </a:rPr>
                        <a:t>1,36,05,401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ctr">
                        <a:buNone/>
                      </a:pPr>
                      <a:r>
                        <a:rPr lang="en-IN" sz="1800" b="0" i="0" u="none" strike="noStrike">
                          <a:solidFill>
                            <a:srgbClr val="202020"/>
                          </a:solidFill>
                          <a:effectLst/>
                          <a:latin typeface="Inter" panose="020B0604020202020204" charset="0"/>
                          <a:cs typeface="Inter" panose="020B0604020202020204" charset="0"/>
                        </a:rPr>
                        <a:t>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ctr">
                        <a:buNone/>
                      </a:pPr>
                      <a:r>
                        <a:rPr lang="en-IN" sz="1800" b="0" i="0" u="none" strike="noStrike">
                          <a:solidFill>
                            <a:srgbClr val="202020"/>
                          </a:solidFill>
                          <a:effectLst/>
                          <a:latin typeface="Inter" panose="020B0604020202020204" charset="0"/>
                          <a:cs typeface="Inter" panose="020B0604020202020204" charset="0"/>
                        </a:rPr>
                        <a:t>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ctr">
                        <a:buNone/>
                      </a:pPr>
                      <a:r>
                        <a:rPr lang="en-IN" sz="1800" b="0" i="0" u="none" strike="noStrike">
                          <a:solidFill>
                            <a:srgbClr val="202020"/>
                          </a:solidFill>
                          <a:effectLst/>
                          <a:latin typeface="Inter" panose="020B0604020202020204" charset="0"/>
                          <a:cs typeface="Inter" panose="020B0604020202020204" charset="0"/>
                        </a:rPr>
                        <a:t>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ctr">
                        <a:buNone/>
                      </a:pPr>
                      <a:r>
                        <a:rPr lang="en-IN" sz="1800" b="0" i="0" u="none" strike="noStrike" dirty="0">
                          <a:solidFill>
                            <a:srgbClr val="000000"/>
                          </a:solidFill>
                          <a:effectLst/>
                          <a:latin typeface="Inter" panose="020B0604020202020204" charset="0"/>
                          <a:cs typeface="Inter" panose="020B0604020202020204" charset="0"/>
                        </a:rPr>
                        <a:t>0.01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1773519618"/>
                  </a:ext>
                </a:extLst>
              </a:tr>
            </a:tbl>
          </a:graphicData>
        </a:graphic>
      </p:graphicFrame>
      <p:sp>
        <p:nvSpPr>
          <p:cNvPr id="9" name="TextBox 8">
            <a:extLst>
              <a:ext uri="{FF2B5EF4-FFF2-40B4-BE49-F238E27FC236}">
                <a16:creationId xmlns:a16="http://schemas.microsoft.com/office/drawing/2014/main" id="{C16357EB-497C-4118-923D-357B86DF9833}"/>
              </a:ext>
            </a:extLst>
          </p:cNvPr>
          <p:cNvSpPr txBox="1"/>
          <p:nvPr/>
        </p:nvSpPr>
        <p:spPr>
          <a:xfrm>
            <a:off x="1372772" y="7048464"/>
            <a:ext cx="15315028" cy="2220223"/>
          </a:xfrm>
          <a:prstGeom prst="rect">
            <a:avLst/>
          </a:prstGeom>
          <a:noFill/>
        </p:spPr>
        <p:txBody>
          <a:bodyPr wrap="square">
            <a:spAutoFit/>
          </a:bodyPr>
          <a:lstStyle/>
          <a:p>
            <a:pPr>
              <a:lnSpc>
                <a:spcPct val="200000"/>
              </a:lnSpc>
              <a:buNone/>
            </a:pPr>
            <a:r>
              <a:rPr lang="en-IN" sz="2100" b="1" dirty="0">
                <a:solidFill>
                  <a:srgbClr val="1F2328"/>
                </a:solidFill>
                <a:effectLst/>
                <a:latin typeface="Inter" panose="020B0604020202020204" charset="0"/>
                <a:cs typeface="Inter" panose="020B0604020202020204" charset="0"/>
              </a:rPr>
              <a:t>Observations:</a:t>
            </a:r>
            <a:endParaRPr lang="en-IN" sz="2100" b="1" dirty="0">
              <a:solidFill>
                <a:srgbClr val="202020"/>
              </a:solidFill>
              <a:effectLst/>
              <a:latin typeface="Inter" panose="020B0604020202020204" charset="0"/>
              <a:cs typeface="Inter" panose="020B0604020202020204" charset="0"/>
            </a:endParaRPr>
          </a:p>
          <a:p>
            <a:pPr marL="285750" indent="-285750">
              <a:buFont typeface="Arial" panose="020B0604020202020204" pitchFamily="34" charset="0"/>
              <a:buChar char="•"/>
            </a:pPr>
            <a:r>
              <a:rPr lang="en-IN" b="1" dirty="0">
                <a:effectLst/>
                <a:latin typeface="Inter" panose="020B0604020202020204" charset="0"/>
                <a:cs typeface="Inter" panose="020B0604020202020204" charset="0"/>
              </a:rPr>
              <a:t>application_train </a:t>
            </a:r>
            <a:r>
              <a:rPr lang="en-IN" b="0" dirty="0">
                <a:solidFill>
                  <a:srgbClr val="202020"/>
                </a:solidFill>
                <a:effectLst/>
                <a:latin typeface="Inter" panose="020B0604020202020204" charset="0"/>
                <a:cs typeface="Inter" panose="020B0604020202020204" charset="0"/>
              </a:rPr>
              <a:t>is the main table — 307,511 rows, 122 columns. Rich but messy (lots of missing values).</a:t>
            </a:r>
          </a:p>
          <a:p>
            <a:pPr marL="285750" indent="-285750">
              <a:buFont typeface="Arial" panose="020B0604020202020204" pitchFamily="34" charset="0"/>
              <a:buChar char="•"/>
            </a:pPr>
            <a:r>
              <a:rPr lang="en-IN" b="1" dirty="0">
                <a:effectLst/>
                <a:latin typeface="Inter" panose="020B0604020202020204" charset="0"/>
                <a:cs typeface="Inter" panose="020B0604020202020204" charset="0"/>
              </a:rPr>
              <a:t>installments_payments </a:t>
            </a:r>
            <a:r>
              <a:rPr lang="en-IN" b="0" dirty="0">
                <a:solidFill>
                  <a:srgbClr val="202020"/>
                </a:solidFill>
                <a:effectLst/>
                <a:latin typeface="Inter" panose="020B0604020202020204" charset="0"/>
                <a:cs typeface="Inter" panose="020B0604020202020204" charset="0"/>
              </a:rPr>
              <a:t>and </a:t>
            </a:r>
            <a:r>
              <a:rPr lang="en-IN" b="1" dirty="0">
                <a:effectLst/>
                <a:latin typeface="Inter" panose="020B0604020202020204" charset="0"/>
                <a:cs typeface="Inter" panose="020B0604020202020204" charset="0"/>
              </a:rPr>
              <a:t>POS_CASH_balance </a:t>
            </a:r>
            <a:r>
              <a:rPr lang="en-IN" b="0" dirty="0">
                <a:solidFill>
                  <a:srgbClr val="202020"/>
                </a:solidFill>
                <a:effectLst/>
                <a:latin typeface="Inter" panose="020B0604020202020204" charset="0"/>
                <a:cs typeface="Inter" panose="020B0604020202020204" charset="0"/>
              </a:rPr>
              <a:t>are the largest auxiliary tables with millions of rows each.</a:t>
            </a:r>
          </a:p>
          <a:p>
            <a:pPr marL="285750" indent="-285750">
              <a:buFont typeface="Arial" panose="020B0604020202020204" pitchFamily="34" charset="0"/>
              <a:buChar char="•"/>
            </a:pPr>
            <a:r>
              <a:rPr lang="en-IN" b="1" dirty="0">
                <a:effectLst/>
                <a:latin typeface="Inter" panose="020B0604020202020204" charset="0"/>
                <a:cs typeface="Inter" panose="020B0604020202020204" charset="0"/>
              </a:rPr>
              <a:t>bureau </a:t>
            </a:r>
            <a:r>
              <a:rPr lang="en-IN" dirty="0">
                <a:effectLst/>
                <a:latin typeface="Inter" panose="020B0604020202020204" charset="0"/>
                <a:cs typeface="Inter" panose="020B0604020202020204" charset="0"/>
              </a:rPr>
              <a:t>and</a:t>
            </a:r>
            <a:r>
              <a:rPr lang="en-IN" b="1" dirty="0">
                <a:effectLst/>
                <a:latin typeface="Inter" panose="020B0604020202020204" charset="0"/>
                <a:cs typeface="Inter" panose="020B0604020202020204" charset="0"/>
              </a:rPr>
              <a:t> previous_application</a:t>
            </a:r>
            <a:r>
              <a:rPr lang="en-IN" b="1" dirty="0">
                <a:latin typeface="Inter" panose="020B0604020202020204" charset="0"/>
                <a:cs typeface="Inter" panose="020B0604020202020204" charset="0"/>
              </a:rPr>
              <a:t> </a:t>
            </a:r>
            <a:r>
              <a:rPr lang="en-IN" b="0" dirty="0">
                <a:solidFill>
                  <a:srgbClr val="202020"/>
                </a:solidFill>
                <a:effectLst/>
                <a:latin typeface="Inter" panose="020B0604020202020204" charset="0"/>
                <a:cs typeface="Inter" panose="020B0604020202020204" charset="0"/>
              </a:rPr>
              <a:t>are multi-row-per-client and need aggregation before joining.</a:t>
            </a:r>
          </a:p>
          <a:p>
            <a:pPr marL="285750" indent="-285750">
              <a:buFont typeface="Arial" panose="020B0604020202020204" pitchFamily="34" charset="0"/>
              <a:buChar char="•"/>
            </a:pPr>
            <a:r>
              <a:rPr lang="en-IN" b="1" dirty="0">
                <a:effectLst/>
                <a:latin typeface="Inter" panose="020B0604020202020204" charset="0"/>
                <a:cs typeface="Inter" panose="020B0604020202020204" charset="0"/>
              </a:rPr>
              <a:t>installments_payments </a:t>
            </a:r>
            <a:r>
              <a:rPr lang="en-IN" b="0" dirty="0">
                <a:solidFill>
                  <a:srgbClr val="202020"/>
                </a:solidFill>
                <a:effectLst/>
                <a:latin typeface="Inter" panose="020B0604020202020204" charset="0"/>
                <a:cs typeface="Inter" panose="020B0604020202020204" charset="0"/>
              </a:rPr>
              <a:t>has zero missing values — the cleanest table in the set.</a:t>
            </a:r>
          </a:p>
          <a:p>
            <a:pPr>
              <a:lnSpc>
                <a:spcPts val="1425"/>
              </a:lnSpc>
              <a:buNone/>
            </a:pPr>
            <a:br>
              <a:rPr lang="en-IN" b="0" dirty="0">
                <a:solidFill>
                  <a:srgbClr val="202020"/>
                </a:solidFill>
                <a:effectLst/>
                <a:latin typeface="Consolas" panose="020B0609020204030204" pitchFamily="49" charset="0"/>
              </a:rPr>
            </a:br>
            <a:endParaRPr lang="en-IN" b="0" dirty="0">
              <a:solidFill>
                <a:srgbClr val="202020"/>
              </a:solidFill>
              <a:effectLst/>
              <a:latin typeface="Consolas" panose="020B0609020204030204" pitchFamily="49" charset="0"/>
            </a:endParaRPr>
          </a:p>
        </p:txBody>
      </p:sp>
    </p:spTree>
    <p:extLst>
      <p:ext uri="{BB962C8B-B14F-4D97-AF65-F5344CB8AC3E}">
        <p14:creationId xmlns:p14="http://schemas.microsoft.com/office/powerpoint/2010/main" val="37586614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C5D6CA"/>
        </a:solidFill>
        <a:effectLst/>
      </p:bgPr>
    </p:bg>
    <p:spTree>
      <p:nvGrpSpPr>
        <p:cNvPr id="1" name="">
          <a:extLst>
            <a:ext uri="{FF2B5EF4-FFF2-40B4-BE49-F238E27FC236}">
              <a16:creationId xmlns:a16="http://schemas.microsoft.com/office/drawing/2014/main" id="{405B5007-3897-AA75-7FA5-A48E3C80CCD4}"/>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A738601A-B75B-BA64-414D-73AFD550682E}"/>
              </a:ext>
            </a:extLst>
          </p:cNvPr>
          <p:cNvGrpSpPr/>
          <p:nvPr/>
        </p:nvGrpSpPr>
        <p:grpSpPr>
          <a:xfrm>
            <a:off x="0" y="9497082"/>
            <a:ext cx="18292543" cy="787203"/>
            <a:chOff x="0" y="0"/>
            <a:chExt cx="24390058" cy="1049604"/>
          </a:xfrm>
        </p:grpSpPr>
        <p:sp>
          <p:nvSpPr>
            <p:cNvPr id="3" name="Freeform 3">
              <a:extLst>
                <a:ext uri="{FF2B5EF4-FFF2-40B4-BE49-F238E27FC236}">
                  <a16:creationId xmlns:a16="http://schemas.microsoft.com/office/drawing/2014/main" id="{FCD1DD77-6D1E-A0DD-7793-1D785A5090D5}"/>
                </a:ext>
              </a:extLst>
            </p:cNvPr>
            <p:cNvSpPr/>
            <p:nvPr/>
          </p:nvSpPr>
          <p:spPr>
            <a:xfrm>
              <a:off x="0" y="0"/>
              <a:ext cx="24390096" cy="1049655"/>
            </a:xfrm>
            <a:custGeom>
              <a:avLst/>
              <a:gdLst/>
              <a:ahLst/>
              <a:cxnLst/>
              <a:rect l="l" t="t" r="r" b="b"/>
              <a:pathLst>
                <a:path w="24390096" h="1049655">
                  <a:moveTo>
                    <a:pt x="0" y="0"/>
                  </a:moveTo>
                  <a:lnTo>
                    <a:pt x="24390096" y="0"/>
                  </a:lnTo>
                  <a:lnTo>
                    <a:pt x="24390096" y="1049655"/>
                  </a:lnTo>
                  <a:lnTo>
                    <a:pt x="0" y="1049655"/>
                  </a:lnTo>
                  <a:close/>
                </a:path>
              </a:pathLst>
            </a:custGeom>
            <a:solidFill>
              <a:srgbClr val="348E90"/>
            </a:solidFill>
          </p:spPr>
          <p:txBody>
            <a:bodyPr/>
            <a:lstStyle/>
            <a:p>
              <a:endParaRPr lang="en-IN"/>
            </a:p>
          </p:txBody>
        </p:sp>
      </p:grpSp>
      <p:sp>
        <p:nvSpPr>
          <p:cNvPr id="4" name="Rectangle 3">
            <a:extLst>
              <a:ext uri="{FF2B5EF4-FFF2-40B4-BE49-F238E27FC236}">
                <a16:creationId xmlns:a16="http://schemas.microsoft.com/office/drawing/2014/main" id="{CDC9DC61-9306-6D83-7D5C-8415684B7E5E}"/>
              </a:ext>
            </a:extLst>
          </p:cNvPr>
          <p:cNvSpPr/>
          <p:nvPr/>
        </p:nvSpPr>
        <p:spPr>
          <a:xfrm>
            <a:off x="15544800" y="0"/>
            <a:ext cx="1143000" cy="1823056"/>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74490FC2-4EF3-DD2D-B1E5-5A4CEF59ED3D}"/>
              </a:ext>
            </a:extLst>
          </p:cNvPr>
          <p:cNvSpPr txBox="1"/>
          <p:nvPr/>
        </p:nvSpPr>
        <p:spPr>
          <a:xfrm>
            <a:off x="6019800" y="557585"/>
            <a:ext cx="6248400" cy="707886"/>
          </a:xfrm>
          <a:prstGeom prst="rect">
            <a:avLst/>
          </a:prstGeom>
          <a:noFill/>
        </p:spPr>
        <p:txBody>
          <a:bodyPr wrap="square">
            <a:spAutoFit/>
          </a:bodyPr>
          <a:lstStyle/>
          <a:p>
            <a:pPr algn="ctr"/>
            <a:r>
              <a:rPr lang="en-IN" sz="4000" b="1" dirty="0">
                <a:latin typeface="Inter" panose="020B0604020202020204" charset="0"/>
                <a:ea typeface="Inter" panose="020B0604020202020204" charset="0"/>
              </a:rPr>
              <a:t>Dataset Size Comparison</a:t>
            </a:r>
          </a:p>
        </p:txBody>
      </p:sp>
      <p:pic>
        <p:nvPicPr>
          <p:cNvPr id="23" name="Picture 22">
            <a:extLst>
              <a:ext uri="{FF2B5EF4-FFF2-40B4-BE49-F238E27FC236}">
                <a16:creationId xmlns:a16="http://schemas.microsoft.com/office/drawing/2014/main" id="{EE0816EC-B2CB-6EFF-1F43-30208C188632}"/>
              </a:ext>
            </a:extLst>
          </p:cNvPr>
          <p:cNvPicPr>
            <a:picLocks noChangeAspect="1"/>
          </p:cNvPicPr>
          <p:nvPr/>
        </p:nvPicPr>
        <p:blipFill>
          <a:blip r:embed="rId2"/>
          <a:srcRect t="6329"/>
          <a:stretch>
            <a:fillRect/>
          </a:stretch>
        </p:blipFill>
        <p:spPr>
          <a:xfrm>
            <a:off x="1587042" y="2247900"/>
            <a:ext cx="15113916" cy="6172200"/>
          </a:xfrm>
          <a:prstGeom prst="rect">
            <a:avLst/>
          </a:prstGeom>
        </p:spPr>
      </p:pic>
    </p:spTree>
    <p:extLst>
      <p:ext uri="{BB962C8B-B14F-4D97-AF65-F5344CB8AC3E}">
        <p14:creationId xmlns:p14="http://schemas.microsoft.com/office/powerpoint/2010/main" val="18312082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C5D6CA"/>
        </a:solidFill>
        <a:effectLst/>
      </p:bgPr>
    </p:bg>
    <p:spTree>
      <p:nvGrpSpPr>
        <p:cNvPr id="1" name="">
          <a:extLst>
            <a:ext uri="{FF2B5EF4-FFF2-40B4-BE49-F238E27FC236}">
              <a16:creationId xmlns:a16="http://schemas.microsoft.com/office/drawing/2014/main" id="{FDBC1F90-5A6B-342E-40D6-21330C090F23}"/>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F9F576B1-0777-ADEE-38CC-FEC2B557E446}"/>
              </a:ext>
            </a:extLst>
          </p:cNvPr>
          <p:cNvGrpSpPr/>
          <p:nvPr/>
        </p:nvGrpSpPr>
        <p:grpSpPr>
          <a:xfrm>
            <a:off x="0" y="9497082"/>
            <a:ext cx="18292543" cy="787203"/>
            <a:chOff x="0" y="0"/>
            <a:chExt cx="24390058" cy="1049604"/>
          </a:xfrm>
        </p:grpSpPr>
        <p:sp>
          <p:nvSpPr>
            <p:cNvPr id="3" name="Freeform 3">
              <a:extLst>
                <a:ext uri="{FF2B5EF4-FFF2-40B4-BE49-F238E27FC236}">
                  <a16:creationId xmlns:a16="http://schemas.microsoft.com/office/drawing/2014/main" id="{9FA363EE-68DC-8109-2807-9891C2F6A67A}"/>
                </a:ext>
              </a:extLst>
            </p:cNvPr>
            <p:cNvSpPr/>
            <p:nvPr/>
          </p:nvSpPr>
          <p:spPr>
            <a:xfrm>
              <a:off x="0" y="0"/>
              <a:ext cx="24390096" cy="1049655"/>
            </a:xfrm>
            <a:custGeom>
              <a:avLst/>
              <a:gdLst/>
              <a:ahLst/>
              <a:cxnLst/>
              <a:rect l="l" t="t" r="r" b="b"/>
              <a:pathLst>
                <a:path w="24390096" h="1049655">
                  <a:moveTo>
                    <a:pt x="0" y="0"/>
                  </a:moveTo>
                  <a:lnTo>
                    <a:pt x="24390096" y="0"/>
                  </a:lnTo>
                  <a:lnTo>
                    <a:pt x="24390096" y="1049655"/>
                  </a:lnTo>
                  <a:lnTo>
                    <a:pt x="0" y="1049655"/>
                  </a:lnTo>
                  <a:close/>
                </a:path>
              </a:pathLst>
            </a:custGeom>
            <a:solidFill>
              <a:srgbClr val="348E90"/>
            </a:solidFill>
          </p:spPr>
          <p:txBody>
            <a:bodyPr/>
            <a:lstStyle/>
            <a:p>
              <a:endParaRPr lang="en-IN"/>
            </a:p>
          </p:txBody>
        </p:sp>
      </p:grpSp>
      <p:sp>
        <p:nvSpPr>
          <p:cNvPr id="4" name="Rectangle 3">
            <a:extLst>
              <a:ext uri="{FF2B5EF4-FFF2-40B4-BE49-F238E27FC236}">
                <a16:creationId xmlns:a16="http://schemas.microsoft.com/office/drawing/2014/main" id="{F0F657A4-6AA9-3C20-4BF6-0A7CB96F7C68}"/>
              </a:ext>
            </a:extLst>
          </p:cNvPr>
          <p:cNvSpPr/>
          <p:nvPr/>
        </p:nvSpPr>
        <p:spPr>
          <a:xfrm>
            <a:off x="15544800" y="0"/>
            <a:ext cx="1143000" cy="1823056"/>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7DABE143-B8D8-3A23-F09F-87EEC065F356}"/>
              </a:ext>
            </a:extLst>
          </p:cNvPr>
          <p:cNvSpPr txBox="1"/>
          <p:nvPr/>
        </p:nvSpPr>
        <p:spPr>
          <a:xfrm>
            <a:off x="4572000" y="883725"/>
            <a:ext cx="9144000" cy="707886"/>
          </a:xfrm>
          <a:prstGeom prst="rect">
            <a:avLst/>
          </a:prstGeom>
          <a:noFill/>
        </p:spPr>
        <p:txBody>
          <a:bodyPr wrap="square">
            <a:spAutoFit/>
          </a:bodyPr>
          <a:lstStyle/>
          <a:p>
            <a:pPr algn="ctr"/>
            <a:r>
              <a:rPr lang="en-IN" sz="4000" b="1" dirty="0">
                <a:latin typeface="Inter" panose="020B0604020202020204" charset="0"/>
                <a:ea typeface="Inter" panose="020B0604020202020204" charset="0"/>
              </a:rPr>
              <a:t>Data Architecture / ER Diagram</a:t>
            </a:r>
          </a:p>
        </p:txBody>
      </p:sp>
      <p:pic>
        <p:nvPicPr>
          <p:cNvPr id="10" name="Picture 9">
            <a:extLst>
              <a:ext uri="{FF2B5EF4-FFF2-40B4-BE49-F238E27FC236}">
                <a16:creationId xmlns:a16="http://schemas.microsoft.com/office/drawing/2014/main" id="{FA8850C9-A69F-8AE5-A774-FED501388E71}"/>
              </a:ext>
            </a:extLst>
          </p:cNvPr>
          <p:cNvPicPr>
            <a:picLocks noChangeAspect="1"/>
          </p:cNvPicPr>
          <p:nvPr/>
        </p:nvPicPr>
        <p:blipFill>
          <a:blip r:embed="rId2"/>
          <a:stretch>
            <a:fillRect/>
          </a:stretch>
        </p:blipFill>
        <p:spPr>
          <a:xfrm>
            <a:off x="1447800" y="2019300"/>
            <a:ext cx="14096999" cy="6800618"/>
          </a:xfrm>
          <a:prstGeom prst="rect">
            <a:avLst/>
          </a:prstGeom>
        </p:spPr>
      </p:pic>
    </p:spTree>
    <p:extLst>
      <p:ext uri="{BB962C8B-B14F-4D97-AF65-F5344CB8AC3E}">
        <p14:creationId xmlns:p14="http://schemas.microsoft.com/office/powerpoint/2010/main" val="38597371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C5D6CA"/>
        </a:solidFill>
        <a:effectLst/>
      </p:bgPr>
    </p:bg>
    <p:spTree>
      <p:nvGrpSpPr>
        <p:cNvPr id="1" name="">
          <a:extLst>
            <a:ext uri="{FF2B5EF4-FFF2-40B4-BE49-F238E27FC236}">
              <a16:creationId xmlns:a16="http://schemas.microsoft.com/office/drawing/2014/main" id="{2526CCB3-9749-E183-91CE-2B2E30B43BA9}"/>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7EA669A7-338B-3E5C-71EE-8A5096584F71}"/>
              </a:ext>
            </a:extLst>
          </p:cNvPr>
          <p:cNvGrpSpPr/>
          <p:nvPr/>
        </p:nvGrpSpPr>
        <p:grpSpPr>
          <a:xfrm>
            <a:off x="0" y="9497082"/>
            <a:ext cx="18292543" cy="787203"/>
            <a:chOff x="0" y="0"/>
            <a:chExt cx="24390058" cy="1049604"/>
          </a:xfrm>
        </p:grpSpPr>
        <p:sp>
          <p:nvSpPr>
            <p:cNvPr id="3" name="Freeform 3">
              <a:extLst>
                <a:ext uri="{FF2B5EF4-FFF2-40B4-BE49-F238E27FC236}">
                  <a16:creationId xmlns:a16="http://schemas.microsoft.com/office/drawing/2014/main" id="{85C8D39E-09CB-452E-9954-6C02EEFF8420}"/>
                </a:ext>
              </a:extLst>
            </p:cNvPr>
            <p:cNvSpPr/>
            <p:nvPr/>
          </p:nvSpPr>
          <p:spPr>
            <a:xfrm>
              <a:off x="0" y="0"/>
              <a:ext cx="24390096" cy="1049655"/>
            </a:xfrm>
            <a:custGeom>
              <a:avLst/>
              <a:gdLst/>
              <a:ahLst/>
              <a:cxnLst/>
              <a:rect l="l" t="t" r="r" b="b"/>
              <a:pathLst>
                <a:path w="24390096" h="1049655">
                  <a:moveTo>
                    <a:pt x="0" y="0"/>
                  </a:moveTo>
                  <a:lnTo>
                    <a:pt x="24390096" y="0"/>
                  </a:lnTo>
                  <a:lnTo>
                    <a:pt x="24390096" y="1049655"/>
                  </a:lnTo>
                  <a:lnTo>
                    <a:pt x="0" y="1049655"/>
                  </a:lnTo>
                  <a:close/>
                </a:path>
              </a:pathLst>
            </a:custGeom>
            <a:solidFill>
              <a:srgbClr val="348E90"/>
            </a:solidFill>
          </p:spPr>
          <p:txBody>
            <a:bodyPr/>
            <a:lstStyle/>
            <a:p>
              <a:endParaRPr lang="en-IN"/>
            </a:p>
          </p:txBody>
        </p:sp>
      </p:grpSp>
      <p:sp>
        <p:nvSpPr>
          <p:cNvPr id="4" name="Rectangle 3">
            <a:extLst>
              <a:ext uri="{FF2B5EF4-FFF2-40B4-BE49-F238E27FC236}">
                <a16:creationId xmlns:a16="http://schemas.microsoft.com/office/drawing/2014/main" id="{56106D13-658D-39CC-AC40-A287923ED540}"/>
              </a:ext>
            </a:extLst>
          </p:cNvPr>
          <p:cNvSpPr/>
          <p:nvPr/>
        </p:nvSpPr>
        <p:spPr>
          <a:xfrm>
            <a:off x="15544800" y="0"/>
            <a:ext cx="1143000" cy="1823056"/>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6E34997E-1EB9-8D98-8540-1A7AEB5F7E5E}"/>
              </a:ext>
            </a:extLst>
          </p:cNvPr>
          <p:cNvSpPr txBox="1"/>
          <p:nvPr/>
        </p:nvSpPr>
        <p:spPr>
          <a:xfrm>
            <a:off x="6400800" y="4635668"/>
            <a:ext cx="5486400" cy="1015663"/>
          </a:xfrm>
          <a:prstGeom prst="rect">
            <a:avLst/>
          </a:prstGeom>
          <a:noFill/>
        </p:spPr>
        <p:txBody>
          <a:bodyPr wrap="square">
            <a:spAutoFit/>
          </a:bodyPr>
          <a:lstStyle/>
          <a:p>
            <a:r>
              <a:rPr lang="en-IN" sz="6000" b="1" dirty="0">
                <a:latin typeface="Inter" panose="020B0604020202020204" charset="0"/>
                <a:cs typeface="Inter" panose="020B0604020202020204" charset="0"/>
              </a:rPr>
              <a:t>Data Dictionary</a:t>
            </a:r>
          </a:p>
        </p:txBody>
      </p:sp>
    </p:spTree>
    <p:extLst>
      <p:ext uri="{BB962C8B-B14F-4D97-AF65-F5344CB8AC3E}">
        <p14:creationId xmlns:p14="http://schemas.microsoft.com/office/powerpoint/2010/main" val="8602347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C5D6CA"/>
        </a:solidFill>
        <a:effectLst/>
      </p:bgPr>
    </p:bg>
    <p:spTree>
      <p:nvGrpSpPr>
        <p:cNvPr id="1" name="">
          <a:extLst>
            <a:ext uri="{FF2B5EF4-FFF2-40B4-BE49-F238E27FC236}">
              <a16:creationId xmlns:a16="http://schemas.microsoft.com/office/drawing/2014/main" id="{C4217EA4-4C52-F7C6-2AC3-E6FD3CE5BB97}"/>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F5E37876-1DCC-727D-420B-F462250400C7}"/>
              </a:ext>
            </a:extLst>
          </p:cNvPr>
          <p:cNvGrpSpPr/>
          <p:nvPr/>
        </p:nvGrpSpPr>
        <p:grpSpPr>
          <a:xfrm>
            <a:off x="0" y="9497082"/>
            <a:ext cx="18292543" cy="787203"/>
            <a:chOff x="0" y="0"/>
            <a:chExt cx="24390058" cy="1049604"/>
          </a:xfrm>
        </p:grpSpPr>
        <p:sp>
          <p:nvSpPr>
            <p:cNvPr id="3" name="Freeform 3">
              <a:extLst>
                <a:ext uri="{FF2B5EF4-FFF2-40B4-BE49-F238E27FC236}">
                  <a16:creationId xmlns:a16="http://schemas.microsoft.com/office/drawing/2014/main" id="{0732735E-2584-3658-E0B0-7000C57BB70A}"/>
                </a:ext>
              </a:extLst>
            </p:cNvPr>
            <p:cNvSpPr/>
            <p:nvPr/>
          </p:nvSpPr>
          <p:spPr>
            <a:xfrm>
              <a:off x="0" y="0"/>
              <a:ext cx="24390096" cy="1049655"/>
            </a:xfrm>
            <a:custGeom>
              <a:avLst/>
              <a:gdLst/>
              <a:ahLst/>
              <a:cxnLst/>
              <a:rect l="l" t="t" r="r" b="b"/>
              <a:pathLst>
                <a:path w="24390096" h="1049655">
                  <a:moveTo>
                    <a:pt x="0" y="0"/>
                  </a:moveTo>
                  <a:lnTo>
                    <a:pt x="24390096" y="0"/>
                  </a:lnTo>
                  <a:lnTo>
                    <a:pt x="24390096" y="1049655"/>
                  </a:lnTo>
                  <a:lnTo>
                    <a:pt x="0" y="1049655"/>
                  </a:lnTo>
                  <a:close/>
                </a:path>
              </a:pathLst>
            </a:custGeom>
            <a:solidFill>
              <a:srgbClr val="348E90"/>
            </a:solidFill>
          </p:spPr>
          <p:txBody>
            <a:bodyPr/>
            <a:lstStyle/>
            <a:p>
              <a:endParaRPr lang="en-IN"/>
            </a:p>
          </p:txBody>
        </p:sp>
      </p:grpSp>
      <p:sp>
        <p:nvSpPr>
          <p:cNvPr id="4" name="Rectangle 3">
            <a:extLst>
              <a:ext uri="{FF2B5EF4-FFF2-40B4-BE49-F238E27FC236}">
                <a16:creationId xmlns:a16="http://schemas.microsoft.com/office/drawing/2014/main" id="{57CE9F9A-04F0-3253-18DE-2CD1D53F9E6A}"/>
              </a:ext>
            </a:extLst>
          </p:cNvPr>
          <p:cNvSpPr/>
          <p:nvPr/>
        </p:nvSpPr>
        <p:spPr>
          <a:xfrm>
            <a:off x="15544800" y="0"/>
            <a:ext cx="1143000" cy="1823056"/>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C5AA85A4-756B-9A05-0051-AF986E4BFEBB}"/>
              </a:ext>
            </a:extLst>
          </p:cNvPr>
          <p:cNvSpPr txBox="1"/>
          <p:nvPr/>
        </p:nvSpPr>
        <p:spPr>
          <a:xfrm>
            <a:off x="4572000" y="911528"/>
            <a:ext cx="9144000" cy="707886"/>
          </a:xfrm>
          <a:prstGeom prst="rect">
            <a:avLst/>
          </a:prstGeom>
          <a:noFill/>
        </p:spPr>
        <p:txBody>
          <a:bodyPr wrap="square">
            <a:spAutoFit/>
          </a:bodyPr>
          <a:lstStyle/>
          <a:p>
            <a:pPr algn="ctr"/>
            <a:r>
              <a:rPr lang="en-IN" sz="4000" b="1" dirty="0">
                <a:latin typeface="Inter" panose="020B0604020202020204" charset="0"/>
                <a:ea typeface="Inter" panose="020B0604020202020204" charset="0"/>
              </a:rPr>
              <a:t>Data Dictionary (Main Table)</a:t>
            </a:r>
          </a:p>
        </p:txBody>
      </p:sp>
      <p:sp>
        <p:nvSpPr>
          <p:cNvPr id="8" name="TextBox 7">
            <a:extLst>
              <a:ext uri="{FF2B5EF4-FFF2-40B4-BE49-F238E27FC236}">
                <a16:creationId xmlns:a16="http://schemas.microsoft.com/office/drawing/2014/main" id="{863C282F-13CF-E08B-08E0-8231C0627E9A}"/>
              </a:ext>
            </a:extLst>
          </p:cNvPr>
          <p:cNvSpPr txBox="1"/>
          <p:nvPr/>
        </p:nvSpPr>
        <p:spPr>
          <a:xfrm>
            <a:off x="914400" y="1619414"/>
            <a:ext cx="9144000" cy="477054"/>
          </a:xfrm>
          <a:prstGeom prst="rect">
            <a:avLst/>
          </a:prstGeom>
          <a:noFill/>
        </p:spPr>
        <p:txBody>
          <a:bodyPr wrap="square">
            <a:spAutoFit/>
          </a:bodyPr>
          <a:lstStyle/>
          <a:p>
            <a:r>
              <a:rPr lang="en-IN" sz="2500" b="1" dirty="0">
                <a:latin typeface="Inter" panose="020B0604020202020204" charset="0"/>
                <a:ea typeface="Inter" panose="020B0604020202020204" charset="0"/>
              </a:rPr>
              <a:t>Application Dataset Overview</a:t>
            </a:r>
          </a:p>
        </p:txBody>
      </p:sp>
      <p:graphicFrame>
        <p:nvGraphicFramePr>
          <p:cNvPr id="9" name="Table 8">
            <a:extLst>
              <a:ext uri="{FF2B5EF4-FFF2-40B4-BE49-F238E27FC236}">
                <a16:creationId xmlns:a16="http://schemas.microsoft.com/office/drawing/2014/main" id="{B151135E-72E0-BDAA-06B8-9815BA3A783E}"/>
              </a:ext>
            </a:extLst>
          </p:cNvPr>
          <p:cNvGraphicFramePr>
            <a:graphicFrameLocks noGrp="1"/>
          </p:cNvGraphicFramePr>
          <p:nvPr>
            <p:extLst>
              <p:ext uri="{D42A27DB-BD31-4B8C-83A1-F6EECF244321}">
                <p14:modId xmlns:p14="http://schemas.microsoft.com/office/powerpoint/2010/main" val="4248387655"/>
              </p:ext>
            </p:extLst>
          </p:nvPr>
        </p:nvGraphicFramePr>
        <p:xfrm>
          <a:off x="914400" y="2327300"/>
          <a:ext cx="15773400" cy="6966135"/>
        </p:xfrm>
        <a:graphic>
          <a:graphicData uri="http://schemas.openxmlformats.org/drawingml/2006/table">
            <a:tbl>
              <a:tblPr firstRow="1" bandRow="1">
                <a:tableStyleId>{08FB837D-C827-4EFA-A057-4D05807E0F7C}</a:tableStyleId>
              </a:tblPr>
              <a:tblGrid>
                <a:gridCol w="5257800">
                  <a:extLst>
                    <a:ext uri="{9D8B030D-6E8A-4147-A177-3AD203B41FA5}">
                      <a16:colId xmlns:a16="http://schemas.microsoft.com/office/drawing/2014/main" val="2049401636"/>
                    </a:ext>
                  </a:extLst>
                </a:gridCol>
                <a:gridCol w="5257800">
                  <a:extLst>
                    <a:ext uri="{9D8B030D-6E8A-4147-A177-3AD203B41FA5}">
                      <a16:colId xmlns:a16="http://schemas.microsoft.com/office/drawing/2014/main" val="1282279191"/>
                    </a:ext>
                  </a:extLst>
                </a:gridCol>
                <a:gridCol w="5257800">
                  <a:extLst>
                    <a:ext uri="{9D8B030D-6E8A-4147-A177-3AD203B41FA5}">
                      <a16:colId xmlns:a16="http://schemas.microsoft.com/office/drawing/2014/main" val="3063138392"/>
                    </a:ext>
                  </a:extLst>
                </a:gridCol>
              </a:tblGrid>
              <a:tr h="633285">
                <a:tc>
                  <a:txBody>
                    <a:bodyPr/>
                    <a:lstStyle/>
                    <a:p>
                      <a:pPr algn="ctr"/>
                      <a:r>
                        <a:rPr lang="en-US" sz="2100" dirty="0">
                          <a:solidFill>
                            <a:schemeClr val="tx1"/>
                          </a:solidFill>
                          <a:latin typeface="Inter" panose="020B0604020202020204" charset="0"/>
                          <a:ea typeface="Inter" panose="020B0604020202020204" charset="0"/>
                        </a:rPr>
                        <a:t>Feature</a:t>
                      </a:r>
                      <a:endParaRPr lang="en-IN" sz="2100" dirty="0">
                        <a:solidFill>
                          <a:schemeClr val="tx1"/>
                        </a:solidFill>
                        <a:latin typeface="Inter" panose="020B0604020202020204" charset="0"/>
                        <a:ea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sz="2100" dirty="0">
                          <a:solidFill>
                            <a:schemeClr val="tx1"/>
                          </a:solidFill>
                          <a:latin typeface="Inter" panose="020B0604020202020204" charset="0"/>
                          <a:ea typeface="Inter" panose="020B0604020202020204" charset="0"/>
                        </a:rPr>
                        <a:t>Description</a:t>
                      </a:r>
                      <a:endParaRPr lang="en-IN" sz="2100" dirty="0">
                        <a:solidFill>
                          <a:schemeClr val="tx1"/>
                        </a:solidFill>
                        <a:latin typeface="Inter" panose="020B0604020202020204" charset="0"/>
                        <a:ea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sz="2100" dirty="0">
                          <a:solidFill>
                            <a:schemeClr val="tx1"/>
                          </a:solidFill>
                          <a:latin typeface="Inter" panose="020B0604020202020204" charset="0"/>
                          <a:ea typeface="Inter" panose="020B0604020202020204" charset="0"/>
                        </a:rPr>
                        <a:t>Type</a:t>
                      </a:r>
                      <a:endParaRPr lang="en-IN" sz="2100" dirty="0">
                        <a:solidFill>
                          <a:schemeClr val="tx1"/>
                        </a:solidFill>
                        <a:latin typeface="Inter" panose="020B0604020202020204" charset="0"/>
                        <a:ea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1319906682"/>
                  </a:ext>
                </a:extLst>
              </a:tr>
              <a:tr h="633285">
                <a:tc>
                  <a:txBody>
                    <a:bodyPr/>
                    <a:lstStyle/>
                    <a:p>
                      <a:pPr algn="ctr"/>
                      <a:r>
                        <a:rPr lang="en-US" dirty="0">
                          <a:solidFill>
                            <a:schemeClr val="tx1"/>
                          </a:solidFill>
                          <a:latin typeface="Inter" panose="020B0604020202020204" charset="0"/>
                          <a:ea typeface="Inter" panose="020B0604020202020204" charset="0"/>
                        </a:rPr>
                        <a:t>SK_ID_CURR</a:t>
                      </a:r>
                      <a:endParaRPr lang="en-IN" dirty="0">
                        <a:solidFill>
                          <a:schemeClr val="tx1"/>
                        </a:solidFill>
                        <a:latin typeface="Inter" panose="020B0604020202020204" charset="0"/>
                        <a:ea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ea typeface="Inter" panose="020B0604020202020204" charset="0"/>
                        </a:rPr>
                        <a:t>Customer ID</a:t>
                      </a:r>
                      <a:endParaRPr lang="en-IN" dirty="0">
                        <a:solidFill>
                          <a:schemeClr val="tx1"/>
                        </a:solidFill>
                        <a:latin typeface="Inter" panose="020B0604020202020204" charset="0"/>
                        <a:ea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ea typeface="Inter" panose="020B0604020202020204" charset="0"/>
                        </a:rPr>
                        <a:t>ID</a:t>
                      </a:r>
                      <a:endParaRPr lang="en-IN" dirty="0">
                        <a:solidFill>
                          <a:schemeClr val="tx1"/>
                        </a:solidFill>
                        <a:latin typeface="Inter" panose="020B0604020202020204" charset="0"/>
                        <a:ea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3881845545"/>
                  </a:ext>
                </a:extLst>
              </a:tr>
              <a:tr h="633285">
                <a:tc>
                  <a:txBody>
                    <a:bodyPr/>
                    <a:lstStyle/>
                    <a:p>
                      <a:pPr algn="ctr"/>
                      <a:r>
                        <a:rPr lang="en-US" dirty="0">
                          <a:solidFill>
                            <a:schemeClr val="tx1"/>
                          </a:solidFill>
                          <a:latin typeface="Inter" panose="020B0604020202020204" charset="0"/>
                          <a:ea typeface="Inter" panose="020B0604020202020204" charset="0"/>
                        </a:rPr>
                        <a:t>TARGET</a:t>
                      </a:r>
                      <a:endParaRPr lang="en-IN" dirty="0">
                        <a:solidFill>
                          <a:schemeClr val="tx1"/>
                        </a:solidFill>
                        <a:latin typeface="Inter" panose="020B0604020202020204" charset="0"/>
                        <a:ea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ea typeface="Inter" panose="020B0604020202020204" charset="0"/>
                        </a:rPr>
                        <a:t>Default Flag</a:t>
                      </a:r>
                      <a:endParaRPr lang="en-IN" dirty="0">
                        <a:solidFill>
                          <a:schemeClr val="tx1"/>
                        </a:solidFill>
                        <a:latin typeface="Inter" panose="020B0604020202020204" charset="0"/>
                        <a:ea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ea typeface="Inter" panose="020B0604020202020204" charset="0"/>
                        </a:rPr>
                        <a:t>Target</a:t>
                      </a:r>
                      <a:endParaRPr lang="en-IN" dirty="0">
                        <a:solidFill>
                          <a:schemeClr val="tx1"/>
                        </a:solidFill>
                        <a:latin typeface="Inter" panose="020B0604020202020204" charset="0"/>
                        <a:ea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4200681730"/>
                  </a:ext>
                </a:extLst>
              </a:tr>
              <a:tr h="633285">
                <a:tc>
                  <a:txBody>
                    <a:bodyPr/>
                    <a:lstStyle/>
                    <a:p>
                      <a:pPr algn="ctr"/>
                      <a:r>
                        <a:rPr lang="en-US" dirty="0">
                          <a:solidFill>
                            <a:schemeClr val="tx1"/>
                          </a:solidFill>
                          <a:latin typeface="Inter" panose="020B0604020202020204" charset="0"/>
                          <a:ea typeface="Inter" panose="020B0604020202020204" charset="0"/>
                        </a:rPr>
                        <a:t>AMT_INCOME_TOTAL</a:t>
                      </a:r>
                      <a:endParaRPr lang="en-IN" dirty="0">
                        <a:solidFill>
                          <a:schemeClr val="tx1"/>
                        </a:solidFill>
                        <a:latin typeface="Inter" panose="020B0604020202020204" charset="0"/>
                        <a:ea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ea typeface="Inter" panose="020B0604020202020204" charset="0"/>
                        </a:rPr>
                        <a:t>Customer Income</a:t>
                      </a:r>
                      <a:endParaRPr lang="en-IN" dirty="0">
                        <a:solidFill>
                          <a:schemeClr val="tx1"/>
                        </a:solidFill>
                        <a:latin typeface="Inter" panose="020B0604020202020204" charset="0"/>
                        <a:ea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ea typeface="Inter" panose="020B0604020202020204" charset="0"/>
                        </a:rPr>
                        <a:t>Numeric</a:t>
                      </a:r>
                      <a:endParaRPr lang="en-IN" dirty="0">
                        <a:solidFill>
                          <a:schemeClr val="tx1"/>
                        </a:solidFill>
                        <a:latin typeface="Inter" panose="020B0604020202020204" charset="0"/>
                        <a:ea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13890415"/>
                  </a:ext>
                </a:extLst>
              </a:tr>
              <a:tr h="633285">
                <a:tc>
                  <a:txBody>
                    <a:bodyPr/>
                    <a:lstStyle/>
                    <a:p>
                      <a:pPr algn="ctr"/>
                      <a:r>
                        <a:rPr lang="en-US" dirty="0">
                          <a:solidFill>
                            <a:schemeClr val="tx1"/>
                          </a:solidFill>
                          <a:latin typeface="Inter" panose="020B0604020202020204" charset="0"/>
                          <a:ea typeface="Inter" panose="020B0604020202020204" charset="0"/>
                        </a:rPr>
                        <a:t>AMT_CREDIT</a:t>
                      </a:r>
                      <a:endParaRPr lang="en-IN" dirty="0">
                        <a:solidFill>
                          <a:schemeClr val="tx1"/>
                        </a:solidFill>
                        <a:latin typeface="Inter" panose="020B0604020202020204" charset="0"/>
                        <a:ea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ea typeface="Inter" panose="020B0604020202020204" charset="0"/>
                        </a:rPr>
                        <a:t>Loan Amount</a:t>
                      </a:r>
                      <a:endParaRPr lang="en-IN" dirty="0">
                        <a:solidFill>
                          <a:schemeClr val="tx1"/>
                        </a:solidFill>
                        <a:latin typeface="Inter" panose="020B0604020202020204" charset="0"/>
                        <a:ea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ea typeface="Inter" panose="020B0604020202020204" charset="0"/>
                        </a:rPr>
                        <a:t>Numeric</a:t>
                      </a:r>
                      <a:endParaRPr lang="en-IN" dirty="0">
                        <a:solidFill>
                          <a:schemeClr val="tx1"/>
                        </a:solidFill>
                        <a:latin typeface="Inter" panose="020B0604020202020204" charset="0"/>
                        <a:ea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4077199526"/>
                  </a:ext>
                </a:extLst>
              </a:tr>
              <a:tr h="633285">
                <a:tc>
                  <a:txBody>
                    <a:bodyPr/>
                    <a:lstStyle/>
                    <a:p>
                      <a:pPr algn="ctr"/>
                      <a:r>
                        <a:rPr lang="en-US" dirty="0">
                          <a:solidFill>
                            <a:schemeClr val="tx1"/>
                          </a:solidFill>
                          <a:latin typeface="Inter" panose="020B0604020202020204" charset="0"/>
                          <a:ea typeface="Inter" panose="020B0604020202020204" charset="0"/>
                        </a:rPr>
                        <a:t>AMT_ANNUITY</a:t>
                      </a:r>
                      <a:endParaRPr lang="en-IN" dirty="0">
                        <a:solidFill>
                          <a:schemeClr val="tx1"/>
                        </a:solidFill>
                        <a:latin typeface="Inter" panose="020B0604020202020204" charset="0"/>
                        <a:ea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ea typeface="Inter" panose="020B0604020202020204" charset="0"/>
                        </a:rPr>
                        <a:t>Loan Installment</a:t>
                      </a:r>
                      <a:endParaRPr lang="en-IN" dirty="0">
                        <a:solidFill>
                          <a:schemeClr val="tx1"/>
                        </a:solidFill>
                        <a:latin typeface="Inter" panose="020B0604020202020204" charset="0"/>
                        <a:ea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ea typeface="Inter" panose="020B0604020202020204" charset="0"/>
                        </a:rPr>
                        <a:t>Numeric</a:t>
                      </a:r>
                      <a:endParaRPr lang="en-IN" dirty="0">
                        <a:solidFill>
                          <a:schemeClr val="tx1"/>
                        </a:solidFill>
                        <a:latin typeface="Inter" panose="020B0604020202020204" charset="0"/>
                        <a:ea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1357457512"/>
                  </a:ext>
                </a:extLst>
              </a:tr>
              <a:tr h="633285">
                <a:tc>
                  <a:txBody>
                    <a:bodyPr/>
                    <a:lstStyle/>
                    <a:p>
                      <a:pPr algn="ctr"/>
                      <a:r>
                        <a:rPr lang="en-US" dirty="0">
                          <a:solidFill>
                            <a:schemeClr val="tx1"/>
                          </a:solidFill>
                          <a:latin typeface="Inter" panose="020B0604020202020204" charset="0"/>
                          <a:ea typeface="Inter" panose="020B0604020202020204" charset="0"/>
                        </a:rPr>
                        <a:t>NAME_CONTRACT_TYPE</a:t>
                      </a:r>
                      <a:endParaRPr lang="en-IN" dirty="0">
                        <a:solidFill>
                          <a:schemeClr val="tx1"/>
                        </a:solidFill>
                        <a:latin typeface="Inter" panose="020B0604020202020204" charset="0"/>
                        <a:ea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ea typeface="Inter" panose="020B0604020202020204" charset="0"/>
                        </a:rPr>
                        <a:t>Loan Type</a:t>
                      </a:r>
                      <a:endParaRPr lang="en-IN" dirty="0">
                        <a:solidFill>
                          <a:schemeClr val="tx1"/>
                        </a:solidFill>
                        <a:latin typeface="Inter" panose="020B0604020202020204" charset="0"/>
                        <a:ea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ea typeface="Inter" panose="020B0604020202020204" charset="0"/>
                        </a:rPr>
                        <a:t>Categorical</a:t>
                      </a:r>
                      <a:endParaRPr lang="en-IN" dirty="0">
                        <a:solidFill>
                          <a:schemeClr val="tx1"/>
                        </a:solidFill>
                        <a:latin typeface="Inter" panose="020B0604020202020204" charset="0"/>
                        <a:ea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4258926293"/>
                  </a:ext>
                </a:extLst>
              </a:tr>
              <a:tr h="633285">
                <a:tc>
                  <a:txBody>
                    <a:bodyPr/>
                    <a:lstStyle/>
                    <a:p>
                      <a:pPr algn="ctr"/>
                      <a:r>
                        <a:rPr lang="en-US" dirty="0">
                          <a:solidFill>
                            <a:schemeClr val="tx1"/>
                          </a:solidFill>
                          <a:latin typeface="Inter" panose="020B0604020202020204" charset="0"/>
                          <a:ea typeface="Inter" panose="020B0604020202020204" charset="0"/>
                        </a:rPr>
                        <a:t>CODE_GENDER</a:t>
                      </a:r>
                      <a:endParaRPr lang="en-IN" dirty="0">
                        <a:solidFill>
                          <a:schemeClr val="tx1"/>
                        </a:solidFill>
                        <a:latin typeface="Inter" panose="020B0604020202020204" charset="0"/>
                        <a:ea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ea typeface="Inter" panose="020B0604020202020204" charset="0"/>
                        </a:rPr>
                        <a:t>Gender</a:t>
                      </a:r>
                      <a:endParaRPr lang="en-IN" dirty="0">
                        <a:solidFill>
                          <a:schemeClr val="tx1"/>
                        </a:solidFill>
                        <a:latin typeface="Inter" panose="020B0604020202020204" charset="0"/>
                        <a:ea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ea typeface="Inter" panose="020B0604020202020204" charset="0"/>
                        </a:rPr>
                        <a:t>Categorical</a:t>
                      </a:r>
                      <a:endParaRPr lang="en-IN" dirty="0">
                        <a:solidFill>
                          <a:schemeClr val="tx1"/>
                        </a:solidFill>
                        <a:latin typeface="Inter" panose="020B0604020202020204" charset="0"/>
                        <a:ea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2912664250"/>
                  </a:ext>
                </a:extLst>
              </a:tr>
              <a:tr h="633285">
                <a:tc>
                  <a:txBody>
                    <a:bodyPr/>
                    <a:lstStyle/>
                    <a:p>
                      <a:pPr algn="ctr"/>
                      <a:r>
                        <a:rPr lang="en-US" dirty="0">
                          <a:solidFill>
                            <a:schemeClr val="tx1"/>
                          </a:solidFill>
                          <a:latin typeface="Inter" panose="020B0604020202020204" charset="0"/>
                          <a:ea typeface="Inter" panose="020B0604020202020204" charset="0"/>
                        </a:rPr>
                        <a:t>DAYS_BIRTH</a:t>
                      </a:r>
                      <a:endParaRPr lang="en-IN" dirty="0">
                        <a:solidFill>
                          <a:schemeClr val="tx1"/>
                        </a:solidFill>
                        <a:latin typeface="Inter" panose="020B0604020202020204" charset="0"/>
                        <a:ea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ea typeface="Inter" panose="020B0604020202020204" charset="0"/>
                        </a:rPr>
                        <a:t>Customer Age</a:t>
                      </a:r>
                      <a:endParaRPr lang="en-IN" dirty="0">
                        <a:solidFill>
                          <a:schemeClr val="tx1"/>
                        </a:solidFill>
                        <a:latin typeface="Inter" panose="020B0604020202020204" charset="0"/>
                        <a:ea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ea typeface="Inter" panose="020B0604020202020204" charset="0"/>
                        </a:rPr>
                        <a:t>Numeric</a:t>
                      </a:r>
                      <a:endParaRPr lang="en-IN" dirty="0">
                        <a:solidFill>
                          <a:schemeClr val="tx1"/>
                        </a:solidFill>
                        <a:latin typeface="Inter" panose="020B0604020202020204" charset="0"/>
                        <a:ea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4150577683"/>
                  </a:ext>
                </a:extLst>
              </a:tr>
              <a:tr h="633285">
                <a:tc>
                  <a:txBody>
                    <a:bodyPr/>
                    <a:lstStyle/>
                    <a:p>
                      <a:pPr algn="ctr"/>
                      <a:r>
                        <a:rPr lang="en-US" dirty="0">
                          <a:solidFill>
                            <a:schemeClr val="tx1"/>
                          </a:solidFill>
                          <a:latin typeface="Inter" panose="020B0604020202020204" charset="0"/>
                          <a:ea typeface="Inter" panose="020B0604020202020204" charset="0"/>
                        </a:rPr>
                        <a:t>DAYS_EMPLOYED</a:t>
                      </a:r>
                      <a:endParaRPr lang="en-IN" dirty="0">
                        <a:solidFill>
                          <a:schemeClr val="tx1"/>
                        </a:solidFill>
                        <a:latin typeface="Inter" panose="020B0604020202020204" charset="0"/>
                        <a:ea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ea typeface="Inter" panose="020B0604020202020204" charset="0"/>
                        </a:rPr>
                        <a:t>Employment Duration</a:t>
                      </a:r>
                      <a:endParaRPr lang="en-IN" dirty="0">
                        <a:solidFill>
                          <a:schemeClr val="tx1"/>
                        </a:solidFill>
                        <a:latin typeface="Inter" panose="020B0604020202020204" charset="0"/>
                        <a:ea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ea typeface="Inter" panose="020B0604020202020204" charset="0"/>
                        </a:rPr>
                        <a:t>Numeric</a:t>
                      </a:r>
                      <a:endParaRPr lang="en-IN" dirty="0">
                        <a:solidFill>
                          <a:schemeClr val="tx1"/>
                        </a:solidFill>
                        <a:latin typeface="Inter" panose="020B0604020202020204" charset="0"/>
                        <a:ea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3580380773"/>
                  </a:ext>
                </a:extLst>
              </a:tr>
              <a:tr h="633285">
                <a:tc>
                  <a:txBody>
                    <a:bodyPr/>
                    <a:lstStyle/>
                    <a:p>
                      <a:pPr algn="ctr"/>
                      <a:r>
                        <a:rPr lang="en-US" dirty="0">
                          <a:solidFill>
                            <a:schemeClr val="tx1"/>
                          </a:solidFill>
                          <a:latin typeface="Inter" panose="020B0604020202020204" charset="0"/>
                          <a:ea typeface="Inter" panose="020B0604020202020204" charset="0"/>
                        </a:rPr>
                        <a:t>OCCUPATION_TYPE</a:t>
                      </a:r>
                      <a:endParaRPr lang="en-IN" dirty="0">
                        <a:solidFill>
                          <a:schemeClr val="tx1"/>
                        </a:solidFill>
                        <a:latin typeface="Inter" panose="020B0604020202020204" charset="0"/>
                        <a:ea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ea typeface="Inter" panose="020B0604020202020204" charset="0"/>
                        </a:rPr>
                        <a:t>Occupation</a:t>
                      </a:r>
                      <a:endParaRPr lang="en-IN" dirty="0">
                        <a:solidFill>
                          <a:schemeClr val="tx1"/>
                        </a:solidFill>
                        <a:latin typeface="Inter" panose="020B0604020202020204" charset="0"/>
                        <a:ea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ea typeface="Inter" panose="020B0604020202020204" charset="0"/>
                        </a:rPr>
                        <a:t>Categorical</a:t>
                      </a:r>
                      <a:endParaRPr lang="en-IN" dirty="0">
                        <a:solidFill>
                          <a:schemeClr val="tx1"/>
                        </a:solidFill>
                        <a:latin typeface="Inter" panose="020B0604020202020204" charset="0"/>
                        <a:ea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3370911726"/>
                  </a:ext>
                </a:extLst>
              </a:tr>
            </a:tbl>
          </a:graphicData>
        </a:graphic>
      </p:graphicFrame>
    </p:spTree>
    <p:extLst>
      <p:ext uri="{BB962C8B-B14F-4D97-AF65-F5344CB8AC3E}">
        <p14:creationId xmlns:p14="http://schemas.microsoft.com/office/powerpoint/2010/main" val="39439286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C5D6CA"/>
        </a:solidFill>
        <a:effectLst/>
      </p:bgPr>
    </p:bg>
    <p:spTree>
      <p:nvGrpSpPr>
        <p:cNvPr id="1" name="">
          <a:extLst>
            <a:ext uri="{FF2B5EF4-FFF2-40B4-BE49-F238E27FC236}">
              <a16:creationId xmlns:a16="http://schemas.microsoft.com/office/drawing/2014/main" id="{473D655D-F588-3504-47D5-D42018744E61}"/>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61FC8529-044B-3594-BAFE-A8D8BE4F0007}"/>
              </a:ext>
            </a:extLst>
          </p:cNvPr>
          <p:cNvGrpSpPr/>
          <p:nvPr/>
        </p:nvGrpSpPr>
        <p:grpSpPr>
          <a:xfrm>
            <a:off x="0" y="9497082"/>
            <a:ext cx="18292543" cy="787203"/>
            <a:chOff x="0" y="0"/>
            <a:chExt cx="24390058" cy="1049604"/>
          </a:xfrm>
        </p:grpSpPr>
        <p:sp>
          <p:nvSpPr>
            <p:cNvPr id="3" name="Freeform 3">
              <a:extLst>
                <a:ext uri="{FF2B5EF4-FFF2-40B4-BE49-F238E27FC236}">
                  <a16:creationId xmlns:a16="http://schemas.microsoft.com/office/drawing/2014/main" id="{403D4C42-6EB1-048E-51D4-74D145D8E768}"/>
                </a:ext>
              </a:extLst>
            </p:cNvPr>
            <p:cNvSpPr/>
            <p:nvPr/>
          </p:nvSpPr>
          <p:spPr>
            <a:xfrm>
              <a:off x="0" y="0"/>
              <a:ext cx="24390096" cy="1049655"/>
            </a:xfrm>
            <a:custGeom>
              <a:avLst/>
              <a:gdLst/>
              <a:ahLst/>
              <a:cxnLst/>
              <a:rect l="l" t="t" r="r" b="b"/>
              <a:pathLst>
                <a:path w="24390096" h="1049655">
                  <a:moveTo>
                    <a:pt x="0" y="0"/>
                  </a:moveTo>
                  <a:lnTo>
                    <a:pt x="24390096" y="0"/>
                  </a:lnTo>
                  <a:lnTo>
                    <a:pt x="24390096" y="1049655"/>
                  </a:lnTo>
                  <a:lnTo>
                    <a:pt x="0" y="1049655"/>
                  </a:lnTo>
                  <a:close/>
                </a:path>
              </a:pathLst>
            </a:custGeom>
            <a:solidFill>
              <a:srgbClr val="348E90"/>
            </a:solidFill>
          </p:spPr>
          <p:txBody>
            <a:bodyPr/>
            <a:lstStyle/>
            <a:p>
              <a:endParaRPr lang="en-IN"/>
            </a:p>
          </p:txBody>
        </p:sp>
      </p:grpSp>
      <p:sp>
        <p:nvSpPr>
          <p:cNvPr id="4" name="Rectangle 3">
            <a:extLst>
              <a:ext uri="{FF2B5EF4-FFF2-40B4-BE49-F238E27FC236}">
                <a16:creationId xmlns:a16="http://schemas.microsoft.com/office/drawing/2014/main" id="{DBB18156-FE11-1852-E7BC-D0A96FB66F34}"/>
              </a:ext>
            </a:extLst>
          </p:cNvPr>
          <p:cNvSpPr/>
          <p:nvPr/>
        </p:nvSpPr>
        <p:spPr>
          <a:xfrm>
            <a:off x="15544800" y="0"/>
            <a:ext cx="1143000" cy="1823056"/>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9E19C7D2-6C60-1F71-F117-7D9F2B1AFFD4}"/>
              </a:ext>
            </a:extLst>
          </p:cNvPr>
          <p:cNvSpPr txBox="1"/>
          <p:nvPr/>
        </p:nvSpPr>
        <p:spPr>
          <a:xfrm>
            <a:off x="4572000" y="908439"/>
            <a:ext cx="9144000" cy="707886"/>
          </a:xfrm>
          <a:prstGeom prst="rect">
            <a:avLst/>
          </a:prstGeom>
          <a:noFill/>
        </p:spPr>
        <p:txBody>
          <a:bodyPr wrap="square">
            <a:spAutoFit/>
          </a:bodyPr>
          <a:lstStyle/>
          <a:p>
            <a:r>
              <a:rPr lang="en-IN" sz="4000" b="1" dirty="0">
                <a:latin typeface="Inter" panose="020B0604020202020204" charset="0"/>
                <a:ea typeface="Inter" panose="020B0604020202020204" charset="0"/>
              </a:rPr>
              <a:t>Data Dictionary (Auxiliary Tables)</a:t>
            </a:r>
          </a:p>
        </p:txBody>
      </p:sp>
      <p:sp>
        <p:nvSpPr>
          <p:cNvPr id="8" name="TextBox 7">
            <a:extLst>
              <a:ext uri="{FF2B5EF4-FFF2-40B4-BE49-F238E27FC236}">
                <a16:creationId xmlns:a16="http://schemas.microsoft.com/office/drawing/2014/main" id="{85DB1B00-387D-FB78-0573-9026A9A3323A}"/>
              </a:ext>
            </a:extLst>
          </p:cNvPr>
          <p:cNvSpPr txBox="1"/>
          <p:nvPr/>
        </p:nvSpPr>
        <p:spPr>
          <a:xfrm>
            <a:off x="1066800" y="1844680"/>
            <a:ext cx="9982200" cy="861774"/>
          </a:xfrm>
          <a:prstGeom prst="rect">
            <a:avLst/>
          </a:prstGeom>
          <a:noFill/>
        </p:spPr>
        <p:txBody>
          <a:bodyPr wrap="square">
            <a:spAutoFit/>
          </a:bodyPr>
          <a:lstStyle/>
          <a:p>
            <a:r>
              <a:rPr lang="en-IN" sz="2500" b="1" dirty="0">
                <a:latin typeface="Inter" panose="020B0604020202020204" charset="0"/>
                <a:ea typeface="Inter" panose="020B0604020202020204" charset="0"/>
              </a:rPr>
              <a:t>1. Bureau Table</a:t>
            </a:r>
          </a:p>
          <a:p>
            <a:r>
              <a:rPr lang="en-IN" sz="2500" b="1" dirty="0">
                <a:latin typeface="Inter" panose="020B0604020202020204" charset="0"/>
                <a:ea typeface="Inter" panose="020B0604020202020204" charset="0"/>
              </a:rPr>
              <a:t> External Credit History :  Shape:</a:t>
            </a:r>
            <a:r>
              <a:rPr lang="en-IN" sz="2500" dirty="0">
                <a:latin typeface="Inter" panose="020B0604020202020204" charset="0"/>
                <a:ea typeface="Inter" panose="020B0604020202020204" charset="0"/>
              </a:rPr>
              <a:t> (1716428, 17)</a:t>
            </a:r>
            <a:endParaRPr lang="en-IN" sz="2500" b="1" dirty="0">
              <a:latin typeface="Inter" panose="020B0604020202020204" charset="0"/>
              <a:ea typeface="Inter" panose="020B0604020202020204" charset="0"/>
            </a:endParaRPr>
          </a:p>
        </p:txBody>
      </p:sp>
      <p:graphicFrame>
        <p:nvGraphicFramePr>
          <p:cNvPr id="9" name="Table 8">
            <a:extLst>
              <a:ext uri="{FF2B5EF4-FFF2-40B4-BE49-F238E27FC236}">
                <a16:creationId xmlns:a16="http://schemas.microsoft.com/office/drawing/2014/main" id="{91765CBD-17A4-23D5-46C2-B218B680FEBC}"/>
              </a:ext>
            </a:extLst>
          </p:cNvPr>
          <p:cNvGraphicFramePr>
            <a:graphicFrameLocks noGrp="1"/>
          </p:cNvGraphicFramePr>
          <p:nvPr>
            <p:extLst>
              <p:ext uri="{D42A27DB-BD31-4B8C-83A1-F6EECF244321}">
                <p14:modId xmlns:p14="http://schemas.microsoft.com/office/powerpoint/2010/main" val="2310797259"/>
              </p:ext>
            </p:extLst>
          </p:nvPr>
        </p:nvGraphicFramePr>
        <p:xfrm>
          <a:off x="1066800" y="2954374"/>
          <a:ext cx="15316200" cy="6344920"/>
        </p:xfrm>
        <a:graphic>
          <a:graphicData uri="http://schemas.openxmlformats.org/drawingml/2006/table">
            <a:tbl>
              <a:tblPr firstRow="1" bandRow="1">
                <a:tableStyleId>{5C22544A-7EE6-4342-B048-85BDC9FD1C3A}</a:tableStyleId>
              </a:tblPr>
              <a:tblGrid>
                <a:gridCol w="3581400">
                  <a:extLst>
                    <a:ext uri="{9D8B030D-6E8A-4147-A177-3AD203B41FA5}">
                      <a16:colId xmlns:a16="http://schemas.microsoft.com/office/drawing/2014/main" val="1860888853"/>
                    </a:ext>
                  </a:extLst>
                </a:gridCol>
                <a:gridCol w="3310890">
                  <a:extLst>
                    <a:ext uri="{9D8B030D-6E8A-4147-A177-3AD203B41FA5}">
                      <a16:colId xmlns:a16="http://schemas.microsoft.com/office/drawing/2014/main" val="4255963963"/>
                    </a:ext>
                  </a:extLst>
                </a:gridCol>
                <a:gridCol w="3541871">
                  <a:extLst>
                    <a:ext uri="{9D8B030D-6E8A-4147-A177-3AD203B41FA5}">
                      <a16:colId xmlns:a16="http://schemas.microsoft.com/office/drawing/2014/main" val="613396368"/>
                    </a:ext>
                  </a:extLst>
                </a:gridCol>
                <a:gridCol w="4882039">
                  <a:extLst>
                    <a:ext uri="{9D8B030D-6E8A-4147-A177-3AD203B41FA5}">
                      <a16:colId xmlns:a16="http://schemas.microsoft.com/office/drawing/2014/main" val="1547979364"/>
                    </a:ext>
                  </a:extLst>
                </a:gridCol>
              </a:tblGrid>
              <a:tr h="370840">
                <a:tc>
                  <a:txBody>
                    <a:bodyPr/>
                    <a:lstStyle/>
                    <a:p>
                      <a:pPr algn="ctr"/>
                      <a:r>
                        <a:rPr lang="en-US" sz="2100" b="1" dirty="0">
                          <a:solidFill>
                            <a:schemeClr val="tx1"/>
                          </a:solidFill>
                          <a:latin typeface="Inter" panose="020B0604020202020204" charset="0"/>
                          <a:ea typeface="Inter" panose="020B0604020202020204" charset="0"/>
                        </a:rPr>
                        <a:t>Feature</a:t>
                      </a:r>
                      <a:endParaRPr lang="en-IN" sz="2100" b="1" dirty="0">
                        <a:solidFill>
                          <a:schemeClr val="tx1"/>
                        </a:solidFill>
                        <a:latin typeface="Inter" panose="020B0604020202020204" charset="0"/>
                        <a:ea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sz="2100" b="1" dirty="0">
                          <a:solidFill>
                            <a:schemeClr val="tx1"/>
                          </a:solidFill>
                          <a:latin typeface="Inter" panose="020B0604020202020204" charset="0"/>
                          <a:ea typeface="Inter" panose="020B0604020202020204" charset="0"/>
                        </a:rPr>
                        <a:t>Description</a:t>
                      </a:r>
                      <a:endParaRPr lang="en-IN" sz="2100" b="1" dirty="0">
                        <a:solidFill>
                          <a:schemeClr val="tx1"/>
                        </a:solidFill>
                        <a:latin typeface="Inter" panose="020B0604020202020204" charset="0"/>
                        <a:ea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sz="2100" b="1" dirty="0">
                          <a:solidFill>
                            <a:schemeClr val="tx1"/>
                          </a:solidFill>
                          <a:latin typeface="Inter" panose="020B0604020202020204" charset="0"/>
                          <a:ea typeface="Inter" panose="020B0604020202020204" charset="0"/>
                        </a:rPr>
                        <a:t>Type</a:t>
                      </a:r>
                      <a:endParaRPr lang="en-IN" sz="2100" b="1" dirty="0">
                        <a:solidFill>
                          <a:schemeClr val="tx1"/>
                        </a:solidFill>
                        <a:latin typeface="Inter" panose="020B0604020202020204" charset="0"/>
                        <a:ea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sz="2100" b="1" dirty="0">
                          <a:solidFill>
                            <a:schemeClr val="tx1"/>
                          </a:solidFill>
                          <a:latin typeface="Inter" panose="020B0604020202020204" charset="0"/>
                          <a:ea typeface="Inter" panose="020B0604020202020204" charset="0"/>
                        </a:rPr>
                        <a:t>Business Meaning</a:t>
                      </a:r>
                      <a:endParaRPr lang="en-IN" sz="2100" b="1" dirty="0">
                        <a:solidFill>
                          <a:schemeClr val="tx1"/>
                        </a:solidFill>
                        <a:latin typeface="Inter" panose="020B0604020202020204" charset="0"/>
                        <a:ea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2763026574"/>
                  </a:ext>
                </a:extLst>
              </a:tr>
              <a:tr h="370840">
                <a:tc>
                  <a:txBody>
                    <a:bodyPr/>
                    <a:lstStyle/>
                    <a:p>
                      <a:pPr algn="ctr"/>
                      <a:r>
                        <a:rPr lang="en-US" dirty="0">
                          <a:solidFill>
                            <a:schemeClr val="tx1"/>
                          </a:solidFill>
                          <a:latin typeface="Inter" panose="020B0604020202020204" charset="0"/>
                          <a:ea typeface="Inter" panose="020B0604020202020204" charset="0"/>
                        </a:rPr>
                        <a:t>SK_ID_CURR</a:t>
                      </a:r>
                      <a:endParaRPr lang="en-IN" dirty="0">
                        <a:solidFill>
                          <a:schemeClr val="tx1"/>
                        </a:solidFill>
                        <a:latin typeface="Inter" panose="020B0604020202020204" charset="0"/>
                        <a:ea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ea typeface="Inter" panose="020B0604020202020204" charset="0"/>
                        </a:rPr>
                        <a:t>Customer ID</a:t>
                      </a:r>
                      <a:endParaRPr lang="en-IN" dirty="0">
                        <a:solidFill>
                          <a:schemeClr val="tx1"/>
                        </a:solidFill>
                        <a:latin typeface="Inter" panose="020B0604020202020204" charset="0"/>
                        <a:ea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ea typeface="Inter" panose="020B0604020202020204" charset="0"/>
                        </a:rPr>
                        <a:t>Key</a:t>
                      </a:r>
                      <a:endParaRPr lang="en-IN" dirty="0">
                        <a:solidFill>
                          <a:schemeClr val="tx1"/>
                        </a:solidFill>
                        <a:latin typeface="Inter" panose="020B0604020202020204" charset="0"/>
                        <a:ea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ea typeface="Inter" panose="020B0604020202020204" charset="0"/>
                        </a:rPr>
                        <a:t>Links to application table</a:t>
                      </a:r>
                      <a:endParaRPr lang="en-IN" dirty="0">
                        <a:solidFill>
                          <a:schemeClr val="tx1"/>
                        </a:solidFill>
                        <a:latin typeface="Inter" panose="020B0604020202020204" charset="0"/>
                        <a:ea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2020135040"/>
                  </a:ext>
                </a:extLst>
              </a:tr>
              <a:tr h="370840">
                <a:tc>
                  <a:txBody>
                    <a:bodyPr/>
                    <a:lstStyle/>
                    <a:p>
                      <a:pPr algn="ctr"/>
                      <a:r>
                        <a:rPr lang="en-US" dirty="0">
                          <a:solidFill>
                            <a:schemeClr val="tx1"/>
                          </a:solidFill>
                          <a:latin typeface="Inter" panose="020B0604020202020204" charset="0"/>
                          <a:ea typeface="Inter" panose="020B0604020202020204" charset="0"/>
                        </a:rPr>
                        <a:t>SK_ID_BUREAU</a:t>
                      </a:r>
                      <a:endParaRPr lang="en-IN" dirty="0">
                        <a:solidFill>
                          <a:schemeClr val="tx1"/>
                        </a:solidFill>
                        <a:latin typeface="Inter" panose="020B0604020202020204" charset="0"/>
                        <a:ea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ea typeface="Inter" panose="020B0604020202020204" charset="0"/>
                        </a:rPr>
                        <a:t>Bureau Loan ID</a:t>
                      </a:r>
                      <a:endParaRPr lang="en-IN" dirty="0">
                        <a:solidFill>
                          <a:schemeClr val="tx1"/>
                        </a:solidFill>
                        <a:latin typeface="Inter" panose="020B0604020202020204" charset="0"/>
                        <a:ea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ea typeface="Inter" panose="020B0604020202020204" charset="0"/>
                        </a:rPr>
                        <a:t>ID</a:t>
                      </a:r>
                      <a:endParaRPr lang="en-IN" dirty="0">
                        <a:solidFill>
                          <a:schemeClr val="tx1"/>
                        </a:solidFill>
                        <a:latin typeface="Inter" panose="020B0604020202020204" charset="0"/>
                        <a:ea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ea typeface="Inter" panose="020B0604020202020204" charset="0"/>
                        </a:rPr>
                        <a:t>Unique external credit record</a:t>
                      </a:r>
                      <a:endParaRPr lang="en-IN" dirty="0">
                        <a:solidFill>
                          <a:schemeClr val="tx1"/>
                        </a:solidFill>
                        <a:latin typeface="Inter" panose="020B0604020202020204" charset="0"/>
                        <a:ea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3189986752"/>
                  </a:ext>
                </a:extLst>
              </a:tr>
              <a:tr h="370840">
                <a:tc>
                  <a:txBody>
                    <a:bodyPr/>
                    <a:lstStyle/>
                    <a:p>
                      <a:pPr algn="ctr"/>
                      <a:r>
                        <a:rPr lang="en-US" dirty="0">
                          <a:solidFill>
                            <a:schemeClr val="tx1"/>
                          </a:solidFill>
                          <a:latin typeface="Inter" panose="020B0604020202020204" charset="0"/>
                          <a:ea typeface="Inter" panose="020B0604020202020204" charset="0"/>
                        </a:rPr>
                        <a:t>CREDIT_ACTIVE</a:t>
                      </a:r>
                      <a:endParaRPr lang="en-IN" dirty="0">
                        <a:solidFill>
                          <a:schemeClr val="tx1"/>
                        </a:solidFill>
                        <a:latin typeface="Inter" panose="020B0604020202020204" charset="0"/>
                        <a:ea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ea typeface="Inter" panose="020B0604020202020204" charset="0"/>
                        </a:rPr>
                        <a:t>Loan Status</a:t>
                      </a:r>
                      <a:endParaRPr lang="en-IN" dirty="0">
                        <a:solidFill>
                          <a:schemeClr val="tx1"/>
                        </a:solidFill>
                        <a:latin typeface="Inter" panose="020B0604020202020204" charset="0"/>
                        <a:ea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ea typeface="Inter" panose="020B0604020202020204" charset="0"/>
                        </a:rPr>
                        <a:t>Categorical </a:t>
                      </a:r>
                      <a:endParaRPr lang="en-IN" dirty="0">
                        <a:solidFill>
                          <a:schemeClr val="tx1"/>
                        </a:solidFill>
                        <a:latin typeface="Inter" panose="020B0604020202020204" charset="0"/>
                        <a:ea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ea typeface="Inter" panose="020B0604020202020204" charset="0"/>
                        </a:rPr>
                        <a:t>Active/ Closed/ Sold credit</a:t>
                      </a:r>
                      <a:endParaRPr lang="en-IN" dirty="0">
                        <a:solidFill>
                          <a:schemeClr val="tx1"/>
                        </a:solidFill>
                        <a:latin typeface="Inter" panose="020B0604020202020204" charset="0"/>
                        <a:ea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2052929358"/>
                  </a:ext>
                </a:extLst>
              </a:tr>
              <a:tr h="370840">
                <a:tc>
                  <a:txBody>
                    <a:bodyPr/>
                    <a:lstStyle/>
                    <a:p>
                      <a:pPr algn="ctr"/>
                      <a:r>
                        <a:rPr lang="en-US" dirty="0">
                          <a:solidFill>
                            <a:schemeClr val="tx1"/>
                          </a:solidFill>
                          <a:latin typeface="Inter" panose="020B0604020202020204" charset="0"/>
                          <a:ea typeface="Inter" panose="020B0604020202020204" charset="0"/>
                        </a:rPr>
                        <a:t>CREDIT_CURRENCY</a:t>
                      </a:r>
                      <a:endParaRPr lang="en-IN" dirty="0">
                        <a:solidFill>
                          <a:schemeClr val="tx1"/>
                        </a:solidFill>
                        <a:latin typeface="Inter" panose="020B0604020202020204" charset="0"/>
                        <a:ea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ea typeface="Inter" panose="020B0604020202020204" charset="0"/>
                        </a:rPr>
                        <a:t>Currency type</a:t>
                      </a:r>
                      <a:endParaRPr lang="en-IN" dirty="0">
                        <a:solidFill>
                          <a:schemeClr val="tx1"/>
                        </a:solidFill>
                        <a:latin typeface="Inter" panose="020B0604020202020204" charset="0"/>
                        <a:ea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ea typeface="Inter" panose="020B0604020202020204" charset="0"/>
                        </a:rPr>
                        <a:t>Numeric</a:t>
                      </a:r>
                      <a:endParaRPr lang="en-IN" dirty="0">
                        <a:solidFill>
                          <a:schemeClr val="tx1"/>
                        </a:solidFill>
                        <a:latin typeface="Inter" panose="020B0604020202020204" charset="0"/>
                        <a:ea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ea typeface="Inter" panose="020B0604020202020204" charset="0"/>
                        </a:rPr>
                        <a:t>Loan Age</a:t>
                      </a:r>
                      <a:endParaRPr lang="en-IN" dirty="0">
                        <a:solidFill>
                          <a:schemeClr val="tx1"/>
                        </a:solidFill>
                        <a:latin typeface="Inter" panose="020B0604020202020204" charset="0"/>
                        <a:ea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891095203"/>
                  </a:ext>
                </a:extLst>
              </a:tr>
              <a:tr h="370840">
                <a:tc>
                  <a:txBody>
                    <a:bodyPr/>
                    <a:lstStyle/>
                    <a:p>
                      <a:pPr algn="ctr"/>
                      <a:r>
                        <a:rPr lang="en-US" dirty="0">
                          <a:solidFill>
                            <a:schemeClr val="tx1"/>
                          </a:solidFill>
                          <a:latin typeface="Inter" panose="020B0604020202020204" charset="0"/>
                          <a:ea typeface="Inter" panose="020B0604020202020204" charset="0"/>
                        </a:rPr>
                        <a:t>CREDIT_AGE_OVERDUE</a:t>
                      </a:r>
                      <a:endParaRPr lang="en-IN" dirty="0">
                        <a:solidFill>
                          <a:schemeClr val="tx1"/>
                        </a:solidFill>
                        <a:latin typeface="Inter" panose="020B0604020202020204" charset="0"/>
                        <a:ea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ea typeface="Inter" panose="020B0604020202020204" charset="0"/>
                        </a:rPr>
                        <a:t>Days overdue</a:t>
                      </a:r>
                      <a:endParaRPr lang="en-IN" dirty="0">
                        <a:solidFill>
                          <a:schemeClr val="tx1"/>
                        </a:solidFill>
                        <a:latin typeface="Inter" panose="020B0604020202020204" charset="0"/>
                        <a:ea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ea typeface="Inter" panose="020B0604020202020204" charset="0"/>
                        </a:rPr>
                        <a:t>Numeric</a:t>
                      </a:r>
                      <a:endParaRPr lang="en-IN" dirty="0">
                        <a:solidFill>
                          <a:schemeClr val="tx1"/>
                        </a:solidFill>
                        <a:latin typeface="Inter" panose="020B0604020202020204" charset="0"/>
                        <a:ea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ea typeface="Inter" panose="020B0604020202020204" charset="0"/>
                        </a:rPr>
                        <a:t>Delayed repayment indicator</a:t>
                      </a:r>
                      <a:endParaRPr lang="en-IN" dirty="0">
                        <a:solidFill>
                          <a:schemeClr val="tx1"/>
                        </a:solidFill>
                        <a:latin typeface="Inter" panose="020B0604020202020204" charset="0"/>
                        <a:ea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3416585079"/>
                  </a:ext>
                </a:extLst>
              </a:tr>
              <a:tr h="370840">
                <a:tc>
                  <a:txBody>
                    <a:bodyPr/>
                    <a:lstStyle/>
                    <a:p>
                      <a:pPr algn="ctr"/>
                      <a:r>
                        <a:rPr lang="en-US" dirty="0">
                          <a:solidFill>
                            <a:schemeClr val="tx1"/>
                          </a:solidFill>
                          <a:latin typeface="Inter" panose="020B0604020202020204" charset="0"/>
                          <a:ea typeface="Inter" panose="020B0604020202020204" charset="0"/>
                        </a:rPr>
                        <a:t>DAYS_CREDIT_ENDDATE</a:t>
                      </a:r>
                      <a:endParaRPr lang="en-IN" dirty="0">
                        <a:solidFill>
                          <a:schemeClr val="tx1"/>
                        </a:solidFill>
                        <a:latin typeface="Inter" panose="020B0604020202020204" charset="0"/>
                        <a:ea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ea typeface="Inter" panose="020B0604020202020204" charset="0"/>
                        </a:rPr>
                        <a:t>Remaining days to end loan</a:t>
                      </a:r>
                      <a:endParaRPr lang="en-IN" dirty="0">
                        <a:solidFill>
                          <a:schemeClr val="tx1"/>
                        </a:solidFill>
                        <a:latin typeface="Inter" panose="020B0604020202020204" charset="0"/>
                        <a:ea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ea typeface="Inter" panose="020B0604020202020204" charset="0"/>
                        </a:rPr>
                        <a:t>Numeric</a:t>
                      </a:r>
                      <a:endParaRPr lang="en-IN" dirty="0">
                        <a:solidFill>
                          <a:schemeClr val="tx1"/>
                        </a:solidFill>
                        <a:latin typeface="Inter" panose="020B0604020202020204" charset="0"/>
                        <a:ea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ea typeface="Inter" panose="020B0604020202020204" charset="0"/>
                        </a:rPr>
                        <a:t>Expected loan closure</a:t>
                      </a:r>
                      <a:endParaRPr lang="en-IN" dirty="0">
                        <a:solidFill>
                          <a:schemeClr val="tx1"/>
                        </a:solidFill>
                        <a:latin typeface="Inter" panose="020B0604020202020204" charset="0"/>
                        <a:ea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2607032849"/>
                  </a:ext>
                </a:extLst>
              </a:tr>
              <a:tr h="370840">
                <a:tc>
                  <a:txBody>
                    <a:bodyPr/>
                    <a:lstStyle/>
                    <a:p>
                      <a:pPr algn="ctr"/>
                      <a:r>
                        <a:rPr lang="en-US" dirty="0">
                          <a:solidFill>
                            <a:schemeClr val="tx1"/>
                          </a:solidFill>
                          <a:latin typeface="Inter" panose="020B0604020202020204" charset="0"/>
                          <a:ea typeface="Inter" panose="020B0604020202020204" charset="0"/>
                        </a:rPr>
                        <a:t>DAYS_ENDDATE_FACT</a:t>
                      </a:r>
                      <a:endParaRPr lang="en-IN" dirty="0">
                        <a:solidFill>
                          <a:schemeClr val="tx1"/>
                        </a:solidFill>
                        <a:latin typeface="Inter" panose="020B0604020202020204" charset="0"/>
                        <a:ea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ea typeface="Inter" panose="020B0604020202020204" charset="0"/>
                        </a:rPr>
                        <a:t>Actual loan closure date</a:t>
                      </a:r>
                      <a:endParaRPr lang="en-IN" dirty="0">
                        <a:solidFill>
                          <a:schemeClr val="tx1"/>
                        </a:solidFill>
                        <a:latin typeface="Inter" panose="020B0604020202020204" charset="0"/>
                        <a:ea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ea typeface="Inter" panose="020B0604020202020204" charset="0"/>
                        </a:rPr>
                        <a:t>Numeric</a:t>
                      </a:r>
                      <a:endParaRPr lang="en-IN" dirty="0">
                        <a:solidFill>
                          <a:schemeClr val="tx1"/>
                        </a:solidFill>
                        <a:latin typeface="Inter" panose="020B0604020202020204" charset="0"/>
                        <a:ea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ea typeface="Inter" panose="020B0604020202020204" charset="0"/>
                        </a:rPr>
                        <a:t>Real Closure timeline</a:t>
                      </a:r>
                      <a:endParaRPr lang="en-IN" dirty="0">
                        <a:solidFill>
                          <a:schemeClr val="tx1"/>
                        </a:solidFill>
                        <a:latin typeface="Inter" panose="020B0604020202020204" charset="0"/>
                        <a:ea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4067032361"/>
                  </a:ext>
                </a:extLst>
              </a:tr>
              <a:tr h="370840">
                <a:tc>
                  <a:txBody>
                    <a:bodyPr/>
                    <a:lstStyle/>
                    <a:p>
                      <a:pPr algn="ctr"/>
                      <a:r>
                        <a:rPr lang="en-US" dirty="0">
                          <a:solidFill>
                            <a:schemeClr val="tx1"/>
                          </a:solidFill>
                          <a:latin typeface="Inter" panose="020B0604020202020204" charset="0"/>
                          <a:ea typeface="Inter" panose="020B0604020202020204" charset="0"/>
                        </a:rPr>
                        <a:t>AMT_CREDIT_MAX_OVERDUE</a:t>
                      </a:r>
                      <a:endParaRPr lang="en-IN" dirty="0">
                        <a:solidFill>
                          <a:schemeClr val="tx1"/>
                        </a:solidFill>
                        <a:latin typeface="Inter" panose="020B0604020202020204" charset="0"/>
                        <a:ea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ea typeface="Inter" panose="020B0604020202020204" charset="0"/>
                        </a:rPr>
                        <a:t>Maximum overdue amount</a:t>
                      </a:r>
                      <a:endParaRPr lang="en-IN" dirty="0">
                        <a:solidFill>
                          <a:schemeClr val="tx1"/>
                        </a:solidFill>
                        <a:latin typeface="Inter" panose="020B0604020202020204" charset="0"/>
                        <a:ea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ea typeface="Inter" panose="020B0604020202020204" charset="0"/>
                        </a:rPr>
                        <a:t>Numeric</a:t>
                      </a:r>
                      <a:endParaRPr lang="en-IN" dirty="0">
                        <a:solidFill>
                          <a:schemeClr val="tx1"/>
                        </a:solidFill>
                        <a:latin typeface="Inter" panose="020B0604020202020204" charset="0"/>
                        <a:ea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ea typeface="Inter" panose="020B0604020202020204" charset="0"/>
                        </a:rPr>
                        <a:t>Worst overdue history</a:t>
                      </a:r>
                      <a:endParaRPr lang="en-IN" dirty="0">
                        <a:solidFill>
                          <a:schemeClr val="tx1"/>
                        </a:solidFill>
                        <a:latin typeface="Inter" panose="020B0604020202020204" charset="0"/>
                        <a:ea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1331543798"/>
                  </a:ext>
                </a:extLst>
              </a:tr>
              <a:tr h="370840">
                <a:tc>
                  <a:txBody>
                    <a:bodyPr/>
                    <a:lstStyle/>
                    <a:p>
                      <a:pPr algn="ctr"/>
                      <a:r>
                        <a:rPr lang="en-US" dirty="0">
                          <a:solidFill>
                            <a:schemeClr val="tx1"/>
                          </a:solidFill>
                          <a:latin typeface="Inter" panose="020B0604020202020204" charset="0"/>
                          <a:ea typeface="Inter" panose="020B0604020202020204" charset="0"/>
                        </a:rPr>
                        <a:t>CNT_CREDIT_PROLONG</a:t>
                      </a:r>
                      <a:endParaRPr lang="en-IN" dirty="0">
                        <a:solidFill>
                          <a:schemeClr val="tx1"/>
                        </a:solidFill>
                        <a:latin typeface="Inter" panose="020B0604020202020204" charset="0"/>
                        <a:ea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ea typeface="Inter" panose="020B0604020202020204" charset="0"/>
                        </a:rPr>
                        <a:t>Loan prolongation count</a:t>
                      </a:r>
                      <a:endParaRPr lang="en-IN" dirty="0">
                        <a:solidFill>
                          <a:schemeClr val="tx1"/>
                        </a:solidFill>
                        <a:latin typeface="Inter" panose="020B0604020202020204" charset="0"/>
                        <a:ea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ea typeface="Inter" panose="020B0604020202020204" charset="0"/>
                        </a:rPr>
                        <a:t>Numeric</a:t>
                      </a:r>
                      <a:endParaRPr lang="en-IN" dirty="0">
                        <a:solidFill>
                          <a:schemeClr val="tx1"/>
                        </a:solidFill>
                        <a:latin typeface="Inter" panose="020B0604020202020204" charset="0"/>
                        <a:ea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ea typeface="Inter" panose="020B0604020202020204" charset="0"/>
                        </a:rPr>
                        <a:t>Loan extension frequency</a:t>
                      </a:r>
                      <a:endParaRPr lang="en-IN" dirty="0">
                        <a:solidFill>
                          <a:schemeClr val="tx1"/>
                        </a:solidFill>
                        <a:latin typeface="Inter" panose="020B0604020202020204" charset="0"/>
                        <a:ea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164332187"/>
                  </a:ext>
                </a:extLst>
              </a:tr>
              <a:tr h="370840">
                <a:tc>
                  <a:txBody>
                    <a:bodyPr/>
                    <a:lstStyle/>
                    <a:p>
                      <a:pPr algn="ctr"/>
                      <a:r>
                        <a:rPr lang="en-US" dirty="0">
                          <a:solidFill>
                            <a:schemeClr val="tx1"/>
                          </a:solidFill>
                          <a:latin typeface="Inter" panose="020B0604020202020204" charset="0"/>
                          <a:ea typeface="Inter" panose="020B0604020202020204" charset="0"/>
                        </a:rPr>
                        <a:t>AMT_CREDIT_SUM</a:t>
                      </a:r>
                      <a:endParaRPr lang="en-IN" dirty="0">
                        <a:solidFill>
                          <a:schemeClr val="tx1"/>
                        </a:solidFill>
                        <a:latin typeface="Inter" panose="020B0604020202020204" charset="0"/>
                        <a:ea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ea typeface="Inter" panose="020B0604020202020204" charset="0"/>
                        </a:rPr>
                        <a:t>Total credit amount</a:t>
                      </a:r>
                      <a:endParaRPr lang="en-IN" dirty="0">
                        <a:solidFill>
                          <a:schemeClr val="tx1"/>
                        </a:solidFill>
                        <a:latin typeface="Inter" panose="020B0604020202020204" charset="0"/>
                        <a:ea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ea typeface="Inter" panose="020B0604020202020204" charset="0"/>
                        </a:rPr>
                        <a:t>Numeric</a:t>
                      </a:r>
                      <a:endParaRPr lang="en-IN" dirty="0">
                        <a:solidFill>
                          <a:schemeClr val="tx1"/>
                        </a:solidFill>
                        <a:latin typeface="Inter" panose="020B0604020202020204" charset="0"/>
                        <a:ea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ea typeface="Inter" panose="020B0604020202020204" charset="0"/>
                        </a:rPr>
                        <a:t>Total borrowed amount</a:t>
                      </a:r>
                      <a:endParaRPr lang="en-IN" dirty="0">
                        <a:solidFill>
                          <a:schemeClr val="tx1"/>
                        </a:solidFill>
                        <a:latin typeface="Inter" panose="020B0604020202020204" charset="0"/>
                        <a:ea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3940983790"/>
                  </a:ext>
                </a:extLst>
              </a:tr>
              <a:tr h="370840">
                <a:tc>
                  <a:txBody>
                    <a:bodyPr/>
                    <a:lstStyle/>
                    <a:p>
                      <a:pPr algn="ctr"/>
                      <a:r>
                        <a:rPr lang="en-US" dirty="0">
                          <a:solidFill>
                            <a:schemeClr val="tx1"/>
                          </a:solidFill>
                          <a:latin typeface="Inter" panose="020B0604020202020204" charset="0"/>
                          <a:ea typeface="Inter" panose="020B0604020202020204" charset="0"/>
                        </a:rPr>
                        <a:t>AMT_CREDIT_SUM_DEB</a:t>
                      </a:r>
                      <a:endParaRPr lang="en-IN" dirty="0">
                        <a:solidFill>
                          <a:schemeClr val="tx1"/>
                        </a:solidFill>
                        <a:latin typeface="Inter" panose="020B0604020202020204" charset="0"/>
                        <a:ea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ea typeface="Inter" panose="020B0604020202020204" charset="0"/>
                        </a:rPr>
                        <a:t>Outstanding debt</a:t>
                      </a:r>
                      <a:endParaRPr lang="en-IN" dirty="0">
                        <a:solidFill>
                          <a:schemeClr val="tx1"/>
                        </a:solidFill>
                        <a:latin typeface="Inter" panose="020B0604020202020204" charset="0"/>
                        <a:ea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ea typeface="Inter" panose="020B0604020202020204" charset="0"/>
                        </a:rPr>
                        <a:t>Numeric</a:t>
                      </a:r>
                      <a:endParaRPr lang="en-IN" dirty="0">
                        <a:solidFill>
                          <a:schemeClr val="tx1"/>
                        </a:solidFill>
                        <a:latin typeface="Inter" panose="020B0604020202020204" charset="0"/>
                        <a:ea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ea typeface="Inter" panose="020B0604020202020204" charset="0"/>
                        </a:rPr>
                        <a:t>Current unpaid debt</a:t>
                      </a:r>
                      <a:endParaRPr lang="en-IN" dirty="0">
                        <a:solidFill>
                          <a:schemeClr val="tx1"/>
                        </a:solidFill>
                        <a:latin typeface="Inter" panose="020B0604020202020204" charset="0"/>
                        <a:ea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4231155659"/>
                  </a:ext>
                </a:extLst>
              </a:tr>
              <a:tr h="370840">
                <a:tc>
                  <a:txBody>
                    <a:bodyPr/>
                    <a:lstStyle/>
                    <a:p>
                      <a:pPr algn="ctr"/>
                      <a:r>
                        <a:rPr lang="en-US" dirty="0">
                          <a:solidFill>
                            <a:schemeClr val="tx1"/>
                          </a:solidFill>
                          <a:latin typeface="Inter" panose="020B0604020202020204" charset="0"/>
                          <a:ea typeface="Inter" panose="020B0604020202020204" charset="0"/>
                        </a:rPr>
                        <a:t>AMT_CREDIT_SUM_LIMIT</a:t>
                      </a:r>
                      <a:endParaRPr lang="en-IN" dirty="0">
                        <a:solidFill>
                          <a:schemeClr val="tx1"/>
                        </a:solidFill>
                        <a:latin typeface="Inter" panose="020B0604020202020204" charset="0"/>
                        <a:ea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ea typeface="Inter" panose="020B0604020202020204" charset="0"/>
                        </a:rPr>
                        <a:t>Credit limit</a:t>
                      </a:r>
                      <a:endParaRPr lang="en-IN" dirty="0">
                        <a:solidFill>
                          <a:schemeClr val="tx1"/>
                        </a:solidFill>
                        <a:latin typeface="Inter" panose="020B0604020202020204" charset="0"/>
                        <a:ea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ea typeface="Inter" panose="020B0604020202020204" charset="0"/>
                        </a:rPr>
                        <a:t>Numeric</a:t>
                      </a:r>
                      <a:endParaRPr lang="en-IN" dirty="0">
                        <a:solidFill>
                          <a:schemeClr val="tx1"/>
                        </a:solidFill>
                        <a:latin typeface="Inter" panose="020B0604020202020204" charset="0"/>
                        <a:ea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ea typeface="Inter" panose="020B0604020202020204" charset="0"/>
                        </a:rPr>
                        <a:t>Available credit limit</a:t>
                      </a:r>
                      <a:endParaRPr lang="en-IN" dirty="0">
                        <a:solidFill>
                          <a:schemeClr val="tx1"/>
                        </a:solidFill>
                        <a:latin typeface="Inter" panose="020B0604020202020204" charset="0"/>
                        <a:ea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2876294639"/>
                  </a:ext>
                </a:extLst>
              </a:tr>
              <a:tr h="370840">
                <a:tc>
                  <a:txBody>
                    <a:bodyPr/>
                    <a:lstStyle/>
                    <a:p>
                      <a:pPr algn="ctr"/>
                      <a:r>
                        <a:rPr lang="en-US" dirty="0">
                          <a:solidFill>
                            <a:schemeClr val="tx1"/>
                          </a:solidFill>
                          <a:latin typeface="Inter" panose="020B0604020202020204" charset="0"/>
                          <a:ea typeface="Inter" panose="020B0604020202020204" charset="0"/>
                        </a:rPr>
                        <a:t>AMT_CREDIT_SUM_OVERDUE</a:t>
                      </a:r>
                      <a:endParaRPr lang="en-IN" dirty="0">
                        <a:solidFill>
                          <a:schemeClr val="tx1"/>
                        </a:solidFill>
                        <a:latin typeface="Inter" panose="020B0604020202020204" charset="0"/>
                        <a:ea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ea typeface="Inter" panose="020B0604020202020204" charset="0"/>
                        </a:rPr>
                        <a:t>Overdue amount</a:t>
                      </a:r>
                      <a:endParaRPr lang="en-IN" dirty="0">
                        <a:solidFill>
                          <a:schemeClr val="tx1"/>
                        </a:solidFill>
                        <a:latin typeface="Inter" panose="020B0604020202020204" charset="0"/>
                        <a:ea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ea typeface="Inter" panose="020B0604020202020204" charset="0"/>
                        </a:rPr>
                        <a:t>Numeric</a:t>
                      </a:r>
                      <a:endParaRPr lang="en-IN" dirty="0">
                        <a:solidFill>
                          <a:schemeClr val="tx1"/>
                        </a:solidFill>
                        <a:latin typeface="Inter" panose="020B0604020202020204" charset="0"/>
                        <a:ea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ea typeface="Inter" panose="020B0604020202020204" charset="0"/>
                        </a:rPr>
                        <a:t>Pending overdue balance</a:t>
                      </a:r>
                      <a:endParaRPr lang="en-IN" dirty="0">
                        <a:solidFill>
                          <a:schemeClr val="tx1"/>
                        </a:solidFill>
                        <a:latin typeface="Inter" panose="020B0604020202020204" charset="0"/>
                        <a:ea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2332914083"/>
                  </a:ext>
                </a:extLst>
              </a:tr>
              <a:tr h="370840">
                <a:tc>
                  <a:txBody>
                    <a:bodyPr/>
                    <a:lstStyle/>
                    <a:p>
                      <a:pPr algn="ctr"/>
                      <a:r>
                        <a:rPr lang="en-US" dirty="0">
                          <a:solidFill>
                            <a:schemeClr val="tx1"/>
                          </a:solidFill>
                          <a:latin typeface="Inter" panose="020B0604020202020204" charset="0"/>
                          <a:ea typeface="Inter" panose="020B0604020202020204" charset="0"/>
                        </a:rPr>
                        <a:t>CREDIT_TYPE</a:t>
                      </a:r>
                      <a:endParaRPr lang="en-IN" dirty="0">
                        <a:solidFill>
                          <a:schemeClr val="tx1"/>
                        </a:solidFill>
                        <a:latin typeface="Inter" panose="020B0604020202020204" charset="0"/>
                        <a:ea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ea typeface="Inter" panose="020B0604020202020204" charset="0"/>
                        </a:rPr>
                        <a:t>Credit category</a:t>
                      </a:r>
                      <a:endParaRPr lang="en-IN" dirty="0">
                        <a:solidFill>
                          <a:schemeClr val="tx1"/>
                        </a:solidFill>
                        <a:latin typeface="Inter" panose="020B0604020202020204" charset="0"/>
                        <a:ea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ea typeface="Inter" panose="020B0604020202020204" charset="0"/>
                        </a:rPr>
                        <a:t>Categorical </a:t>
                      </a:r>
                      <a:endParaRPr lang="en-IN" dirty="0">
                        <a:solidFill>
                          <a:schemeClr val="tx1"/>
                        </a:solidFill>
                        <a:latin typeface="Inter" panose="020B0604020202020204" charset="0"/>
                        <a:ea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ea typeface="Inter" panose="020B0604020202020204" charset="0"/>
                        </a:rPr>
                        <a:t>Consumer loan, credit card </a:t>
                      </a:r>
                      <a:r>
                        <a:rPr lang="en-US" dirty="0" err="1">
                          <a:solidFill>
                            <a:schemeClr val="tx1"/>
                          </a:solidFill>
                          <a:latin typeface="Inter" panose="020B0604020202020204" charset="0"/>
                          <a:ea typeface="Inter" panose="020B0604020202020204" charset="0"/>
                        </a:rPr>
                        <a:t>etc</a:t>
                      </a:r>
                      <a:endParaRPr lang="en-US" dirty="0">
                        <a:solidFill>
                          <a:schemeClr val="tx1"/>
                        </a:solidFill>
                        <a:latin typeface="Inter" panose="020B0604020202020204" charset="0"/>
                        <a:ea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3467685472"/>
                  </a:ext>
                </a:extLst>
              </a:tr>
              <a:tr h="370840">
                <a:tc>
                  <a:txBody>
                    <a:bodyPr/>
                    <a:lstStyle/>
                    <a:p>
                      <a:pPr algn="ctr"/>
                      <a:r>
                        <a:rPr lang="en-US" dirty="0">
                          <a:solidFill>
                            <a:schemeClr val="tx1"/>
                          </a:solidFill>
                          <a:latin typeface="Inter" panose="020B0604020202020204" charset="0"/>
                          <a:ea typeface="Inter" panose="020B0604020202020204" charset="0"/>
                        </a:rPr>
                        <a:t>DAYS_CREDIT_UPDATE</a:t>
                      </a:r>
                      <a:endParaRPr lang="en-IN" dirty="0">
                        <a:solidFill>
                          <a:schemeClr val="tx1"/>
                        </a:solidFill>
                        <a:latin typeface="Inter" panose="020B0604020202020204" charset="0"/>
                        <a:ea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ea typeface="Inter" panose="020B0604020202020204" charset="0"/>
                        </a:rPr>
                        <a:t>Days since bureau update</a:t>
                      </a:r>
                      <a:endParaRPr lang="en-IN" dirty="0">
                        <a:solidFill>
                          <a:schemeClr val="tx1"/>
                        </a:solidFill>
                        <a:latin typeface="Inter" panose="020B0604020202020204" charset="0"/>
                        <a:ea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ea typeface="Inter" panose="020B0604020202020204" charset="0"/>
                        </a:rPr>
                        <a:t>Numeric</a:t>
                      </a:r>
                      <a:endParaRPr lang="en-IN" dirty="0">
                        <a:solidFill>
                          <a:schemeClr val="tx1"/>
                        </a:solidFill>
                        <a:latin typeface="Inter" panose="020B0604020202020204" charset="0"/>
                        <a:ea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ea typeface="Inter" panose="020B0604020202020204" charset="0"/>
                        </a:rPr>
                        <a:t>Data recency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2831931337"/>
                  </a:ext>
                </a:extLst>
              </a:tr>
              <a:tr h="370840">
                <a:tc>
                  <a:txBody>
                    <a:bodyPr/>
                    <a:lstStyle/>
                    <a:p>
                      <a:pPr algn="ctr"/>
                      <a:r>
                        <a:rPr lang="en-US" dirty="0">
                          <a:solidFill>
                            <a:schemeClr val="tx1"/>
                          </a:solidFill>
                          <a:latin typeface="Inter" panose="020B0604020202020204" charset="0"/>
                          <a:ea typeface="Inter" panose="020B0604020202020204" charset="0"/>
                        </a:rPr>
                        <a:t>AMT_ANNUITY</a:t>
                      </a:r>
                      <a:endParaRPr lang="en-IN" dirty="0">
                        <a:solidFill>
                          <a:schemeClr val="tx1"/>
                        </a:solidFill>
                        <a:latin typeface="Inter" panose="020B0604020202020204" charset="0"/>
                        <a:ea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ea typeface="Inter" panose="020B0604020202020204" charset="0"/>
                        </a:rPr>
                        <a:t>Loan annuity amount</a:t>
                      </a:r>
                      <a:endParaRPr lang="en-IN" dirty="0">
                        <a:solidFill>
                          <a:schemeClr val="tx1"/>
                        </a:solidFill>
                        <a:latin typeface="Inter" panose="020B0604020202020204" charset="0"/>
                        <a:ea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ea typeface="Inter" panose="020B0604020202020204" charset="0"/>
                        </a:rPr>
                        <a:t>Numeric</a:t>
                      </a:r>
                      <a:endParaRPr lang="en-IN" dirty="0">
                        <a:solidFill>
                          <a:schemeClr val="tx1"/>
                        </a:solidFill>
                        <a:latin typeface="Inter" panose="020B0604020202020204" charset="0"/>
                        <a:ea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ea typeface="Inter" panose="020B0604020202020204" charset="0"/>
                        </a:rPr>
                        <a:t>Recurring installment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746049092"/>
                  </a:ext>
                </a:extLst>
              </a:tr>
            </a:tbl>
          </a:graphicData>
        </a:graphic>
      </p:graphicFrame>
    </p:spTree>
    <p:extLst>
      <p:ext uri="{BB962C8B-B14F-4D97-AF65-F5344CB8AC3E}">
        <p14:creationId xmlns:p14="http://schemas.microsoft.com/office/powerpoint/2010/main" val="13802429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C5D6CA"/>
        </a:solidFill>
        <a:effectLst/>
      </p:bgPr>
    </p:bg>
    <p:spTree>
      <p:nvGrpSpPr>
        <p:cNvPr id="1" name="">
          <a:extLst>
            <a:ext uri="{FF2B5EF4-FFF2-40B4-BE49-F238E27FC236}">
              <a16:creationId xmlns:a16="http://schemas.microsoft.com/office/drawing/2014/main" id="{B1A4D2FC-3F8E-DEBE-A64E-D30CA746B5B2}"/>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89DDE799-656C-687C-809D-B429F4E1E20E}"/>
              </a:ext>
            </a:extLst>
          </p:cNvPr>
          <p:cNvGrpSpPr/>
          <p:nvPr/>
        </p:nvGrpSpPr>
        <p:grpSpPr>
          <a:xfrm>
            <a:off x="0" y="9497082"/>
            <a:ext cx="18292543" cy="787203"/>
            <a:chOff x="0" y="0"/>
            <a:chExt cx="24390058" cy="1049604"/>
          </a:xfrm>
        </p:grpSpPr>
        <p:sp>
          <p:nvSpPr>
            <p:cNvPr id="3" name="Freeform 3">
              <a:extLst>
                <a:ext uri="{FF2B5EF4-FFF2-40B4-BE49-F238E27FC236}">
                  <a16:creationId xmlns:a16="http://schemas.microsoft.com/office/drawing/2014/main" id="{8E4717D5-7420-4D08-6C1F-DA896AF64567}"/>
                </a:ext>
              </a:extLst>
            </p:cNvPr>
            <p:cNvSpPr/>
            <p:nvPr/>
          </p:nvSpPr>
          <p:spPr>
            <a:xfrm>
              <a:off x="0" y="0"/>
              <a:ext cx="24390096" cy="1049655"/>
            </a:xfrm>
            <a:custGeom>
              <a:avLst/>
              <a:gdLst/>
              <a:ahLst/>
              <a:cxnLst/>
              <a:rect l="l" t="t" r="r" b="b"/>
              <a:pathLst>
                <a:path w="24390096" h="1049655">
                  <a:moveTo>
                    <a:pt x="0" y="0"/>
                  </a:moveTo>
                  <a:lnTo>
                    <a:pt x="24390096" y="0"/>
                  </a:lnTo>
                  <a:lnTo>
                    <a:pt x="24390096" y="1049655"/>
                  </a:lnTo>
                  <a:lnTo>
                    <a:pt x="0" y="1049655"/>
                  </a:lnTo>
                  <a:close/>
                </a:path>
              </a:pathLst>
            </a:custGeom>
            <a:solidFill>
              <a:srgbClr val="348E90"/>
            </a:solidFill>
          </p:spPr>
          <p:txBody>
            <a:bodyPr/>
            <a:lstStyle/>
            <a:p>
              <a:endParaRPr lang="en-IN"/>
            </a:p>
          </p:txBody>
        </p:sp>
      </p:grpSp>
      <p:sp>
        <p:nvSpPr>
          <p:cNvPr id="4" name="Rectangle 3">
            <a:extLst>
              <a:ext uri="{FF2B5EF4-FFF2-40B4-BE49-F238E27FC236}">
                <a16:creationId xmlns:a16="http://schemas.microsoft.com/office/drawing/2014/main" id="{8475817D-012A-344E-8C7D-4F296BBDC016}"/>
              </a:ext>
            </a:extLst>
          </p:cNvPr>
          <p:cNvSpPr/>
          <p:nvPr/>
        </p:nvSpPr>
        <p:spPr>
          <a:xfrm>
            <a:off x="15544800" y="0"/>
            <a:ext cx="1143000" cy="1823056"/>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A56992BA-3356-8073-F3F0-7474D1C66B33}"/>
              </a:ext>
            </a:extLst>
          </p:cNvPr>
          <p:cNvSpPr txBox="1"/>
          <p:nvPr/>
        </p:nvSpPr>
        <p:spPr>
          <a:xfrm>
            <a:off x="1143000" y="1199808"/>
            <a:ext cx="9144000" cy="861774"/>
          </a:xfrm>
          <a:prstGeom prst="rect">
            <a:avLst/>
          </a:prstGeom>
          <a:noFill/>
        </p:spPr>
        <p:txBody>
          <a:bodyPr wrap="square">
            <a:spAutoFit/>
          </a:bodyPr>
          <a:lstStyle/>
          <a:p>
            <a:pPr>
              <a:buNone/>
            </a:pPr>
            <a:r>
              <a:rPr lang="en-IN" sz="2500" b="1" dirty="0">
                <a:latin typeface="Inter" panose="020B0604020202020204" charset="0"/>
                <a:cs typeface="Inter" panose="020B0604020202020204" charset="0"/>
              </a:rPr>
              <a:t>2. Bureau Balance Table</a:t>
            </a:r>
          </a:p>
          <a:p>
            <a:pPr>
              <a:buNone/>
            </a:pPr>
            <a:r>
              <a:rPr lang="en-IN" sz="2500" b="1" dirty="0">
                <a:latin typeface="Inter" panose="020B0604020202020204" charset="0"/>
                <a:cs typeface="Inter" panose="020B0604020202020204" charset="0"/>
              </a:rPr>
              <a:t>Monthly Credit Status</a:t>
            </a:r>
            <a:r>
              <a:rPr lang="en-IN" sz="2500" dirty="0">
                <a:latin typeface="Inter" panose="020B0604020202020204" charset="0"/>
                <a:cs typeface="Inter" panose="020B0604020202020204" charset="0"/>
              </a:rPr>
              <a:t>: </a:t>
            </a:r>
            <a:r>
              <a:rPr lang="en-IN" sz="2500" b="1" dirty="0">
                <a:latin typeface="Inter" panose="020B0604020202020204" charset="0"/>
                <a:cs typeface="Inter" panose="020B0604020202020204" charset="0"/>
              </a:rPr>
              <a:t>Shape: (27299925, 3)</a:t>
            </a:r>
          </a:p>
        </p:txBody>
      </p:sp>
      <p:sp>
        <p:nvSpPr>
          <p:cNvPr id="8" name="TextBox 7">
            <a:extLst>
              <a:ext uri="{FF2B5EF4-FFF2-40B4-BE49-F238E27FC236}">
                <a16:creationId xmlns:a16="http://schemas.microsoft.com/office/drawing/2014/main" id="{04D47F98-B594-C77A-783D-AC93893086CA}"/>
              </a:ext>
            </a:extLst>
          </p:cNvPr>
          <p:cNvSpPr txBox="1"/>
          <p:nvPr/>
        </p:nvSpPr>
        <p:spPr>
          <a:xfrm>
            <a:off x="5295900" y="557585"/>
            <a:ext cx="7696200" cy="707886"/>
          </a:xfrm>
          <a:prstGeom prst="rect">
            <a:avLst/>
          </a:prstGeom>
          <a:noFill/>
        </p:spPr>
        <p:txBody>
          <a:bodyPr wrap="square">
            <a:spAutoFit/>
          </a:bodyPr>
          <a:lstStyle/>
          <a:p>
            <a:r>
              <a:rPr lang="en-IN" sz="4000" b="1" dirty="0">
                <a:latin typeface="Inter" panose="020B0604020202020204" charset="0"/>
                <a:ea typeface="Inter" panose="020B0604020202020204" charset="0"/>
              </a:rPr>
              <a:t>Data Dictionary (Auxiliary Tables)</a:t>
            </a:r>
          </a:p>
        </p:txBody>
      </p:sp>
      <p:graphicFrame>
        <p:nvGraphicFramePr>
          <p:cNvPr id="9" name="Table 8">
            <a:extLst>
              <a:ext uri="{FF2B5EF4-FFF2-40B4-BE49-F238E27FC236}">
                <a16:creationId xmlns:a16="http://schemas.microsoft.com/office/drawing/2014/main" id="{ACE0BC46-19DA-8FD5-954F-4E600F8B5360}"/>
              </a:ext>
            </a:extLst>
          </p:cNvPr>
          <p:cNvGraphicFramePr>
            <a:graphicFrameLocks noGrp="1"/>
          </p:cNvGraphicFramePr>
          <p:nvPr>
            <p:extLst>
              <p:ext uri="{D42A27DB-BD31-4B8C-83A1-F6EECF244321}">
                <p14:modId xmlns:p14="http://schemas.microsoft.com/office/powerpoint/2010/main" val="3146568859"/>
              </p:ext>
            </p:extLst>
          </p:nvPr>
        </p:nvGraphicFramePr>
        <p:xfrm>
          <a:off x="1143000" y="2465279"/>
          <a:ext cx="15544800" cy="2439696"/>
        </p:xfrm>
        <a:graphic>
          <a:graphicData uri="http://schemas.openxmlformats.org/drawingml/2006/table">
            <a:tbl>
              <a:tblPr firstRow="1" bandRow="1">
                <a:tableStyleId>{5C22544A-7EE6-4342-B048-85BDC9FD1C3A}</a:tableStyleId>
              </a:tblPr>
              <a:tblGrid>
                <a:gridCol w="3886200">
                  <a:extLst>
                    <a:ext uri="{9D8B030D-6E8A-4147-A177-3AD203B41FA5}">
                      <a16:colId xmlns:a16="http://schemas.microsoft.com/office/drawing/2014/main" val="3789492665"/>
                    </a:ext>
                  </a:extLst>
                </a:gridCol>
                <a:gridCol w="3886200">
                  <a:extLst>
                    <a:ext uri="{9D8B030D-6E8A-4147-A177-3AD203B41FA5}">
                      <a16:colId xmlns:a16="http://schemas.microsoft.com/office/drawing/2014/main" val="220301077"/>
                    </a:ext>
                  </a:extLst>
                </a:gridCol>
                <a:gridCol w="3886200">
                  <a:extLst>
                    <a:ext uri="{9D8B030D-6E8A-4147-A177-3AD203B41FA5}">
                      <a16:colId xmlns:a16="http://schemas.microsoft.com/office/drawing/2014/main" val="1243216272"/>
                    </a:ext>
                  </a:extLst>
                </a:gridCol>
                <a:gridCol w="3886200">
                  <a:extLst>
                    <a:ext uri="{9D8B030D-6E8A-4147-A177-3AD203B41FA5}">
                      <a16:colId xmlns:a16="http://schemas.microsoft.com/office/drawing/2014/main" val="1134861627"/>
                    </a:ext>
                  </a:extLst>
                </a:gridCol>
              </a:tblGrid>
              <a:tr h="609924">
                <a:tc>
                  <a:txBody>
                    <a:bodyPr/>
                    <a:lstStyle/>
                    <a:p>
                      <a:pPr algn="ctr"/>
                      <a:r>
                        <a:rPr lang="en-US" sz="2100" dirty="0">
                          <a:solidFill>
                            <a:schemeClr val="tx1"/>
                          </a:solidFill>
                          <a:latin typeface="Inter" panose="020B0604020202020204" charset="0"/>
                          <a:cs typeface="Inter" panose="020B0604020202020204" charset="0"/>
                        </a:rPr>
                        <a:t>Feature</a:t>
                      </a:r>
                      <a:endParaRPr lang="en-IN" sz="2100"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sz="2100" dirty="0">
                          <a:solidFill>
                            <a:schemeClr val="tx1"/>
                          </a:solidFill>
                          <a:latin typeface="Inter" panose="020B0604020202020204" charset="0"/>
                          <a:cs typeface="Inter" panose="020B0604020202020204" charset="0"/>
                        </a:rPr>
                        <a:t>Description</a:t>
                      </a:r>
                      <a:endParaRPr lang="en-IN" sz="2100"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sz="2100" dirty="0">
                          <a:solidFill>
                            <a:schemeClr val="tx1"/>
                          </a:solidFill>
                          <a:latin typeface="Inter" panose="020B0604020202020204" charset="0"/>
                          <a:cs typeface="Inter" panose="020B0604020202020204" charset="0"/>
                        </a:rPr>
                        <a:t>Type</a:t>
                      </a:r>
                      <a:endParaRPr lang="en-IN" sz="2100"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sz="2100" dirty="0">
                          <a:solidFill>
                            <a:schemeClr val="tx1"/>
                          </a:solidFill>
                          <a:latin typeface="Inter" panose="020B0604020202020204" charset="0"/>
                          <a:cs typeface="Inter" panose="020B0604020202020204" charset="0"/>
                        </a:rPr>
                        <a:t>Business Meaning</a:t>
                      </a:r>
                      <a:endParaRPr lang="en-IN" sz="2100"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944613214"/>
                  </a:ext>
                </a:extLst>
              </a:tr>
              <a:tr h="609924">
                <a:tc>
                  <a:txBody>
                    <a:bodyPr/>
                    <a:lstStyle/>
                    <a:p>
                      <a:pPr algn="ctr"/>
                      <a:r>
                        <a:rPr lang="en-IN" dirty="0">
                          <a:latin typeface="Inter" panose="020B0604020202020204" charset="0"/>
                          <a:cs typeface="Inter" panose="020B0604020202020204" charset="0"/>
                        </a:rPr>
                        <a:t>SK_ID_BUREAU</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Bureau loan ID</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Key</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Connects to table</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1028037687"/>
                  </a:ext>
                </a:extLst>
              </a:tr>
              <a:tr h="609924">
                <a:tc>
                  <a:txBody>
                    <a:bodyPr/>
                    <a:lstStyle/>
                    <a:p>
                      <a:pPr algn="ctr"/>
                      <a:r>
                        <a:rPr lang="en-IN" dirty="0">
                          <a:latin typeface="Inter" panose="020B0604020202020204" charset="0"/>
                          <a:cs typeface="Inter" panose="020B0604020202020204" charset="0"/>
                        </a:rPr>
                        <a:t>MONTHS_BALANCE</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Monthly timeline</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Numeric</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Historical month index</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2291586041"/>
                  </a:ext>
                </a:extLst>
              </a:tr>
              <a:tr h="609924">
                <a:tc>
                  <a:txBody>
                    <a:bodyPr/>
                    <a:lstStyle/>
                    <a:p>
                      <a:pPr algn="ctr"/>
                      <a:r>
                        <a:rPr lang="en-IN" dirty="0">
                          <a:latin typeface="Inter" panose="020B0604020202020204" charset="0"/>
                          <a:cs typeface="Inter" panose="020B0604020202020204" charset="0"/>
                        </a:rPr>
                        <a:t>STATUS</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Monthly loan status</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Categorical </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Payment/ default condition</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2561852705"/>
                  </a:ext>
                </a:extLst>
              </a:tr>
            </a:tbl>
          </a:graphicData>
        </a:graphic>
      </p:graphicFrame>
      <p:sp>
        <p:nvSpPr>
          <p:cNvPr id="11" name="TextBox 10">
            <a:extLst>
              <a:ext uri="{FF2B5EF4-FFF2-40B4-BE49-F238E27FC236}">
                <a16:creationId xmlns:a16="http://schemas.microsoft.com/office/drawing/2014/main" id="{E63929BF-704C-6F78-FB00-47F5B01172F8}"/>
              </a:ext>
            </a:extLst>
          </p:cNvPr>
          <p:cNvSpPr txBox="1"/>
          <p:nvPr/>
        </p:nvSpPr>
        <p:spPr>
          <a:xfrm>
            <a:off x="1143000" y="5344298"/>
            <a:ext cx="9144000" cy="477054"/>
          </a:xfrm>
          <a:prstGeom prst="rect">
            <a:avLst/>
          </a:prstGeom>
          <a:noFill/>
        </p:spPr>
        <p:txBody>
          <a:bodyPr wrap="square">
            <a:spAutoFit/>
          </a:bodyPr>
          <a:lstStyle/>
          <a:p>
            <a:r>
              <a:rPr lang="en-IN" sz="2500" b="1" dirty="0">
                <a:latin typeface="Inter" panose="020B0604020202020204" charset="0"/>
                <a:cs typeface="Inter" panose="020B0604020202020204" charset="0"/>
              </a:rPr>
              <a:t>STATUS Meaning</a:t>
            </a:r>
          </a:p>
        </p:txBody>
      </p:sp>
      <p:graphicFrame>
        <p:nvGraphicFramePr>
          <p:cNvPr id="12" name="Table 11">
            <a:extLst>
              <a:ext uri="{FF2B5EF4-FFF2-40B4-BE49-F238E27FC236}">
                <a16:creationId xmlns:a16="http://schemas.microsoft.com/office/drawing/2014/main" id="{C2506F54-27EF-C36E-215C-091E38436BBF}"/>
              </a:ext>
            </a:extLst>
          </p:cNvPr>
          <p:cNvGraphicFramePr>
            <a:graphicFrameLocks noGrp="1"/>
          </p:cNvGraphicFramePr>
          <p:nvPr>
            <p:extLst>
              <p:ext uri="{D42A27DB-BD31-4B8C-83A1-F6EECF244321}">
                <p14:modId xmlns:p14="http://schemas.microsoft.com/office/powerpoint/2010/main" val="2453410890"/>
              </p:ext>
            </p:extLst>
          </p:nvPr>
        </p:nvGraphicFramePr>
        <p:xfrm>
          <a:off x="1143000" y="6109932"/>
          <a:ext cx="15544800" cy="2596190"/>
        </p:xfrm>
        <a:graphic>
          <a:graphicData uri="http://schemas.openxmlformats.org/drawingml/2006/table">
            <a:tbl>
              <a:tblPr firstRow="1" bandRow="1">
                <a:tableStyleId>{5C22544A-7EE6-4342-B048-85BDC9FD1C3A}</a:tableStyleId>
              </a:tblPr>
              <a:tblGrid>
                <a:gridCol w="3886200">
                  <a:extLst>
                    <a:ext uri="{9D8B030D-6E8A-4147-A177-3AD203B41FA5}">
                      <a16:colId xmlns:a16="http://schemas.microsoft.com/office/drawing/2014/main" val="1418696553"/>
                    </a:ext>
                  </a:extLst>
                </a:gridCol>
                <a:gridCol w="3886200">
                  <a:extLst>
                    <a:ext uri="{9D8B030D-6E8A-4147-A177-3AD203B41FA5}">
                      <a16:colId xmlns:a16="http://schemas.microsoft.com/office/drawing/2014/main" val="980046179"/>
                    </a:ext>
                  </a:extLst>
                </a:gridCol>
                <a:gridCol w="3886200">
                  <a:extLst>
                    <a:ext uri="{9D8B030D-6E8A-4147-A177-3AD203B41FA5}">
                      <a16:colId xmlns:a16="http://schemas.microsoft.com/office/drawing/2014/main" val="3419377737"/>
                    </a:ext>
                  </a:extLst>
                </a:gridCol>
                <a:gridCol w="3886200">
                  <a:extLst>
                    <a:ext uri="{9D8B030D-6E8A-4147-A177-3AD203B41FA5}">
                      <a16:colId xmlns:a16="http://schemas.microsoft.com/office/drawing/2014/main" val="4213328639"/>
                    </a:ext>
                  </a:extLst>
                </a:gridCol>
              </a:tblGrid>
              <a:tr h="519238">
                <a:tc>
                  <a:txBody>
                    <a:bodyPr/>
                    <a:lstStyle/>
                    <a:p>
                      <a:pPr algn="ctr"/>
                      <a:r>
                        <a:rPr lang="en-US" sz="2100" b="1" dirty="0">
                          <a:solidFill>
                            <a:schemeClr val="tx1"/>
                          </a:solidFill>
                          <a:latin typeface="Inter" panose="020B0604020202020204" charset="0"/>
                          <a:cs typeface="Inter" panose="020B0604020202020204" charset="0"/>
                        </a:rPr>
                        <a:t>Status</a:t>
                      </a:r>
                      <a:endParaRPr lang="en-IN" sz="2100" b="1"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sz="2100" b="1" dirty="0">
                          <a:solidFill>
                            <a:schemeClr val="tx1"/>
                          </a:solidFill>
                          <a:latin typeface="Inter" panose="020B0604020202020204" charset="0"/>
                          <a:cs typeface="Inter" panose="020B0604020202020204" charset="0"/>
                        </a:rPr>
                        <a:t> Meaning</a:t>
                      </a:r>
                      <a:endParaRPr lang="en-IN" sz="2100" b="1"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sz="2100" b="1" dirty="0">
                          <a:solidFill>
                            <a:schemeClr val="tx1"/>
                          </a:solidFill>
                          <a:latin typeface="Inter" panose="020B0604020202020204" charset="0"/>
                          <a:cs typeface="Inter" panose="020B0604020202020204" charset="0"/>
                        </a:rPr>
                        <a:t>Status</a:t>
                      </a:r>
                      <a:endParaRPr lang="en-IN" sz="2100" b="1"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sz="2100" b="1" dirty="0">
                          <a:solidFill>
                            <a:schemeClr val="tx1"/>
                          </a:solidFill>
                          <a:latin typeface="Inter" panose="020B0604020202020204" charset="0"/>
                          <a:cs typeface="Inter" panose="020B0604020202020204" charset="0"/>
                        </a:rPr>
                        <a:t> Meaning</a:t>
                      </a:r>
                      <a:endParaRPr lang="en-IN" sz="2100" b="1"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185236637"/>
                  </a:ext>
                </a:extLst>
              </a:tr>
              <a:tr h="519238">
                <a:tc>
                  <a:txBody>
                    <a:bodyPr/>
                    <a:lstStyle/>
                    <a:p>
                      <a:pPr algn="ctr"/>
                      <a:r>
                        <a:rPr lang="en-US" dirty="0">
                          <a:solidFill>
                            <a:schemeClr val="tx1"/>
                          </a:solidFill>
                          <a:latin typeface="Inter" panose="020B0604020202020204" charset="0"/>
                          <a:cs typeface="Inter" panose="020B0604020202020204" charset="0"/>
                        </a:rPr>
                        <a:t>C</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Closed</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2</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31-60 days overdue</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2688243812"/>
                  </a:ext>
                </a:extLst>
              </a:tr>
              <a:tr h="519238">
                <a:tc>
                  <a:txBody>
                    <a:bodyPr/>
                    <a:lstStyle/>
                    <a:p>
                      <a:pPr algn="ctr"/>
                      <a:r>
                        <a:rPr lang="en-US" dirty="0">
                          <a:solidFill>
                            <a:schemeClr val="tx1"/>
                          </a:solidFill>
                          <a:latin typeface="Inter" panose="020B0604020202020204" charset="0"/>
                          <a:cs typeface="Inter" panose="020B0604020202020204" charset="0"/>
                        </a:rPr>
                        <a:t>X</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No loan for month</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3</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61-90 days overdue</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662086642"/>
                  </a:ext>
                </a:extLst>
              </a:tr>
              <a:tr h="519238">
                <a:tc>
                  <a:txBody>
                    <a:bodyPr/>
                    <a:lstStyle/>
                    <a:p>
                      <a:pPr algn="ctr"/>
                      <a:r>
                        <a:rPr lang="en-US" dirty="0">
                          <a:solidFill>
                            <a:schemeClr val="tx1"/>
                          </a:solidFill>
                          <a:latin typeface="Inter" panose="020B0604020202020204" charset="0"/>
                          <a:cs typeface="Inter" panose="020B0604020202020204" charset="0"/>
                        </a:rPr>
                        <a:t>0</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No overdue</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4</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91-120 days overdue</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4082737645"/>
                  </a:ext>
                </a:extLst>
              </a:tr>
              <a:tr h="519238">
                <a:tc>
                  <a:txBody>
                    <a:bodyPr/>
                    <a:lstStyle/>
                    <a:p>
                      <a:pPr algn="ctr"/>
                      <a:r>
                        <a:rPr lang="en-US" dirty="0">
                          <a:solidFill>
                            <a:schemeClr val="tx1"/>
                          </a:solidFill>
                          <a:latin typeface="Inter" panose="020B0604020202020204" charset="0"/>
                          <a:cs typeface="Inter" panose="020B0604020202020204" charset="0"/>
                        </a:rPr>
                        <a:t>1</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1-30 days overdue</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5</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120+ days overdue</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1844546365"/>
                  </a:ext>
                </a:extLst>
              </a:tr>
            </a:tbl>
          </a:graphicData>
        </a:graphic>
      </p:graphicFrame>
    </p:spTree>
    <p:extLst>
      <p:ext uri="{BB962C8B-B14F-4D97-AF65-F5344CB8AC3E}">
        <p14:creationId xmlns:p14="http://schemas.microsoft.com/office/powerpoint/2010/main" val="7880330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C5D6CA"/>
        </a:solidFill>
        <a:effectLst/>
      </p:bgPr>
    </p:bg>
    <p:spTree>
      <p:nvGrpSpPr>
        <p:cNvPr id="1" name="">
          <a:extLst>
            <a:ext uri="{FF2B5EF4-FFF2-40B4-BE49-F238E27FC236}">
              <a16:creationId xmlns:a16="http://schemas.microsoft.com/office/drawing/2014/main" id="{1DF12300-97F1-15B5-6836-69D0B94B790A}"/>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FA9C3852-9AF9-1480-3B6F-C554788A9F19}"/>
              </a:ext>
            </a:extLst>
          </p:cNvPr>
          <p:cNvGrpSpPr/>
          <p:nvPr/>
        </p:nvGrpSpPr>
        <p:grpSpPr>
          <a:xfrm>
            <a:off x="0" y="9497082"/>
            <a:ext cx="18292543" cy="787203"/>
            <a:chOff x="0" y="0"/>
            <a:chExt cx="24390058" cy="1049604"/>
          </a:xfrm>
        </p:grpSpPr>
        <p:sp>
          <p:nvSpPr>
            <p:cNvPr id="3" name="Freeform 3">
              <a:extLst>
                <a:ext uri="{FF2B5EF4-FFF2-40B4-BE49-F238E27FC236}">
                  <a16:creationId xmlns:a16="http://schemas.microsoft.com/office/drawing/2014/main" id="{8BE19899-EE68-D8CB-1A9B-A5BAE058C803}"/>
                </a:ext>
              </a:extLst>
            </p:cNvPr>
            <p:cNvSpPr/>
            <p:nvPr/>
          </p:nvSpPr>
          <p:spPr>
            <a:xfrm>
              <a:off x="0" y="0"/>
              <a:ext cx="24390096" cy="1049655"/>
            </a:xfrm>
            <a:custGeom>
              <a:avLst/>
              <a:gdLst/>
              <a:ahLst/>
              <a:cxnLst/>
              <a:rect l="l" t="t" r="r" b="b"/>
              <a:pathLst>
                <a:path w="24390096" h="1049655">
                  <a:moveTo>
                    <a:pt x="0" y="0"/>
                  </a:moveTo>
                  <a:lnTo>
                    <a:pt x="24390096" y="0"/>
                  </a:lnTo>
                  <a:lnTo>
                    <a:pt x="24390096" y="1049655"/>
                  </a:lnTo>
                  <a:lnTo>
                    <a:pt x="0" y="1049655"/>
                  </a:lnTo>
                  <a:close/>
                </a:path>
              </a:pathLst>
            </a:custGeom>
            <a:solidFill>
              <a:srgbClr val="348E90"/>
            </a:solidFill>
          </p:spPr>
          <p:txBody>
            <a:bodyPr/>
            <a:lstStyle/>
            <a:p>
              <a:endParaRPr lang="en-IN"/>
            </a:p>
          </p:txBody>
        </p:sp>
      </p:grpSp>
      <p:sp>
        <p:nvSpPr>
          <p:cNvPr id="4" name="Rectangle 3">
            <a:extLst>
              <a:ext uri="{FF2B5EF4-FFF2-40B4-BE49-F238E27FC236}">
                <a16:creationId xmlns:a16="http://schemas.microsoft.com/office/drawing/2014/main" id="{02BAEF3A-6055-6E82-35C9-039AC1D832E4}"/>
              </a:ext>
            </a:extLst>
          </p:cNvPr>
          <p:cNvSpPr/>
          <p:nvPr/>
        </p:nvSpPr>
        <p:spPr>
          <a:xfrm>
            <a:off x="15544800" y="0"/>
            <a:ext cx="1143000" cy="1823056"/>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B04D4FAD-6CFB-1AEF-B415-B3FF0F56E4F7}"/>
              </a:ext>
            </a:extLst>
          </p:cNvPr>
          <p:cNvSpPr txBox="1"/>
          <p:nvPr/>
        </p:nvSpPr>
        <p:spPr>
          <a:xfrm>
            <a:off x="1143000" y="1823056"/>
            <a:ext cx="9144000" cy="861774"/>
          </a:xfrm>
          <a:prstGeom prst="rect">
            <a:avLst/>
          </a:prstGeom>
          <a:noFill/>
        </p:spPr>
        <p:txBody>
          <a:bodyPr wrap="square">
            <a:spAutoFit/>
          </a:bodyPr>
          <a:lstStyle/>
          <a:p>
            <a:pPr>
              <a:buNone/>
            </a:pPr>
            <a:r>
              <a:rPr lang="en-IN" sz="2500" b="1" dirty="0">
                <a:latin typeface="Inter" panose="020B0604020202020204" charset="0"/>
                <a:cs typeface="Inter" panose="020B0604020202020204" charset="0"/>
              </a:rPr>
              <a:t>3. Previous Application Table</a:t>
            </a:r>
          </a:p>
          <a:p>
            <a:pPr>
              <a:buNone/>
            </a:pPr>
            <a:r>
              <a:rPr lang="en-IN" sz="2500" b="1" dirty="0">
                <a:latin typeface="Inter" panose="020B0604020202020204" charset="0"/>
                <a:cs typeface="Inter" panose="020B0604020202020204" charset="0"/>
              </a:rPr>
              <a:t>Historical Loan Applications: Shape:</a:t>
            </a:r>
            <a:r>
              <a:rPr lang="en-IN" sz="2500" dirty="0">
                <a:latin typeface="Inter" panose="020B0604020202020204" charset="0"/>
                <a:cs typeface="Inter" panose="020B0604020202020204" charset="0"/>
              </a:rPr>
              <a:t> (1670214, 37)</a:t>
            </a:r>
          </a:p>
        </p:txBody>
      </p:sp>
      <p:sp>
        <p:nvSpPr>
          <p:cNvPr id="7" name="TextBox 6">
            <a:extLst>
              <a:ext uri="{FF2B5EF4-FFF2-40B4-BE49-F238E27FC236}">
                <a16:creationId xmlns:a16="http://schemas.microsoft.com/office/drawing/2014/main" id="{EE49BF90-6AA4-A598-83C6-48D87A7F4799}"/>
              </a:ext>
            </a:extLst>
          </p:cNvPr>
          <p:cNvSpPr txBox="1"/>
          <p:nvPr/>
        </p:nvSpPr>
        <p:spPr>
          <a:xfrm>
            <a:off x="4572000" y="908439"/>
            <a:ext cx="9144000" cy="707886"/>
          </a:xfrm>
          <a:prstGeom prst="rect">
            <a:avLst/>
          </a:prstGeom>
          <a:noFill/>
        </p:spPr>
        <p:txBody>
          <a:bodyPr wrap="square">
            <a:spAutoFit/>
          </a:bodyPr>
          <a:lstStyle/>
          <a:p>
            <a:r>
              <a:rPr lang="en-IN" sz="4000" b="1" dirty="0">
                <a:latin typeface="Inter" panose="020B0604020202020204" charset="0"/>
                <a:ea typeface="Inter" panose="020B0604020202020204" charset="0"/>
              </a:rPr>
              <a:t>Data Dictionary (Auxiliary Tables)</a:t>
            </a:r>
          </a:p>
        </p:txBody>
      </p:sp>
      <p:graphicFrame>
        <p:nvGraphicFramePr>
          <p:cNvPr id="17" name="Table 16">
            <a:extLst>
              <a:ext uri="{FF2B5EF4-FFF2-40B4-BE49-F238E27FC236}">
                <a16:creationId xmlns:a16="http://schemas.microsoft.com/office/drawing/2014/main" id="{5BF1532F-9F94-A80A-E422-19B227A23F79}"/>
              </a:ext>
            </a:extLst>
          </p:cNvPr>
          <p:cNvGraphicFramePr>
            <a:graphicFrameLocks noGrp="1"/>
          </p:cNvGraphicFramePr>
          <p:nvPr>
            <p:extLst>
              <p:ext uri="{D42A27DB-BD31-4B8C-83A1-F6EECF244321}">
                <p14:modId xmlns:p14="http://schemas.microsoft.com/office/powerpoint/2010/main" val="709729803"/>
              </p:ext>
            </p:extLst>
          </p:nvPr>
        </p:nvGraphicFramePr>
        <p:xfrm>
          <a:off x="1169772" y="2918460"/>
          <a:ext cx="15365628" cy="6344920"/>
        </p:xfrm>
        <a:graphic>
          <a:graphicData uri="http://schemas.openxmlformats.org/drawingml/2006/table">
            <a:tbl>
              <a:tblPr firstRow="1" bandRow="1">
                <a:tableStyleId>{5C22544A-7EE6-4342-B048-85BDC9FD1C3A}</a:tableStyleId>
              </a:tblPr>
              <a:tblGrid>
                <a:gridCol w="4316628">
                  <a:extLst>
                    <a:ext uri="{9D8B030D-6E8A-4147-A177-3AD203B41FA5}">
                      <a16:colId xmlns:a16="http://schemas.microsoft.com/office/drawing/2014/main" val="2500006290"/>
                    </a:ext>
                  </a:extLst>
                </a:gridCol>
                <a:gridCol w="3366186">
                  <a:extLst>
                    <a:ext uri="{9D8B030D-6E8A-4147-A177-3AD203B41FA5}">
                      <a16:colId xmlns:a16="http://schemas.microsoft.com/office/drawing/2014/main" val="1843025317"/>
                    </a:ext>
                  </a:extLst>
                </a:gridCol>
                <a:gridCol w="3841407">
                  <a:extLst>
                    <a:ext uri="{9D8B030D-6E8A-4147-A177-3AD203B41FA5}">
                      <a16:colId xmlns:a16="http://schemas.microsoft.com/office/drawing/2014/main" val="188307789"/>
                    </a:ext>
                  </a:extLst>
                </a:gridCol>
                <a:gridCol w="3841407">
                  <a:extLst>
                    <a:ext uri="{9D8B030D-6E8A-4147-A177-3AD203B41FA5}">
                      <a16:colId xmlns:a16="http://schemas.microsoft.com/office/drawing/2014/main" val="535998353"/>
                    </a:ext>
                  </a:extLst>
                </a:gridCol>
              </a:tblGrid>
              <a:tr h="370840">
                <a:tc>
                  <a:txBody>
                    <a:bodyPr/>
                    <a:lstStyle/>
                    <a:p>
                      <a:pPr algn="ctr"/>
                      <a:r>
                        <a:rPr lang="en-US" sz="2100" dirty="0">
                          <a:solidFill>
                            <a:schemeClr val="tx1"/>
                          </a:solidFill>
                          <a:latin typeface="Inter" panose="020B0604020202020204" charset="0"/>
                          <a:cs typeface="Inter" panose="020B0604020202020204" charset="0"/>
                        </a:rPr>
                        <a:t>Feature </a:t>
                      </a:r>
                      <a:endParaRPr lang="en-IN" sz="2100"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sz="2100" dirty="0">
                          <a:solidFill>
                            <a:schemeClr val="tx1"/>
                          </a:solidFill>
                          <a:latin typeface="Inter" panose="020B0604020202020204" charset="0"/>
                          <a:cs typeface="Inter" panose="020B0604020202020204" charset="0"/>
                        </a:rPr>
                        <a:t>Description</a:t>
                      </a:r>
                      <a:endParaRPr lang="en-IN" sz="2100"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sz="2100" dirty="0">
                          <a:solidFill>
                            <a:schemeClr val="tx1"/>
                          </a:solidFill>
                          <a:latin typeface="Inter" panose="020B0604020202020204" charset="0"/>
                          <a:cs typeface="Inter" panose="020B0604020202020204" charset="0"/>
                        </a:rPr>
                        <a:t>Type</a:t>
                      </a:r>
                      <a:endParaRPr lang="en-IN" sz="2100"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sz="2100" dirty="0">
                          <a:solidFill>
                            <a:schemeClr val="tx1"/>
                          </a:solidFill>
                          <a:latin typeface="Inter" panose="020B0604020202020204" charset="0"/>
                          <a:cs typeface="Inter" panose="020B0604020202020204" charset="0"/>
                        </a:rPr>
                        <a:t>Business Meaning</a:t>
                      </a:r>
                      <a:endParaRPr lang="en-IN" sz="2100"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15180123"/>
                  </a:ext>
                </a:extLst>
              </a:tr>
              <a:tr h="370840">
                <a:tc>
                  <a:txBody>
                    <a:bodyPr/>
                    <a:lstStyle/>
                    <a:p>
                      <a:pPr algn="ctr"/>
                      <a:r>
                        <a:rPr lang="en-US" dirty="0">
                          <a:solidFill>
                            <a:schemeClr val="tx1"/>
                          </a:solidFill>
                          <a:latin typeface="Inter" panose="020B0604020202020204" charset="0"/>
                          <a:cs typeface="Inter" panose="020B0604020202020204" charset="0"/>
                        </a:rPr>
                        <a:t>SK_ID_PREV</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Previous Loan ID</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ID</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Unique previous application</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198254265"/>
                  </a:ext>
                </a:extLst>
              </a:tr>
              <a:tr h="370840">
                <a:tc>
                  <a:txBody>
                    <a:bodyPr/>
                    <a:lstStyle/>
                    <a:p>
                      <a:pPr algn="ctr"/>
                      <a:r>
                        <a:rPr lang="en-US" dirty="0">
                          <a:solidFill>
                            <a:schemeClr val="tx1"/>
                          </a:solidFill>
                          <a:latin typeface="Inter" panose="020B0604020202020204" charset="0"/>
                          <a:cs typeface="Inter" panose="020B0604020202020204" charset="0"/>
                        </a:rPr>
                        <a:t>SK_ID_CURR</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Customer_id</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Key</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Links to customer</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105307418"/>
                  </a:ext>
                </a:extLst>
              </a:tr>
              <a:tr h="370840">
                <a:tc>
                  <a:txBody>
                    <a:bodyPr/>
                    <a:lstStyle/>
                    <a:p>
                      <a:pPr algn="ctr"/>
                      <a:r>
                        <a:rPr lang="en-US" dirty="0">
                          <a:solidFill>
                            <a:schemeClr val="tx1"/>
                          </a:solidFill>
                          <a:latin typeface="Inter" panose="020B0604020202020204" charset="0"/>
                          <a:cs typeface="Inter" panose="020B0604020202020204" charset="0"/>
                        </a:rPr>
                        <a:t>NAME_CONTRACT_TYPE</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Loan Type</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Categorical </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Cash/ Consumer loan</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71052042"/>
                  </a:ext>
                </a:extLst>
              </a:tr>
              <a:tr h="370840">
                <a:tc>
                  <a:txBody>
                    <a:bodyPr/>
                    <a:lstStyle/>
                    <a:p>
                      <a:pPr algn="ctr"/>
                      <a:r>
                        <a:rPr lang="en-US" dirty="0">
                          <a:solidFill>
                            <a:schemeClr val="tx1"/>
                          </a:solidFill>
                          <a:latin typeface="Inter" panose="020B0604020202020204" charset="0"/>
                          <a:cs typeface="Inter" panose="020B0604020202020204" charset="0"/>
                        </a:rPr>
                        <a:t>AMT_ANNUITY</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Installment amount</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Numeric</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EMI amount</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133465684"/>
                  </a:ext>
                </a:extLst>
              </a:tr>
              <a:tr h="370840">
                <a:tc>
                  <a:txBody>
                    <a:bodyPr/>
                    <a:lstStyle/>
                    <a:p>
                      <a:pPr algn="ctr"/>
                      <a:r>
                        <a:rPr lang="en-US" dirty="0">
                          <a:solidFill>
                            <a:schemeClr val="tx1"/>
                          </a:solidFill>
                          <a:latin typeface="Inter" panose="020B0604020202020204" charset="0"/>
                          <a:cs typeface="Inter" panose="020B0604020202020204" charset="0"/>
                        </a:rPr>
                        <a:t>AMT_APPLICATION</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Applied amount</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Numeric</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Request amount</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30357419"/>
                  </a:ext>
                </a:extLst>
              </a:tr>
              <a:tr h="370840">
                <a:tc>
                  <a:txBody>
                    <a:bodyPr/>
                    <a:lstStyle/>
                    <a:p>
                      <a:pPr algn="ctr"/>
                      <a:r>
                        <a:rPr lang="en-US" dirty="0">
                          <a:solidFill>
                            <a:schemeClr val="tx1"/>
                          </a:solidFill>
                          <a:latin typeface="Inter" panose="020B0604020202020204" charset="0"/>
                          <a:cs typeface="Inter" panose="020B0604020202020204" charset="0"/>
                        </a:rPr>
                        <a:t>AMT_CREDIT</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Approved credit</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Numeric</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Approved amount</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2382886841"/>
                  </a:ext>
                </a:extLst>
              </a:tr>
              <a:tr h="370840">
                <a:tc>
                  <a:txBody>
                    <a:bodyPr/>
                    <a:lstStyle/>
                    <a:p>
                      <a:pPr algn="ctr"/>
                      <a:r>
                        <a:rPr lang="en-US" dirty="0">
                          <a:solidFill>
                            <a:schemeClr val="tx1"/>
                          </a:solidFill>
                          <a:latin typeface="Inter" panose="020B0604020202020204" charset="0"/>
                          <a:cs typeface="Inter" panose="020B0604020202020204" charset="0"/>
                        </a:rPr>
                        <a:t>AMT_DOWN_PAYMENT</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Down payment</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Numeric</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Initial payment</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2048112019"/>
                  </a:ext>
                </a:extLst>
              </a:tr>
              <a:tr h="370840">
                <a:tc>
                  <a:txBody>
                    <a:bodyPr/>
                    <a:lstStyle/>
                    <a:p>
                      <a:pPr algn="ctr"/>
                      <a:r>
                        <a:rPr lang="en-US" dirty="0">
                          <a:solidFill>
                            <a:schemeClr val="tx1"/>
                          </a:solidFill>
                          <a:latin typeface="Inter" panose="020B0604020202020204" charset="0"/>
                          <a:cs typeface="Inter" panose="020B0604020202020204" charset="0"/>
                        </a:rPr>
                        <a:t>AMT_GOODS_PRICE</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Goods price</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Numeric</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Financial goods value</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624166711"/>
                  </a:ext>
                </a:extLst>
              </a:tr>
              <a:tr h="370840">
                <a:tc>
                  <a:txBody>
                    <a:bodyPr/>
                    <a:lstStyle/>
                    <a:p>
                      <a:pPr algn="ctr"/>
                      <a:r>
                        <a:rPr lang="en-US" dirty="0">
                          <a:solidFill>
                            <a:schemeClr val="tx1"/>
                          </a:solidFill>
                          <a:latin typeface="Inter" panose="020B0604020202020204" charset="0"/>
                          <a:cs typeface="Inter" panose="020B0604020202020204" charset="0"/>
                        </a:rPr>
                        <a:t>WEEKDAY_APPR_PROCESS_START</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Application weekday </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Categorical</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Day applied</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2727945428"/>
                  </a:ext>
                </a:extLst>
              </a:tr>
              <a:tr h="370840">
                <a:tc>
                  <a:txBody>
                    <a:bodyPr/>
                    <a:lstStyle/>
                    <a:p>
                      <a:pPr algn="ctr"/>
                      <a:r>
                        <a:rPr lang="en-US" dirty="0">
                          <a:solidFill>
                            <a:schemeClr val="tx1"/>
                          </a:solidFill>
                          <a:latin typeface="Inter" panose="020B0604020202020204" charset="0"/>
                          <a:cs typeface="Inter" panose="020B0604020202020204" charset="0"/>
                        </a:rPr>
                        <a:t>HOUR_APPR_PROCESS_START</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Application hour</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Numeric</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Application timing</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1508572615"/>
                  </a:ext>
                </a:extLst>
              </a:tr>
              <a:tr h="370840">
                <a:tc>
                  <a:txBody>
                    <a:bodyPr/>
                    <a:lstStyle/>
                    <a:p>
                      <a:pPr algn="ctr"/>
                      <a:r>
                        <a:rPr lang="en-US" dirty="0">
                          <a:solidFill>
                            <a:schemeClr val="tx1"/>
                          </a:solidFill>
                          <a:latin typeface="Inter" panose="020B0604020202020204" charset="0"/>
                          <a:cs typeface="Inter" panose="020B0604020202020204" charset="0"/>
                        </a:rPr>
                        <a:t>FLAG_LAST_APPL_PER_CONTRACT</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Last application flag</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Binary</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Latest application indicator</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2688724141"/>
                  </a:ext>
                </a:extLst>
              </a:tr>
              <a:tr h="370840">
                <a:tc>
                  <a:txBody>
                    <a:bodyPr/>
                    <a:lstStyle/>
                    <a:p>
                      <a:pPr algn="ctr"/>
                      <a:r>
                        <a:rPr lang="en-US" dirty="0">
                          <a:solidFill>
                            <a:schemeClr val="tx1"/>
                          </a:solidFill>
                          <a:latin typeface="Inter" panose="020B0604020202020204" charset="0"/>
                          <a:cs typeface="Inter" panose="020B0604020202020204" charset="0"/>
                        </a:rPr>
                        <a:t>NFLAG_LAST_APPL_IN_DAY</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Applications per day</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Numeric</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Multiple applications indicator</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1900868343"/>
                  </a:ext>
                </a:extLst>
              </a:tr>
              <a:tr h="370840">
                <a:tc>
                  <a:txBody>
                    <a:bodyPr/>
                    <a:lstStyle/>
                    <a:p>
                      <a:pPr algn="ctr"/>
                      <a:r>
                        <a:rPr lang="en-US" dirty="0">
                          <a:solidFill>
                            <a:schemeClr val="tx1"/>
                          </a:solidFill>
                          <a:latin typeface="Inter" panose="020B0604020202020204" charset="0"/>
                          <a:cs typeface="Inter" panose="020B0604020202020204" charset="0"/>
                        </a:rPr>
                        <a:t>RATE_DOWN_PAYMENT</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Down payment ratio</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Numeric</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Down payment percentage</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2326661159"/>
                  </a:ext>
                </a:extLst>
              </a:tr>
              <a:tr h="370840">
                <a:tc>
                  <a:txBody>
                    <a:bodyPr/>
                    <a:lstStyle/>
                    <a:p>
                      <a:pPr algn="ctr"/>
                      <a:r>
                        <a:rPr lang="en-US" dirty="0">
                          <a:solidFill>
                            <a:schemeClr val="tx1"/>
                          </a:solidFill>
                          <a:latin typeface="Inter" panose="020B0604020202020204" charset="0"/>
                          <a:cs typeface="Inter" panose="020B0604020202020204" charset="0"/>
                        </a:rPr>
                        <a:t>RATE_INTEREST_PRIMARY</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Primary interest rate</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Numeric</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Interest rate</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4289125729"/>
                  </a:ext>
                </a:extLst>
              </a:tr>
              <a:tr h="370840">
                <a:tc>
                  <a:txBody>
                    <a:bodyPr/>
                    <a:lstStyle/>
                    <a:p>
                      <a:pPr algn="ctr"/>
                      <a:r>
                        <a:rPr lang="en-US" dirty="0">
                          <a:solidFill>
                            <a:schemeClr val="tx1"/>
                          </a:solidFill>
                          <a:latin typeface="Inter" panose="020B0604020202020204" charset="0"/>
                          <a:cs typeface="Inter" panose="020B0604020202020204" charset="0"/>
                        </a:rPr>
                        <a:t>RATE_INTEREST_PRIVILEGED</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Privileged interest rate </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Numeric</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Discounted rate</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2117002969"/>
                  </a:ext>
                </a:extLst>
              </a:tr>
              <a:tr h="370840">
                <a:tc>
                  <a:txBody>
                    <a:bodyPr/>
                    <a:lstStyle/>
                    <a:p>
                      <a:pPr algn="ctr"/>
                      <a:r>
                        <a:rPr lang="en-US" dirty="0">
                          <a:solidFill>
                            <a:schemeClr val="tx1"/>
                          </a:solidFill>
                          <a:latin typeface="Inter" panose="020B0604020202020204" charset="0"/>
                          <a:cs typeface="Inter" panose="020B0604020202020204" charset="0"/>
                        </a:rPr>
                        <a:t>NAME_CASH_LOAN_PURPOSE</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Loan purpose</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Categorical</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Repair, business etc.</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1662171303"/>
                  </a:ext>
                </a:extLst>
              </a:tr>
            </a:tbl>
          </a:graphicData>
        </a:graphic>
      </p:graphicFrame>
    </p:spTree>
    <p:extLst>
      <p:ext uri="{BB962C8B-B14F-4D97-AF65-F5344CB8AC3E}">
        <p14:creationId xmlns:p14="http://schemas.microsoft.com/office/powerpoint/2010/main" val="27806849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C5D6CA"/>
        </a:solidFill>
        <a:effectLst/>
      </p:bgPr>
    </p:bg>
    <p:spTree>
      <p:nvGrpSpPr>
        <p:cNvPr id="1" name="">
          <a:extLst>
            <a:ext uri="{FF2B5EF4-FFF2-40B4-BE49-F238E27FC236}">
              <a16:creationId xmlns:a16="http://schemas.microsoft.com/office/drawing/2014/main" id="{E73DE76A-6F0F-C060-18B6-D8FDE86BAB83}"/>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A5805AAB-52AE-1EA3-2787-BDA0D3911776}"/>
              </a:ext>
            </a:extLst>
          </p:cNvPr>
          <p:cNvGrpSpPr/>
          <p:nvPr/>
        </p:nvGrpSpPr>
        <p:grpSpPr>
          <a:xfrm>
            <a:off x="0" y="9497082"/>
            <a:ext cx="18292543" cy="787203"/>
            <a:chOff x="0" y="0"/>
            <a:chExt cx="24390058" cy="1049604"/>
          </a:xfrm>
        </p:grpSpPr>
        <p:sp>
          <p:nvSpPr>
            <p:cNvPr id="3" name="Freeform 3">
              <a:extLst>
                <a:ext uri="{FF2B5EF4-FFF2-40B4-BE49-F238E27FC236}">
                  <a16:creationId xmlns:a16="http://schemas.microsoft.com/office/drawing/2014/main" id="{CC82AF46-993F-41EB-62D1-67B108F8C3D7}"/>
                </a:ext>
              </a:extLst>
            </p:cNvPr>
            <p:cNvSpPr/>
            <p:nvPr/>
          </p:nvSpPr>
          <p:spPr>
            <a:xfrm>
              <a:off x="0" y="0"/>
              <a:ext cx="24390096" cy="1049655"/>
            </a:xfrm>
            <a:custGeom>
              <a:avLst/>
              <a:gdLst/>
              <a:ahLst/>
              <a:cxnLst/>
              <a:rect l="l" t="t" r="r" b="b"/>
              <a:pathLst>
                <a:path w="24390096" h="1049655">
                  <a:moveTo>
                    <a:pt x="0" y="0"/>
                  </a:moveTo>
                  <a:lnTo>
                    <a:pt x="24390096" y="0"/>
                  </a:lnTo>
                  <a:lnTo>
                    <a:pt x="24390096" y="1049655"/>
                  </a:lnTo>
                  <a:lnTo>
                    <a:pt x="0" y="1049655"/>
                  </a:lnTo>
                  <a:close/>
                </a:path>
              </a:pathLst>
            </a:custGeom>
            <a:solidFill>
              <a:srgbClr val="348E90"/>
            </a:solidFill>
          </p:spPr>
          <p:txBody>
            <a:bodyPr/>
            <a:lstStyle/>
            <a:p>
              <a:endParaRPr lang="en-IN"/>
            </a:p>
          </p:txBody>
        </p:sp>
      </p:grpSp>
      <p:sp>
        <p:nvSpPr>
          <p:cNvPr id="4" name="Rectangle 3">
            <a:extLst>
              <a:ext uri="{FF2B5EF4-FFF2-40B4-BE49-F238E27FC236}">
                <a16:creationId xmlns:a16="http://schemas.microsoft.com/office/drawing/2014/main" id="{FC7E335F-8A4E-6387-6BCA-D8C417D72EE9}"/>
              </a:ext>
            </a:extLst>
          </p:cNvPr>
          <p:cNvSpPr/>
          <p:nvPr/>
        </p:nvSpPr>
        <p:spPr>
          <a:xfrm>
            <a:off x="15544800" y="0"/>
            <a:ext cx="1143000" cy="1823056"/>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43FFCACF-54BA-6D65-FED1-ADCB4234AD72}"/>
              </a:ext>
            </a:extLst>
          </p:cNvPr>
          <p:cNvSpPr txBox="1"/>
          <p:nvPr/>
        </p:nvSpPr>
        <p:spPr>
          <a:xfrm>
            <a:off x="1143000" y="1823056"/>
            <a:ext cx="9144000" cy="861774"/>
          </a:xfrm>
          <a:prstGeom prst="rect">
            <a:avLst/>
          </a:prstGeom>
          <a:noFill/>
        </p:spPr>
        <p:txBody>
          <a:bodyPr wrap="square">
            <a:spAutoFit/>
          </a:bodyPr>
          <a:lstStyle/>
          <a:p>
            <a:pPr>
              <a:buNone/>
            </a:pPr>
            <a:r>
              <a:rPr lang="en-IN" sz="2500" b="1" dirty="0">
                <a:latin typeface="Inter" panose="020B0604020202020204" charset="0"/>
                <a:cs typeface="Inter" panose="020B0604020202020204" charset="0"/>
              </a:rPr>
              <a:t>4. Instalments Payments Table</a:t>
            </a:r>
          </a:p>
          <a:p>
            <a:pPr>
              <a:buNone/>
            </a:pPr>
            <a:r>
              <a:rPr lang="en-IN" sz="2500" b="1" dirty="0">
                <a:latin typeface="Inter" panose="020B0604020202020204" charset="0"/>
                <a:cs typeface="Inter" panose="020B0604020202020204" charset="0"/>
              </a:rPr>
              <a:t>Repayment Behaviour: Shape:</a:t>
            </a:r>
            <a:r>
              <a:rPr lang="en-IN" sz="2500" dirty="0">
                <a:latin typeface="Inter" panose="020B0604020202020204" charset="0"/>
                <a:cs typeface="Inter" panose="020B0604020202020204" charset="0"/>
              </a:rPr>
              <a:t> (13605401, 8)</a:t>
            </a:r>
          </a:p>
        </p:txBody>
      </p:sp>
      <p:sp>
        <p:nvSpPr>
          <p:cNvPr id="7" name="TextBox 6">
            <a:extLst>
              <a:ext uri="{FF2B5EF4-FFF2-40B4-BE49-F238E27FC236}">
                <a16:creationId xmlns:a16="http://schemas.microsoft.com/office/drawing/2014/main" id="{8E02DDB0-8578-6811-93A5-BC805CF3D305}"/>
              </a:ext>
            </a:extLst>
          </p:cNvPr>
          <p:cNvSpPr txBox="1"/>
          <p:nvPr/>
        </p:nvSpPr>
        <p:spPr>
          <a:xfrm>
            <a:off x="4572000" y="908439"/>
            <a:ext cx="9144000" cy="707886"/>
          </a:xfrm>
          <a:prstGeom prst="rect">
            <a:avLst/>
          </a:prstGeom>
          <a:noFill/>
        </p:spPr>
        <p:txBody>
          <a:bodyPr wrap="square">
            <a:spAutoFit/>
          </a:bodyPr>
          <a:lstStyle/>
          <a:p>
            <a:r>
              <a:rPr lang="en-IN" sz="4000" b="1" dirty="0">
                <a:latin typeface="Inter" panose="020B0604020202020204" charset="0"/>
                <a:ea typeface="Inter" panose="020B0604020202020204" charset="0"/>
              </a:rPr>
              <a:t>Data Dictionary (Auxiliary Tables)</a:t>
            </a:r>
          </a:p>
        </p:txBody>
      </p:sp>
      <p:graphicFrame>
        <p:nvGraphicFramePr>
          <p:cNvPr id="8" name="Table 7">
            <a:extLst>
              <a:ext uri="{FF2B5EF4-FFF2-40B4-BE49-F238E27FC236}">
                <a16:creationId xmlns:a16="http://schemas.microsoft.com/office/drawing/2014/main" id="{95B2DE94-5780-1490-047B-5D258A87B493}"/>
              </a:ext>
            </a:extLst>
          </p:cNvPr>
          <p:cNvGraphicFramePr>
            <a:graphicFrameLocks noGrp="1"/>
          </p:cNvGraphicFramePr>
          <p:nvPr>
            <p:extLst>
              <p:ext uri="{D42A27DB-BD31-4B8C-83A1-F6EECF244321}">
                <p14:modId xmlns:p14="http://schemas.microsoft.com/office/powerpoint/2010/main" val="297412536"/>
              </p:ext>
            </p:extLst>
          </p:nvPr>
        </p:nvGraphicFramePr>
        <p:xfrm>
          <a:off x="1143000" y="2911126"/>
          <a:ext cx="15544800" cy="3378200"/>
        </p:xfrm>
        <a:graphic>
          <a:graphicData uri="http://schemas.openxmlformats.org/drawingml/2006/table">
            <a:tbl>
              <a:tblPr firstRow="1" bandRow="1">
                <a:tableStyleId>{5C22544A-7EE6-4342-B048-85BDC9FD1C3A}</a:tableStyleId>
              </a:tblPr>
              <a:tblGrid>
                <a:gridCol w="3886200">
                  <a:extLst>
                    <a:ext uri="{9D8B030D-6E8A-4147-A177-3AD203B41FA5}">
                      <a16:colId xmlns:a16="http://schemas.microsoft.com/office/drawing/2014/main" val="3182627447"/>
                    </a:ext>
                  </a:extLst>
                </a:gridCol>
                <a:gridCol w="3886200">
                  <a:extLst>
                    <a:ext uri="{9D8B030D-6E8A-4147-A177-3AD203B41FA5}">
                      <a16:colId xmlns:a16="http://schemas.microsoft.com/office/drawing/2014/main" val="4142942736"/>
                    </a:ext>
                  </a:extLst>
                </a:gridCol>
                <a:gridCol w="3886200">
                  <a:extLst>
                    <a:ext uri="{9D8B030D-6E8A-4147-A177-3AD203B41FA5}">
                      <a16:colId xmlns:a16="http://schemas.microsoft.com/office/drawing/2014/main" val="1483082019"/>
                    </a:ext>
                  </a:extLst>
                </a:gridCol>
                <a:gridCol w="3886200">
                  <a:extLst>
                    <a:ext uri="{9D8B030D-6E8A-4147-A177-3AD203B41FA5}">
                      <a16:colId xmlns:a16="http://schemas.microsoft.com/office/drawing/2014/main" val="3638305642"/>
                    </a:ext>
                  </a:extLst>
                </a:gridCol>
              </a:tblGrid>
              <a:tr h="370840">
                <a:tc>
                  <a:txBody>
                    <a:bodyPr/>
                    <a:lstStyle/>
                    <a:p>
                      <a:pPr algn="ctr"/>
                      <a:r>
                        <a:rPr lang="en-US" sz="2100" b="1" dirty="0">
                          <a:solidFill>
                            <a:schemeClr val="tx1"/>
                          </a:solidFill>
                          <a:latin typeface="Inter" panose="020B0604020202020204" charset="0"/>
                          <a:cs typeface="Inter" panose="020B0604020202020204" charset="0"/>
                        </a:rPr>
                        <a:t>Feature </a:t>
                      </a:r>
                      <a:endParaRPr lang="en-IN" sz="2100" b="1"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sz="2100" b="1" dirty="0">
                          <a:solidFill>
                            <a:schemeClr val="tx1"/>
                          </a:solidFill>
                          <a:latin typeface="Inter" panose="020B0604020202020204" charset="0"/>
                          <a:cs typeface="Inter" panose="020B0604020202020204" charset="0"/>
                        </a:rPr>
                        <a:t>Description</a:t>
                      </a:r>
                      <a:endParaRPr lang="en-IN" sz="2100" b="1"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sz="2100" b="1" dirty="0">
                          <a:solidFill>
                            <a:schemeClr val="tx1"/>
                          </a:solidFill>
                          <a:latin typeface="Inter" panose="020B0604020202020204" charset="0"/>
                          <a:cs typeface="Inter" panose="020B0604020202020204" charset="0"/>
                        </a:rPr>
                        <a:t>Type</a:t>
                      </a:r>
                      <a:endParaRPr lang="en-IN" sz="2100" b="1"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sz="2100" b="1" dirty="0">
                          <a:solidFill>
                            <a:schemeClr val="tx1"/>
                          </a:solidFill>
                          <a:latin typeface="Inter" panose="020B0604020202020204" charset="0"/>
                          <a:cs typeface="Inter" panose="020B0604020202020204" charset="0"/>
                        </a:rPr>
                        <a:t>Business Meaning</a:t>
                      </a:r>
                      <a:endParaRPr lang="en-IN" sz="2100" b="1"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3452315842"/>
                  </a:ext>
                </a:extLst>
              </a:tr>
              <a:tr h="370840">
                <a:tc>
                  <a:txBody>
                    <a:bodyPr/>
                    <a:lstStyle/>
                    <a:p>
                      <a:pPr algn="ctr"/>
                      <a:r>
                        <a:rPr lang="en-US" dirty="0">
                          <a:solidFill>
                            <a:schemeClr val="tx1"/>
                          </a:solidFill>
                          <a:latin typeface="Inter" panose="020B0604020202020204" charset="0"/>
                          <a:cs typeface="Inter" panose="020B0604020202020204" charset="0"/>
                        </a:rPr>
                        <a:t>SK_ID_PREV</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Previous loan ID</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Key</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Loan reference</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3146193515"/>
                  </a:ext>
                </a:extLst>
              </a:tr>
              <a:tr h="370840">
                <a:tc>
                  <a:txBody>
                    <a:bodyPr/>
                    <a:lstStyle/>
                    <a:p>
                      <a:pPr algn="ctr"/>
                      <a:r>
                        <a:rPr lang="en-US" dirty="0">
                          <a:solidFill>
                            <a:schemeClr val="tx1"/>
                          </a:solidFill>
                          <a:latin typeface="Inter" panose="020B0604020202020204" charset="0"/>
                          <a:cs typeface="Inter" panose="020B0604020202020204" charset="0"/>
                        </a:rPr>
                        <a:t>SK_ID_CURR</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Customer ID</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Key</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Customer reference</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702642290"/>
                  </a:ext>
                </a:extLst>
              </a:tr>
              <a:tr h="370840">
                <a:tc>
                  <a:txBody>
                    <a:bodyPr/>
                    <a:lstStyle/>
                    <a:p>
                      <a:pPr algn="ctr"/>
                      <a:r>
                        <a:rPr lang="en-US" dirty="0">
                          <a:solidFill>
                            <a:schemeClr val="tx1"/>
                          </a:solidFill>
                          <a:latin typeface="Inter" panose="020B0604020202020204" charset="0"/>
                          <a:cs typeface="Inter" panose="020B0604020202020204" charset="0"/>
                        </a:rPr>
                        <a:t>NUM_INSTALMENT_VERSION</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Installment version</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Numeric</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Modified installment plan</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3948552264"/>
                  </a:ext>
                </a:extLst>
              </a:tr>
              <a:tr h="370840">
                <a:tc>
                  <a:txBody>
                    <a:bodyPr/>
                    <a:lstStyle/>
                    <a:p>
                      <a:pPr algn="ctr"/>
                      <a:r>
                        <a:rPr lang="en-US" dirty="0">
                          <a:solidFill>
                            <a:schemeClr val="tx1"/>
                          </a:solidFill>
                          <a:latin typeface="Inter" panose="020B0604020202020204" charset="0"/>
                          <a:cs typeface="Inter" panose="020B0604020202020204" charset="0"/>
                        </a:rPr>
                        <a:t>NUM_INSTALMENT_NUMBER</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Installment sequence</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Numeric</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EMI number</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344851747"/>
                  </a:ext>
                </a:extLst>
              </a:tr>
              <a:tr h="370840">
                <a:tc>
                  <a:txBody>
                    <a:bodyPr/>
                    <a:lstStyle/>
                    <a:p>
                      <a:pPr algn="ctr"/>
                      <a:r>
                        <a:rPr lang="en-US" dirty="0">
                          <a:solidFill>
                            <a:schemeClr val="tx1"/>
                          </a:solidFill>
                          <a:latin typeface="Inter" panose="020B0604020202020204" charset="0"/>
                          <a:cs typeface="Inter" panose="020B0604020202020204" charset="0"/>
                        </a:rPr>
                        <a:t>DAYS_INSTALMENT</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Scheduled payment</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Numeric</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Due date</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1890689599"/>
                  </a:ext>
                </a:extLst>
              </a:tr>
              <a:tr h="370840">
                <a:tc>
                  <a:txBody>
                    <a:bodyPr/>
                    <a:lstStyle/>
                    <a:p>
                      <a:pPr algn="ctr"/>
                      <a:r>
                        <a:rPr lang="en-US" dirty="0">
                          <a:solidFill>
                            <a:schemeClr val="tx1"/>
                          </a:solidFill>
                          <a:latin typeface="Inter" panose="020B0604020202020204" charset="0"/>
                          <a:cs typeface="Inter" panose="020B0604020202020204" charset="0"/>
                        </a:rPr>
                        <a:t>DAYS_ENTRY_PAYMENT</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Actual payment day </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Numeric</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Actual payment timing</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3573843605"/>
                  </a:ext>
                </a:extLst>
              </a:tr>
              <a:tr h="370840">
                <a:tc>
                  <a:txBody>
                    <a:bodyPr/>
                    <a:lstStyle/>
                    <a:p>
                      <a:pPr algn="ctr"/>
                      <a:r>
                        <a:rPr lang="en-US" dirty="0">
                          <a:solidFill>
                            <a:schemeClr val="tx1"/>
                          </a:solidFill>
                          <a:latin typeface="Inter" panose="020B0604020202020204" charset="0"/>
                          <a:cs typeface="Inter" panose="020B0604020202020204" charset="0"/>
                        </a:rPr>
                        <a:t>AMT_INSTALMENT</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Installment amount</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Numeric</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Expected EMI</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2838016873"/>
                  </a:ext>
                </a:extLst>
              </a:tr>
              <a:tr h="370840">
                <a:tc>
                  <a:txBody>
                    <a:bodyPr/>
                    <a:lstStyle/>
                    <a:p>
                      <a:pPr algn="ctr"/>
                      <a:r>
                        <a:rPr lang="en-US" dirty="0">
                          <a:solidFill>
                            <a:schemeClr val="tx1"/>
                          </a:solidFill>
                          <a:latin typeface="Inter" panose="020B0604020202020204" charset="0"/>
                          <a:cs typeface="Inter" panose="020B0604020202020204" charset="0"/>
                        </a:rPr>
                        <a:t>AMT_PAYMENT</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Amount paid</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Numeric</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Actual payment</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2770136564"/>
                  </a:ext>
                </a:extLst>
              </a:tr>
            </a:tbl>
          </a:graphicData>
        </a:graphic>
      </p:graphicFrame>
      <p:sp>
        <p:nvSpPr>
          <p:cNvPr id="10" name="TextBox 9">
            <a:extLst>
              <a:ext uri="{FF2B5EF4-FFF2-40B4-BE49-F238E27FC236}">
                <a16:creationId xmlns:a16="http://schemas.microsoft.com/office/drawing/2014/main" id="{A114FF3C-2EA7-B0C3-1680-CEFDCE2A0807}"/>
              </a:ext>
            </a:extLst>
          </p:cNvPr>
          <p:cNvSpPr txBox="1"/>
          <p:nvPr/>
        </p:nvSpPr>
        <p:spPr>
          <a:xfrm>
            <a:off x="1138881" y="6515622"/>
            <a:ext cx="9144000" cy="477054"/>
          </a:xfrm>
          <a:prstGeom prst="rect">
            <a:avLst/>
          </a:prstGeom>
          <a:noFill/>
        </p:spPr>
        <p:txBody>
          <a:bodyPr wrap="square">
            <a:spAutoFit/>
          </a:bodyPr>
          <a:lstStyle/>
          <a:p>
            <a:r>
              <a:rPr lang="en-IN" sz="2500" b="1" dirty="0">
                <a:latin typeface="Inter" panose="020B0604020202020204" charset="0"/>
                <a:cs typeface="Inter" panose="020B0604020202020204" charset="0"/>
              </a:rPr>
              <a:t>Important Derived Metrics</a:t>
            </a:r>
          </a:p>
        </p:txBody>
      </p:sp>
      <p:graphicFrame>
        <p:nvGraphicFramePr>
          <p:cNvPr id="11" name="Table 10">
            <a:extLst>
              <a:ext uri="{FF2B5EF4-FFF2-40B4-BE49-F238E27FC236}">
                <a16:creationId xmlns:a16="http://schemas.microsoft.com/office/drawing/2014/main" id="{DBFE1A0B-697D-479F-6486-23AD9970E13B}"/>
              </a:ext>
            </a:extLst>
          </p:cNvPr>
          <p:cNvGraphicFramePr>
            <a:graphicFrameLocks noGrp="1"/>
          </p:cNvGraphicFramePr>
          <p:nvPr>
            <p:extLst>
              <p:ext uri="{D42A27DB-BD31-4B8C-83A1-F6EECF244321}">
                <p14:modId xmlns:p14="http://schemas.microsoft.com/office/powerpoint/2010/main" val="3518148641"/>
              </p:ext>
            </p:extLst>
          </p:nvPr>
        </p:nvGraphicFramePr>
        <p:xfrm>
          <a:off x="1138880" y="7218972"/>
          <a:ext cx="15544800" cy="1422400"/>
        </p:xfrm>
        <a:graphic>
          <a:graphicData uri="http://schemas.openxmlformats.org/drawingml/2006/table">
            <a:tbl>
              <a:tblPr firstRow="1" bandRow="1">
                <a:tableStyleId>{5C22544A-7EE6-4342-B048-85BDC9FD1C3A}</a:tableStyleId>
              </a:tblPr>
              <a:tblGrid>
                <a:gridCol w="5181600">
                  <a:extLst>
                    <a:ext uri="{9D8B030D-6E8A-4147-A177-3AD203B41FA5}">
                      <a16:colId xmlns:a16="http://schemas.microsoft.com/office/drawing/2014/main" val="2285160194"/>
                    </a:ext>
                  </a:extLst>
                </a:gridCol>
                <a:gridCol w="5181600">
                  <a:extLst>
                    <a:ext uri="{9D8B030D-6E8A-4147-A177-3AD203B41FA5}">
                      <a16:colId xmlns:a16="http://schemas.microsoft.com/office/drawing/2014/main" val="972260643"/>
                    </a:ext>
                  </a:extLst>
                </a:gridCol>
                <a:gridCol w="5181600">
                  <a:extLst>
                    <a:ext uri="{9D8B030D-6E8A-4147-A177-3AD203B41FA5}">
                      <a16:colId xmlns:a16="http://schemas.microsoft.com/office/drawing/2014/main" val="1661248435"/>
                    </a:ext>
                  </a:extLst>
                </a:gridCol>
              </a:tblGrid>
              <a:tr h="370840">
                <a:tc>
                  <a:txBody>
                    <a:bodyPr/>
                    <a:lstStyle/>
                    <a:p>
                      <a:pPr algn="ctr"/>
                      <a:r>
                        <a:rPr lang="en-US" sz="2100" dirty="0">
                          <a:solidFill>
                            <a:schemeClr val="tx1"/>
                          </a:solidFill>
                          <a:latin typeface="Inter" panose="020B0604020202020204" charset="0"/>
                          <a:cs typeface="Inter" panose="020B0604020202020204" charset="0"/>
                        </a:rPr>
                        <a:t>Metric</a:t>
                      </a:r>
                      <a:endParaRPr lang="en-IN" sz="2100"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sz="2100" dirty="0">
                          <a:solidFill>
                            <a:schemeClr val="tx1"/>
                          </a:solidFill>
                          <a:latin typeface="Inter" panose="020B0604020202020204" charset="0"/>
                          <a:cs typeface="Inter" panose="020B0604020202020204" charset="0"/>
                        </a:rPr>
                        <a:t>Formula</a:t>
                      </a:r>
                      <a:endParaRPr lang="en-IN" sz="2100"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sz="2100" dirty="0">
                          <a:solidFill>
                            <a:schemeClr val="tx1"/>
                          </a:solidFill>
                          <a:latin typeface="Inter" panose="020B0604020202020204" charset="0"/>
                          <a:cs typeface="Inter" panose="020B0604020202020204" charset="0"/>
                        </a:rPr>
                        <a:t>Meaning</a:t>
                      </a:r>
                      <a:endParaRPr lang="en-IN" sz="2100"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162782000"/>
                  </a:ext>
                </a:extLst>
              </a:tr>
              <a:tr h="370840">
                <a:tc>
                  <a:txBody>
                    <a:bodyPr/>
                    <a:lstStyle/>
                    <a:p>
                      <a:pPr algn="ctr"/>
                      <a:r>
                        <a:rPr lang="en-US" dirty="0">
                          <a:solidFill>
                            <a:schemeClr val="tx1"/>
                          </a:solidFill>
                          <a:latin typeface="Inter" panose="020B0604020202020204" charset="0"/>
                          <a:cs typeface="Inter" panose="020B0604020202020204" charset="0"/>
                        </a:rPr>
                        <a:t>Payment Delay</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DAYS_ENTRY_PAYMENT – DAYS_INSTALMENT</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Late payment days</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1475576700"/>
                  </a:ext>
                </a:extLst>
              </a:tr>
              <a:tr h="370840">
                <a:tc>
                  <a:txBody>
                    <a:bodyPr/>
                    <a:lstStyle/>
                    <a:p>
                      <a:pPr algn="ctr"/>
                      <a:r>
                        <a:rPr lang="en-US" dirty="0">
                          <a:solidFill>
                            <a:schemeClr val="tx1"/>
                          </a:solidFill>
                          <a:latin typeface="Inter" panose="020B0604020202020204" charset="0"/>
                          <a:cs typeface="Inter" panose="020B0604020202020204" charset="0"/>
                        </a:rPr>
                        <a:t>Payment Difference</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AMT_PAYMENT – AMT_INSTALMENT</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Under/ over payment</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981050575"/>
                  </a:ext>
                </a:extLst>
              </a:tr>
            </a:tbl>
          </a:graphicData>
        </a:graphic>
      </p:graphicFrame>
    </p:spTree>
    <p:extLst>
      <p:ext uri="{BB962C8B-B14F-4D97-AF65-F5344CB8AC3E}">
        <p14:creationId xmlns:p14="http://schemas.microsoft.com/office/powerpoint/2010/main" val="8782718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C5D6CA"/>
        </a:solidFill>
        <a:effectLst/>
      </p:bgPr>
    </p:bg>
    <p:spTree>
      <p:nvGrpSpPr>
        <p:cNvPr id="1" name="">
          <a:extLst>
            <a:ext uri="{FF2B5EF4-FFF2-40B4-BE49-F238E27FC236}">
              <a16:creationId xmlns:a16="http://schemas.microsoft.com/office/drawing/2014/main" id="{354547EF-BE4D-7743-7900-E5151FF05041}"/>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B6FC19D6-4115-F519-5F36-7FF4FA1654E0}"/>
              </a:ext>
            </a:extLst>
          </p:cNvPr>
          <p:cNvGrpSpPr/>
          <p:nvPr/>
        </p:nvGrpSpPr>
        <p:grpSpPr>
          <a:xfrm>
            <a:off x="0" y="9497082"/>
            <a:ext cx="18292543" cy="787203"/>
            <a:chOff x="0" y="0"/>
            <a:chExt cx="24390058" cy="1049604"/>
          </a:xfrm>
        </p:grpSpPr>
        <p:sp>
          <p:nvSpPr>
            <p:cNvPr id="3" name="Freeform 3">
              <a:extLst>
                <a:ext uri="{FF2B5EF4-FFF2-40B4-BE49-F238E27FC236}">
                  <a16:creationId xmlns:a16="http://schemas.microsoft.com/office/drawing/2014/main" id="{64BBAF29-64DD-D57C-A666-AC6396532210}"/>
                </a:ext>
              </a:extLst>
            </p:cNvPr>
            <p:cNvSpPr/>
            <p:nvPr/>
          </p:nvSpPr>
          <p:spPr>
            <a:xfrm>
              <a:off x="0" y="0"/>
              <a:ext cx="24390096" cy="1049655"/>
            </a:xfrm>
            <a:custGeom>
              <a:avLst/>
              <a:gdLst/>
              <a:ahLst/>
              <a:cxnLst/>
              <a:rect l="l" t="t" r="r" b="b"/>
              <a:pathLst>
                <a:path w="24390096" h="1049655">
                  <a:moveTo>
                    <a:pt x="0" y="0"/>
                  </a:moveTo>
                  <a:lnTo>
                    <a:pt x="24390096" y="0"/>
                  </a:lnTo>
                  <a:lnTo>
                    <a:pt x="24390096" y="1049655"/>
                  </a:lnTo>
                  <a:lnTo>
                    <a:pt x="0" y="1049655"/>
                  </a:lnTo>
                  <a:close/>
                </a:path>
              </a:pathLst>
            </a:custGeom>
            <a:solidFill>
              <a:srgbClr val="348E90"/>
            </a:solidFill>
          </p:spPr>
          <p:txBody>
            <a:bodyPr/>
            <a:lstStyle/>
            <a:p>
              <a:endParaRPr lang="en-IN"/>
            </a:p>
          </p:txBody>
        </p:sp>
      </p:grpSp>
      <p:sp>
        <p:nvSpPr>
          <p:cNvPr id="4" name="Rectangle 3">
            <a:extLst>
              <a:ext uri="{FF2B5EF4-FFF2-40B4-BE49-F238E27FC236}">
                <a16:creationId xmlns:a16="http://schemas.microsoft.com/office/drawing/2014/main" id="{2FE8F4DD-64DB-6022-B6A4-34353026EBFB}"/>
              </a:ext>
            </a:extLst>
          </p:cNvPr>
          <p:cNvSpPr/>
          <p:nvPr/>
        </p:nvSpPr>
        <p:spPr>
          <a:xfrm>
            <a:off x="15544800" y="0"/>
            <a:ext cx="1143000" cy="1823056"/>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D8BECEFF-DE9F-DB19-3DEE-CFCBD379D0E8}"/>
              </a:ext>
            </a:extLst>
          </p:cNvPr>
          <p:cNvSpPr txBox="1"/>
          <p:nvPr/>
        </p:nvSpPr>
        <p:spPr>
          <a:xfrm>
            <a:off x="4572000" y="908439"/>
            <a:ext cx="9144000" cy="707886"/>
          </a:xfrm>
          <a:prstGeom prst="rect">
            <a:avLst/>
          </a:prstGeom>
          <a:noFill/>
        </p:spPr>
        <p:txBody>
          <a:bodyPr wrap="square">
            <a:spAutoFit/>
          </a:bodyPr>
          <a:lstStyle/>
          <a:p>
            <a:r>
              <a:rPr lang="en-IN" sz="4000" b="1" dirty="0">
                <a:latin typeface="Inter" panose="020B0604020202020204" charset="0"/>
                <a:ea typeface="Inter" panose="020B0604020202020204" charset="0"/>
              </a:rPr>
              <a:t>Data Dictionary (Auxiliary Tables)</a:t>
            </a:r>
          </a:p>
        </p:txBody>
      </p:sp>
      <p:sp>
        <p:nvSpPr>
          <p:cNvPr id="7" name="TextBox 6">
            <a:extLst>
              <a:ext uri="{FF2B5EF4-FFF2-40B4-BE49-F238E27FC236}">
                <a16:creationId xmlns:a16="http://schemas.microsoft.com/office/drawing/2014/main" id="{7269C278-8DD5-7AA2-2762-27F1405ACBC7}"/>
              </a:ext>
            </a:extLst>
          </p:cNvPr>
          <p:cNvSpPr txBox="1"/>
          <p:nvPr/>
        </p:nvSpPr>
        <p:spPr>
          <a:xfrm>
            <a:off x="939114" y="1629711"/>
            <a:ext cx="9144000" cy="861774"/>
          </a:xfrm>
          <a:prstGeom prst="rect">
            <a:avLst/>
          </a:prstGeom>
          <a:noFill/>
        </p:spPr>
        <p:txBody>
          <a:bodyPr wrap="square">
            <a:spAutoFit/>
          </a:bodyPr>
          <a:lstStyle/>
          <a:p>
            <a:pPr>
              <a:buNone/>
            </a:pPr>
            <a:r>
              <a:rPr lang="en-IN" sz="2500" b="1" dirty="0">
                <a:latin typeface="Inter" panose="020B0604020202020204" charset="0"/>
                <a:cs typeface="Inter" panose="020B0604020202020204" charset="0"/>
              </a:rPr>
              <a:t>5. Credit Card Balance Table</a:t>
            </a:r>
          </a:p>
          <a:p>
            <a:pPr>
              <a:buNone/>
            </a:pPr>
            <a:r>
              <a:rPr lang="en-IN" sz="2500" b="1" dirty="0">
                <a:latin typeface="Inter" panose="020B0604020202020204" charset="0"/>
                <a:cs typeface="Inter" panose="020B0604020202020204" charset="0"/>
              </a:rPr>
              <a:t>Credit Card Spending Behaviour : Shape:</a:t>
            </a:r>
            <a:r>
              <a:rPr lang="en-IN" sz="2500" dirty="0">
                <a:latin typeface="Inter" panose="020B0604020202020204" charset="0"/>
                <a:cs typeface="Inter" panose="020B0604020202020204" charset="0"/>
              </a:rPr>
              <a:t> (3840312, 23)</a:t>
            </a:r>
          </a:p>
        </p:txBody>
      </p:sp>
      <p:graphicFrame>
        <p:nvGraphicFramePr>
          <p:cNvPr id="8" name="Table 7">
            <a:extLst>
              <a:ext uri="{FF2B5EF4-FFF2-40B4-BE49-F238E27FC236}">
                <a16:creationId xmlns:a16="http://schemas.microsoft.com/office/drawing/2014/main" id="{3CF0C39D-C9DD-8C97-A5CE-A2479D7D455B}"/>
              </a:ext>
            </a:extLst>
          </p:cNvPr>
          <p:cNvGraphicFramePr>
            <a:graphicFrameLocks noGrp="1"/>
          </p:cNvGraphicFramePr>
          <p:nvPr>
            <p:extLst>
              <p:ext uri="{D42A27DB-BD31-4B8C-83A1-F6EECF244321}">
                <p14:modId xmlns:p14="http://schemas.microsoft.com/office/powerpoint/2010/main" val="4006166056"/>
              </p:ext>
            </p:extLst>
          </p:nvPr>
        </p:nvGraphicFramePr>
        <p:xfrm>
          <a:off x="939114" y="2918460"/>
          <a:ext cx="15748686" cy="6344920"/>
        </p:xfrm>
        <a:graphic>
          <a:graphicData uri="http://schemas.openxmlformats.org/drawingml/2006/table">
            <a:tbl>
              <a:tblPr firstRow="1" bandRow="1">
                <a:tableStyleId>{5C22544A-7EE6-4342-B048-85BDC9FD1C3A}</a:tableStyleId>
              </a:tblPr>
              <a:tblGrid>
                <a:gridCol w="5249562">
                  <a:extLst>
                    <a:ext uri="{9D8B030D-6E8A-4147-A177-3AD203B41FA5}">
                      <a16:colId xmlns:a16="http://schemas.microsoft.com/office/drawing/2014/main" val="1603098471"/>
                    </a:ext>
                  </a:extLst>
                </a:gridCol>
                <a:gridCol w="5249562">
                  <a:extLst>
                    <a:ext uri="{9D8B030D-6E8A-4147-A177-3AD203B41FA5}">
                      <a16:colId xmlns:a16="http://schemas.microsoft.com/office/drawing/2014/main" val="4292957480"/>
                    </a:ext>
                  </a:extLst>
                </a:gridCol>
                <a:gridCol w="5249562">
                  <a:extLst>
                    <a:ext uri="{9D8B030D-6E8A-4147-A177-3AD203B41FA5}">
                      <a16:colId xmlns:a16="http://schemas.microsoft.com/office/drawing/2014/main" val="1729178916"/>
                    </a:ext>
                  </a:extLst>
                </a:gridCol>
              </a:tblGrid>
              <a:tr h="370840">
                <a:tc>
                  <a:txBody>
                    <a:bodyPr/>
                    <a:lstStyle/>
                    <a:p>
                      <a:pPr algn="ctr"/>
                      <a:r>
                        <a:rPr lang="en-US" sz="2100" dirty="0">
                          <a:solidFill>
                            <a:schemeClr val="tx1"/>
                          </a:solidFill>
                          <a:latin typeface="Inter" panose="020B0604020202020204" charset="0"/>
                          <a:cs typeface="Inter" panose="020B0604020202020204" charset="0"/>
                        </a:rPr>
                        <a:t>Feature</a:t>
                      </a:r>
                      <a:endParaRPr lang="en-IN" sz="2100"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sz="2100" dirty="0">
                          <a:solidFill>
                            <a:schemeClr val="tx1"/>
                          </a:solidFill>
                          <a:latin typeface="Inter" panose="020B0604020202020204" charset="0"/>
                          <a:cs typeface="Inter" panose="020B0604020202020204" charset="0"/>
                        </a:rPr>
                        <a:t>Description </a:t>
                      </a:r>
                      <a:endParaRPr lang="en-IN" sz="2100"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sz="2100" dirty="0">
                          <a:solidFill>
                            <a:schemeClr val="tx1"/>
                          </a:solidFill>
                          <a:latin typeface="Inter" panose="020B0604020202020204" charset="0"/>
                          <a:cs typeface="Inter" panose="020B0604020202020204" charset="0"/>
                        </a:rPr>
                        <a:t>Type</a:t>
                      </a:r>
                      <a:endParaRPr lang="en-IN" sz="2100"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657096065"/>
                  </a:ext>
                </a:extLst>
              </a:tr>
              <a:tr h="370840">
                <a:tc>
                  <a:txBody>
                    <a:bodyPr/>
                    <a:lstStyle/>
                    <a:p>
                      <a:pPr algn="ctr"/>
                      <a:r>
                        <a:rPr lang="en-US" dirty="0">
                          <a:solidFill>
                            <a:schemeClr val="tx1"/>
                          </a:solidFill>
                          <a:latin typeface="Inter" panose="020B0604020202020204" charset="0"/>
                          <a:cs typeface="Inter" panose="020B0604020202020204" charset="0"/>
                        </a:rPr>
                        <a:t>SK_ID_PREV</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Previous credit card ID</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ID</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4062377789"/>
                  </a:ext>
                </a:extLst>
              </a:tr>
              <a:tr h="370840">
                <a:tc>
                  <a:txBody>
                    <a:bodyPr/>
                    <a:lstStyle/>
                    <a:p>
                      <a:pPr algn="ctr"/>
                      <a:r>
                        <a:rPr lang="en-US" dirty="0">
                          <a:solidFill>
                            <a:schemeClr val="tx1"/>
                          </a:solidFill>
                          <a:latin typeface="Inter" panose="020B0604020202020204" charset="0"/>
                          <a:cs typeface="Inter" panose="020B0604020202020204" charset="0"/>
                        </a:rPr>
                        <a:t>SK_ID_CURR</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Customer ID</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Key</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271789503"/>
                  </a:ext>
                </a:extLst>
              </a:tr>
              <a:tr h="370840">
                <a:tc>
                  <a:txBody>
                    <a:bodyPr/>
                    <a:lstStyle/>
                    <a:p>
                      <a:pPr algn="ctr"/>
                      <a:r>
                        <a:rPr lang="en-US" dirty="0">
                          <a:solidFill>
                            <a:schemeClr val="tx1"/>
                          </a:solidFill>
                          <a:latin typeface="Inter" panose="020B0604020202020204" charset="0"/>
                          <a:cs typeface="Inter" panose="020B0604020202020204" charset="0"/>
                        </a:rPr>
                        <a:t>MONTHS_BALANCE</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Historical month </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Numeric</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451168939"/>
                  </a:ext>
                </a:extLst>
              </a:tr>
              <a:tr h="370840">
                <a:tc>
                  <a:txBody>
                    <a:bodyPr/>
                    <a:lstStyle/>
                    <a:p>
                      <a:pPr algn="ctr"/>
                      <a:r>
                        <a:rPr lang="en-US" dirty="0">
                          <a:solidFill>
                            <a:schemeClr val="tx1"/>
                          </a:solidFill>
                          <a:latin typeface="Inter" panose="020B0604020202020204" charset="0"/>
                          <a:cs typeface="Inter" panose="020B0604020202020204" charset="0"/>
                        </a:rPr>
                        <a:t>AMT_BALANCE</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Current balance </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Numeric</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615338372"/>
                  </a:ext>
                </a:extLst>
              </a:tr>
              <a:tr h="370840">
                <a:tc>
                  <a:txBody>
                    <a:bodyPr/>
                    <a:lstStyle/>
                    <a:p>
                      <a:pPr algn="ctr"/>
                      <a:r>
                        <a:rPr lang="en-US" dirty="0">
                          <a:solidFill>
                            <a:schemeClr val="tx1"/>
                          </a:solidFill>
                          <a:latin typeface="Inter" panose="020B0604020202020204" charset="0"/>
                          <a:cs typeface="Inter" panose="020B0604020202020204" charset="0"/>
                        </a:rPr>
                        <a:t>AMT_CREDIT_LIMIT_ACTUAL</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Credit limit</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Numeric</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2005775606"/>
                  </a:ext>
                </a:extLst>
              </a:tr>
              <a:tr h="370840">
                <a:tc>
                  <a:txBody>
                    <a:bodyPr/>
                    <a:lstStyle/>
                    <a:p>
                      <a:pPr algn="ctr"/>
                      <a:r>
                        <a:rPr lang="en-US" dirty="0">
                          <a:solidFill>
                            <a:schemeClr val="tx1"/>
                          </a:solidFill>
                          <a:latin typeface="Inter" panose="020B0604020202020204" charset="0"/>
                          <a:cs typeface="Inter" panose="020B0604020202020204" charset="0"/>
                        </a:rPr>
                        <a:t>AMT_DRAWINGS_ATM_CURRENT</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ATM  withdrawal amount</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Numeric</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241442891"/>
                  </a:ext>
                </a:extLst>
              </a:tr>
              <a:tr h="370840">
                <a:tc>
                  <a:txBody>
                    <a:bodyPr/>
                    <a:lstStyle/>
                    <a:p>
                      <a:pPr algn="ctr"/>
                      <a:r>
                        <a:rPr lang="en-US" dirty="0">
                          <a:solidFill>
                            <a:schemeClr val="tx1"/>
                          </a:solidFill>
                          <a:latin typeface="Inter" panose="020B0604020202020204" charset="0"/>
                          <a:cs typeface="Inter" panose="020B0604020202020204" charset="0"/>
                        </a:rPr>
                        <a:t>AMT_DRAWINGS_OTHER_CURRENT</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Other spending</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Numeric</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628415544"/>
                  </a:ext>
                </a:extLst>
              </a:tr>
              <a:tr h="370840">
                <a:tc>
                  <a:txBody>
                    <a:bodyPr/>
                    <a:lstStyle/>
                    <a:p>
                      <a:pPr algn="ctr"/>
                      <a:r>
                        <a:rPr lang="en-US" dirty="0">
                          <a:solidFill>
                            <a:schemeClr val="tx1"/>
                          </a:solidFill>
                          <a:latin typeface="Inter" panose="020B0604020202020204" charset="0"/>
                          <a:cs typeface="Inter" panose="020B0604020202020204" charset="0"/>
                        </a:rPr>
                        <a:t>AMT_DRAWINGS_POS_CURRENT</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POS spending </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Numeric</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4038342319"/>
                  </a:ext>
                </a:extLst>
              </a:tr>
              <a:tr h="370840">
                <a:tc>
                  <a:txBody>
                    <a:bodyPr/>
                    <a:lstStyle/>
                    <a:p>
                      <a:pPr algn="ctr"/>
                      <a:r>
                        <a:rPr lang="en-US" dirty="0">
                          <a:solidFill>
                            <a:schemeClr val="tx1"/>
                          </a:solidFill>
                          <a:latin typeface="Inter" panose="020B0604020202020204" charset="0"/>
                          <a:cs typeface="Inter" panose="020B0604020202020204" charset="0"/>
                        </a:rPr>
                        <a:t>AMT_INST_MIN_REGULARITY</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Minimum due payment</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Numeric</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503031519"/>
                  </a:ext>
                </a:extLst>
              </a:tr>
              <a:tr h="370840">
                <a:tc>
                  <a:txBody>
                    <a:bodyPr/>
                    <a:lstStyle/>
                    <a:p>
                      <a:pPr algn="ctr"/>
                      <a:r>
                        <a:rPr lang="en-US" dirty="0">
                          <a:solidFill>
                            <a:schemeClr val="tx1"/>
                          </a:solidFill>
                          <a:latin typeface="Inter" panose="020B0604020202020204" charset="0"/>
                          <a:cs typeface="Inter" panose="020B0604020202020204" charset="0"/>
                        </a:rPr>
                        <a:t>AMT_PAYMENT_CURRENT</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Current payment</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Numeric</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1048210895"/>
                  </a:ext>
                </a:extLst>
              </a:tr>
              <a:tr h="370840">
                <a:tc>
                  <a:txBody>
                    <a:bodyPr/>
                    <a:lstStyle/>
                    <a:p>
                      <a:pPr algn="ctr"/>
                      <a:r>
                        <a:rPr lang="en-US" dirty="0">
                          <a:solidFill>
                            <a:schemeClr val="tx1"/>
                          </a:solidFill>
                          <a:latin typeface="Inter" panose="020B0604020202020204" charset="0"/>
                          <a:cs typeface="Inter" panose="020B0604020202020204" charset="0"/>
                        </a:rPr>
                        <a:t>AMT_PAYMENT_TOTAL_CURRENT</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Total payment</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Numeric</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693091010"/>
                  </a:ext>
                </a:extLst>
              </a:tr>
              <a:tr h="370840">
                <a:tc>
                  <a:txBody>
                    <a:bodyPr/>
                    <a:lstStyle/>
                    <a:p>
                      <a:pPr algn="ctr"/>
                      <a:r>
                        <a:rPr lang="en-US" dirty="0">
                          <a:solidFill>
                            <a:schemeClr val="tx1"/>
                          </a:solidFill>
                          <a:latin typeface="Inter" panose="020B0604020202020204" charset="0"/>
                          <a:cs typeface="Inter" panose="020B0604020202020204" charset="0"/>
                        </a:rPr>
                        <a:t>AMT_RECEIVABLE_PRINCIPAL</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Principal receivable</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Numeric</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584005011"/>
                  </a:ext>
                </a:extLst>
              </a:tr>
              <a:tr h="370840">
                <a:tc>
                  <a:txBody>
                    <a:bodyPr/>
                    <a:lstStyle/>
                    <a:p>
                      <a:pPr algn="ctr"/>
                      <a:r>
                        <a:rPr lang="en-US" dirty="0">
                          <a:solidFill>
                            <a:schemeClr val="tx1"/>
                          </a:solidFill>
                          <a:latin typeface="Inter" panose="020B0604020202020204" charset="0"/>
                          <a:cs typeface="Inter" panose="020B0604020202020204" charset="0"/>
                        </a:rPr>
                        <a:t>AMT_RECIVABLE</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Total receivable</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Numeric</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1402984123"/>
                  </a:ext>
                </a:extLst>
              </a:tr>
              <a:tr h="370840">
                <a:tc>
                  <a:txBody>
                    <a:bodyPr/>
                    <a:lstStyle/>
                    <a:p>
                      <a:pPr algn="ctr"/>
                      <a:r>
                        <a:rPr lang="en-US" dirty="0">
                          <a:solidFill>
                            <a:schemeClr val="tx1"/>
                          </a:solidFill>
                          <a:latin typeface="Inter" panose="020B0604020202020204" charset="0"/>
                          <a:cs typeface="Inter" panose="020B0604020202020204" charset="0"/>
                        </a:rPr>
                        <a:t>AMT_TOTAL_RECEIVABLE</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Outstanding receivable</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Numeric</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3032577045"/>
                  </a:ext>
                </a:extLst>
              </a:tr>
              <a:tr h="370840">
                <a:tc>
                  <a:txBody>
                    <a:bodyPr/>
                    <a:lstStyle/>
                    <a:p>
                      <a:pPr algn="ctr"/>
                      <a:r>
                        <a:rPr lang="en-US" dirty="0">
                          <a:solidFill>
                            <a:schemeClr val="tx1"/>
                          </a:solidFill>
                          <a:latin typeface="Inter" panose="020B0604020202020204" charset="0"/>
                          <a:cs typeface="Inter" panose="020B0604020202020204" charset="0"/>
                        </a:rPr>
                        <a:t>CNT_DRAWINGS_ATM_CURRENT</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ATM withdrawal count</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Numeric</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3649678799"/>
                  </a:ext>
                </a:extLst>
              </a:tr>
              <a:tr h="370840">
                <a:tc>
                  <a:txBody>
                    <a:bodyPr/>
                    <a:lstStyle/>
                    <a:p>
                      <a:pPr algn="ctr"/>
                      <a:r>
                        <a:rPr lang="en-US" dirty="0">
                          <a:solidFill>
                            <a:schemeClr val="tx1"/>
                          </a:solidFill>
                          <a:latin typeface="Inter" panose="020B0604020202020204" charset="0"/>
                          <a:cs typeface="Inter" panose="020B0604020202020204" charset="0"/>
                        </a:rPr>
                        <a:t>CNT_DRAWINGS_CURRENT</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Total drawing count</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Numeric</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2706860608"/>
                  </a:ext>
                </a:extLst>
              </a:tr>
            </a:tbl>
          </a:graphicData>
        </a:graphic>
      </p:graphicFrame>
    </p:spTree>
    <p:extLst>
      <p:ext uri="{BB962C8B-B14F-4D97-AF65-F5344CB8AC3E}">
        <p14:creationId xmlns:p14="http://schemas.microsoft.com/office/powerpoint/2010/main" val="24753289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C5D6CA"/>
        </a:solidFill>
        <a:effectLst/>
      </p:bgPr>
    </p:bg>
    <p:spTree>
      <p:nvGrpSpPr>
        <p:cNvPr id="1" name="">
          <a:extLst>
            <a:ext uri="{FF2B5EF4-FFF2-40B4-BE49-F238E27FC236}">
              <a16:creationId xmlns:a16="http://schemas.microsoft.com/office/drawing/2014/main" id="{89A5771D-D363-2F76-DE4B-FE6B4716B5E8}"/>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75536919-6DAE-3D05-592C-BDA6656D20E8}"/>
              </a:ext>
            </a:extLst>
          </p:cNvPr>
          <p:cNvGrpSpPr/>
          <p:nvPr/>
        </p:nvGrpSpPr>
        <p:grpSpPr>
          <a:xfrm>
            <a:off x="0" y="9497082"/>
            <a:ext cx="18292543" cy="787203"/>
            <a:chOff x="0" y="0"/>
            <a:chExt cx="24390058" cy="1049604"/>
          </a:xfrm>
        </p:grpSpPr>
        <p:sp>
          <p:nvSpPr>
            <p:cNvPr id="3" name="Freeform 3">
              <a:extLst>
                <a:ext uri="{FF2B5EF4-FFF2-40B4-BE49-F238E27FC236}">
                  <a16:creationId xmlns:a16="http://schemas.microsoft.com/office/drawing/2014/main" id="{0461FB0D-D99E-8C3E-CBFF-9C74FA5FE605}"/>
                </a:ext>
              </a:extLst>
            </p:cNvPr>
            <p:cNvSpPr/>
            <p:nvPr/>
          </p:nvSpPr>
          <p:spPr>
            <a:xfrm>
              <a:off x="0" y="0"/>
              <a:ext cx="24390096" cy="1049655"/>
            </a:xfrm>
            <a:custGeom>
              <a:avLst/>
              <a:gdLst/>
              <a:ahLst/>
              <a:cxnLst/>
              <a:rect l="l" t="t" r="r" b="b"/>
              <a:pathLst>
                <a:path w="24390096" h="1049655">
                  <a:moveTo>
                    <a:pt x="0" y="0"/>
                  </a:moveTo>
                  <a:lnTo>
                    <a:pt x="24390096" y="0"/>
                  </a:lnTo>
                  <a:lnTo>
                    <a:pt x="24390096" y="1049655"/>
                  </a:lnTo>
                  <a:lnTo>
                    <a:pt x="0" y="1049655"/>
                  </a:lnTo>
                  <a:close/>
                </a:path>
              </a:pathLst>
            </a:custGeom>
            <a:solidFill>
              <a:srgbClr val="348E90"/>
            </a:solidFill>
          </p:spPr>
          <p:txBody>
            <a:bodyPr/>
            <a:lstStyle/>
            <a:p>
              <a:endParaRPr lang="en-IN"/>
            </a:p>
          </p:txBody>
        </p:sp>
      </p:grpSp>
      <p:sp>
        <p:nvSpPr>
          <p:cNvPr id="4" name="Rectangle 3">
            <a:extLst>
              <a:ext uri="{FF2B5EF4-FFF2-40B4-BE49-F238E27FC236}">
                <a16:creationId xmlns:a16="http://schemas.microsoft.com/office/drawing/2014/main" id="{C0B302FE-858B-048A-AD30-D84E4146F362}"/>
              </a:ext>
            </a:extLst>
          </p:cNvPr>
          <p:cNvSpPr/>
          <p:nvPr/>
        </p:nvSpPr>
        <p:spPr>
          <a:xfrm>
            <a:off x="15544800" y="0"/>
            <a:ext cx="1143000" cy="1823056"/>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22EC3A82-6465-5AF4-A613-B54541A6D30A}"/>
              </a:ext>
            </a:extLst>
          </p:cNvPr>
          <p:cNvSpPr txBox="1"/>
          <p:nvPr/>
        </p:nvSpPr>
        <p:spPr>
          <a:xfrm>
            <a:off x="4572000" y="908439"/>
            <a:ext cx="9144000" cy="707886"/>
          </a:xfrm>
          <a:prstGeom prst="rect">
            <a:avLst/>
          </a:prstGeom>
          <a:noFill/>
        </p:spPr>
        <p:txBody>
          <a:bodyPr wrap="square">
            <a:spAutoFit/>
          </a:bodyPr>
          <a:lstStyle/>
          <a:p>
            <a:r>
              <a:rPr lang="en-IN" sz="4000" b="1" dirty="0">
                <a:latin typeface="Inter" panose="020B0604020202020204" charset="0"/>
                <a:ea typeface="Inter" panose="020B0604020202020204" charset="0"/>
              </a:rPr>
              <a:t>Data Dictionary (Auxiliary Tables)</a:t>
            </a:r>
          </a:p>
        </p:txBody>
      </p:sp>
      <p:sp>
        <p:nvSpPr>
          <p:cNvPr id="7" name="TextBox 6">
            <a:extLst>
              <a:ext uri="{FF2B5EF4-FFF2-40B4-BE49-F238E27FC236}">
                <a16:creationId xmlns:a16="http://schemas.microsoft.com/office/drawing/2014/main" id="{AF5598F6-77C7-F9B3-F100-27B939201661}"/>
              </a:ext>
            </a:extLst>
          </p:cNvPr>
          <p:cNvSpPr txBox="1"/>
          <p:nvPr/>
        </p:nvSpPr>
        <p:spPr>
          <a:xfrm>
            <a:off x="1219200" y="1823056"/>
            <a:ext cx="9144000" cy="861774"/>
          </a:xfrm>
          <a:prstGeom prst="rect">
            <a:avLst/>
          </a:prstGeom>
          <a:noFill/>
        </p:spPr>
        <p:txBody>
          <a:bodyPr wrap="square">
            <a:spAutoFit/>
          </a:bodyPr>
          <a:lstStyle/>
          <a:p>
            <a:pPr>
              <a:buNone/>
            </a:pPr>
            <a:r>
              <a:rPr lang="en-IN" sz="2500" b="1" dirty="0">
                <a:latin typeface="Inter" panose="020B0604020202020204" charset="0"/>
                <a:cs typeface="Inter" panose="020B0604020202020204" charset="0"/>
              </a:rPr>
              <a:t>6. </a:t>
            </a:r>
            <a:r>
              <a:rPr lang="en-IN" sz="2500" b="1" dirty="0" err="1">
                <a:latin typeface="Inter" panose="020B0604020202020204" charset="0"/>
                <a:cs typeface="Inter" panose="020B0604020202020204" charset="0"/>
              </a:rPr>
              <a:t>POS_CASH_balance</a:t>
            </a:r>
            <a:r>
              <a:rPr lang="en-IN" sz="2500" b="1" dirty="0">
                <a:latin typeface="Inter" panose="020B0604020202020204" charset="0"/>
                <a:cs typeface="Inter" panose="020B0604020202020204" charset="0"/>
              </a:rPr>
              <a:t> Table</a:t>
            </a:r>
          </a:p>
          <a:p>
            <a:pPr>
              <a:buNone/>
            </a:pPr>
            <a:r>
              <a:rPr lang="en-IN" sz="2500" b="1" dirty="0">
                <a:latin typeface="Inter" panose="020B0604020202020204" charset="0"/>
                <a:cs typeface="Inter" panose="020B0604020202020204" charset="0"/>
              </a:rPr>
              <a:t>Point of Sale &amp; Cash Loan Behaviour: Shape: (10001358, 8)</a:t>
            </a:r>
          </a:p>
        </p:txBody>
      </p:sp>
      <p:graphicFrame>
        <p:nvGraphicFramePr>
          <p:cNvPr id="8" name="Table 7">
            <a:extLst>
              <a:ext uri="{FF2B5EF4-FFF2-40B4-BE49-F238E27FC236}">
                <a16:creationId xmlns:a16="http://schemas.microsoft.com/office/drawing/2014/main" id="{CB1AE265-B7A4-A86D-CB69-0E7C11398736}"/>
              </a:ext>
            </a:extLst>
          </p:cNvPr>
          <p:cNvGraphicFramePr>
            <a:graphicFrameLocks noGrp="1"/>
          </p:cNvGraphicFramePr>
          <p:nvPr>
            <p:extLst>
              <p:ext uri="{D42A27DB-BD31-4B8C-83A1-F6EECF244321}">
                <p14:modId xmlns:p14="http://schemas.microsoft.com/office/powerpoint/2010/main" val="2177580352"/>
              </p:ext>
            </p:extLst>
          </p:nvPr>
        </p:nvGraphicFramePr>
        <p:xfrm>
          <a:off x="1184188" y="3162298"/>
          <a:ext cx="15503613" cy="5791202"/>
        </p:xfrm>
        <a:graphic>
          <a:graphicData uri="http://schemas.openxmlformats.org/drawingml/2006/table">
            <a:tbl>
              <a:tblPr firstRow="1" bandRow="1">
                <a:tableStyleId>{5C22544A-7EE6-4342-B048-85BDC9FD1C3A}</a:tableStyleId>
              </a:tblPr>
              <a:tblGrid>
                <a:gridCol w="5167871">
                  <a:extLst>
                    <a:ext uri="{9D8B030D-6E8A-4147-A177-3AD203B41FA5}">
                      <a16:colId xmlns:a16="http://schemas.microsoft.com/office/drawing/2014/main" val="614895788"/>
                    </a:ext>
                  </a:extLst>
                </a:gridCol>
                <a:gridCol w="5167871">
                  <a:extLst>
                    <a:ext uri="{9D8B030D-6E8A-4147-A177-3AD203B41FA5}">
                      <a16:colId xmlns:a16="http://schemas.microsoft.com/office/drawing/2014/main" val="466187684"/>
                    </a:ext>
                  </a:extLst>
                </a:gridCol>
                <a:gridCol w="5167871">
                  <a:extLst>
                    <a:ext uri="{9D8B030D-6E8A-4147-A177-3AD203B41FA5}">
                      <a16:colId xmlns:a16="http://schemas.microsoft.com/office/drawing/2014/main" val="3490408193"/>
                    </a:ext>
                  </a:extLst>
                </a:gridCol>
              </a:tblGrid>
              <a:tr h="705394">
                <a:tc>
                  <a:txBody>
                    <a:bodyPr/>
                    <a:lstStyle/>
                    <a:p>
                      <a:pPr algn="ctr"/>
                      <a:r>
                        <a:rPr lang="en-US" sz="2100" dirty="0">
                          <a:solidFill>
                            <a:schemeClr val="tx1"/>
                          </a:solidFill>
                          <a:latin typeface="Inter" panose="020B0604020202020204" charset="0"/>
                          <a:cs typeface="Inter" panose="020B0604020202020204" charset="0"/>
                        </a:rPr>
                        <a:t>Feature</a:t>
                      </a:r>
                      <a:endParaRPr lang="en-IN" sz="2100"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sz="2100" dirty="0">
                          <a:solidFill>
                            <a:schemeClr val="tx1"/>
                          </a:solidFill>
                          <a:latin typeface="Inter" panose="020B0604020202020204" charset="0"/>
                          <a:cs typeface="Inter" panose="020B0604020202020204" charset="0"/>
                        </a:rPr>
                        <a:t>Description</a:t>
                      </a:r>
                      <a:endParaRPr lang="en-IN" sz="2100"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sz="2100" dirty="0">
                          <a:solidFill>
                            <a:schemeClr val="tx1"/>
                          </a:solidFill>
                          <a:latin typeface="Inter" panose="020B0604020202020204" charset="0"/>
                          <a:cs typeface="Inter" panose="020B0604020202020204" charset="0"/>
                        </a:rPr>
                        <a:t>Type</a:t>
                      </a:r>
                      <a:endParaRPr lang="en-IN" sz="2100"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3115066473"/>
                  </a:ext>
                </a:extLst>
              </a:tr>
              <a:tr h="635726">
                <a:tc>
                  <a:txBody>
                    <a:bodyPr/>
                    <a:lstStyle/>
                    <a:p>
                      <a:pPr algn="ctr"/>
                      <a:r>
                        <a:rPr lang="en-US" dirty="0">
                          <a:solidFill>
                            <a:schemeClr val="tx1"/>
                          </a:solidFill>
                          <a:latin typeface="Inter" panose="020B0604020202020204" charset="0"/>
                          <a:cs typeface="Inter" panose="020B0604020202020204" charset="0"/>
                        </a:rPr>
                        <a:t>SK_ID_PREV</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Previous loan ID</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ID</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751749758"/>
                  </a:ext>
                </a:extLst>
              </a:tr>
              <a:tr h="635726">
                <a:tc>
                  <a:txBody>
                    <a:bodyPr/>
                    <a:lstStyle/>
                    <a:p>
                      <a:pPr algn="ctr"/>
                      <a:r>
                        <a:rPr lang="en-US" dirty="0">
                          <a:solidFill>
                            <a:schemeClr val="tx1"/>
                          </a:solidFill>
                          <a:latin typeface="Inter" panose="020B0604020202020204" charset="0"/>
                          <a:cs typeface="Inter" panose="020B0604020202020204" charset="0"/>
                        </a:rPr>
                        <a:t>SK_ID_CURR</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Customer ID</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Key</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1771964786"/>
                  </a:ext>
                </a:extLst>
              </a:tr>
              <a:tr h="635726">
                <a:tc>
                  <a:txBody>
                    <a:bodyPr/>
                    <a:lstStyle/>
                    <a:p>
                      <a:pPr algn="ctr"/>
                      <a:r>
                        <a:rPr lang="en-US" dirty="0">
                          <a:solidFill>
                            <a:schemeClr val="tx1"/>
                          </a:solidFill>
                          <a:latin typeface="Inter" panose="020B0604020202020204" charset="0"/>
                          <a:cs typeface="Inter" panose="020B0604020202020204" charset="0"/>
                        </a:rPr>
                        <a:t>MONTHS_BALANCE</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Historical month index</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Numeric</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639764702"/>
                  </a:ext>
                </a:extLst>
              </a:tr>
              <a:tr h="635726">
                <a:tc>
                  <a:txBody>
                    <a:bodyPr/>
                    <a:lstStyle/>
                    <a:p>
                      <a:pPr algn="ctr"/>
                      <a:r>
                        <a:rPr lang="en-US" dirty="0">
                          <a:solidFill>
                            <a:schemeClr val="tx1"/>
                          </a:solidFill>
                          <a:latin typeface="Inter" panose="020B0604020202020204" charset="0"/>
                          <a:cs typeface="Inter" panose="020B0604020202020204" charset="0"/>
                        </a:rPr>
                        <a:t>CNT_INSTALMENT</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Total installments</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Numeric</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3748703984"/>
                  </a:ext>
                </a:extLst>
              </a:tr>
              <a:tr h="635726">
                <a:tc>
                  <a:txBody>
                    <a:bodyPr/>
                    <a:lstStyle/>
                    <a:p>
                      <a:pPr algn="ctr"/>
                      <a:r>
                        <a:rPr lang="en-US" dirty="0">
                          <a:solidFill>
                            <a:schemeClr val="tx1"/>
                          </a:solidFill>
                          <a:latin typeface="Inter" panose="020B0604020202020204" charset="0"/>
                          <a:cs typeface="Inter" panose="020B0604020202020204" charset="0"/>
                        </a:rPr>
                        <a:t>CNT_INSTALMENT_FUTURE</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Remaining installments </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Numeric</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1563958242"/>
                  </a:ext>
                </a:extLst>
              </a:tr>
              <a:tr h="635726">
                <a:tc>
                  <a:txBody>
                    <a:bodyPr/>
                    <a:lstStyle/>
                    <a:p>
                      <a:pPr algn="ctr"/>
                      <a:r>
                        <a:rPr lang="en-US" dirty="0">
                          <a:solidFill>
                            <a:schemeClr val="tx1"/>
                          </a:solidFill>
                          <a:latin typeface="Inter" panose="020B0604020202020204" charset="0"/>
                          <a:cs typeface="Inter" panose="020B0604020202020204" charset="0"/>
                        </a:rPr>
                        <a:t>NAME_CONTRACT_STATUS</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Loan status</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Categorical</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1047454979"/>
                  </a:ext>
                </a:extLst>
              </a:tr>
              <a:tr h="635726">
                <a:tc>
                  <a:txBody>
                    <a:bodyPr/>
                    <a:lstStyle/>
                    <a:p>
                      <a:pPr algn="ctr"/>
                      <a:r>
                        <a:rPr lang="en-US" dirty="0">
                          <a:solidFill>
                            <a:schemeClr val="tx1"/>
                          </a:solidFill>
                          <a:latin typeface="Inter" panose="020B0604020202020204" charset="0"/>
                          <a:cs typeface="Inter" panose="020B0604020202020204" charset="0"/>
                        </a:rPr>
                        <a:t>SK_DPD</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Days past due</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Numeric</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3984068081"/>
                  </a:ext>
                </a:extLst>
              </a:tr>
              <a:tr h="635726">
                <a:tc>
                  <a:txBody>
                    <a:bodyPr/>
                    <a:lstStyle/>
                    <a:p>
                      <a:pPr algn="ctr"/>
                      <a:r>
                        <a:rPr lang="en-US" dirty="0">
                          <a:solidFill>
                            <a:schemeClr val="tx1"/>
                          </a:solidFill>
                          <a:latin typeface="Inter" panose="020B0604020202020204" charset="0"/>
                          <a:cs typeface="Inter" panose="020B0604020202020204" charset="0"/>
                        </a:rPr>
                        <a:t>SK_DPD_DEF</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Days past due with tolerance</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Numeric</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467442671"/>
                  </a:ext>
                </a:extLst>
              </a:tr>
            </a:tbl>
          </a:graphicData>
        </a:graphic>
      </p:graphicFrame>
    </p:spTree>
    <p:extLst>
      <p:ext uri="{BB962C8B-B14F-4D97-AF65-F5344CB8AC3E}">
        <p14:creationId xmlns:p14="http://schemas.microsoft.com/office/powerpoint/2010/main" val="39132536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C5D6CA"/>
        </a:solidFill>
        <a:effectLst/>
      </p:bgPr>
    </p:bg>
    <p:spTree>
      <p:nvGrpSpPr>
        <p:cNvPr id="1" name="">
          <a:extLst>
            <a:ext uri="{FF2B5EF4-FFF2-40B4-BE49-F238E27FC236}">
              <a16:creationId xmlns:a16="http://schemas.microsoft.com/office/drawing/2014/main" id="{34ADB51F-B827-B84E-A64D-002AF251D56F}"/>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0F2D276A-470E-7FF5-868F-8C2043A63159}"/>
              </a:ext>
            </a:extLst>
          </p:cNvPr>
          <p:cNvGrpSpPr/>
          <p:nvPr/>
        </p:nvGrpSpPr>
        <p:grpSpPr>
          <a:xfrm>
            <a:off x="0" y="9497082"/>
            <a:ext cx="18292543" cy="787203"/>
            <a:chOff x="0" y="0"/>
            <a:chExt cx="24390058" cy="1049604"/>
          </a:xfrm>
        </p:grpSpPr>
        <p:sp>
          <p:nvSpPr>
            <p:cNvPr id="3" name="Freeform 3">
              <a:extLst>
                <a:ext uri="{FF2B5EF4-FFF2-40B4-BE49-F238E27FC236}">
                  <a16:creationId xmlns:a16="http://schemas.microsoft.com/office/drawing/2014/main" id="{5BB2BDAD-6D8F-22FD-76AF-702C7C70E602}"/>
                </a:ext>
              </a:extLst>
            </p:cNvPr>
            <p:cNvSpPr/>
            <p:nvPr/>
          </p:nvSpPr>
          <p:spPr>
            <a:xfrm>
              <a:off x="0" y="0"/>
              <a:ext cx="24390096" cy="1049655"/>
            </a:xfrm>
            <a:custGeom>
              <a:avLst/>
              <a:gdLst/>
              <a:ahLst/>
              <a:cxnLst/>
              <a:rect l="l" t="t" r="r" b="b"/>
              <a:pathLst>
                <a:path w="24390096" h="1049655">
                  <a:moveTo>
                    <a:pt x="0" y="0"/>
                  </a:moveTo>
                  <a:lnTo>
                    <a:pt x="24390096" y="0"/>
                  </a:lnTo>
                  <a:lnTo>
                    <a:pt x="24390096" y="1049655"/>
                  </a:lnTo>
                  <a:lnTo>
                    <a:pt x="0" y="1049655"/>
                  </a:lnTo>
                  <a:close/>
                </a:path>
              </a:pathLst>
            </a:custGeom>
            <a:solidFill>
              <a:srgbClr val="348E90"/>
            </a:solidFill>
          </p:spPr>
          <p:txBody>
            <a:bodyPr/>
            <a:lstStyle/>
            <a:p>
              <a:endParaRPr lang="en-IN"/>
            </a:p>
          </p:txBody>
        </p:sp>
      </p:grpSp>
      <p:sp>
        <p:nvSpPr>
          <p:cNvPr id="4" name="Rectangle 3">
            <a:extLst>
              <a:ext uri="{FF2B5EF4-FFF2-40B4-BE49-F238E27FC236}">
                <a16:creationId xmlns:a16="http://schemas.microsoft.com/office/drawing/2014/main" id="{83F52707-0689-1AA5-917E-DF1ED6467E6E}"/>
              </a:ext>
            </a:extLst>
          </p:cNvPr>
          <p:cNvSpPr/>
          <p:nvPr/>
        </p:nvSpPr>
        <p:spPr>
          <a:xfrm>
            <a:off x="15544800" y="0"/>
            <a:ext cx="1143000" cy="1823056"/>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D71F719D-8087-6F2D-CCFD-803DF6381B49}"/>
              </a:ext>
            </a:extLst>
          </p:cNvPr>
          <p:cNvSpPr txBox="1"/>
          <p:nvPr/>
        </p:nvSpPr>
        <p:spPr>
          <a:xfrm>
            <a:off x="4572000" y="4635668"/>
            <a:ext cx="10210800" cy="1015663"/>
          </a:xfrm>
          <a:prstGeom prst="rect">
            <a:avLst/>
          </a:prstGeom>
          <a:noFill/>
        </p:spPr>
        <p:txBody>
          <a:bodyPr wrap="square">
            <a:spAutoFit/>
          </a:bodyPr>
          <a:lstStyle/>
          <a:p>
            <a:r>
              <a:rPr lang="en-IN" sz="6000" b="1" dirty="0">
                <a:latin typeface="Inter" panose="020B0604020202020204" charset="0"/>
                <a:cs typeface="Inter" panose="020B0604020202020204" charset="0"/>
              </a:rPr>
              <a:t>Dataset Structure Summary</a:t>
            </a:r>
          </a:p>
        </p:txBody>
      </p:sp>
    </p:spTree>
    <p:extLst>
      <p:ext uri="{BB962C8B-B14F-4D97-AF65-F5344CB8AC3E}">
        <p14:creationId xmlns:p14="http://schemas.microsoft.com/office/powerpoint/2010/main" val="31370079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C5D6CA"/>
        </a:solidFill>
        <a:effectLst/>
      </p:bgPr>
    </p:bg>
    <p:spTree>
      <p:nvGrpSpPr>
        <p:cNvPr id="1" name="">
          <a:extLst>
            <a:ext uri="{FF2B5EF4-FFF2-40B4-BE49-F238E27FC236}">
              <a16:creationId xmlns:a16="http://schemas.microsoft.com/office/drawing/2014/main" id="{14EC7FD0-3776-CE8C-C8C7-D7A3D0C3E656}"/>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A60F70F0-22C9-A76C-9DE5-002298E991EC}"/>
              </a:ext>
            </a:extLst>
          </p:cNvPr>
          <p:cNvGrpSpPr/>
          <p:nvPr/>
        </p:nvGrpSpPr>
        <p:grpSpPr>
          <a:xfrm>
            <a:off x="0" y="9497082"/>
            <a:ext cx="18292543" cy="787203"/>
            <a:chOff x="0" y="0"/>
            <a:chExt cx="24390058" cy="1049604"/>
          </a:xfrm>
        </p:grpSpPr>
        <p:sp>
          <p:nvSpPr>
            <p:cNvPr id="3" name="Freeform 3">
              <a:extLst>
                <a:ext uri="{FF2B5EF4-FFF2-40B4-BE49-F238E27FC236}">
                  <a16:creationId xmlns:a16="http://schemas.microsoft.com/office/drawing/2014/main" id="{B5CFA5F1-4578-D2D5-C9D6-EBD4E4C827DD}"/>
                </a:ext>
              </a:extLst>
            </p:cNvPr>
            <p:cNvSpPr/>
            <p:nvPr/>
          </p:nvSpPr>
          <p:spPr>
            <a:xfrm>
              <a:off x="0" y="0"/>
              <a:ext cx="24390096" cy="1049655"/>
            </a:xfrm>
            <a:custGeom>
              <a:avLst/>
              <a:gdLst/>
              <a:ahLst/>
              <a:cxnLst/>
              <a:rect l="l" t="t" r="r" b="b"/>
              <a:pathLst>
                <a:path w="24390096" h="1049655">
                  <a:moveTo>
                    <a:pt x="0" y="0"/>
                  </a:moveTo>
                  <a:lnTo>
                    <a:pt x="24390096" y="0"/>
                  </a:lnTo>
                  <a:lnTo>
                    <a:pt x="24390096" y="1049655"/>
                  </a:lnTo>
                  <a:lnTo>
                    <a:pt x="0" y="1049655"/>
                  </a:lnTo>
                  <a:close/>
                </a:path>
              </a:pathLst>
            </a:custGeom>
            <a:solidFill>
              <a:srgbClr val="348E90"/>
            </a:solidFill>
          </p:spPr>
          <p:txBody>
            <a:bodyPr/>
            <a:lstStyle/>
            <a:p>
              <a:endParaRPr lang="en-IN"/>
            </a:p>
          </p:txBody>
        </p:sp>
      </p:grpSp>
      <p:sp>
        <p:nvSpPr>
          <p:cNvPr id="4" name="Rectangle 3">
            <a:extLst>
              <a:ext uri="{FF2B5EF4-FFF2-40B4-BE49-F238E27FC236}">
                <a16:creationId xmlns:a16="http://schemas.microsoft.com/office/drawing/2014/main" id="{3BF23484-0549-ECD7-D042-BD3E085964B7}"/>
              </a:ext>
            </a:extLst>
          </p:cNvPr>
          <p:cNvSpPr/>
          <p:nvPr/>
        </p:nvSpPr>
        <p:spPr>
          <a:xfrm>
            <a:off x="15544800" y="0"/>
            <a:ext cx="1143000" cy="1823056"/>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705408F3-974D-F1D5-94CA-B53EB4952DC1}"/>
              </a:ext>
            </a:extLst>
          </p:cNvPr>
          <p:cNvSpPr txBox="1"/>
          <p:nvPr/>
        </p:nvSpPr>
        <p:spPr>
          <a:xfrm>
            <a:off x="5524500" y="955211"/>
            <a:ext cx="7239000" cy="707886"/>
          </a:xfrm>
          <a:prstGeom prst="rect">
            <a:avLst/>
          </a:prstGeom>
          <a:noFill/>
        </p:spPr>
        <p:txBody>
          <a:bodyPr wrap="square">
            <a:spAutoFit/>
          </a:bodyPr>
          <a:lstStyle/>
          <a:p>
            <a:r>
              <a:rPr lang="en-IN" sz="4000" b="1" dirty="0">
                <a:latin typeface="Inter" panose="020B0604020202020204" charset="0"/>
                <a:cs typeface="Inter" panose="020B0604020202020204" charset="0"/>
              </a:rPr>
              <a:t>Dataset Structural Assessment</a:t>
            </a:r>
          </a:p>
        </p:txBody>
      </p:sp>
      <p:graphicFrame>
        <p:nvGraphicFramePr>
          <p:cNvPr id="7" name="Table 6">
            <a:extLst>
              <a:ext uri="{FF2B5EF4-FFF2-40B4-BE49-F238E27FC236}">
                <a16:creationId xmlns:a16="http://schemas.microsoft.com/office/drawing/2014/main" id="{935321A2-EB43-3598-A52F-EAD886E37DAE}"/>
              </a:ext>
            </a:extLst>
          </p:cNvPr>
          <p:cNvGraphicFramePr>
            <a:graphicFrameLocks noGrp="1"/>
          </p:cNvGraphicFramePr>
          <p:nvPr>
            <p:extLst>
              <p:ext uri="{D42A27DB-BD31-4B8C-83A1-F6EECF244321}">
                <p14:modId xmlns:p14="http://schemas.microsoft.com/office/powerpoint/2010/main" val="3627205742"/>
              </p:ext>
            </p:extLst>
          </p:nvPr>
        </p:nvGraphicFramePr>
        <p:xfrm>
          <a:off x="1600200" y="1823056"/>
          <a:ext cx="15087600" cy="5607749"/>
        </p:xfrm>
        <a:graphic>
          <a:graphicData uri="http://schemas.openxmlformats.org/drawingml/2006/table">
            <a:tbl>
              <a:tblPr firstRow="1" bandRow="1">
                <a:tableStyleId>{5C22544A-7EE6-4342-B048-85BDC9FD1C3A}</a:tableStyleId>
              </a:tblPr>
              <a:tblGrid>
                <a:gridCol w="3771900">
                  <a:extLst>
                    <a:ext uri="{9D8B030D-6E8A-4147-A177-3AD203B41FA5}">
                      <a16:colId xmlns:a16="http://schemas.microsoft.com/office/drawing/2014/main" val="1179610028"/>
                    </a:ext>
                  </a:extLst>
                </a:gridCol>
                <a:gridCol w="3771900">
                  <a:extLst>
                    <a:ext uri="{9D8B030D-6E8A-4147-A177-3AD203B41FA5}">
                      <a16:colId xmlns:a16="http://schemas.microsoft.com/office/drawing/2014/main" val="1371201612"/>
                    </a:ext>
                  </a:extLst>
                </a:gridCol>
                <a:gridCol w="3771900">
                  <a:extLst>
                    <a:ext uri="{9D8B030D-6E8A-4147-A177-3AD203B41FA5}">
                      <a16:colId xmlns:a16="http://schemas.microsoft.com/office/drawing/2014/main" val="598555929"/>
                    </a:ext>
                  </a:extLst>
                </a:gridCol>
                <a:gridCol w="3771900">
                  <a:extLst>
                    <a:ext uri="{9D8B030D-6E8A-4147-A177-3AD203B41FA5}">
                      <a16:colId xmlns:a16="http://schemas.microsoft.com/office/drawing/2014/main" val="2899337477"/>
                    </a:ext>
                  </a:extLst>
                </a:gridCol>
              </a:tblGrid>
              <a:tr h="767277">
                <a:tc>
                  <a:txBody>
                    <a:bodyPr/>
                    <a:lstStyle/>
                    <a:p>
                      <a:pPr algn="ctr"/>
                      <a:r>
                        <a:rPr lang="en-US" sz="2100" dirty="0">
                          <a:solidFill>
                            <a:schemeClr val="tx1"/>
                          </a:solidFill>
                          <a:latin typeface="Inter" panose="020B0604020202020204" charset="0"/>
                          <a:cs typeface="Inter" panose="020B0604020202020204" charset="0"/>
                        </a:rPr>
                        <a:t>Dataset</a:t>
                      </a:r>
                      <a:endParaRPr lang="en-IN" sz="2100"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sz="2100" dirty="0">
                          <a:solidFill>
                            <a:schemeClr val="tx1"/>
                          </a:solidFill>
                          <a:latin typeface="Inter" panose="020B0604020202020204" charset="0"/>
                          <a:cs typeface="Inter" panose="020B0604020202020204" charset="0"/>
                        </a:rPr>
                        <a:t>Rows</a:t>
                      </a:r>
                      <a:endParaRPr lang="en-IN" sz="2100"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sz="2100" dirty="0">
                          <a:solidFill>
                            <a:schemeClr val="tx1"/>
                          </a:solidFill>
                          <a:latin typeface="Inter" panose="020B0604020202020204" charset="0"/>
                          <a:cs typeface="Inter" panose="020B0604020202020204" charset="0"/>
                        </a:rPr>
                        <a:t>Columns</a:t>
                      </a:r>
                      <a:endParaRPr lang="en-IN" sz="2100"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sz="2100" dirty="0">
                          <a:solidFill>
                            <a:schemeClr val="tx1"/>
                          </a:solidFill>
                          <a:latin typeface="Inter" panose="020B0604020202020204" charset="0"/>
                          <a:cs typeface="Inter" panose="020B0604020202020204" charset="0"/>
                        </a:rPr>
                        <a:t>Description</a:t>
                      </a:r>
                      <a:endParaRPr lang="en-IN" sz="2100"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928254138"/>
                  </a:ext>
                </a:extLst>
              </a:tr>
              <a:tr h="691496">
                <a:tc>
                  <a:txBody>
                    <a:bodyPr/>
                    <a:lstStyle/>
                    <a:p>
                      <a:pPr algn="ctr"/>
                      <a:r>
                        <a:rPr lang="en-US" dirty="0">
                          <a:solidFill>
                            <a:schemeClr val="tx1"/>
                          </a:solidFill>
                          <a:latin typeface="Inter" panose="020B0604020202020204" charset="0"/>
                          <a:cs typeface="Inter" panose="020B0604020202020204" charset="0"/>
                        </a:rPr>
                        <a:t>application_train</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307K</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122</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Main customer dataset</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1146534863"/>
                  </a:ext>
                </a:extLst>
              </a:tr>
              <a:tr h="691496">
                <a:tc>
                  <a:txBody>
                    <a:bodyPr/>
                    <a:lstStyle/>
                    <a:p>
                      <a:pPr algn="ctr"/>
                      <a:r>
                        <a:rPr lang="en-US" dirty="0">
                          <a:solidFill>
                            <a:schemeClr val="tx1"/>
                          </a:solidFill>
                          <a:latin typeface="Inter" panose="020B0604020202020204" charset="0"/>
                          <a:cs typeface="Inter" panose="020B0604020202020204" charset="0"/>
                        </a:rPr>
                        <a:t>Bureau</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1.7M</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17</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External credit history</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1786420831"/>
                  </a:ext>
                </a:extLst>
              </a:tr>
              <a:tr h="691496">
                <a:tc>
                  <a:txBody>
                    <a:bodyPr/>
                    <a:lstStyle/>
                    <a:p>
                      <a:pPr algn="ctr"/>
                      <a:r>
                        <a:rPr lang="en-US" dirty="0">
                          <a:solidFill>
                            <a:schemeClr val="tx1"/>
                          </a:solidFill>
                          <a:latin typeface="Inter" panose="020B0604020202020204" charset="0"/>
                          <a:cs typeface="Inter" panose="020B0604020202020204" charset="0"/>
                        </a:rPr>
                        <a:t>bureau_balance</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27M </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3 </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Monthly bureau status</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4011489153"/>
                  </a:ext>
                </a:extLst>
              </a:tr>
              <a:tr h="691496">
                <a:tc>
                  <a:txBody>
                    <a:bodyPr/>
                    <a:lstStyle/>
                    <a:p>
                      <a:pPr algn="ctr"/>
                      <a:r>
                        <a:rPr lang="en-US" dirty="0">
                          <a:solidFill>
                            <a:schemeClr val="tx1"/>
                          </a:solidFill>
                          <a:latin typeface="Inter" panose="020B0604020202020204" charset="0"/>
                          <a:cs typeface="Inter" panose="020B0604020202020204" charset="0"/>
                        </a:rPr>
                        <a:t>previous_application</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1.6M</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37</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Historical applications</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1579030098"/>
                  </a:ext>
                </a:extLst>
              </a:tr>
              <a:tr h="691496">
                <a:tc>
                  <a:txBody>
                    <a:bodyPr/>
                    <a:lstStyle/>
                    <a:p>
                      <a:pPr algn="ctr"/>
                      <a:r>
                        <a:rPr lang="en-US" dirty="0">
                          <a:solidFill>
                            <a:schemeClr val="tx1"/>
                          </a:solidFill>
                          <a:latin typeface="Inter" panose="020B0604020202020204" charset="0"/>
                          <a:cs typeface="Inter" panose="020B0604020202020204" charset="0"/>
                        </a:rPr>
                        <a:t>installments_payments</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13.6M</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8</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Payment history</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795188444"/>
                  </a:ext>
                </a:extLst>
              </a:tr>
              <a:tr h="691496">
                <a:tc>
                  <a:txBody>
                    <a:bodyPr/>
                    <a:lstStyle/>
                    <a:p>
                      <a:pPr algn="ctr"/>
                      <a:r>
                        <a:rPr lang="en-US" dirty="0">
                          <a:solidFill>
                            <a:schemeClr val="tx1"/>
                          </a:solidFill>
                          <a:latin typeface="Inter" panose="020B0604020202020204" charset="0"/>
                          <a:cs typeface="Inter" panose="020B0604020202020204" charset="0"/>
                        </a:rPr>
                        <a:t>credti_card_balance</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3.8M</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23</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Credit behavior</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1749592831"/>
                  </a:ext>
                </a:extLst>
              </a:tr>
              <a:tr h="691496">
                <a:tc>
                  <a:txBody>
                    <a:bodyPr/>
                    <a:lstStyle/>
                    <a:p>
                      <a:pPr algn="ctr"/>
                      <a:r>
                        <a:rPr lang="en-US" dirty="0">
                          <a:solidFill>
                            <a:schemeClr val="tx1"/>
                          </a:solidFill>
                          <a:latin typeface="Inter" panose="020B0604020202020204" charset="0"/>
                          <a:cs typeface="Inter" panose="020B0604020202020204" charset="0"/>
                        </a:rPr>
                        <a:t>POS_CASH_balance</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10M</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8</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POS &amp; cash loans</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2912780974"/>
                  </a:ext>
                </a:extLst>
              </a:tr>
            </a:tbl>
          </a:graphicData>
        </a:graphic>
      </p:graphicFrame>
      <p:sp>
        <p:nvSpPr>
          <p:cNvPr id="9" name="TextBox 8">
            <a:extLst>
              <a:ext uri="{FF2B5EF4-FFF2-40B4-BE49-F238E27FC236}">
                <a16:creationId xmlns:a16="http://schemas.microsoft.com/office/drawing/2014/main" id="{472EFEF7-B1FF-8651-45D8-EAB85120B680}"/>
              </a:ext>
            </a:extLst>
          </p:cNvPr>
          <p:cNvSpPr txBox="1"/>
          <p:nvPr/>
        </p:nvSpPr>
        <p:spPr>
          <a:xfrm>
            <a:off x="1600200" y="8043316"/>
            <a:ext cx="13944600" cy="841256"/>
          </a:xfrm>
          <a:prstGeom prst="rect">
            <a:avLst/>
          </a:prstGeom>
          <a:noFill/>
        </p:spPr>
        <p:txBody>
          <a:bodyPr wrap="square">
            <a:spAutoFit/>
          </a:bodyPr>
          <a:lstStyle/>
          <a:p>
            <a:pPr>
              <a:buNone/>
            </a:pPr>
            <a:r>
              <a:rPr lang="en-IN" sz="2500" b="1" dirty="0">
                <a:latin typeface="Inter" panose="020B0604020202020204" charset="0"/>
                <a:cs typeface="Inter" panose="020B0604020202020204" charset="0"/>
              </a:rPr>
              <a:t>Key Observation</a:t>
            </a:r>
          </a:p>
          <a:p>
            <a:pPr>
              <a:lnSpc>
                <a:spcPct val="150000"/>
              </a:lnSpc>
              <a:buNone/>
            </a:pPr>
            <a:r>
              <a:rPr lang="en-IN" dirty="0">
                <a:latin typeface="Inter" panose="020B0604020202020204" charset="0"/>
                <a:cs typeface="Inter" panose="020B0604020202020204" charset="0"/>
              </a:rPr>
              <a:t>“The project involves large-scale multi-table relational financial data requiring aggregation and customer-level integration.”</a:t>
            </a:r>
          </a:p>
        </p:txBody>
      </p:sp>
    </p:spTree>
    <p:extLst>
      <p:ext uri="{BB962C8B-B14F-4D97-AF65-F5344CB8AC3E}">
        <p14:creationId xmlns:p14="http://schemas.microsoft.com/office/powerpoint/2010/main" val="30334032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C5D6CA"/>
        </a:solidFill>
        <a:effectLst/>
      </p:bgPr>
    </p:bg>
    <p:spTree>
      <p:nvGrpSpPr>
        <p:cNvPr id="1" name="">
          <a:extLst>
            <a:ext uri="{FF2B5EF4-FFF2-40B4-BE49-F238E27FC236}">
              <a16:creationId xmlns:a16="http://schemas.microsoft.com/office/drawing/2014/main" id="{2E76E4D4-4211-B05E-96E7-FA2DD91579A5}"/>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7FA06E62-128E-D8A5-E80D-C0DEAAB42D6D}"/>
              </a:ext>
            </a:extLst>
          </p:cNvPr>
          <p:cNvGrpSpPr/>
          <p:nvPr/>
        </p:nvGrpSpPr>
        <p:grpSpPr>
          <a:xfrm>
            <a:off x="0" y="9497082"/>
            <a:ext cx="18292543" cy="787203"/>
            <a:chOff x="0" y="0"/>
            <a:chExt cx="24390058" cy="1049604"/>
          </a:xfrm>
        </p:grpSpPr>
        <p:sp>
          <p:nvSpPr>
            <p:cNvPr id="3" name="Freeform 3">
              <a:extLst>
                <a:ext uri="{FF2B5EF4-FFF2-40B4-BE49-F238E27FC236}">
                  <a16:creationId xmlns:a16="http://schemas.microsoft.com/office/drawing/2014/main" id="{402D0EA1-C12F-5887-1EC0-D50C5C55FAD7}"/>
                </a:ext>
              </a:extLst>
            </p:cNvPr>
            <p:cNvSpPr/>
            <p:nvPr/>
          </p:nvSpPr>
          <p:spPr>
            <a:xfrm>
              <a:off x="0" y="0"/>
              <a:ext cx="24390096" cy="1049655"/>
            </a:xfrm>
            <a:custGeom>
              <a:avLst/>
              <a:gdLst/>
              <a:ahLst/>
              <a:cxnLst/>
              <a:rect l="l" t="t" r="r" b="b"/>
              <a:pathLst>
                <a:path w="24390096" h="1049655">
                  <a:moveTo>
                    <a:pt x="0" y="0"/>
                  </a:moveTo>
                  <a:lnTo>
                    <a:pt x="24390096" y="0"/>
                  </a:lnTo>
                  <a:lnTo>
                    <a:pt x="24390096" y="1049655"/>
                  </a:lnTo>
                  <a:lnTo>
                    <a:pt x="0" y="1049655"/>
                  </a:lnTo>
                  <a:close/>
                </a:path>
              </a:pathLst>
            </a:custGeom>
            <a:solidFill>
              <a:srgbClr val="348E90"/>
            </a:solidFill>
          </p:spPr>
          <p:txBody>
            <a:bodyPr/>
            <a:lstStyle/>
            <a:p>
              <a:endParaRPr lang="en-IN"/>
            </a:p>
          </p:txBody>
        </p:sp>
      </p:grpSp>
      <p:sp>
        <p:nvSpPr>
          <p:cNvPr id="4" name="Rectangle 3">
            <a:extLst>
              <a:ext uri="{FF2B5EF4-FFF2-40B4-BE49-F238E27FC236}">
                <a16:creationId xmlns:a16="http://schemas.microsoft.com/office/drawing/2014/main" id="{1144EFD6-0161-EFCA-56FE-A6F5F957C26A}"/>
              </a:ext>
            </a:extLst>
          </p:cNvPr>
          <p:cNvSpPr/>
          <p:nvPr/>
        </p:nvSpPr>
        <p:spPr>
          <a:xfrm>
            <a:off x="15544800" y="0"/>
            <a:ext cx="1143000" cy="1823056"/>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216DB044-0774-FC81-8089-DE4D258216D7}"/>
              </a:ext>
            </a:extLst>
          </p:cNvPr>
          <p:cNvSpPr txBox="1"/>
          <p:nvPr/>
        </p:nvSpPr>
        <p:spPr>
          <a:xfrm>
            <a:off x="6705600" y="4305300"/>
            <a:ext cx="4876800" cy="1015663"/>
          </a:xfrm>
          <a:prstGeom prst="rect">
            <a:avLst/>
          </a:prstGeom>
          <a:noFill/>
        </p:spPr>
        <p:txBody>
          <a:bodyPr wrap="square">
            <a:spAutoFit/>
          </a:bodyPr>
          <a:lstStyle/>
          <a:p>
            <a:r>
              <a:rPr lang="en-IN" sz="6000" b="1" dirty="0">
                <a:latin typeface="Inter" panose="020B0604020202020204" charset="0"/>
                <a:cs typeface="Inter" panose="020B0604020202020204" charset="0"/>
              </a:rPr>
              <a:t>Data Auditing</a:t>
            </a:r>
          </a:p>
        </p:txBody>
      </p:sp>
    </p:spTree>
    <p:extLst>
      <p:ext uri="{BB962C8B-B14F-4D97-AF65-F5344CB8AC3E}">
        <p14:creationId xmlns:p14="http://schemas.microsoft.com/office/powerpoint/2010/main" val="28802951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C5D6CA"/>
        </a:solidFill>
        <a:effectLst/>
      </p:bgPr>
    </p:bg>
    <p:spTree>
      <p:nvGrpSpPr>
        <p:cNvPr id="1" name="">
          <a:extLst>
            <a:ext uri="{FF2B5EF4-FFF2-40B4-BE49-F238E27FC236}">
              <a16:creationId xmlns:a16="http://schemas.microsoft.com/office/drawing/2014/main" id="{8B55118B-05DB-E9FD-AEC0-C508529AC754}"/>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F93DA28C-6BF2-E2C3-7287-B1F196620653}"/>
              </a:ext>
            </a:extLst>
          </p:cNvPr>
          <p:cNvGrpSpPr/>
          <p:nvPr/>
        </p:nvGrpSpPr>
        <p:grpSpPr>
          <a:xfrm>
            <a:off x="0" y="9497082"/>
            <a:ext cx="18292543" cy="787203"/>
            <a:chOff x="0" y="0"/>
            <a:chExt cx="24390058" cy="1049604"/>
          </a:xfrm>
        </p:grpSpPr>
        <p:sp>
          <p:nvSpPr>
            <p:cNvPr id="3" name="Freeform 3">
              <a:extLst>
                <a:ext uri="{FF2B5EF4-FFF2-40B4-BE49-F238E27FC236}">
                  <a16:creationId xmlns:a16="http://schemas.microsoft.com/office/drawing/2014/main" id="{83E82DEB-3B8A-288B-C07E-B52EF1712D47}"/>
                </a:ext>
              </a:extLst>
            </p:cNvPr>
            <p:cNvSpPr/>
            <p:nvPr/>
          </p:nvSpPr>
          <p:spPr>
            <a:xfrm>
              <a:off x="0" y="0"/>
              <a:ext cx="24390096" cy="1049655"/>
            </a:xfrm>
            <a:custGeom>
              <a:avLst/>
              <a:gdLst/>
              <a:ahLst/>
              <a:cxnLst/>
              <a:rect l="l" t="t" r="r" b="b"/>
              <a:pathLst>
                <a:path w="24390096" h="1049655">
                  <a:moveTo>
                    <a:pt x="0" y="0"/>
                  </a:moveTo>
                  <a:lnTo>
                    <a:pt x="24390096" y="0"/>
                  </a:lnTo>
                  <a:lnTo>
                    <a:pt x="24390096" y="1049655"/>
                  </a:lnTo>
                  <a:lnTo>
                    <a:pt x="0" y="1049655"/>
                  </a:lnTo>
                  <a:close/>
                </a:path>
              </a:pathLst>
            </a:custGeom>
            <a:solidFill>
              <a:srgbClr val="348E90"/>
            </a:solidFill>
          </p:spPr>
          <p:txBody>
            <a:bodyPr/>
            <a:lstStyle/>
            <a:p>
              <a:endParaRPr lang="en-IN"/>
            </a:p>
          </p:txBody>
        </p:sp>
      </p:grpSp>
      <p:sp>
        <p:nvSpPr>
          <p:cNvPr id="4" name="Rectangle 3">
            <a:extLst>
              <a:ext uri="{FF2B5EF4-FFF2-40B4-BE49-F238E27FC236}">
                <a16:creationId xmlns:a16="http://schemas.microsoft.com/office/drawing/2014/main" id="{66CB365D-378D-BD65-DC04-1A235310F9DE}"/>
              </a:ext>
            </a:extLst>
          </p:cNvPr>
          <p:cNvSpPr/>
          <p:nvPr/>
        </p:nvSpPr>
        <p:spPr>
          <a:xfrm>
            <a:off x="15544800" y="0"/>
            <a:ext cx="1143000" cy="1823056"/>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CD017E7B-7714-E264-2CE3-6320B9F106A1}"/>
              </a:ext>
            </a:extLst>
          </p:cNvPr>
          <p:cNvSpPr txBox="1"/>
          <p:nvPr/>
        </p:nvSpPr>
        <p:spPr>
          <a:xfrm>
            <a:off x="5067300" y="4127837"/>
            <a:ext cx="8153400" cy="1015663"/>
          </a:xfrm>
          <a:prstGeom prst="rect">
            <a:avLst/>
          </a:prstGeom>
          <a:noFill/>
        </p:spPr>
        <p:txBody>
          <a:bodyPr wrap="square">
            <a:spAutoFit/>
          </a:bodyPr>
          <a:lstStyle/>
          <a:p>
            <a:r>
              <a:rPr lang="en-IN" sz="6000" b="1" dirty="0">
                <a:latin typeface="Inter" panose="020B0604020202020204" charset="0"/>
                <a:cs typeface="Inter" panose="020B0604020202020204" charset="0"/>
              </a:rPr>
              <a:t>Application_train/ tests</a:t>
            </a:r>
          </a:p>
        </p:txBody>
      </p:sp>
    </p:spTree>
    <p:extLst>
      <p:ext uri="{BB962C8B-B14F-4D97-AF65-F5344CB8AC3E}">
        <p14:creationId xmlns:p14="http://schemas.microsoft.com/office/powerpoint/2010/main" val="35377311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C5D6CA"/>
        </a:solidFill>
        <a:effectLst/>
      </p:bgPr>
    </p:bg>
    <p:spTree>
      <p:nvGrpSpPr>
        <p:cNvPr id="1" name="">
          <a:extLst>
            <a:ext uri="{FF2B5EF4-FFF2-40B4-BE49-F238E27FC236}">
              <a16:creationId xmlns:a16="http://schemas.microsoft.com/office/drawing/2014/main" id="{2B26BF49-FAEA-A0FF-E8DF-030DBFC39D07}"/>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BC9CB957-0658-401C-B704-C6B76E80A296}"/>
              </a:ext>
            </a:extLst>
          </p:cNvPr>
          <p:cNvGrpSpPr/>
          <p:nvPr/>
        </p:nvGrpSpPr>
        <p:grpSpPr>
          <a:xfrm>
            <a:off x="0" y="9497082"/>
            <a:ext cx="18292543" cy="787203"/>
            <a:chOff x="0" y="0"/>
            <a:chExt cx="24390058" cy="1049604"/>
          </a:xfrm>
        </p:grpSpPr>
        <p:sp>
          <p:nvSpPr>
            <p:cNvPr id="3" name="Freeform 3">
              <a:extLst>
                <a:ext uri="{FF2B5EF4-FFF2-40B4-BE49-F238E27FC236}">
                  <a16:creationId xmlns:a16="http://schemas.microsoft.com/office/drawing/2014/main" id="{2E9D0D65-E914-9906-1BC9-1BC7423B68A4}"/>
                </a:ext>
              </a:extLst>
            </p:cNvPr>
            <p:cNvSpPr/>
            <p:nvPr/>
          </p:nvSpPr>
          <p:spPr>
            <a:xfrm>
              <a:off x="0" y="0"/>
              <a:ext cx="24390096" cy="1049655"/>
            </a:xfrm>
            <a:custGeom>
              <a:avLst/>
              <a:gdLst/>
              <a:ahLst/>
              <a:cxnLst/>
              <a:rect l="l" t="t" r="r" b="b"/>
              <a:pathLst>
                <a:path w="24390096" h="1049655">
                  <a:moveTo>
                    <a:pt x="0" y="0"/>
                  </a:moveTo>
                  <a:lnTo>
                    <a:pt x="24390096" y="0"/>
                  </a:lnTo>
                  <a:lnTo>
                    <a:pt x="24390096" y="1049655"/>
                  </a:lnTo>
                  <a:lnTo>
                    <a:pt x="0" y="1049655"/>
                  </a:lnTo>
                  <a:close/>
                </a:path>
              </a:pathLst>
            </a:custGeom>
            <a:solidFill>
              <a:srgbClr val="348E90"/>
            </a:solidFill>
          </p:spPr>
          <p:txBody>
            <a:bodyPr/>
            <a:lstStyle/>
            <a:p>
              <a:endParaRPr lang="en-IN"/>
            </a:p>
          </p:txBody>
        </p:sp>
      </p:grpSp>
      <p:sp>
        <p:nvSpPr>
          <p:cNvPr id="4" name="Rectangle 3">
            <a:extLst>
              <a:ext uri="{FF2B5EF4-FFF2-40B4-BE49-F238E27FC236}">
                <a16:creationId xmlns:a16="http://schemas.microsoft.com/office/drawing/2014/main" id="{8C73FED8-103F-8112-5718-381C5612DA11}"/>
              </a:ext>
            </a:extLst>
          </p:cNvPr>
          <p:cNvSpPr/>
          <p:nvPr/>
        </p:nvSpPr>
        <p:spPr>
          <a:xfrm>
            <a:off x="15544800" y="0"/>
            <a:ext cx="1143000" cy="1823056"/>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094ABED2-A663-DBAC-31A7-B3E1DC973289}"/>
              </a:ext>
            </a:extLst>
          </p:cNvPr>
          <p:cNvSpPr txBox="1"/>
          <p:nvPr/>
        </p:nvSpPr>
        <p:spPr>
          <a:xfrm>
            <a:off x="3390900" y="911528"/>
            <a:ext cx="11506200" cy="707886"/>
          </a:xfrm>
          <a:prstGeom prst="rect">
            <a:avLst/>
          </a:prstGeom>
          <a:noFill/>
        </p:spPr>
        <p:txBody>
          <a:bodyPr wrap="square">
            <a:spAutoFit/>
          </a:bodyPr>
          <a:lstStyle/>
          <a:p>
            <a:r>
              <a:rPr lang="en-IN" sz="4000" b="1" dirty="0">
                <a:latin typeface="Inter" panose="020B0604020202020204" charset="0"/>
                <a:cs typeface="Inter" panose="020B0604020202020204" charset="0"/>
              </a:rPr>
              <a:t>Missing Value Assessment — Application Dataset</a:t>
            </a:r>
          </a:p>
        </p:txBody>
      </p:sp>
      <p:sp>
        <p:nvSpPr>
          <p:cNvPr id="8" name="TextBox 7">
            <a:extLst>
              <a:ext uri="{FF2B5EF4-FFF2-40B4-BE49-F238E27FC236}">
                <a16:creationId xmlns:a16="http://schemas.microsoft.com/office/drawing/2014/main" id="{5B0D6176-BBF5-0CBD-DF9A-D65F564DA643}"/>
              </a:ext>
            </a:extLst>
          </p:cNvPr>
          <p:cNvSpPr txBox="1"/>
          <p:nvPr/>
        </p:nvSpPr>
        <p:spPr>
          <a:xfrm>
            <a:off x="1143000" y="1669031"/>
            <a:ext cx="14401800" cy="1415772"/>
          </a:xfrm>
          <a:prstGeom prst="rect">
            <a:avLst/>
          </a:prstGeom>
          <a:noFill/>
        </p:spPr>
        <p:txBody>
          <a:bodyPr wrap="square">
            <a:spAutoFit/>
          </a:bodyPr>
          <a:lstStyle/>
          <a:p>
            <a:pPr>
              <a:lnSpc>
                <a:spcPct val="200000"/>
              </a:lnSpc>
              <a:buNone/>
            </a:pPr>
            <a:r>
              <a:rPr lang="en-IN" sz="2500" b="1" dirty="0">
                <a:latin typeface="Inter" panose="020B0604020202020204" charset="0"/>
                <a:cs typeface="Inter" panose="020B0604020202020204" charset="0"/>
              </a:rPr>
              <a:t>Summary Statement</a:t>
            </a:r>
          </a:p>
          <a:p>
            <a:pPr>
              <a:buNone/>
            </a:pPr>
            <a:r>
              <a:rPr lang="en-IN" dirty="0">
                <a:latin typeface="Inter" panose="020B0604020202020204" charset="0"/>
                <a:cs typeface="Inter" panose="020B0604020202020204" charset="0"/>
              </a:rPr>
              <a:t>The application_train dataset contains several high-missingness features primarily related to housing and property information. Most missing values appear to be business-contextual rather than structural data quality issues.</a:t>
            </a:r>
          </a:p>
        </p:txBody>
      </p:sp>
      <p:graphicFrame>
        <p:nvGraphicFramePr>
          <p:cNvPr id="9" name="Table 8">
            <a:extLst>
              <a:ext uri="{FF2B5EF4-FFF2-40B4-BE49-F238E27FC236}">
                <a16:creationId xmlns:a16="http://schemas.microsoft.com/office/drawing/2014/main" id="{7D06C8AA-1328-C6DF-32FF-E4092D72A2AD}"/>
              </a:ext>
            </a:extLst>
          </p:cNvPr>
          <p:cNvGraphicFramePr>
            <a:graphicFrameLocks noGrp="1"/>
          </p:cNvGraphicFramePr>
          <p:nvPr>
            <p:extLst>
              <p:ext uri="{D42A27DB-BD31-4B8C-83A1-F6EECF244321}">
                <p14:modId xmlns:p14="http://schemas.microsoft.com/office/powerpoint/2010/main" val="3789123994"/>
              </p:ext>
            </p:extLst>
          </p:nvPr>
        </p:nvGraphicFramePr>
        <p:xfrm>
          <a:off x="1149178" y="3219902"/>
          <a:ext cx="15544801" cy="5761355"/>
        </p:xfrm>
        <a:graphic>
          <a:graphicData uri="http://schemas.openxmlformats.org/drawingml/2006/table">
            <a:tbl>
              <a:tblPr firstRow="1" bandRow="1">
                <a:tableStyleId>{5C22544A-7EE6-4342-B048-85BDC9FD1C3A}</a:tableStyleId>
              </a:tblPr>
              <a:tblGrid>
                <a:gridCol w="1049215">
                  <a:extLst>
                    <a:ext uri="{9D8B030D-6E8A-4147-A177-3AD203B41FA5}">
                      <a16:colId xmlns:a16="http://schemas.microsoft.com/office/drawing/2014/main" val="2969637189"/>
                    </a:ext>
                  </a:extLst>
                </a:gridCol>
                <a:gridCol w="2895600">
                  <a:extLst>
                    <a:ext uri="{9D8B030D-6E8A-4147-A177-3AD203B41FA5}">
                      <a16:colId xmlns:a16="http://schemas.microsoft.com/office/drawing/2014/main" val="3884130181"/>
                    </a:ext>
                  </a:extLst>
                </a:gridCol>
                <a:gridCol w="3200400">
                  <a:extLst>
                    <a:ext uri="{9D8B030D-6E8A-4147-A177-3AD203B41FA5}">
                      <a16:colId xmlns:a16="http://schemas.microsoft.com/office/drawing/2014/main" val="236091982"/>
                    </a:ext>
                  </a:extLst>
                </a:gridCol>
                <a:gridCol w="2133600">
                  <a:extLst>
                    <a:ext uri="{9D8B030D-6E8A-4147-A177-3AD203B41FA5}">
                      <a16:colId xmlns:a16="http://schemas.microsoft.com/office/drawing/2014/main" val="1675308986"/>
                    </a:ext>
                  </a:extLst>
                </a:gridCol>
                <a:gridCol w="2362200">
                  <a:extLst>
                    <a:ext uri="{9D8B030D-6E8A-4147-A177-3AD203B41FA5}">
                      <a16:colId xmlns:a16="http://schemas.microsoft.com/office/drawing/2014/main" val="1322069589"/>
                    </a:ext>
                  </a:extLst>
                </a:gridCol>
                <a:gridCol w="3903786">
                  <a:extLst>
                    <a:ext uri="{9D8B030D-6E8A-4147-A177-3AD203B41FA5}">
                      <a16:colId xmlns:a16="http://schemas.microsoft.com/office/drawing/2014/main" val="3627713557"/>
                    </a:ext>
                  </a:extLst>
                </a:gridCol>
              </a:tblGrid>
              <a:tr h="370840">
                <a:tc>
                  <a:txBody>
                    <a:bodyPr/>
                    <a:lstStyle/>
                    <a:p>
                      <a:pPr algn="ctr" fontAlgn="b">
                        <a:buNone/>
                      </a:pPr>
                      <a:r>
                        <a:rPr lang="en-US" sz="1800" b="1" i="0" u="none" strike="noStrike" dirty="0">
                          <a:solidFill>
                            <a:schemeClr val="tx1"/>
                          </a:solidFill>
                          <a:effectLst/>
                          <a:latin typeface="Inter" panose="020B0604020202020204" charset="0"/>
                          <a:cs typeface="Inter" panose="020B0604020202020204" charset="0"/>
                        </a:rPr>
                        <a:t>S.No</a:t>
                      </a:r>
                      <a:endParaRPr lang="en-IN" sz="1800" b="1" i="0" u="none" strike="noStrike" dirty="0">
                        <a:solidFill>
                          <a:schemeClr val="tx1"/>
                        </a:solidFill>
                        <a:effectLst/>
                        <a:latin typeface="Inter" panose="020B0604020202020204" charset="0"/>
                        <a:cs typeface="Inter" panose="020B060402020202020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1" i="0" u="none" strike="noStrike" dirty="0">
                          <a:solidFill>
                            <a:schemeClr val="tx1"/>
                          </a:solidFill>
                          <a:effectLst/>
                          <a:latin typeface="Inter" panose="020B0604020202020204" charset="0"/>
                          <a:cs typeface="Inter" panose="020B0604020202020204" charset="0"/>
                        </a:rPr>
                        <a:t>Column Name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1" i="0" u="none" strike="noStrike" dirty="0">
                          <a:solidFill>
                            <a:schemeClr val="tx1"/>
                          </a:solidFill>
                          <a:effectLst/>
                          <a:latin typeface="Inter" panose="020B0604020202020204" charset="0"/>
                          <a:cs typeface="Inter" panose="020B0604020202020204" charset="0"/>
                        </a:rPr>
                        <a:t>Column Purpose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1" i="0" u="none" strike="noStrike" dirty="0">
                          <a:solidFill>
                            <a:schemeClr val="tx1"/>
                          </a:solidFill>
                          <a:effectLst/>
                          <a:latin typeface="Inter" panose="020B0604020202020204" charset="0"/>
                          <a:cs typeface="Inter" panose="020B0604020202020204" charset="0"/>
                        </a:rPr>
                        <a:t>Missing % / Anomaly</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1" i="0" u="none" strike="noStrike" dirty="0">
                          <a:solidFill>
                            <a:schemeClr val="tx1"/>
                          </a:solidFill>
                          <a:effectLst/>
                          <a:latin typeface="Inter" panose="020B0604020202020204" charset="0"/>
                          <a:cs typeface="Inter" panose="020B0604020202020204" charset="0"/>
                        </a:rPr>
                        <a:t>What We Did</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1" i="0" u="none" strike="noStrike" dirty="0">
                          <a:solidFill>
                            <a:schemeClr val="tx1"/>
                          </a:solidFill>
                          <a:effectLst/>
                          <a:latin typeface="Inter" panose="020B0604020202020204" charset="0"/>
                          <a:cs typeface="Inter" panose="020B0604020202020204" charset="0"/>
                        </a:rPr>
                        <a:t>Why We Did It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2107660305"/>
                  </a:ext>
                </a:extLst>
              </a:tr>
              <a:tr h="370840">
                <a:tc>
                  <a:txBody>
                    <a:bodyPr/>
                    <a:lstStyle/>
                    <a:p>
                      <a:pPr algn="ctr"/>
                      <a:r>
                        <a:rPr lang="en-US" dirty="0">
                          <a:solidFill>
                            <a:schemeClr val="tx1"/>
                          </a:solidFill>
                          <a:latin typeface="Inter" panose="020B0604020202020204" charset="0"/>
                          <a:cs typeface="Inter" panose="020B0604020202020204"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COMMONAREA_AVG</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a:solidFill>
                            <a:srgbClr val="000000"/>
                          </a:solidFill>
                          <a:effectLst/>
                          <a:latin typeface="Inter" panose="020B0604020202020204" charset="0"/>
                          <a:cs typeface="Inter" panose="020B0604020202020204" charset="0"/>
                        </a:rPr>
                        <a:t>Common building area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chemeClr val="bg1"/>
                          </a:solidFill>
                          <a:effectLst/>
                          <a:latin typeface="Inter" panose="020B0604020202020204" charset="0"/>
                          <a:cs typeface="Inter" panose="020B0604020202020204" charset="0"/>
                        </a:rPr>
                        <a:t>69.87%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rowSpan="11">
                  <a:txBody>
                    <a:bodyPr/>
                    <a:lstStyle/>
                    <a:p>
                      <a:pPr algn="ctr" fontAlgn="b">
                        <a:buNone/>
                      </a:pPr>
                      <a:r>
                        <a:rPr lang="en-US" sz="1800" b="0" i="0" u="none" strike="noStrike" dirty="0">
                          <a:solidFill>
                            <a:srgbClr val="000000"/>
                          </a:solidFill>
                          <a:effectLst/>
                          <a:latin typeface="Inter" panose="020B0604020202020204" charset="0"/>
                          <a:cs typeface="Inter" panose="020B0604020202020204" charset="0"/>
                        </a:rPr>
                        <a:t>Drop Medi and Mod</a:t>
                      </a:r>
                    </a:p>
                    <a:p>
                      <a:pPr algn="ctr" fontAlgn="b">
                        <a:buNone/>
                      </a:pPr>
                      <a:r>
                        <a:rPr lang="en-US" sz="1800" b="0" i="0" u="none" strike="noStrike" dirty="0">
                          <a:solidFill>
                            <a:srgbClr val="000000"/>
                          </a:solidFill>
                          <a:effectLst/>
                          <a:latin typeface="Inter" panose="020B0604020202020204" charset="0"/>
                          <a:cs typeface="Inter" panose="020B0604020202020204" charset="0"/>
                        </a:rPr>
                        <a:t>And out of avg create a flag and then drop avg too</a:t>
                      </a:r>
                      <a:endParaRPr lang="en-IN" sz="1800" b="0" i="0" u="none" strike="noStrike" dirty="0">
                        <a:solidFill>
                          <a:srgbClr val="000000"/>
                        </a:solidFill>
                        <a:effectLst/>
                        <a:latin typeface="Inter" panose="020B0604020202020204" charset="0"/>
                        <a:cs typeface="Inter" panose="020B060402020202020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rowSpan="11">
                  <a:txBody>
                    <a:bodyPr/>
                    <a:lstStyle/>
                    <a:p>
                      <a:pPr algn="ctr" fontAlgn="b">
                        <a:buNone/>
                      </a:pPr>
                      <a:r>
                        <a:rPr lang="en-US" sz="1800" b="0" i="0" u="none" strike="noStrike" dirty="0">
                          <a:solidFill>
                            <a:srgbClr val="000000"/>
                          </a:solidFill>
                          <a:effectLst/>
                          <a:latin typeface="Inter" panose="020B0604020202020204" charset="0"/>
                          <a:cs typeface="Inter" panose="020B0604020202020204" charset="0"/>
                        </a:rPr>
                        <a:t>Too much missing value, and too preserve the info.</a:t>
                      </a:r>
                      <a:endParaRPr lang="en-IN" sz="1800" b="0" i="0" u="none" strike="noStrike" dirty="0">
                        <a:solidFill>
                          <a:srgbClr val="000000"/>
                        </a:solidFill>
                        <a:effectLst/>
                        <a:latin typeface="Inter" panose="020B0604020202020204" charset="0"/>
                        <a:cs typeface="Inter" panose="020B060402020202020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1919492950"/>
                  </a:ext>
                </a:extLst>
              </a:tr>
              <a:tr h="370840">
                <a:tc>
                  <a:txBody>
                    <a:bodyPr/>
                    <a:lstStyle/>
                    <a:p>
                      <a:pPr algn="ctr"/>
                      <a:r>
                        <a:rPr lang="en-US" dirty="0">
                          <a:solidFill>
                            <a:schemeClr val="tx1"/>
                          </a:solidFill>
                          <a:latin typeface="Inter" panose="020B0604020202020204" charset="0"/>
                          <a:cs typeface="Inter" panose="020B0604020202020204" charset="0"/>
                        </a:rPr>
                        <a:t>2</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a:solidFill>
                            <a:srgbClr val="000000"/>
                          </a:solidFill>
                          <a:effectLst/>
                          <a:latin typeface="Inter" panose="020B0604020202020204" charset="0"/>
                          <a:cs typeface="Inter" panose="020B0604020202020204" charset="0"/>
                        </a:rPr>
                        <a:t>COMMONAREA_MEDI</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a:solidFill>
                            <a:srgbClr val="000000"/>
                          </a:solidFill>
                          <a:effectLst/>
                          <a:latin typeface="Inter" panose="020B0604020202020204" charset="0"/>
                          <a:cs typeface="Inter" panose="020B0604020202020204" charset="0"/>
                        </a:rPr>
                        <a:t>Median common building area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chemeClr val="bg1"/>
                          </a:solidFill>
                          <a:effectLst/>
                          <a:latin typeface="Inter" panose="020B0604020202020204" charset="0"/>
                          <a:cs typeface="Inter" panose="020B0604020202020204" charset="0"/>
                        </a:rPr>
                        <a:t>69.87%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vMerge="1">
                  <a:txBody>
                    <a:bodyPr/>
                    <a:lstStyle/>
                    <a:p>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vMerge="1">
                  <a:txBody>
                    <a:bodyPr/>
                    <a:lstStyle/>
                    <a:p>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972781095"/>
                  </a:ext>
                </a:extLst>
              </a:tr>
              <a:tr h="370840">
                <a:tc>
                  <a:txBody>
                    <a:bodyPr/>
                    <a:lstStyle/>
                    <a:p>
                      <a:pPr algn="ctr"/>
                      <a:r>
                        <a:rPr lang="en-US" dirty="0">
                          <a:solidFill>
                            <a:schemeClr val="tx1"/>
                          </a:solidFill>
                          <a:latin typeface="Inter" panose="020B0604020202020204" charset="0"/>
                          <a:cs typeface="Inter" panose="020B0604020202020204" charset="0"/>
                        </a:rPr>
                        <a:t>3</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COMMONAREA_MODE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a:solidFill>
                            <a:srgbClr val="000000"/>
                          </a:solidFill>
                          <a:effectLst/>
                          <a:latin typeface="Inter" panose="020B0604020202020204" charset="0"/>
                          <a:cs typeface="Inter" panose="020B0604020202020204" charset="0"/>
                        </a:rPr>
                        <a:t>Mode common building area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chemeClr val="bg1"/>
                          </a:solidFill>
                          <a:effectLst/>
                          <a:latin typeface="Inter" panose="020B0604020202020204" charset="0"/>
                          <a:cs typeface="Inter" panose="020B0604020202020204" charset="0"/>
                        </a:rPr>
                        <a:t>69.87%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vMerge="1">
                  <a:txBody>
                    <a:bodyPr/>
                    <a:lstStyle/>
                    <a:p>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vMerge="1">
                  <a:txBody>
                    <a:bodyPr/>
                    <a:lstStyle/>
                    <a:p>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1205791489"/>
                  </a:ext>
                </a:extLst>
              </a:tr>
              <a:tr h="370840">
                <a:tc>
                  <a:txBody>
                    <a:bodyPr/>
                    <a:lstStyle/>
                    <a:p>
                      <a:pPr algn="ctr"/>
                      <a:r>
                        <a:rPr lang="en-US" dirty="0">
                          <a:solidFill>
                            <a:schemeClr val="tx1"/>
                          </a:solidFill>
                          <a:latin typeface="Inter" panose="020B0604020202020204" charset="0"/>
                          <a:cs typeface="Inter" panose="020B0604020202020204" charset="0"/>
                        </a:rPr>
                        <a:t>4</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NONLIVINGAPARTMENTS_AVG</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a:solidFill>
                            <a:srgbClr val="000000"/>
                          </a:solidFill>
                          <a:effectLst/>
                          <a:latin typeface="Inter" panose="020B0604020202020204" charset="0"/>
                          <a:cs typeface="Inter" panose="020B0604020202020204" charset="0"/>
                        </a:rPr>
                        <a:t>Non-living apartment area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chemeClr val="bg1"/>
                          </a:solidFill>
                          <a:effectLst/>
                          <a:latin typeface="Inter" panose="020B0604020202020204" charset="0"/>
                          <a:cs typeface="Inter" panose="020B0604020202020204" charset="0"/>
                        </a:rPr>
                        <a:t>69.43%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vMerge="1">
                  <a:txBody>
                    <a:bodyPr/>
                    <a:lstStyle/>
                    <a:p>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vMerge="1">
                  <a:txBody>
                    <a:bodyPr/>
                    <a:lstStyle/>
                    <a:p>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3270408844"/>
                  </a:ext>
                </a:extLst>
              </a:tr>
              <a:tr h="370840">
                <a:tc>
                  <a:txBody>
                    <a:bodyPr/>
                    <a:lstStyle/>
                    <a:p>
                      <a:pPr algn="ctr"/>
                      <a:r>
                        <a:rPr lang="en-US" dirty="0">
                          <a:solidFill>
                            <a:schemeClr val="tx1"/>
                          </a:solidFill>
                          <a:latin typeface="Inter" panose="020B0604020202020204" charset="0"/>
                          <a:cs typeface="Inter" panose="020B0604020202020204" charset="0"/>
                        </a:rPr>
                        <a:t>5</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a:solidFill>
                            <a:srgbClr val="000000"/>
                          </a:solidFill>
                          <a:effectLst/>
                          <a:latin typeface="Inter" panose="020B0604020202020204" charset="0"/>
                          <a:cs typeface="Inter" panose="020B0604020202020204" charset="0"/>
                        </a:rPr>
                        <a:t>NONLIVINGAPARTMENTS_MEDI</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Median non-living apartment area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chemeClr val="bg1"/>
                          </a:solidFill>
                          <a:effectLst/>
                          <a:latin typeface="Inter" panose="020B0604020202020204" charset="0"/>
                          <a:cs typeface="Inter" panose="020B0604020202020204" charset="0"/>
                        </a:rPr>
                        <a:t>69.43%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vMerge="1">
                  <a:txBody>
                    <a:bodyPr/>
                    <a:lstStyle/>
                    <a:p>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vMerge="1">
                  <a:txBody>
                    <a:bodyPr/>
                    <a:lstStyle/>
                    <a:p>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4179124664"/>
                  </a:ext>
                </a:extLst>
              </a:tr>
              <a:tr h="370840">
                <a:tc>
                  <a:txBody>
                    <a:bodyPr/>
                    <a:lstStyle/>
                    <a:p>
                      <a:pPr algn="ctr"/>
                      <a:r>
                        <a:rPr lang="en-US" dirty="0">
                          <a:solidFill>
                            <a:schemeClr val="tx1"/>
                          </a:solidFill>
                          <a:latin typeface="Inter" panose="020B0604020202020204" charset="0"/>
                          <a:cs typeface="Inter" panose="020B0604020202020204" charset="0"/>
                        </a:rPr>
                        <a:t>6</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a:solidFill>
                            <a:srgbClr val="000000"/>
                          </a:solidFill>
                          <a:effectLst/>
                          <a:latin typeface="Inter" panose="020B0604020202020204" charset="0"/>
                          <a:cs typeface="Inter" panose="020B0604020202020204" charset="0"/>
                        </a:rPr>
                        <a:t>NONLIVINGAPARTMENTS_MODE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a:solidFill>
                            <a:srgbClr val="000000"/>
                          </a:solidFill>
                          <a:effectLst/>
                          <a:latin typeface="Inter" panose="020B0604020202020204" charset="0"/>
                          <a:cs typeface="Inter" panose="020B0604020202020204" charset="0"/>
                        </a:rPr>
                        <a:t>Mode non-living apartment area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chemeClr val="bg1"/>
                          </a:solidFill>
                          <a:effectLst/>
                          <a:latin typeface="Inter" panose="020B0604020202020204" charset="0"/>
                          <a:cs typeface="Inter" panose="020B0604020202020204" charset="0"/>
                        </a:rPr>
                        <a:t>69.43%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vMerge="1">
                  <a:txBody>
                    <a:bodyPr/>
                    <a:lstStyle/>
                    <a:p>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vMerge="1">
                  <a:txBody>
                    <a:bodyPr/>
                    <a:lstStyle/>
                    <a:p>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567498049"/>
                  </a:ext>
                </a:extLst>
              </a:tr>
              <a:tr h="370840">
                <a:tc>
                  <a:txBody>
                    <a:bodyPr/>
                    <a:lstStyle/>
                    <a:p>
                      <a:pPr algn="ctr"/>
                      <a:r>
                        <a:rPr lang="en-US" dirty="0">
                          <a:solidFill>
                            <a:schemeClr val="tx1"/>
                          </a:solidFill>
                          <a:latin typeface="Inter" panose="020B0604020202020204" charset="0"/>
                          <a:cs typeface="Inter" panose="020B0604020202020204" charset="0"/>
                        </a:rPr>
                        <a:t>7</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a:solidFill>
                            <a:srgbClr val="000000"/>
                          </a:solidFill>
                          <a:effectLst/>
                          <a:latin typeface="Inter" panose="020B0604020202020204" charset="0"/>
                          <a:cs typeface="Inter" panose="020B0604020202020204" charset="0"/>
                        </a:rPr>
                        <a:t>FONDKAPREMONT_MODE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Building repair fund type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chemeClr val="bg1"/>
                          </a:solidFill>
                          <a:effectLst/>
                          <a:latin typeface="Inter" panose="020B0604020202020204" charset="0"/>
                          <a:cs typeface="Inter" panose="020B0604020202020204" charset="0"/>
                        </a:rPr>
                        <a:t>68.38%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vMerge="1">
                  <a:txBody>
                    <a:bodyPr/>
                    <a:lstStyle/>
                    <a:p>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vMerge="1">
                  <a:txBody>
                    <a:bodyPr/>
                    <a:lstStyle/>
                    <a:p>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4095750177"/>
                  </a:ext>
                </a:extLst>
              </a:tr>
              <a:tr h="370840">
                <a:tc>
                  <a:txBody>
                    <a:bodyPr/>
                    <a:lstStyle/>
                    <a:p>
                      <a:pPr algn="ctr"/>
                      <a:r>
                        <a:rPr lang="en-US" dirty="0">
                          <a:solidFill>
                            <a:schemeClr val="tx1"/>
                          </a:solidFill>
                          <a:latin typeface="Inter" panose="020B0604020202020204" charset="0"/>
                          <a:cs typeface="Inter" panose="020B0604020202020204" charset="0"/>
                        </a:rPr>
                        <a:t>8</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a:solidFill>
                            <a:srgbClr val="000000"/>
                          </a:solidFill>
                          <a:effectLst/>
                          <a:latin typeface="Inter" panose="020B0604020202020204" charset="0"/>
                          <a:cs typeface="Inter" panose="020B0604020202020204" charset="0"/>
                        </a:rPr>
                        <a:t>LIVINGAPARTMENTS_AVG</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a:solidFill>
                            <a:srgbClr val="000000"/>
                          </a:solidFill>
                          <a:effectLst/>
                          <a:latin typeface="Inter" panose="020B0604020202020204" charset="0"/>
                          <a:cs typeface="Inter" panose="020B0604020202020204" charset="0"/>
                        </a:rPr>
                        <a:t>Living apartment area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chemeClr val="bg1"/>
                          </a:solidFill>
                          <a:effectLst/>
                          <a:latin typeface="Inter" panose="020B0604020202020204" charset="0"/>
                          <a:cs typeface="Inter" panose="020B0604020202020204" charset="0"/>
                        </a:rPr>
                        <a:t>68.35%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vMerge="1">
                  <a:txBody>
                    <a:bodyPr/>
                    <a:lstStyle/>
                    <a:p>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vMerge="1">
                  <a:txBody>
                    <a:bodyPr/>
                    <a:lstStyle/>
                    <a:p>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784672433"/>
                  </a:ext>
                </a:extLst>
              </a:tr>
              <a:tr h="370840">
                <a:tc>
                  <a:txBody>
                    <a:bodyPr/>
                    <a:lstStyle/>
                    <a:p>
                      <a:pPr algn="ctr"/>
                      <a:r>
                        <a:rPr lang="en-US" dirty="0">
                          <a:solidFill>
                            <a:schemeClr val="tx1"/>
                          </a:solidFill>
                          <a:latin typeface="Inter" panose="020B0604020202020204" charset="0"/>
                          <a:cs typeface="Inter" panose="020B0604020202020204" charset="0"/>
                        </a:rPr>
                        <a:t>9</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a:solidFill>
                            <a:srgbClr val="000000"/>
                          </a:solidFill>
                          <a:effectLst/>
                          <a:latin typeface="Inter" panose="020B0604020202020204" charset="0"/>
                          <a:cs typeface="Inter" panose="020B0604020202020204" charset="0"/>
                        </a:rPr>
                        <a:t>COMMONAREA_AVG</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Common building area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chemeClr val="bg1"/>
                          </a:solidFill>
                          <a:effectLst/>
                          <a:latin typeface="Inter" panose="020B0604020202020204" charset="0"/>
                          <a:cs typeface="Inter" panose="020B0604020202020204" charset="0"/>
                        </a:rPr>
                        <a:t>69.87%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vMerge="1">
                  <a:txBody>
                    <a:bodyPr/>
                    <a:lstStyle/>
                    <a:p>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vMerge="1">
                  <a:txBody>
                    <a:bodyPr/>
                    <a:lstStyle/>
                    <a:p>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432460073"/>
                  </a:ext>
                </a:extLst>
              </a:tr>
              <a:tr h="370840">
                <a:tc>
                  <a:txBody>
                    <a:bodyPr/>
                    <a:lstStyle/>
                    <a:p>
                      <a:pPr algn="ctr"/>
                      <a:r>
                        <a:rPr lang="en-US" dirty="0">
                          <a:solidFill>
                            <a:schemeClr val="tx1"/>
                          </a:solidFill>
                          <a:latin typeface="Inter" panose="020B0604020202020204" charset="0"/>
                          <a:cs typeface="Inter" panose="020B0604020202020204" charset="0"/>
                        </a:rPr>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LIVINGAPARTMENTS_MEDI</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Median living apartment area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chemeClr val="bg1"/>
                          </a:solidFill>
                          <a:effectLst/>
                          <a:latin typeface="Inter" panose="020B0604020202020204" charset="0"/>
                          <a:cs typeface="Inter" panose="020B0604020202020204" charset="0"/>
                        </a:rPr>
                        <a:t>68.35%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vMerge="1">
                  <a:txBody>
                    <a:bodyPr/>
                    <a:lstStyle/>
                    <a:p>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vMerge="1">
                  <a:txBody>
                    <a:bodyPr/>
                    <a:lstStyle/>
                    <a:p>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1798886137"/>
                  </a:ext>
                </a:extLst>
              </a:tr>
              <a:tr h="370840">
                <a:tc>
                  <a:txBody>
                    <a:bodyPr/>
                    <a:lstStyle/>
                    <a:p>
                      <a:pPr algn="ctr"/>
                      <a:r>
                        <a:rPr lang="en-US" dirty="0">
                          <a:solidFill>
                            <a:schemeClr val="tx1"/>
                          </a:solidFill>
                          <a:latin typeface="Inter" panose="020B0604020202020204" charset="0"/>
                          <a:cs typeface="Inter" panose="020B0604020202020204" charset="0"/>
                        </a:rPr>
                        <a:t>11</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a:solidFill>
                            <a:srgbClr val="000000"/>
                          </a:solidFill>
                          <a:effectLst/>
                          <a:latin typeface="Inter" panose="020B0604020202020204" charset="0"/>
                          <a:cs typeface="Inter" panose="020B0604020202020204" charset="0"/>
                        </a:rPr>
                        <a:t>LIVINGAPARTMENTS_MODE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a:solidFill>
                            <a:srgbClr val="000000"/>
                          </a:solidFill>
                          <a:effectLst/>
                          <a:latin typeface="Inter" panose="020B0604020202020204" charset="0"/>
                          <a:cs typeface="Inter" panose="020B0604020202020204" charset="0"/>
                        </a:rPr>
                        <a:t>Mode living apartment area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chemeClr val="bg1"/>
                          </a:solidFill>
                          <a:effectLst/>
                          <a:latin typeface="Inter" panose="020B0604020202020204" charset="0"/>
                          <a:cs typeface="Inter" panose="020B0604020202020204" charset="0"/>
                        </a:rPr>
                        <a:t>68.35%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vMerge="1">
                  <a:txBody>
                    <a:bodyPr/>
                    <a:lstStyle/>
                    <a:p>
                      <a:endParaRPr dirty="0"/>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vMerge="1">
                  <a:txBody>
                    <a:bodyPr/>
                    <a:lstStyle/>
                    <a:p>
                      <a:endParaRPr dirty="0"/>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930516882"/>
                  </a:ext>
                </a:extLst>
              </a:tr>
            </a:tbl>
          </a:graphicData>
        </a:graphic>
      </p:graphicFrame>
    </p:spTree>
    <p:extLst>
      <p:ext uri="{BB962C8B-B14F-4D97-AF65-F5344CB8AC3E}">
        <p14:creationId xmlns:p14="http://schemas.microsoft.com/office/powerpoint/2010/main" val="32007856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C5D6CA"/>
        </a:solidFill>
        <a:effectLst/>
      </p:bgPr>
    </p:bg>
    <p:spTree>
      <p:nvGrpSpPr>
        <p:cNvPr id="1" name="">
          <a:extLst>
            <a:ext uri="{FF2B5EF4-FFF2-40B4-BE49-F238E27FC236}">
              <a16:creationId xmlns:a16="http://schemas.microsoft.com/office/drawing/2014/main" id="{D375FD85-CCC2-24CD-3AEB-7B00A03F0983}"/>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68860905-16F0-2834-C671-3E829776C107}"/>
              </a:ext>
            </a:extLst>
          </p:cNvPr>
          <p:cNvGrpSpPr/>
          <p:nvPr/>
        </p:nvGrpSpPr>
        <p:grpSpPr>
          <a:xfrm>
            <a:off x="0" y="9497082"/>
            <a:ext cx="18292543" cy="787203"/>
            <a:chOff x="0" y="0"/>
            <a:chExt cx="24390058" cy="1049604"/>
          </a:xfrm>
        </p:grpSpPr>
        <p:sp>
          <p:nvSpPr>
            <p:cNvPr id="3" name="Freeform 3">
              <a:extLst>
                <a:ext uri="{FF2B5EF4-FFF2-40B4-BE49-F238E27FC236}">
                  <a16:creationId xmlns:a16="http://schemas.microsoft.com/office/drawing/2014/main" id="{64A7DC50-D01B-5102-20E1-894F0B805CF2}"/>
                </a:ext>
              </a:extLst>
            </p:cNvPr>
            <p:cNvSpPr/>
            <p:nvPr/>
          </p:nvSpPr>
          <p:spPr>
            <a:xfrm>
              <a:off x="0" y="0"/>
              <a:ext cx="24390096" cy="1049655"/>
            </a:xfrm>
            <a:custGeom>
              <a:avLst/>
              <a:gdLst/>
              <a:ahLst/>
              <a:cxnLst/>
              <a:rect l="l" t="t" r="r" b="b"/>
              <a:pathLst>
                <a:path w="24390096" h="1049655">
                  <a:moveTo>
                    <a:pt x="0" y="0"/>
                  </a:moveTo>
                  <a:lnTo>
                    <a:pt x="24390096" y="0"/>
                  </a:lnTo>
                  <a:lnTo>
                    <a:pt x="24390096" y="1049655"/>
                  </a:lnTo>
                  <a:lnTo>
                    <a:pt x="0" y="1049655"/>
                  </a:lnTo>
                  <a:close/>
                </a:path>
              </a:pathLst>
            </a:custGeom>
            <a:solidFill>
              <a:srgbClr val="348E90"/>
            </a:solidFill>
          </p:spPr>
          <p:txBody>
            <a:bodyPr/>
            <a:lstStyle/>
            <a:p>
              <a:endParaRPr lang="en-IN"/>
            </a:p>
          </p:txBody>
        </p:sp>
      </p:grpSp>
      <p:sp>
        <p:nvSpPr>
          <p:cNvPr id="4" name="Rectangle 3">
            <a:extLst>
              <a:ext uri="{FF2B5EF4-FFF2-40B4-BE49-F238E27FC236}">
                <a16:creationId xmlns:a16="http://schemas.microsoft.com/office/drawing/2014/main" id="{DAA8FCF6-4983-0FDB-1C84-B8FD2D2C3C75}"/>
              </a:ext>
            </a:extLst>
          </p:cNvPr>
          <p:cNvSpPr/>
          <p:nvPr/>
        </p:nvSpPr>
        <p:spPr>
          <a:xfrm>
            <a:off x="15544800" y="0"/>
            <a:ext cx="1143000" cy="1823056"/>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52ACF1F7-2F0A-0B94-9A2F-D25CB9ED9A53}"/>
              </a:ext>
            </a:extLst>
          </p:cNvPr>
          <p:cNvSpPr txBox="1"/>
          <p:nvPr/>
        </p:nvSpPr>
        <p:spPr>
          <a:xfrm>
            <a:off x="3390900" y="911528"/>
            <a:ext cx="11506200" cy="707886"/>
          </a:xfrm>
          <a:prstGeom prst="rect">
            <a:avLst/>
          </a:prstGeom>
          <a:noFill/>
        </p:spPr>
        <p:txBody>
          <a:bodyPr wrap="square">
            <a:spAutoFit/>
          </a:bodyPr>
          <a:lstStyle/>
          <a:p>
            <a:r>
              <a:rPr lang="en-IN" sz="4000" b="1" dirty="0">
                <a:latin typeface="Inter" panose="020B0604020202020204" charset="0"/>
                <a:cs typeface="Inter" panose="020B0604020202020204" charset="0"/>
              </a:rPr>
              <a:t>Missing Value Assessment — Application Dataset</a:t>
            </a:r>
          </a:p>
        </p:txBody>
      </p:sp>
      <p:graphicFrame>
        <p:nvGraphicFramePr>
          <p:cNvPr id="9" name="Table 8">
            <a:extLst>
              <a:ext uri="{FF2B5EF4-FFF2-40B4-BE49-F238E27FC236}">
                <a16:creationId xmlns:a16="http://schemas.microsoft.com/office/drawing/2014/main" id="{044433B1-EEEC-D0EB-0BE0-280A6138D45D}"/>
              </a:ext>
            </a:extLst>
          </p:cNvPr>
          <p:cNvGraphicFramePr>
            <a:graphicFrameLocks noGrp="1"/>
          </p:cNvGraphicFramePr>
          <p:nvPr>
            <p:extLst>
              <p:ext uri="{D42A27DB-BD31-4B8C-83A1-F6EECF244321}">
                <p14:modId xmlns:p14="http://schemas.microsoft.com/office/powerpoint/2010/main" val="1152309151"/>
              </p:ext>
            </p:extLst>
          </p:nvPr>
        </p:nvGraphicFramePr>
        <p:xfrm>
          <a:off x="1160585" y="1943100"/>
          <a:ext cx="15544801" cy="6491605"/>
        </p:xfrm>
        <a:graphic>
          <a:graphicData uri="http://schemas.openxmlformats.org/drawingml/2006/table">
            <a:tbl>
              <a:tblPr firstRow="1" bandRow="1">
                <a:tableStyleId>{5C22544A-7EE6-4342-B048-85BDC9FD1C3A}</a:tableStyleId>
              </a:tblPr>
              <a:tblGrid>
                <a:gridCol w="1049215">
                  <a:extLst>
                    <a:ext uri="{9D8B030D-6E8A-4147-A177-3AD203B41FA5}">
                      <a16:colId xmlns:a16="http://schemas.microsoft.com/office/drawing/2014/main" val="2969637189"/>
                    </a:ext>
                  </a:extLst>
                </a:gridCol>
                <a:gridCol w="3429000">
                  <a:extLst>
                    <a:ext uri="{9D8B030D-6E8A-4147-A177-3AD203B41FA5}">
                      <a16:colId xmlns:a16="http://schemas.microsoft.com/office/drawing/2014/main" val="3884130181"/>
                    </a:ext>
                  </a:extLst>
                </a:gridCol>
                <a:gridCol w="3276600">
                  <a:extLst>
                    <a:ext uri="{9D8B030D-6E8A-4147-A177-3AD203B41FA5}">
                      <a16:colId xmlns:a16="http://schemas.microsoft.com/office/drawing/2014/main" val="236091982"/>
                    </a:ext>
                  </a:extLst>
                </a:gridCol>
                <a:gridCol w="1447800">
                  <a:extLst>
                    <a:ext uri="{9D8B030D-6E8A-4147-A177-3AD203B41FA5}">
                      <a16:colId xmlns:a16="http://schemas.microsoft.com/office/drawing/2014/main" val="1675308986"/>
                    </a:ext>
                  </a:extLst>
                </a:gridCol>
                <a:gridCol w="2514600">
                  <a:extLst>
                    <a:ext uri="{9D8B030D-6E8A-4147-A177-3AD203B41FA5}">
                      <a16:colId xmlns:a16="http://schemas.microsoft.com/office/drawing/2014/main" val="1322069589"/>
                    </a:ext>
                  </a:extLst>
                </a:gridCol>
                <a:gridCol w="3827586">
                  <a:extLst>
                    <a:ext uri="{9D8B030D-6E8A-4147-A177-3AD203B41FA5}">
                      <a16:colId xmlns:a16="http://schemas.microsoft.com/office/drawing/2014/main" val="3627713557"/>
                    </a:ext>
                  </a:extLst>
                </a:gridCol>
              </a:tblGrid>
              <a:tr h="370840">
                <a:tc>
                  <a:txBody>
                    <a:bodyPr/>
                    <a:lstStyle/>
                    <a:p>
                      <a:pPr algn="ctr" fontAlgn="b">
                        <a:buNone/>
                      </a:pPr>
                      <a:r>
                        <a:rPr lang="en-US" sz="1800" b="1" i="0" u="none" strike="noStrike" dirty="0">
                          <a:solidFill>
                            <a:schemeClr val="tx1"/>
                          </a:solidFill>
                          <a:effectLst/>
                          <a:latin typeface="Inter" panose="020B0604020202020204" charset="0"/>
                          <a:cs typeface="Inter" panose="020B0604020202020204" charset="0"/>
                        </a:rPr>
                        <a:t>S.No</a:t>
                      </a:r>
                      <a:endParaRPr lang="en-IN" sz="1800" b="1" i="0" u="none" strike="noStrike" dirty="0">
                        <a:solidFill>
                          <a:schemeClr val="tx1"/>
                        </a:solidFill>
                        <a:effectLst/>
                        <a:latin typeface="Inter" panose="020B0604020202020204" charset="0"/>
                        <a:cs typeface="Inter" panose="020B060402020202020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1" i="0" u="none" strike="noStrike" dirty="0">
                          <a:solidFill>
                            <a:schemeClr val="tx1"/>
                          </a:solidFill>
                          <a:effectLst/>
                          <a:latin typeface="Inter" panose="020B0604020202020204" charset="0"/>
                          <a:cs typeface="Inter" panose="020B0604020202020204" charset="0"/>
                        </a:rPr>
                        <a:t>Column Name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1" i="0" u="none" strike="noStrike" dirty="0">
                          <a:solidFill>
                            <a:schemeClr val="tx1"/>
                          </a:solidFill>
                          <a:effectLst/>
                          <a:latin typeface="Inter" panose="020B0604020202020204" charset="0"/>
                          <a:cs typeface="Inter" panose="020B0604020202020204" charset="0"/>
                        </a:rPr>
                        <a:t>Column Purpose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1" i="0" u="none" strike="noStrike" dirty="0">
                          <a:solidFill>
                            <a:schemeClr val="tx1"/>
                          </a:solidFill>
                          <a:effectLst/>
                          <a:latin typeface="Inter" panose="020B0604020202020204" charset="0"/>
                          <a:cs typeface="Inter" panose="020B0604020202020204" charset="0"/>
                        </a:rPr>
                        <a:t>Missing % / Anomaly</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1" i="0" u="none" strike="noStrike" dirty="0">
                          <a:solidFill>
                            <a:schemeClr val="tx1"/>
                          </a:solidFill>
                          <a:effectLst/>
                          <a:latin typeface="Inter" panose="020B0604020202020204" charset="0"/>
                          <a:cs typeface="Inter" panose="020B0604020202020204" charset="0"/>
                        </a:rPr>
                        <a:t>What We Did</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1" i="0" u="none" strike="noStrike" dirty="0">
                          <a:solidFill>
                            <a:schemeClr val="tx1"/>
                          </a:solidFill>
                          <a:effectLst/>
                          <a:latin typeface="Inter" panose="020B0604020202020204" charset="0"/>
                          <a:cs typeface="Inter" panose="020B0604020202020204" charset="0"/>
                        </a:rPr>
                        <a:t>Why We Did It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2107660305"/>
                  </a:ext>
                </a:extLst>
              </a:tr>
              <a:tr h="370840">
                <a:tc>
                  <a:txBody>
                    <a:bodyPr/>
                    <a:lstStyle/>
                    <a:p>
                      <a:pPr algn="ctr"/>
                      <a:r>
                        <a:rPr lang="en-US" dirty="0">
                          <a:solidFill>
                            <a:schemeClr val="tx1"/>
                          </a:solidFill>
                          <a:latin typeface="Inter" panose="020B0604020202020204" charset="0"/>
                          <a:cs typeface="Inter" panose="020B0604020202020204" charset="0"/>
                        </a:rPr>
                        <a:t>12</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a:solidFill>
                            <a:srgbClr val="000000"/>
                          </a:solidFill>
                          <a:effectLst/>
                          <a:latin typeface="Inter" panose="020B0604020202020204" charset="0"/>
                          <a:cs typeface="Inter" panose="020B0604020202020204" charset="0"/>
                        </a:rPr>
                        <a:t>FLOORSMIN_AVG</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a:solidFill>
                            <a:srgbClr val="000000"/>
                          </a:solidFill>
                          <a:effectLst/>
                          <a:latin typeface="Inter" panose="020B0604020202020204" charset="0"/>
                          <a:cs typeface="Inter" panose="020B0604020202020204" charset="0"/>
                        </a:rPr>
                        <a:t>Minimum floors in building</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chemeClr val="bg1"/>
                          </a:solidFill>
                          <a:effectLst/>
                          <a:latin typeface="Inter" panose="020B0604020202020204" charset="0"/>
                          <a:cs typeface="Inter" panose="020B0604020202020204" charset="0"/>
                        </a:rPr>
                        <a:t>67.84%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rowSpan="16">
                  <a:txBody>
                    <a:bodyPr/>
                    <a:lstStyle/>
                    <a:p>
                      <a:pPr algn="ctr" fontAlgn="b">
                        <a:buNone/>
                      </a:pPr>
                      <a:r>
                        <a:rPr lang="en-US" sz="1800" b="0" i="0" u="none" strike="noStrike" dirty="0">
                          <a:solidFill>
                            <a:srgbClr val="000000"/>
                          </a:solidFill>
                          <a:effectLst/>
                          <a:latin typeface="Inter" panose="020B0604020202020204" charset="0"/>
                          <a:cs typeface="Inter" panose="020B0604020202020204" charset="0"/>
                        </a:rPr>
                        <a:t>Drop Medi and Mod</a:t>
                      </a:r>
                    </a:p>
                    <a:p>
                      <a:pPr algn="ctr" fontAlgn="b">
                        <a:buNone/>
                      </a:pPr>
                      <a:r>
                        <a:rPr lang="en-US" sz="1800" b="0" i="0" u="none" strike="noStrike" dirty="0">
                          <a:solidFill>
                            <a:srgbClr val="000000"/>
                          </a:solidFill>
                          <a:effectLst/>
                          <a:latin typeface="Inter" panose="020B0604020202020204" charset="0"/>
                          <a:cs typeface="Inter" panose="020B0604020202020204" charset="0"/>
                        </a:rPr>
                        <a:t>And out of avg create a flag and then drop avg too</a:t>
                      </a:r>
                      <a:endParaRPr lang="en-IN" sz="1800" b="0" i="0" u="none" strike="noStrike" dirty="0">
                        <a:solidFill>
                          <a:srgbClr val="000000"/>
                        </a:solidFill>
                        <a:effectLst/>
                        <a:latin typeface="Inter" panose="020B0604020202020204" charset="0"/>
                        <a:cs typeface="Inter" panose="020B060402020202020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rowSpan="16">
                  <a:txBody>
                    <a:bodyPr/>
                    <a:lstStyle/>
                    <a:p>
                      <a:pPr algn="ctr" fontAlgn="b">
                        <a:buNone/>
                      </a:pPr>
                      <a:r>
                        <a:rPr lang="en-US" sz="1800" b="0" i="0" u="none" strike="noStrike" dirty="0">
                          <a:solidFill>
                            <a:srgbClr val="000000"/>
                          </a:solidFill>
                          <a:effectLst/>
                          <a:latin typeface="Inter" panose="020B0604020202020204" charset="0"/>
                          <a:cs typeface="Inter" panose="020B0604020202020204" charset="0"/>
                        </a:rPr>
                        <a:t>Too much missing value, and too preserve the info.</a:t>
                      </a:r>
                      <a:endParaRPr lang="en-IN" sz="1800" b="0" i="0" u="none" strike="noStrike" dirty="0">
                        <a:solidFill>
                          <a:srgbClr val="000000"/>
                        </a:solidFill>
                        <a:effectLst/>
                        <a:latin typeface="Inter" panose="020B0604020202020204" charset="0"/>
                        <a:cs typeface="Inter" panose="020B060402020202020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1205791489"/>
                  </a:ext>
                </a:extLst>
              </a:tr>
              <a:tr h="370840">
                <a:tc>
                  <a:txBody>
                    <a:bodyPr/>
                    <a:lstStyle/>
                    <a:p>
                      <a:pPr algn="ctr"/>
                      <a:r>
                        <a:rPr lang="en-US" dirty="0">
                          <a:solidFill>
                            <a:schemeClr val="tx1"/>
                          </a:solidFill>
                          <a:latin typeface="Inter" panose="020B0604020202020204" charset="0"/>
                          <a:cs typeface="Inter" panose="020B0604020202020204" charset="0"/>
                        </a:rPr>
                        <a:t>13</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a:solidFill>
                            <a:srgbClr val="000000"/>
                          </a:solidFill>
                          <a:effectLst/>
                          <a:latin typeface="Inter" panose="020B0604020202020204" charset="0"/>
                          <a:cs typeface="Inter" panose="020B0604020202020204" charset="0"/>
                        </a:rPr>
                        <a:t>FLOORSMIN_MEDI</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a:solidFill>
                            <a:srgbClr val="000000"/>
                          </a:solidFill>
                          <a:effectLst/>
                          <a:latin typeface="Inter" panose="020B0604020202020204" charset="0"/>
                          <a:cs typeface="Inter" panose="020B0604020202020204" charset="0"/>
                        </a:rPr>
                        <a:t>Median minimum floors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chemeClr val="bg1"/>
                          </a:solidFill>
                          <a:effectLst/>
                          <a:latin typeface="Inter" panose="020B0604020202020204" charset="0"/>
                          <a:cs typeface="Inter" panose="020B0604020202020204" charset="0"/>
                        </a:rPr>
                        <a:t>67.84%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vMerge="1">
                  <a:txBody>
                    <a:bodyPr/>
                    <a:lstStyle/>
                    <a:p>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vMerge="1">
                  <a:txBody>
                    <a:bodyPr/>
                    <a:lstStyle/>
                    <a:p>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3270408844"/>
                  </a:ext>
                </a:extLst>
              </a:tr>
              <a:tr h="370840">
                <a:tc>
                  <a:txBody>
                    <a:bodyPr/>
                    <a:lstStyle/>
                    <a:p>
                      <a:pPr algn="ctr"/>
                      <a:r>
                        <a:rPr lang="en-US" dirty="0">
                          <a:solidFill>
                            <a:schemeClr val="tx1"/>
                          </a:solidFill>
                          <a:latin typeface="Inter" panose="020B0604020202020204" charset="0"/>
                          <a:cs typeface="Inter" panose="020B0604020202020204" charset="0"/>
                        </a:rPr>
                        <a:t>14</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a:solidFill>
                            <a:srgbClr val="000000"/>
                          </a:solidFill>
                          <a:effectLst/>
                          <a:latin typeface="Inter" panose="020B0604020202020204" charset="0"/>
                          <a:cs typeface="Inter" panose="020B0604020202020204" charset="0"/>
                        </a:rPr>
                        <a:t>FLOORSMIN_MODE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a:solidFill>
                            <a:srgbClr val="000000"/>
                          </a:solidFill>
                          <a:effectLst/>
                          <a:latin typeface="Inter" panose="020B0604020202020204" charset="0"/>
                          <a:cs typeface="Inter" panose="020B0604020202020204" charset="0"/>
                        </a:rPr>
                        <a:t>Mode minimum floors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chemeClr val="bg1"/>
                          </a:solidFill>
                          <a:effectLst/>
                          <a:latin typeface="Inter" panose="020B0604020202020204" charset="0"/>
                          <a:cs typeface="Inter" panose="020B0604020202020204" charset="0"/>
                        </a:rPr>
                        <a:t>67.84%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vMerge="1">
                  <a:txBody>
                    <a:bodyPr/>
                    <a:lstStyle/>
                    <a:p>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vMerge="1">
                  <a:txBody>
                    <a:bodyPr/>
                    <a:lstStyle/>
                    <a:p>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4179124664"/>
                  </a:ext>
                </a:extLst>
              </a:tr>
              <a:tr h="370840">
                <a:tc>
                  <a:txBody>
                    <a:bodyPr/>
                    <a:lstStyle/>
                    <a:p>
                      <a:pPr algn="ctr"/>
                      <a:r>
                        <a:rPr lang="en-US" dirty="0">
                          <a:solidFill>
                            <a:schemeClr val="tx1"/>
                          </a:solidFill>
                          <a:latin typeface="Inter" panose="020B0604020202020204" charset="0"/>
                          <a:cs typeface="Inter" panose="020B0604020202020204" charset="0"/>
                        </a:rPr>
                        <a:t>15</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a:solidFill>
                            <a:srgbClr val="000000"/>
                          </a:solidFill>
                          <a:effectLst/>
                          <a:latin typeface="Inter" panose="020B0604020202020204" charset="0"/>
                          <a:cs typeface="Inter" panose="020B0604020202020204" charset="0"/>
                        </a:rPr>
                        <a:t>YEARS_BUILD_AVG</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a:solidFill>
                            <a:srgbClr val="000000"/>
                          </a:solidFill>
                          <a:effectLst/>
                          <a:latin typeface="Inter" panose="020B0604020202020204" charset="0"/>
                          <a:cs typeface="Inter" panose="020B0604020202020204" charset="0"/>
                        </a:rPr>
                        <a:t>Building construction year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chemeClr val="bg1"/>
                          </a:solidFill>
                          <a:effectLst/>
                          <a:latin typeface="Inter" panose="020B0604020202020204" charset="0"/>
                          <a:cs typeface="Inter" panose="020B0604020202020204" charset="0"/>
                        </a:rPr>
                        <a:t>66.49%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vMerge="1">
                  <a:txBody>
                    <a:bodyPr/>
                    <a:lstStyle/>
                    <a:p>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vMerge="1">
                  <a:txBody>
                    <a:bodyPr/>
                    <a:lstStyle/>
                    <a:p>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567498049"/>
                  </a:ext>
                </a:extLst>
              </a:tr>
              <a:tr h="370840">
                <a:tc>
                  <a:txBody>
                    <a:bodyPr/>
                    <a:lstStyle/>
                    <a:p>
                      <a:pPr algn="ctr"/>
                      <a:r>
                        <a:rPr lang="en-US" dirty="0">
                          <a:solidFill>
                            <a:schemeClr val="tx1"/>
                          </a:solidFill>
                          <a:latin typeface="Inter" panose="020B0604020202020204" charset="0"/>
                          <a:cs typeface="Inter" panose="020B0604020202020204" charset="0"/>
                        </a:rPr>
                        <a:t>16</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a:solidFill>
                            <a:srgbClr val="000000"/>
                          </a:solidFill>
                          <a:effectLst/>
                          <a:latin typeface="Inter" panose="020B0604020202020204" charset="0"/>
                          <a:cs typeface="Inter" panose="020B0604020202020204" charset="0"/>
                        </a:rPr>
                        <a:t>YEARS_BUILD_MEDI</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a:solidFill>
                            <a:srgbClr val="000000"/>
                          </a:solidFill>
                          <a:effectLst/>
                          <a:latin typeface="Inter" panose="020B0604020202020204" charset="0"/>
                          <a:cs typeface="Inter" panose="020B0604020202020204" charset="0"/>
                        </a:rPr>
                        <a:t>Median building year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chemeClr val="bg1"/>
                          </a:solidFill>
                          <a:effectLst/>
                          <a:latin typeface="Inter" panose="020B0604020202020204" charset="0"/>
                          <a:cs typeface="Inter" panose="020B0604020202020204" charset="0"/>
                        </a:rPr>
                        <a:t>66.49%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vMerge="1">
                  <a:txBody>
                    <a:bodyPr/>
                    <a:lstStyle/>
                    <a:p>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vMerge="1">
                  <a:txBody>
                    <a:bodyPr/>
                    <a:lstStyle/>
                    <a:p>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4095750177"/>
                  </a:ext>
                </a:extLst>
              </a:tr>
              <a:tr h="370840">
                <a:tc>
                  <a:txBody>
                    <a:bodyPr/>
                    <a:lstStyle/>
                    <a:p>
                      <a:pPr algn="ctr"/>
                      <a:r>
                        <a:rPr lang="en-US" dirty="0">
                          <a:solidFill>
                            <a:schemeClr val="tx1"/>
                          </a:solidFill>
                          <a:latin typeface="Inter" panose="020B0604020202020204" charset="0"/>
                          <a:cs typeface="Inter" panose="020B0604020202020204" charset="0"/>
                        </a:rPr>
                        <a:t>17</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a:solidFill>
                            <a:srgbClr val="000000"/>
                          </a:solidFill>
                          <a:effectLst/>
                          <a:latin typeface="Inter" panose="020B0604020202020204" charset="0"/>
                          <a:cs typeface="Inter" panose="020B0604020202020204" charset="0"/>
                        </a:rPr>
                        <a:t>YEARS_BUILD_MODE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a:solidFill>
                            <a:srgbClr val="000000"/>
                          </a:solidFill>
                          <a:effectLst/>
                          <a:latin typeface="Inter" panose="020B0604020202020204" charset="0"/>
                          <a:cs typeface="Inter" panose="020B0604020202020204" charset="0"/>
                        </a:rPr>
                        <a:t>Mode building year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chemeClr val="bg1"/>
                          </a:solidFill>
                          <a:effectLst/>
                          <a:latin typeface="Inter" panose="020B0604020202020204" charset="0"/>
                          <a:cs typeface="Inter" panose="020B0604020202020204" charset="0"/>
                        </a:rPr>
                        <a:t>66.49%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vMerge="1">
                  <a:txBody>
                    <a:bodyPr/>
                    <a:lstStyle/>
                    <a:p>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vMerge="1">
                  <a:txBody>
                    <a:bodyPr/>
                    <a:lstStyle/>
                    <a:p>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784672433"/>
                  </a:ext>
                </a:extLst>
              </a:tr>
              <a:tr h="370840">
                <a:tc>
                  <a:txBody>
                    <a:bodyPr/>
                    <a:lstStyle/>
                    <a:p>
                      <a:pPr algn="ctr"/>
                      <a:r>
                        <a:rPr lang="en-US" dirty="0">
                          <a:solidFill>
                            <a:schemeClr val="tx1"/>
                          </a:solidFill>
                          <a:latin typeface="Inter" panose="020B0604020202020204" charset="0"/>
                          <a:cs typeface="Inter" panose="020B0604020202020204" charset="0"/>
                        </a:rPr>
                        <a:t>18</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a:solidFill>
                            <a:srgbClr val="000000"/>
                          </a:solidFill>
                          <a:effectLst/>
                          <a:latin typeface="Inter" panose="020B0604020202020204" charset="0"/>
                          <a:cs typeface="Inter" panose="020B0604020202020204" charset="0"/>
                        </a:rPr>
                        <a:t>OWN_CAR_AGE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a:solidFill>
                            <a:srgbClr val="000000"/>
                          </a:solidFill>
                          <a:effectLst/>
                          <a:latin typeface="Inter" panose="020B0604020202020204" charset="0"/>
                          <a:cs typeface="Inter" panose="020B0604020202020204" charset="0"/>
                        </a:rPr>
                        <a:t>Customer car age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chemeClr val="bg1"/>
                          </a:solidFill>
                          <a:effectLst/>
                          <a:latin typeface="Inter" panose="020B0604020202020204" charset="0"/>
                          <a:cs typeface="Inter" panose="020B0604020202020204" charset="0"/>
                        </a:rPr>
                        <a:t>65.99%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vMerge="1">
                  <a:txBody>
                    <a:bodyPr/>
                    <a:lstStyle/>
                    <a:p>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vMerge="1">
                  <a:txBody>
                    <a:bodyPr/>
                    <a:lstStyle/>
                    <a:p>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432460073"/>
                  </a:ext>
                </a:extLst>
              </a:tr>
              <a:tr h="370840">
                <a:tc>
                  <a:txBody>
                    <a:bodyPr/>
                    <a:lstStyle/>
                    <a:p>
                      <a:pPr algn="ctr"/>
                      <a:r>
                        <a:rPr lang="en-US" dirty="0">
                          <a:solidFill>
                            <a:schemeClr val="tx1"/>
                          </a:solidFill>
                          <a:latin typeface="Inter" panose="020B0604020202020204" charset="0"/>
                          <a:cs typeface="Inter" panose="020B0604020202020204" charset="0"/>
                        </a:rPr>
                        <a:t>19</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a:solidFill>
                            <a:srgbClr val="000000"/>
                          </a:solidFill>
                          <a:effectLst/>
                          <a:latin typeface="Inter" panose="020B0604020202020204" charset="0"/>
                          <a:cs typeface="Inter" panose="020B0604020202020204" charset="0"/>
                        </a:rPr>
                        <a:t>LANDAREA_AVG</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a:solidFill>
                            <a:srgbClr val="000000"/>
                          </a:solidFill>
                          <a:effectLst/>
                          <a:latin typeface="Inter" panose="020B0604020202020204" charset="0"/>
                          <a:cs typeface="Inter" panose="020B0604020202020204" charset="0"/>
                        </a:rPr>
                        <a:t>Land area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chemeClr val="bg1"/>
                          </a:solidFill>
                          <a:effectLst/>
                          <a:latin typeface="Inter" panose="020B0604020202020204" charset="0"/>
                          <a:cs typeface="Inter" panose="020B0604020202020204" charset="0"/>
                        </a:rPr>
                        <a:t>59.37%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603B"/>
                    </a:solidFill>
                  </a:tcPr>
                </a:tc>
                <a:tc vMerge="1">
                  <a:txBody>
                    <a:bodyPr/>
                    <a:lstStyle/>
                    <a:p>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vMerge="1">
                  <a:txBody>
                    <a:bodyPr/>
                    <a:lstStyle/>
                    <a:p>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3862202520"/>
                  </a:ext>
                </a:extLst>
              </a:tr>
              <a:tr h="370840">
                <a:tc>
                  <a:txBody>
                    <a:bodyPr/>
                    <a:lstStyle/>
                    <a:p>
                      <a:pPr algn="ctr"/>
                      <a:r>
                        <a:rPr lang="en-US" dirty="0">
                          <a:solidFill>
                            <a:schemeClr val="tx1"/>
                          </a:solidFill>
                          <a:latin typeface="Inter" panose="020B0604020202020204" charset="0"/>
                          <a:cs typeface="Inter" panose="020B0604020202020204" charset="0"/>
                        </a:rPr>
                        <a:t>20</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a:solidFill>
                            <a:srgbClr val="000000"/>
                          </a:solidFill>
                          <a:effectLst/>
                          <a:latin typeface="Inter" panose="020B0604020202020204" charset="0"/>
                          <a:cs typeface="Inter" panose="020B0604020202020204" charset="0"/>
                        </a:rPr>
                        <a:t>LANDAREA_MEDI</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a:solidFill>
                            <a:srgbClr val="000000"/>
                          </a:solidFill>
                          <a:effectLst/>
                          <a:latin typeface="Inter" panose="020B0604020202020204" charset="0"/>
                          <a:cs typeface="Inter" panose="020B0604020202020204" charset="0"/>
                        </a:rPr>
                        <a:t>Median land area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chemeClr val="bg1"/>
                          </a:solidFill>
                          <a:effectLst/>
                          <a:latin typeface="Inter" panose="020B0604020202020204" charset="0"/>
                          <a:cs typeface="Inter" panose="020B0604020202020204" charset="0"/>
                        </a:rPr>
                        <a:t>59.37%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603B"/>
                    </a:solidFill>
                  </a:tcPr>
                </a:tc>
                <a:tc vMerge="1">
                  <a:txBody>
                    <a:bodyPr/>
                    <a:lstStyle/>
                    <a:p>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vMerge="1">
                  <a:txBody>
                    <a:bodyPr/>
                    <a:lstStyle/>
                    <a:p>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2043536697"/>
                  </a:ext>
                </a:extLst>
              </a:tr>
              <a:tr h="370840">
                <a:tc>
                  <a:txBody>
                    <a:bodyPr/>
                    <a:lstStyle/>
                    <a:p>
                      <a:pPr algn="ctr"/>
                      <a:r>
                        <a:rPr lang="en-US" dirty="0">
                          <a:solidFill>
                            <a:schemeClr val="tx1"/>
                          </a:solidFill>
                          <a:latin typeface="Inter" panose="020B0604020202020204" charset="0"/>
                          <a:cs typeface="Inter" panose="020B0604020202020204" charset="0"/>
                        </a:rPr>
                        <a:t>21</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a:solidFill>
                            <a:srgbClr val="000000"/>
                          </a:solidFill>
                          <a:effectLst/>
                          <a:latin typeface="Inter" panose="020B0604020202020204" charset="0"/>
                          <a:cs typeface="Inter" panose="020B0604020202020204" charset="0"/>
                        </a:rPr>
                        <a:t>LANDAREA_MODE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a:solidFill>
                            <a:srgbClr val="000000"/>
                          </a:solidFill>
                          <a:effectLst/>
                          <a:latin typeface="Inter" panose="020B0604020202020204" charset="0"/>
                          <a:cs typeface="Inter" panose="020B0604020202020204" charset="0"/>
                        </a:rPr>
                        <a:t>Mode land area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chemeClr val="bg1"/>
                          </a:solidFill>
                          <a:effectLst/>
                          <a:latin typeface="Inter" panose="020B0604020202020204" charset="0"/>
                          <a:cs typeface="Inter" panose="020B0604020202020204" charset="0"/>
                        </a:rPr>
                        <a:t>59.37%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603B"/>
                    </a:solidFill>
                  </a:tcPr>
                </a:tc>
                <a:tc vMerge="1">
                  <a:txBody>
                    <a:bodyPr/>
                    <a:lstStyle/>
                    <a:p>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vMerge="1">
                  <a:txBody>
                    <a:bodyPr/>
                    <a:lstStyle/>
                    <a:p>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2040845060"/>
                  </a:ext>
                </a:extLst>
              </a:tr>
              <a:tr h="370840">
                <a:tc>
                  <a:txBody>
                    <a:bodyPr/>
                    <a:lstStyle/>
                    <a:p>
                      <a:pPr algn="ctr"/>
                      <a:r>
                        <a:rPr lang="en-US" dirty="0">
                          <a:solidFill>
                            <a:schemeClr val="tx1"/>
                          </a:solidFill>
                          <a:latin typeface="Inter" panose="020B0604020202020204" charset="0"/>
                          <a:cs typeface="Inter" panose="020B0604020202020204" charset="0"/>
                        </a:rPr>
                        <a:t>22</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a:solidFill>
                            <a:srgbClr val="000000"/>
                          </a:solidFill>
                          <a:effectLst/>
                          <a:latin typeface="Inter" panose="020B0604020202020204" charset="0"/>
                          <a:cs typeface="Inter" panose="020B0604020202020204" charset="0"/>
                        </a:rPr>
                        <a:t>BASEMENTAREA_AVG</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a:solidFill>
                            <a:srgbClr val="000000"/>
                          </a:solidFill>
                          <a:effectLst/>
                          <a:latin typeface="Inter" panose="020B0604020202020204" charset="0"/>
                          <a:cs typeface="Inter" panose="020B0604020202020204" charset="0"/>
                        </a:rPr>
                        <a:t>Basement area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chemeClr val="bg1"/>
                          </a:solidFill>
                          <a:effectLst/>
                          <a:latin typeface="Inter" panose="020B0604020202020204" charset="0"/>
                          <a:cs typeface="Inter" panose="020B0604020202020204" charset="0"/>
                        </a:rPr>
                        <a:t>58.51%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603B"/>
                    </a:solidFill>
                  </a:tcPr>
                </a:tc>
                <a:tc vMerge="1">
                  <a:txBody>
                    <a:bodyPr/>
                    <a:lstStyle/>
                    <a:p>
                      <a:endParaRPr dirty="0"/>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vMerge="1">
                  <a:txBody>
                    <a:bodyPr/>
                    <a:lstStyle/>
                    <a:p>
                      <a:endParaRPr dirty="0"/>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3893479396"/>
                  </a:ext>
                </a:extLst>
              </a:tr>
              <a:tr h="370840">
                <a:tc>
                  <a:txBody>
                    <a:bodyPr/>
                    <a:lstStyle/>
                    <a:p>
                      <a:pPr algn="ctr"/>
                      <a:r>
                        <a:rPr lang="en-US" dirty="0">
                          <a:solidFill>
                            <a:schemeClr val="tx1"/>
                          </a:solidFill>
                          <a:latin typeface="Inter" panose="020B0604020202020204" charset="0"/>
                          <a:cs typeface="Inter" panose="020B0604020202020204" charset="0"/>
                        </a:rPr>
                        <a:t>23</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a:solidFill>
                            <a:srgbClr val="000000"/>
                          </a:solidFill>
                          <a:effectLst/>
                          <a:latin typeface="Inter" panose="020B0604020202020204" charset="0"/>
                          <a:cs typeface="Inter" panose="020B0604020202020204" charset="0"/>
                        </a:rPr>
                        <a:t>BASEMENTAREA_MEDI</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a:solidFill>
                            <a:srgbClr val="000000"/>
                          </a:solidFill>
                          <a:effectLst/>
                          <a:latin typeface="Inter" panose="020B0604020202020204" charset="0"/>
                          <a:cs typeface="Inter" panose="020B0604020202020204" charset="0"/>
                        </a:rPr>
                        <a:t>Median basement area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chemeClr val="bg1"/>
                          </a:solidFill>
                          <a:effectLst/>
                          <a:latin typeface="Inter" panose="020B0604020202020204" charset="0"/>
                          <a:cs typeface="Inter" panose="020B0604020202020204" charset="0"/>
                        </a:rPr>
                        <a:t>58.51%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603B"/>
                    </a:solidFill>
                  </a:tcPr>
                </a:tc>
                <a:tc vMerge="1">
                  <a:txBody>
                    <a:bodyPr/>
                    <a:lstStyle/>
                    <a:p>
                      <a:pPr algn="ctr" fontAlgn="b">
                        <a:buNone/>
                      </a:pPr>
                      <a:endParaRPr lang="en-IN" sz="1800" b="0" i="0" u="none" strike="noStrike" dirty="0">
                        <a:solidFill>
                          <a:srgbClr val="000000"/>
                        </a:solidFill>
                        <a:effectLst/>
                        <a:latin typeface="Inter" panose="020B0604020202020204" charset="0"/>
                        <a:cs typeface="Inter" panose="020B060402020202020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vMerge="1">
                  <a:txBody>
                    <a:bodyPr/>
                    <a:lstStyle/>
                    <a:p>
                      <a:pPr algn="ctr" fontAlgn="b">
                        <a:buNone/>
                      </a:pPr>
                      <a:endParaRPr lang="en-IN" sz="1800" b="0" i="0" u="none" strike="noStrike" dirty="0">
                        <a:solidFill>
                          <a:srgbClr val="000000"/>
                        </a:solidFill>
                        <a:effectLst/>
                        <a:latin typeface="Inter" panose="020B0604020202020204" charset="0"/>
                        <a:cs typeface="Inter" panose="020B060402020202020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4277476483"/>
                  </a:ext>
                </a:extLst>
              </a:tr>
              <a:tr h="370840">
                <a:tc>
                  <a:txBody>
                    <a:bodyPr/>
                    <a:lstStyle/>
                    <a:p>
                      <a:pPr algn="ctr"/>
                      <a:r>
                        <a:rPr lang="en-US" dirty="0">
                          <a:solidFill>
                            <a:schemeClr val="tx1"/>
                          </a:solidFill>
                          <a:latin typeface="Inter" panose="020B0604020202020204" charset="0"/>
                          <a:cs typeface="Inter" panose="020B0604020202020204" charset="0"/>
                        </a:rPr>
                        <a:t>24</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BASEMENTAREA_MODE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a:solidFill>
                            <a:srgbClr val="000000"/>
                          </a:solidFill>
                          <a:effectLst/>
                          <a:latin typeface="Inter" panose="020B0604020202020204" charset="0"/>
                          <a:cs typeface="Inter" panose="020B0604020202020204" charset="0"/>
                        </a:rPr>
                        <a:t>Mode basement area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chemeClr val="bg1"/>
                          </a:solidFill>
                          <a:effectLst/>
                          <a:latin typeface="Inter" panose="020B0604020202020204" charset="0"/>
                          <a:cs typeface="Inter" panose="020B0604020202020204" charset="0"/>
                        </a:rPr>
                        <a:t>58.51%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603B"/>
                    </a:solidFill>
                  </a:tcPr>
                </a:tc>
                <a:tc vMerge="1">
                  <a:txBody>
                    <a:bodyPr/>
                    <a:lstStyle/>
                    <a:p>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vMerge="1">
                  <a:txBody>
                    <a:bodyPr/>
                    <a:lstStyle/>
                    <a:p>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1064003665"/>
                  </a:ext>
                </a:extLst>
              </a:tr>
              <a:tr h="370840">
                <a:tc>
                  <a:txBody>
                    <a:bodyPr/>
                    <a:lstStyle/>
                    <a:p>
                      <a:pPr algn="ctr"/>
                      <a:r>
                        <a:rPr lang="en-US" dirty="0">
                          <a:solidFill>
                            <a:schemeClr val="tx1"/>
                          </a:solidFill>
                          <a:latin typeface="Inter" panose="020B0604020202020204" charset="0"/>
                          <a:cs typeface="Inter" panose="020B0604020202020204" charset="0"/>
                        </a:rPr>
                        <a:t>25</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NONLIVINGAREA_AVG</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a:solidFill>
                            <a:srgbClr val="000000"/>
                          </a:solidFill>
                          <a:effectLst/>
                          <a:latin typeface="Inter" panose="020B0604020202020204" charset="0"/>
                          <a:cs typeface="Inter" panose="020B0604020202020204" charset="0"/>
                        </a:rPr>
                        <a:t>Non-living area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chemeClr val="bg1"/>
                          </a:solidFill>
                          <a:effectLst/>
                          <a:latin typeface="Inter" panose="020B0604020202020204" charset="0"/>
                          <a:cs typeface="Inter" panose="020B0604020202020204" charset="0"/>
                        </a:rPr>
                        <a:t>55.17%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603B"/>
                    </a:solidFill>
                  </a:tcPr>
                </a:tc>
                <a:tc vMerge="1">
                  <a:txBody>
                    <a:bodyPr/>
                    <a:lstStyle/>
                    <a:p>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vMerge="1">
                  <a:txBody>
                    <a:bodyPr/>
                    <a:lstStyle/>
                    <a:p>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810637867"/>
                  </a:ext>
                </a:extLst>
              </a:tr>
              <a:tr h="370840">
                <a:tc>
                  <a:txBody>
                    <a:bodyPr/>
                    <a:lstStyle/>
                    <a:p>
                      <a:pPr algn="ctr"/>
                      <a:r>
                        <a:rPr lang="en-US" dirty="0">
                          <a:solidFill>
                            <a:schemeClr val="tx1"/>
                          </a:solidFill>
                          <a:latin typeface="Inter" panose="020B0604020202020204" charset="0"/>
                          <a:cs typeface="Inter" panose="020B0604020202020204" charset="0"/>
                        </a:rPr>
                        <a:t>26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NONLIVINGAREA_MEDI</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Median non-living area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chemeClr val="bg1"/>
                          </a:solidFill>
                          <a:effectLst/>
                          <a:latin typeface="Inter" panose="020B0604020202020204" charset="0"/>
                          <a:cs typeface="Inter" panose="020B0604020202020204" charset="0"/>
                        </a:rPr>
                        <a:t>55.17%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603B"/>
                    </a:solidFill>
                  </a:tcPr>
                </a:tc>
                <a:tc vMerge="1">
                  <a:txBody>
                    <a:bodyPr/>
                    <a:lstStyle/>
                    <a:p>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vMerge="1">
                  <a:txBody>
                    <a:bodyPr/>
                    <a:lstStyle/>
                    <a:p>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1266416506"/>
                  </a:ext>
                </a:extLst>
              </a:tr>
              <a:tr h="370840">
                <a:tc>
                  <a:txBody>
                    <a:bodyPr/>
                    <a:lstStyle/>
                    <a:p>
                      <a:pPr algn="ctr"/>
                      <a:r>
                        <a:rPr lang="en-US" dirty="0">
                          <a:solidFill>
                            <a:schemeClr val="tx1"/>
                          </a:solidFill>
                          <a:latin typeface="Inter" panose="020B0604020202020204" charset="0"/>
                          <a:cs typeface="Inter" panose="020B0604020202020204" charset="0"/>
                        </a:rPr>
                        <a:t>27</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NONLIVINGAREA_MODE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Mode non-living area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chemeClr val="bg1"/>
                          </a:solidFill>
                          <a:effectLst/>
                          <a:latin typeface="Inter" panose="020B0604020202020204" charset="0"/>
                          <a:cs typeface="Inter" panose="020B0604020202020204" charset="0"/>
                        </a:rPr>
                        <a:t>55.17%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603B"/>
                    </a:solidFill>
                  </a:tcPr>
                </a:tc>
                <a:tc vMerge="1">
                  <a:txBody>
                    <a:bodyPr/>
                    <a:lstStyle/>
                    <a:p>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vMerge="1">
                  <a:txBody>
                    <a:bodyPr/>
                    <a:lstStyle/>
                    <a:p>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1262288244"/>
                  </a:ext>
                </a:extLst>
              </a:tr>
            </a:tbl>
          </a:graphicData>
        </a:graphic>
      </p:graphicFrame>
    </p:spTree>
    <p:extLst>
      <p:ext uri="{BB962C8B-B14F-4D97-AF65-F5344CB8AC3E}">
        <p14:creationId xmlns:p14="http://schemas.microsoft.com/office/powerpoint/2010/main" val="10584013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C5D6CA"/>
        </a:solidFill>
        <a:effectLst/>
      </p:bgPr>
    </p:bg>
    <p:spTree>
      <p:nvGrpSpPr>
        <p:cNvPr id="1" name="">
          <a:extLst>
            <a:ext uri="{FF2B5EF4-FFF2-40B4-BE49-F238E27FC236}">
              <a16:creationId xmlns:a16="http://schemas.microsoft.com/office/drawing/2014/main" id="{B77B4804-745B-9207-EC7A-4F0261AA2D0D}"/>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6C1643F0-27B5-2B8F-98B6-CF8AD78D27EC}"/>
              </a:ext>
            </a:extLst>
          </p:cNvPr>
          <p:cNvGrpSpPr/>
          <p:nvPr/>
        </p:nvGrpSpPr>
        <p:grpSpPr>
          <a:xfrm>
            <a:off x="0" y="9497082"/>
            <a:ext cx="18292543" cy="787203"/>
            <a:chOff x="0" y="0"/>
            <a:chExt cx="24390058" cy="1049604"/>
          </a:xfrm>
        </p:grpSpPr>
        <p:sp>
          <p:nvSpPr>
            <p:cNvPr id="3" name="Freeform 3">
              <a:extLst>
                <a:ext uri="{FF2B5EF4-FFF2-40B4-BE49-F238E27FC236}">
                  <a16:creationId xmlns:a16="http://schemas.microsoft.com/office/drawing/2014/main" id="{ECE82B9A-8D2E-1DAD-8C94-9E2727AB5904}"/>
                </a:ext>
              </a:extLst>
            </p:cNvPr>
            <p:cNvSpPr/>
            <p:nvPr/>
          </p:nvSpPr>
          <p:spPr>
            <a:xfrm>
              <a:off x="0" y="0"/>
              <a:ext cx="24390096" cy="1049655"/>
            </a:xfrm>
            <a:custGeom>
              <a:avLst/>
              <a:gdLst/>
              <a:ahLst/>
              <a:cxnLst/>
              <a:rect l="l" t="t" r="r" b="b"/>
              <a:pathLst>
                <a:path w="24390096" h="1049655">
                  <a:moveTo>
                    <a:pt x="0" y="0"/>
                  </a:moveTo>
                  <a:lnTo>
                    <a:pt x="24390096" y="0"/>
                  </a:lnTo>
                  <a:lnTo>
                    <a:pt x="24390096" y="1049655"/>
                  </a:lnTo>
                  <a:lnTo>
                    <a:pt x="0" y="1049655"/>
                  </a:lnTo>
                  <a:close/>
                </a:path>
              </a:pathLst>
            </a:custGeom>
            <a:solidFill>
              <a:srgbClr val="348E90"/>
            </a:solidFill>
          </p:spPr>
          <p:txBody>
            <a:bodyPr/>
            <a:lstStyle/>
            <a:p>
              <a:endParaRPr lang="en-IN"/>
            </a:p>
          </p:txBody>
        </p:sp>
      </p:grpSp>
      <p:sp>
        <p:nvSpPr>
          <p:cNvPr id="4" name="Rectangle 3">
            <a:extLst>
              <a:ext uri="{FF2B5EF4-FFF2-40B4-BE49-F238E27FC236}">
                <a16:creationId xmlns:a16="http://schemas.microsoft.com/office/drawing/2014/main" id="{D1BBD05D-A6D6-643C-FBE8-73B532414AF0}"/>
              </a:ext>
            </a:extLst>
          </p:cNvPr>
          <p:cNvSpPr/>
          <p:nvPr/>
        </p:nvSpPr>
        <p:spPr>
          <a:xfrm>
            <a:off x="15544800" y="0"/>
            <a:ext cx="1143000" cy="1823056"/>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A7B544A9-6D64-7064-4A8C-F8E5FD64AE33}"/>
              </a:ext>
            </a:extLst>
          </p:cNvPr>
          <p:cNvSpPr txBox="1"/>
          <p:nvPr/>
        </p:nvSpPr>
        <p:spPr>
          <a:xfrm>
            <a:off x="3390900" y="911528"/>
            <a:ext cx="11506200" cy="707886"/>
          </a:xfrm>
          <a:prstGeom prst="rect">
            <a:avLst/>
          </a:prstGeom>
          <a:noFill/>
        </p:spPr>
        <p:txBody>
          <a:bodyPr wrap="square">
            <a:spAutoFit/>
          </a:bodyPr>
          <a:lstStyle/>
          <a:p>
            <a:r>
              <a:rPr lang="en-IN" sz="4000" b="1" dirty="0">
                <a:latin typeface="Inter" panose="020B0604020202020204" charset="0"/>
                <a:cs typeface="Inter" panose="020B0604020202020204" charset="0"/>
              </a:rPr>
              <a:t>Missing Value Assessment — Application Dataset</a:t>
            </a:r>
          </a:p>
        </p:txBody>
      </p:sp>
      <p:graphicFrame>
        <p:nvGraphicFramePr>
          <p:cNvPr id="9" name="Table 8">
            <a:extLst>
              <a:ext uri="{FF2B5EF4-FFF2-40B4-BE49-F238E27FC236}">
                <a16:creationId xmlns:a16="http://schemas.microsoft.com/office/drawing/2014/main" id="{5BE1B71A-48B2-A3C3-E761-30151C630CE4}"/>
              </a:ext>
            </a:extLst>
          </p:cNvPr>
          <p:cNvGraphicFramePr>
            <a:graphicFrameLocks noGrp="1"/>
          </p:cNvGraphicFramePr>
          <p:nvPr>
            <p:extLst>
              <p:ext uri="{D42A27DB-BD31-4B8C-83A1-F6EECF244321}">
                <p14:modId xmlns:p14="http://schemas.microsoft.com/office/powerpoint/2010/main" val="379966770"/>
              </p:ext>
            </p:extLst>
          </p:nvPr>
        </p:nvGraphicFramePr>
        <p:xfrm>
          <a:off x="1160585" y="1943100"/>
          <a:ext cx="15544801" cy="6491605"/>
        </p:xfrm>
        <a:graphic>
          <a:graphicData uri="http://schemas.openxmlformats.org/drawingml/2006/table">
            <a:tbl>
              <a:tblPr firstRow="1" bandRow="1">
                <a:tableStyleId>{5C22544A-7EE6-4342-B048-85BDC9FD1C3A}</a:tableStyleId>
              </a:tblPr>
              <a:tblGrid>
                <a:gridCol w="1049215">
                  <a:extLst>
                    <a:ext uri="{9D8B030D-6E8A-4147-A177-3AD203B41FA5}">
                      <a16:colId xmlns:a16="http://schemas.microsoft.com/office/drawing/2014/main" val="2969637189"/>
                    </a:ext>
                  </a:extLst>
                </a:gridCol>
                <a:gridCol w="3429000">
                  <a:extLst>
                    <a:ext uri="{9D8B030D-6E8A-4147-A177-3AD203B41FA5}">
                      <a16:colId xmlns:a16="http://schemas.microsoft.com/office/drawing/2014/main" val="3884130181"/>
                    </a:ext>
                  </a:extLst>
                </a:gridCol>
                <a:gridCol w="3276600">
                  <a:extLst>
                    <a:ext uri="{9D8B030D-6E8A-4147-A177-3AD203B41FA5}">
                      <a16:colId xmlns:a16="http://schemas.microsoft.com/office/drawing/2014/main" val="236091982"/>
                    </a:ext>
                  </a:extLst>
                </a:gridCol>
                <a:gridCol w="1447800">
                  <a:extLst>
                    <a:ext uri="{9D8B030D-6E8A-4147-A177-3AD203B41FA5}">
                      <a16:colId xmlns:a16="http://schemas.microsoft.com/office/drawing/2014/main" val="1675308986"/>
                    </a:ext>
                  </a:extLst>
                </a:gridCol>
                <a:gridCol w="2514600">
                  <a:extLst>
                    <a:ext uri="{9D8B030D-6E8A-4147-A177-3AD203B41FA5}">
                      <a16:colId xmlns:a16="http://schemas.microsoft.com/office/drawing/2014/main" val="1322069589"/>
                    </a:ext>
                  </a:extLst>
                </a:gridCol>
                <a:gridCol w="3827586">
                  <a:extLst>
                    <a:ext uri="{9D8B030D-6E8A-4147-A177-3AD203B41FA5}">
                      <a16:colId xmlns:a16="http://schemas.microsoft.com/office/drawing/2014/main" val="3627713557"/>
                    </a:ext>
                  </a:extLst>
                </a:gridCol>
              </a:tblGrid>
              <a:tr h="370840">
                <a:tc>
                  <a:txBody>
                    <a:bodyPr/>
                    <a:lstStyle/>
                    <a:p>
                      <a:pPr algn="ctr" fontAlgn="b">
                        <a:buNone/>
                      </a:pPr>
                      <a:r>
                        <a:rPr lang="en-US" sz="1800" b="1" i="0" u="none" strike="noStrike" dirty="0">
                          <a:solidFill>
                            <a:schemeClr val="tx1"/>
                          </a:solidFill>
                          <a:effectLst/>
                          <a:latin typeface="Inter" panose="020B0604020202020204" charset="0"/>
                          <a:cs typeface="Inter" panose="020B0604020202020204" charset="0"/>
                        </a:rPr>
                        <a:t>S.No</a:t>
                      </a:r>
                      <a:endParaRPr lang="en-IN" sz="1800" b="1" i="0" u="none" strike="noStrike" dirty="0">
                        <a:solidFill>
                          <a:schemeClr val="tx1"/>
                        </a:solidFill>
                        <a:effectLst/>
                        <a:latin typeface="Inter" panose="020B0604020202020204" charset="0"/>
                        <a:cs typeface="Inter" panose="020B060402020202020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1" i="0" u="none" strike="noStrike" dirty="0">
                          <a:solidFill>
                            <a:schemeClr val="tx1"/>
                          </a:solidFill>
                          <a:effectLst/>
                          <a:latin typeface="Inter" panose="020B0604020202020204" charset="0"/>
                          <a:cs typeface="Inter" panose="020B0604020202020204" charset="0"/>
                        </a:rPr>
                        <a:t>Column Name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1" i="0" u="none" strike="noStrike" dirty="0">
                          <a:solidFill>
                            <a:schemeClr val="tx1"/>
                          </a:solidFill>
                          <a:effectLst/>
                          <a:latin typeface="Inter" panose="020B0604020202020204" charset="0"/>
                          <a:cs typeface="Inter" panose="020B0604020202020204" charset="0"/>
                        </a:rPr>
                        <a:t>Column Purpose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1" i="0" u="none" strike="noStrike" dirty="0">
                          <a:solidFill>
                            <a:schemeClr val="tx1"/>
                          </a:solidFill>
                          <a:effectLst/>
                          <a:latin typeface="Inter" panose="020B0604020202020204" charset="0"/>
                          <a:cs typeface="Inter" panose="020B0604020202020204" charset="0"/>
                        </a:rPr>
                        <a:t>Missing % / Anomaly</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1" i="0" u="none" strike="noStrike" dirty="0">
                          <a:solidFill>
                            <a:schemeClr val="tx1"/>
                          </a:solidFill>
                          <a:effectLst/>
                          <a:latin typeface="Inter" panose="020B0604020202020204" charset="0"/>
                          <a:cs typeface="Inter" panose="020B0604020202020204" charset="0"/>
                        </a:rPr>
                        <a:t>What We Did</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1" i="0" u="none" strike="noStrike" dirty="0">
                          <a:solidFill>
                            <a:schemeClr val="tx1"/>
                          </a:solidFill>
                          <a:effectLst/>
                          <a:latin typeface="Inter" panose="020B0604020202020204" charset="0"/>
                          <a:cs typeface="Inter" panose="020B0604020202020204" charset="0"/>
                        </a:rPr>
                        <a:t>Why We Did It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2107660305"/>
                  </a:ext>
                </a:extLst>
              </a:tr>
              <a:tr h="370840">
                <a:tc>
                  <a:txBody>
                    <a:bodyPr/>
                    <a:lstStyle/>
                    <a:p>
                      <a:pPr algn="ctr"/>
                      <a:r>
                        <a:rPr lang="en-US" dirty="0">
                          <a:solidFill>
                            <a:schemeClr val="tx1"/>
                          </a:solidFill>
                          <a:latin typeface="Inter" panose="020B0604020202020204" charset="0"/>
                          <a:cs typeface="Inter" panose="020B0604020202020204" charset="0"/>
                        </a:rPr>
                        <a:t>28</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ELEVATORS_AVG</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Elevator information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53.29%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AC1A2"/>
                    </a:solidFill>
                  </a:tcPr>
                </a:tc>
                <a:tc rowSpan="16">
                  <a:txBody>
                    <a:bodyPr/>
                    <a:lstStyle/>
                    <a:p>
                      <a:pPr algn="ctr" fontAlgn="b">
                        <a:buNone/>
                      </a:pPr>
                      <a:r>
                        <a:rPr lang="en-US" sz="1800" b="0" i="0" u="none" strike="noStrike" dirty="0">
                          <a:solidFill>
                            <a:srgbClr val="000000"/>
                          </a:solidFill>
                          <a:effectLst/>
                          <a:latin typeface="Inter" panose="020B0604020202020204" charset="0"/>
                          <a:cs typeface="Inter" panose="020B0604020202020204" charset="0"/>
                        </a:rPr>
                        <a:t>Drop Medi and Mod</a:t>
                      </a:r>
                    </a:p>
                    <a:p>
                      <a:pPr algn="ctr" fontAlgn="b">
                        <a:buNone/>
                      </a:pPr>
                      <a:r>
                        <a:rPr lang="en-US" sz="1800" b="0" i="0" u="none" strike="noStrike" dirty="0">
                          <a:solidFill>
                            <a:srgbClr val="000000"/>
                          </a:solidFill>
                          <a:effectLst/>
                          <a:latin typeface="Inter" panose="020B0604020202020204" charset="0"/>
                          <a:cs typeface="Inter" panose="020B0604020202020204" charset="0"/>
                        </a:rPr>
                        <a:t>And out of avg create a flag and then drop avg too</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rowSpan="16">
                  <a:txBody>
                    <a:bodyPr/>
                    <a:lstStyle/>
                    <a:p>
                      <a:pPr algn="ctr" fontAlgn="b">
                        <a:buNone/>
                      </a:pPr>
                      <a:r>
                        <a:rPr lang="en-US" sz="1800" b="0" i="0" u="none" strike="noStrike" dirty="0">
                          <a:solidFill>
                            <a:srgbClr val="000000"/>
                          </a:solidFill>
                          <a:effectLst/>
                          <a:latin typeface="Inter" panose="020B0604020202020204" charset="0"/>
                          <a:cs typeface="Inter" panose="020B0604020202020204" charset="0"/>
                        </a:rPr>
                        <a:t>Too much missing value, and too preserve the info.</a:t>
                      </a:r>
                      <a:endParaRPr lang="en-IN" sz="1800" b="0" i="0" u="none" strike="noStrike" dirty="0">
                        <a:solidFill>
                          <a:srgbClr val="000000"/>
                        </a:solidFill>
                        <a:effectLst/>
                        <a:latin typeface="Inter" panose="020B0604020202020204" charset="0"/>
                        <a:cs typeface="Inter" panose="020B060402020202020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1205791489"/>
                  </a:ext>
                </a:extLst>
              </a:tr>
              <a:tr h="370840">
                <a:tc>
                  <a:txBody>
                    <a:bodyPr/>
                    <a:lstStyle/>
                    <a:p>
                      <a:pPr algn="ctr"/>
                      <a:r>
                        <a:rPr lang="en-US" dirty="0">
                          <a:solidFill>
                            <a:schemeClr val="tx1"/>
                          </a:solidFill>
                          <a:latin typeface="Inter" panose="020B0604020202020204" charset="0"/>
                          <a:cs typeface="Inter" panose="020B0604020202020204" charset="0"/>
                        </a:rPr>
                        <a:t>29</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ELEVATORS_MEDI</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Median elevator information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53.29%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AC1A2"/>
                    </a:solidFill>
                  </a:tcPr>
                </a:tc>
                <a:tc vMerge="1">
                  <a:txBody>
                    <a:bodyPr/>
                    <a:lstStyle/>
                    <a:p>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vMerge="1">
                  <a:txBody>
                    <a:bodyPr/>
                    <a:lstStyle/>
                    <a:p>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3270408844"/>
                  </a:ext>
                </a:extLst>
              </a:tr>
              <a:tr h="370840">
                <a:tc>
                  <a:txBody>
                    <a:bodyPr/>
                    <a:lstStyle/>
                    <a:p>
                      <a:pPr algn="ctr"/>
                      <a:r>
                        <a:rPr lang="en-US" dirty="0">
                          <a:solidFill>
                            <a:schemeClr val="tx1"/>
                          </a:solidFill>
                          <a:latin typeface="Inter" panose="020B0604020202020204" charset="0"/>
                          <a:cs typeface="Inter" panose="020B0604020202020204" charset="0"/>
                        </a:rPr>
                        <a:t>30</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ELEVATORS_MODE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Mode elevator information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53.29%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AC1A2"/>
                    </a:solidFill>
                  </a:tcPr>
                </a:tc>
                <a:tc vMerge="1">
                  <a:txBody>
                    <a:bodyPr/>
                    <a:lstStyle/>
                    <a:p>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vMerge="1">
                  <a:txBody>
                    <a:bodyPr/>
                    <a:lstStyle/>
                    <a:p>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4179124664"/>
                  </a:ext>
                </a:extLst>
              </a:tr>
              <a:tr h="370840">
                <a:tc>
                  <a:txBody>
                    <a:bodyPr/>
                    <a:lstStyle/>
                    <a:p>
                      <a:pPr algn="ctr"/>
                      <a:r>
                        <a:rPr lang="en-US" dirty="0">
                          <a:solidFill>
                            <a:schemeClr val="tx1"/>
                          </a:solidFill>
                          <a:latin typeface="Inter" panose="020B0604020202020204" charset="0"/>
                          <a:cs typeface="Inter" panose="020B0604020202020204" charset="0"/>
                        </a:rPr>
                        <a:t>31</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APARTMENTS_AVG</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Apartment area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50.74%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AC1A2"/>
                    </a:solidFill>
                  </a:tcPr>
                </a:tc>
                <a:tc vMerge="1">
                  <a:txBody>
                    <a:bodyPr/>
                    <a:lstStyle/>
                    <a:p>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vMerge="1">
                  <a:txBody>
                    <a:bodyPr/>
                    <a:lstStyle/>
                    <a:p>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567498049"/>
                  </a:ext>
                </a:extLst>
              </a:tr>
              <a:tr h="370840">
                <a:tc>
                  <a:txBody>
                    <a:bodyPr/>
                    <a:lstStyle/>
                    <a:p>
                      <a:pPr algn="ctr"/>
                      <a:r>
                        <a:rPr lang="en-US" dirty="0">
                          <a:solidFill>
                            <a:schemeClr val="tx1"/>
                          </a:solidFill>
                          <a:latin typeface="Inter" panose="020B0604020202020204" charset="0"/>
                          <a:cs typeface="Inter" panose="020B0604020202020204" charset="0"/>
                        </a:rPr>
                        <a:t>32</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APARTMENTS_MEDI</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Median apartment area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50.74%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AC1A2"/>
                    </a:solidFill>
                  </a:tcPr>
                </a:tc>
                <a:tc vMerge="1">
                  <a:txBody>
                    <a:bodyPr/>
                    <a:lstStyle/>
                    <a:p>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vMerge="1">
                  <a:txBody>
                    <a:bodyPr/>
                    <a:lstStyle/>
                    <a:p>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4095750177"/>
                  </a:ext>
                </a:extLst>
              </a:tr>
              <a:tr h="370840">
                <a:tc>
                  <a:txBody>
                    <a:bodyPr/>
                    <a:lstStyle/>
                    <a:p>
                      <a:pPr algn="ctr"/>
                      <a:r>
                        <a:rPr lang="en-US" dirty="0">
                          <a:solidFill>
                            <a:schemeClr val="tx1"/>
                          </a:solidFill>
                          <a:latin typeface="Inter" panose="020B0604020202020204" charset="0"/>
                          <a:cs typeface="Inter" panose="020B0604020202020204" charset="0"/>
                        </a:rPr>
                        <a:t>33</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APARTMENTS_MODE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Mode apartment area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50.74%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AC1A2"/>
                    </a:solidFill>
                  </a:tcPr>
                </a:tc>
                <a:tc vMerge="1">
                  <a:txBody>
                    <a:bodyPr/>
                    <a:lstStyle/>
                    <a:p>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vMerge="1">
                  <a:txBody>
                    <a:bodyPr/>
                    <a:lstStyle/>
                    <a:p>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784672433"/>
                  </a:ext>
                </a:extLst>
              </a:tr>
              <a:tr h="370840">
                <a:tc>
                  <a:txBody>
                    <a:bodyPr/>
                    <a:lstStyle/>
                    <a:p>
                      <a:pPr algn="ctr"/>
                      <a:r>
                        <a:rPr lang="en-US" dirty="0">
                          <a:solidFill>
                            <a:schemeClr val="tx1"/>
                          </a:solidFill>
                          <a:latin typeface="Inter" panose="020B0604020202020204" charset="0"/>
                          <a:cs typeface="Inter" panose="020B0604020202020204" charset="0"/>
                        </a:rPr>
                        <a:t>34</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ENTRANCES_AVG</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Building entrances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50.34%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AC1A2"/>
                    </a:solidFill>
                  </a:tcPr>
                </a:tc>
                <a:tc vMerge="1">
                  <a:txBody>
                    <a:bodyPr/>
                    <a:lstStyle/>
                    <a:p>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vMerge="1">
                  <a:txBody>
                    <a:bodyPr/>
                    <a:lstStyle/>
                    <a:p>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432460073"/>
                  </a:ext>
                </a:extLst>
              </a:tr>
              <a:tr h="370840">
                <a:tc>
                  <a:txBody>
                    <a:bodyPr/>
                    <a:lstStyle/>
                    <a:p>
                      <a:pPr algn="ctr"/>
                      <a:r>
                        <a:rPr lang="en-US" dirty="0">
                          <a:solidFill>
                            <a:schemeClr val="tx1"/>
                          </a:solidFill>
                          <a:latin typeface="Inter" panose="020B0604020202020204" charset="0"/>
                          <a:cs typeface="Inter" panose="020B0604020202020204" charset="0"/>
                        </a:rPr>
                        <a:t>35</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ENTRANCES_MEDI</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Median entrances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50.34%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AC1A2"/>
                    </a:solidFill>
                  </a:tcPr>
                </a:tc>
                <a:tc vMerge="1">
                  <a:txBody>
                    <a:bodyPr/>
                    <a:lstStyle/>
                    <a:p>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vMerge="1">
                  <a:txBody>
                    <a:bodyPr/>
                    <a:lstStyle/>
                    <a:p>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3862202520"/>
                  </a:ext>
                </a:extLst>
              </a:tr>
              <a:tr h="370840">
                <a:tc>
                  <a:txBody>
                    <a:bodyPr/>
                    <a:lstStyle/>
                    <a:p>
                      <a:pPr algn="ctr"/>
                      <a:r>
                        <a:rPr lang="en-US" dirty="0">
                          <a:solidFill>
                            <a:schemeClr val="tx1"/>
                          </a:solidFill>
                          <a:latin typeface="Inter" panose="020B0604020202020204" charset="0"/>
                          <a:cs typeface="Inter" panose="020B0604020202020204" charset="0"/>
                        </a:rPr>
                        <a:t>36</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ENTRANCES_MODE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Mode entrances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50.34%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AC1A2"/>
                    </a:solidFill>
                  </a:tcPr>
                </a:tc>
                <a:tc vMerge="1">
                  <a:txBody>
                    <a:bodyPr/>
                    <a:lstStyle/>
                    <a:p>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vMerge="1">
                  <a:txBody>
                    <a:bodyPr/>
                    <a:lstStyle/>
                    <a:p>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2043536697"/>
                  </a:ext>
                </a:extLst>
              </a:tr>
              <a:tr h="370840">
                <a:tc>
                  <a:txBody>
                    <a:bodyPr/>
                    <a:lstStyle/>
                    <a:p>
                      <a:pPr algn="ctr"/>
                      <a:r>
                        <a:rPr lang="en-US" dirty="0">
                          <a:solidFill>
                            <a:schemeClr val="tx1"/>
                          </a:solidFill>
                          <a:latin typeface="Inter" panose="020B0604020202020204" charset="0"/>
                          <a:cs typeface="Inter" panose="020B0604020202020204" charset="0"/>
                        </a:rPr>
                        <a:t>37</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LIVINGAREA_AVG</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Living area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50.19%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AC1A2"/>
                    </a:solidFill>
                  </a:tcPr>
                </a:tc>
                <a:tc vMerge="1">
                  <a:txBody>
                    <a:bodyPr/>
                    <a:lstStyle/>
                    <a:p>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vMerge="1">
                  <a:txBody>
                    <a:bodyPr/>
                    <a:lstStyle/>
                    <a:p>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2040845060"/>
                  </a:ext>
                </a:extLst>
              </a:tr>
              <a:tr h="370840">
                <a:tc>
                  <a:txBody>
                    <a:bodyPr/>
                    <a:lstStyle/>
                    <a:p>
                      <a:pPr algn="ctr"/>
                      <a:r>
                        <a:rPr lang="en-US" dirty="0">
                          <a:solidFill>
                            <a:schemeClr val="tx1"/>
                          </a:solidFill>
                          <a:latin typeface="Inter" panose="020B0604020202020204" charset="0"/>
                          <a:cs typeface="Inter" panose="020B0604020202020204" charset="0"/>
                        </a:rPr>
                        <a:t>38</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LIVINGAREA_MEDI</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Median living area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50.19%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AC1A2"/>
                    </a:solidFill>
                  </a:tcPr>
                </a:tc>
                <a:tc vMerge="1">
                  <a:txBody>
                    <a:bodyPr/>
                    <a:lstStyle/>
                    <a:p>
                      <a:endParaRPr dirty="0"/>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vMerge="1">
                  <a:txBody>
                    <a:bodyPr/>
                    <a:lstStyle/>
                    <a:p>
                      <a:endParaRPr dirty="0"/>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3893479396"/>
                  </a:ext>
                </a:extLst>
              </a:tr>
              <a:tr h="370840">
                <a:tc>
                  <a:txBody>
                    <a:bodyPr/>
                    <a:lstStyle/>
                    <a:p>
                      <a:pPr algn="ctr"/>
                      <a:r>
                        <a:rPr lang="en-US" dirty="0">
                          <a:solidFill>
                            <a:schemeClr val="tx1"/>
                          </a:solidFill>
                          <a:latin typeface="Inter" panose="020B0604020202020204" charset="0"/>
                          <a:cs typeface="Inter" panose="020B0604020202020204" charset="0"/>
                        </a:rPr>
                        <a:t>39</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a:solidFill>
                            <a:srgbClr val="000000"/>
                          </a:solidFill>
                          <a:effectLst/>
                          <a:latin typeface="Inter" panose="020B0604020202020204" charset="0"/>
                          <a:cs typeface="Inter" panose="020B0604020202020204" charset="0"/>
                        </a:rPr>
                        <a:t>LIVINGAREA_MODE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a:solidFill>
                            <a:srgbClr val="000000"/>
                          </a:solidFill>
                          <a:effectLst/>
                          <a:latin typeface="Inter" panose="020B0604020202020204" charset="0"/>
                          <a:cs typeface="Inter" panose="020B0604020202020204" charset="0"/>
                        </a:rPr>
                        <a:t>Mode living area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50.19%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AC1A2"/>
                    </a:solidFill>
                  </a:tcPr>
                </a:tc>
                <a:tc vMerge="1">
                  <a:txBody>
                    <a:bodyPr/>
                    <a:lstStyle/>
                    <a:p>
                      <a:pPr algn="ctr" fontAlgn="b">
                        <a:buNone/>
                      </a:pPr>
                      <a:endParaRPr lang="en-IN" sz="1800" b="0" i="0" u="none" strike="noStrike" dirty="0">
                        <a:solidFill>
                          <a:srgbClr val="000000"/>
                        </a:solidFill>
                        <a:effectLst/>
                        <a:latin typeface="Inter" panose="020B0604020202020204" charset="0"/>
                        <a:cs typeface="Inter" panose="020B060402020202020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vMerge="1">
                  <a:txBody>
                    <a:bodyPr/>
                    <a:lstStyle/>
                    <a:p>
                      <a:pPr algn="ctr" fontAlgn="b">
                        <a:buNone/>
                      </a:pPr>
                      <a:endParaRPr lang="en-IN" sz="1800" b="0" i="0" u="none" strike="noStrike" dirty="0">
                        <a:solidFill>
                          <a:srgbClr val="000000"/>
                        </a:solidFill>
                        <a:effectLst/>
                        <a:latin typeface="Inter" panose="020B0604020202020204" charset="0"/>
                        <a:cs typeface="Inter" panose="020B060402020202020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4277476483"/>
                  </a:ext>
                </a:extLst>
              </a:tr>
              <a:tr h="370840">
                <a:tc>
                  <a:txBody>
                    <a:bodyPr/>
                    <a:lstStyle/>
                    <a:p>
                      <a:pPr algn="ctr"/>
                      <a:r>
                        <a:rPr lang="en-US" dirty="0">
                          <a:solidFill>
                            <a:schemeClr val="tx1"/>
                          </a:solidFill>
                          <a:latin typeface="Inter" panose="020B0604020202020204" charset="0"/>
                          <a:cs typeface="Inter" panose="020B0604020202020204" charset="0"/>
                        </a:rPr>
                        <a:t>40</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HOUSETYPE_MODE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Housing type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50.17%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AC1A2"/>
                    </a:solidFill>
                  </a:tcPr>
                </a:tc>
                <a:tc vMerge="1">
                  <a:txBody>
                    <a:bodyPr/>
                    <a:lstStyle/>
                    <a:p>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vMerge="1">
                  <a:txBody>
                    <a:bodyPr/>
                    <a:lstStyle/>
                    <a:p>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1064003665"/>
                  </a:ext>
                </a:extLst>
              </a:tr>
              <a:tr h="370840">
                <a:tc>
                  <a:txBody>
                    <a:bodyPr/>
                    <a:lstStyle/>
                    <a:p>
                      <a:pPr algn="ctr"/>
                      <a:r>
                        <a:rPr lang="en-US" dirty="0">
                          <a:solidFill>
                            <a:schemeClr val="tx1"/>
                          </a:solidFill>
                          <a:latin typeface="Inter" panose="020B0604020202020204" charset="0"/>
                          <a:cs typeface="Inter" panose="020B0604020202020204" charset="0"/>
                        </a:rPr>
                        <a:t>41</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FLOORSMAX_AVG</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Maximum floors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49.76%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AC1A2"/>
                    </a:solidFill>
                  </a:tcPr>
                </a:tc>
                <a:tc vMerge="1">
                  <a:txBody>
                    <a:bodyPr/>
                    <a:lstStyle/>
                    <a:p>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vMerge="1">
                  <a:txBody>
                    <a:bodyPr/>
                    <a:lstStyle/>
                    <a:p>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810637867"/>
                  </a:ext>
                </a:extLst>
              </a:tr>
              <a:tr h="370840">
                <a:tc>
                  <a:txBody>
                    <a:bodyPr/>
                    <a:lstStyle/>
                    <a:p>
                      <a:pPr algn="ctr"/>
                      <a:r>
                        <a:rPr lang="en-US" dirty="0">
                          <a:solidFill>
                            <a:schemeClr val="tx1"/>
                          </a:solidFill>
                          <a:latin typeface="Inter" panose="020B0604020202020204" charset="0"/>
                          <a:cs typeface="Inter" panose="020B0604020202020204" charset="0"/>
                        </a:rPr>
                        <a:t>42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FLOORSMAX_MODE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Mode maximum floors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49.76%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AC1A2"/>
                    </a:solidFill>
                  </a:tcPr>
                </a:tc>
                <a:tc vMerge="1">
                  <a:txBody>
                    <a:bodyPr/>
                    <a:lstStyle/>
                    <a:p>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vMerge="1">
                  <a:txBody>
                    <a:bodyPr/>
                    <a:lstStyle/>
                    <a:p>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846483818"/>
                  </a:ext>
                </a:extLst>
              </a:tr>
              <a:tr h="370840">
                <a:tc>
                  <a:txBody>
                    <a:bodyPr/>
                    <a:lstStyle/>
                    <a:p>
                      <a:pPr algn="ctr"/>
                      <a:r>
                        <a:rPr lang="en-US" dirty="0">
                          <a:solidFill>
                            <a:schemeClr val="tx1"/>
                          </a:solidFill>
                          <a:latin typeface="Inter" panose="020B0604020202020204" charset="0"/>
                          <a:cs typeface="Inter" panose="020B0604020202020204" charset="0"/>
                        </a:rPr>
                        <a:t>43</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FLOORSMAX_MEDI</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Median maximum floors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49.76%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AC1A2"/>
                    </a:solidFill>
                  </a:tcPr>
                </a:tc>
                <a:tc vMerge="1">
                  <a:txBody>
                    <a:bodyPr/>
                    <a:lstStyle/>
                    <a:p>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vMerge="1">
                  <a:txBody>
                    <a:bodyPr/>
                    <a:lstStyle/>
                    <a:p>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2499242248"/>
                  </a:ext>
                </a:extLst>
              </a:tr>
            </a:tbl>
          </a:graphicData>
        </a:graphic>
      </p:graphicFrame>
    </p:spTree>
    <p:extLst>
      <p:ext uri="{BB962C8B-B14F-4D97-AF65-F5344CB8AC3E}">
        <p14:creationId xmlns:p14="http://schemas.microsoft.com/office/powerpoint/2010/main" val="39563400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C5D6CA"/>
        </a:solidFill>
        <a:effectLst/>
      </p:bgPr>
    </p:bg>
    <p:spTree>
      <p:nvGrpSpPr>
        <p:cNvPr id="1" name="">
          <a:extLst>
            <a:ext uri="{FF2B5EF4-FFF2-40B4-BE49-F238E27FC236}">
              <a16:creationId xmlns:a16="http://schemas.microsoft.com/office/drawing/2014/main" id="{F62877DB-A891-E457-C160-F6E9F826874B}"/>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1D018228-D973-E2C6-42B6-E07A76EA3E6A}"/>
              </a:ext>
            </a:extLst>
          </p:cNvPr>
          <p:cNvGrpSpPr/>
          <p:nvPr/>
        </p:nvGrpSpPr>
        <p:grpSpPr>
          <a:xfrm>
            <a:off x="0" y="9497082"/>
            <a:ext cx="18292543" cy="787203"/>
            <a:chOff x="0" y="0"/>
            <a:chExt cx="24390058" cy="1049604"/>
          </a:xfrm>
        </p:grpSpPr>
        <p:sp>
          <p:nvSpPr>
            <p:cNvPr id="3" name="Freeform 3">
              <a:extLst>
                <a:ext uri="{FF2B5EF4-FFF2-40B4-BE49-F238E27FC236}">
                  <a16:creationId xmlns:a16="http://schemas.microsoft.com/office/drawing/2014/main" id="{A48FA5AB-136F-9C73-969D-DA1811A9D1CF}"/>
                </a:ext>
              </a:extLst>
            </p:cNvPr>
            <p:cNvSpPr/>
            <p:nvPr/>
          </p:nvSpPr>
          <p:spPr>
            <a:xfrm>
              <a:off x="0" y="0"/>
              <a:ext cx="24390096" cy="1049655"/>
            </a:xfrm>
            <a:custGeom>
              <a:avLst/>
              <a:gdLst/>
              <a:ahLst/>
              <a:cxnLst/>
              <a:rect l="l" t="t" r="r" b="b"/>
              <a:pathLst>
                <a:path w="24390096" h="1049655">
                  <a:moveTo>
                    <a:pt x="0" y="0"/>
                  </a:moveTo>
                  <a:lnTo>
                    <a:pt x="24390096" y="0"/>
                  </a:lnTo>
                  <a:lnTo>
                    <a:pt x="24390096" y="1049655"/>
                  </a:lnTo>
                  <a:lnTo>
                    <a:pt x="0" y="1049655"/>
                  </a:lnTo>
                  <a:close/>
                </a:path>
              </a:pathLst>
            </a:custGeom>
            <a:solidFill>
              <a:srgbClr val="348E90"/>
            </a:solidFill>
          </p:spPr>
          <p:txBody>
            <a:bodyPr/>
            <a:lstStyle/>
            <a:p>
              <a:endParaRPr lang="en-IN"/>
            </a:p>
          </p:txBody>
        </p:sp>
      </p:grpSp>
      <p:sp>
        <p:nvSpPr>
          <p:cNvPr id="4" name="Rectangle 3">
            <a:extLst>
              <a:ext uri="{FF2B5EF4-FFF2-40B4-BE49-F238E27FC236}">
                <a16:creationId xmlns:a16="http://schemas.microsoft.com/office/drawing/2014/main" id="{A1B6E540-6515-7428-97F0-03A1F08725C9}"/>
              </a:ext>
            </a:extLst>
          </p:cNvPr>
          <p:cNvSpPr/>
          <p:nvPr/>
        </p:nvSpPr>
        <p:spPr>
          <a:xfrm>
            <a:off x="15544800" y="0"/>
            <a:ext cx="1143000" cy="1823056"/>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AEB52480-6C17-F9BB-A3CA-6F23A2E8C14A}"/>
              </a:ext>
            </a:extLst>
          </p:cNvPr>
          <p:cNvSpPr txBox="1"/>
          <p:nvPr/>
        </p:nvSpPr>
        <p:spPr>
          <a:xfrm>
            <a:off x="3390900" y="911528"/>
            <a:ext cx="11506200" cy="707886"/>
          </a:xfrm>
          <a:prstGeom prst="rect">
            <a:avLst/>
          </a:prstGeom>
          <a:noFill/>
        </p:spPr>
        <p:txBody>
          <a:bodyPr wrap="square">
            <a:spAutoFit/>
          </a:bodyPr>
          <a:lstStyle/>
          <a:p>
            <a:r>
              <a:rPr lang="en-IN" sz="4000" b="1" dirty="0">
                <a:latin typeface="Inter" panose="020B0604020202020204" charset="0"/>
                <a:cs typeface="Inter" panose="020B0604020202020204" charset="0"/>
              </a:rPr>
              <a:t>Missing Value Assessment — Application Dataset</a:t>
            </a:r>
          </a:p>
        </p:txBody>
      </p:sp>
      <p:graphicFrame>
        <p:nvGraphicFramePr>
          <p:cNvPr id="9" name="Table 8">
            <a:extLst>
              <a:ext uri="{FF2B5EF4-FFF2-40B4-BE49-F238E27FC236}">
                <a16:creationId xmlns:a16="http://schemas.microsoft.com/office/drawing/2014/main" id="{B8F643B3-2DE7-43EB-2E62-C5881AF72080}"/>
              </a:ext>
            </a:extLst>
          </p:cNvPr>
          <p:cNvGraphicFramePr>
            <a:graphicFrameLocks noGrp="1"/>
          </p:cNvGraphicFramePr>
          <p:nvPr>
            <p:extLst>
              <p:ext uri="{D42A27DB-BD31-4B8C-83A1-F6EECF244321}">
                <p14:modId xmlns:p14="http://schemas.microsoft.com/office/powerpoint/2010/main" val="1538550472"/>
              </p:ext>
            </p:extLst>
          </p:nvPr>
        </p:nvGraphicFramePr>
        <p:xfrm>
          <a:off x="1160585" y="1943100"/>
          <a:ext cx="15544801" cy="7424420"/>
        </p:xfrm>
        <a:graphic>
          <a:graphicData uri="http://schemas.openxmlformats.org/drawingml/2006/table">
            <a:tbl>
              <a:tblPr firstRow="1" bandRow="1">
                <a:tableStyleId>{5C22544A-7EE6-4342-B048-85BDC9FD1C3A}</a:tableStyleId>
              </a:tblPr>
              <a:tblGrid>
                <a:gridCol w="1049215">
                  <a:extLst>
                    <a:ext uri="{9D8B030D-6E8A-4147-A177-3AD203B41FA5}">
                      <a16:colId xmlns:a16="http://schemas.microsoft.com/office/drawing/2014/main" val="2969637189"/>
                    </a:ext>
                  </a:extLst>
                </a:gridCol>
                <a:gridCol w="4267200">
                  <a:extLst>
                    <a:ext uri="{9D8B030D-6E8A-4147-A177-3AD203B41FA5}">
                      <a16:colId xmlns:a16="http://schemas.microsoft.com/office/drawing/2014/main" val="3884130181"/>
                    </a:ext>
                  </a:extLst>
                </a:gridCol>
                <a:gridCol w="3048000">
                  <a:extLst>
                    <a:ext uri="{9D8B030D-6E8A-4147-A177-3AD203B41FA5}">
                      <a16:colId xmlns:a16="http://schemas.microsoft.com/office/drawing/2014/main" val="236091982"/>
                    </a:ext>
                  </a:extLst>
                </a:gridCol>
                <a:gridCol w="1371600">
                  <a:extLst>
                    <a:ext uri="{9D8B030D-6E8A-4147-A177-3AD203B41FA5}">
                      <a16:colId xmlns:a16="http://schemas.microsoft.com/office/drawing/2014/main" val="1675308986"/>
                    </a:ext>
                  </a:extLst>
                </a:gridCol>
                <a:gridCol w="2286000">
                  <a:extLst>
                    <a:ext uri="{9D8B030D-6E8A-4147-A177-3AD203B41FA5}">
                      <a16:colId xmlns:a16="http://schemas.microsoft.com/office/drawing/2014/main" val="1322069589"/>
                    </a:ext>
                  </a:extLst>
                </a:gridCol>
                <a:gridCol w="3522786">
                  <a:extLst>
                    <a:ext uri="{9D8B030D-6E8A-4147-A177-3AD203B41FA5}">
                      <a16:colId xmlns:a16="http://schemas.microsoft.com/office/drawing/2014/main" val="3627713557"/>
                    </a:ext>
                  </a:extLst>
                </a:gridCol>
              </a:tblGrid>
              <a:tr h="370840">
                <a:tc>
                  <a:txBody>
                    <a:bodyPr/>
                    <a:lstStyle/>
                    <a:p>
                      <a:pPr algn="ctr" fontAlgn="b">
                        <a:buNone/>
                      </a:pPr>
                      <a:r>
                        <a:rPr lang="en-US" sz="1800" b="1" i="0" u="none" strike="noStrike" dirty="0">
                          <a:solidFill>
                            <a:schemeClr val="tx1"/>
                          </a:solidFill>
                          <a:effectLst/>
                          <a:latin typeface="Inter" panose="020B0604020202020204" charset="0"/>
                          <a:cs typeface="Inter" panose="020B0604020202020204" charset="0"/>
                        </a:rPr>
                        <a:t>S.No</a:t>
                      </a:r>
                      <a:endParaRPr lang="en-IN" sz="1800" b="1" i="0" u="none" strike="noStrike" dirty="0">
                        <a:solidFill>
                          <a:schemeClr val="tx1"/>
                        </a:solidFill>
                        <a:effectLst/>
                        <a:latin typeface="Inter" panose="020B0604020202020204" charset="0"/>
                        <a:cs typeface="Inter" panose="020B060402020202020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1" i="0" u="none" strike="noStrike" dirty="0">
                          <a:solidFill>
                            <a:schemeClr val="tx1"/>
                          </a:solidFill>
                          <a:effectLst/>
                          <a:latin typeface="Inter" panose="020B0604020202020204" charset="0"/>
                          <a:cs typeface="Inter" panose="020B0604020202020204" charset="0"/>
                        </a:rPr>
                        <a:t>Column Name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1" i="0" u="none" strike="noStrike" dirty="0">
                          <a:solidFill>
                            <a:schemeClr val="tx1"/>
                          </a:solidFill>
                          <a:effectLst/>
                          <a:latin typeface="Inter" panose="020B0604020202020204" charset="0"/>
                          <a:cs typeface="Inter" panose="020B0604020202020204" charset="0"/>
                        </a:rPr>
                        <a:t>Column Purpose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1" i="0" u="none" strike="noStrike" dirty="0">
                          <a:solidFill>
                            <a:schemeClr val="tx1"/>
                          </a:solidFill>
                          <a:effectLst/>
                          <a:latin typeface="Inter" panose="020B0604020202020204" charset="0"/>
                          <a:cs typeface="Inter" panose="020B0604020202020204" charset="0"/>
                        </a:rPr>
                        <a:t>Missing % / Anomaly</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1" i="0" u="none" strike="noStrike" dirty="0">
                          <a:solidFill>
                            <a:schemeClr val="tx1"/>
                          </a:solidFill>
                          <a:effectLst/>
                          <a:latin typeface="Inter" panose="020B0604020202020204" charset="0"/>
                          <a:cs typeface="Inter" panose="020B0604020202020204" charset="0"/>
                        </a:rPr>
                        <a:t>What We Did</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1" i="0" u="none" strike="noStrike" dirty="0">
                          <a:solidFill>
                            <a:schemeClr val="tx1"/>
                          </a:solidFill>
                          <a:effectLst/>
                          <a:latin typeface="Inter" panose="020B0604020202020204" charset="0"/>
                          <a:cs typeface="Inter" panose="020B0604020202020204" charset="0"/>
                        </a:rPr>
                        <a:t>Why We Did It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2107660305"/>
                  </a:ext>
                </a:extLst>
              </a:tr>
              <a:tr h="370840">
                <a:tc>
                  <a:txBody>
                    <a:bodyPr/>
                    <a:lstStyle/>
                    <a:p>
                      <a:pPr algn="ctr"/>
                      <a:r>
                        <a:rPr lang="en-US" dirty="0">
                          <a:solidFill>
                            <a:schemeClr val="tx1"/>
                          </a:solidFill>
                          <a:latin typeface="Inter" panose="020B0604020202020204" charset="0"/>
                          <a:cs typeface="Inter" panose="020B0604020202020204" charset="0"/>
                        </a:rPr>
                        <a:t>44</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TOTALAREA_MODE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Total apartment area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48.26%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AC1A2"/>
                    </a:solidFill>
                  </a:tcPr>
                </a:tc>
                <a:tc>
                  <a:txBody>
                    <a:bodyPr/>
                    <a:lstStyle/>
                    <a:p>
                      <a:pPr algn="ctr" fontAlgn="b">
                        <a:buNone/>
                      </a:pPr>
                      <a:r>
                        <a:rPr lang="en-US" sz="1800" b="0" i="0" u="none" strike="noStrike" dirty="0">
                          <a:solidFill>
                            <a:srgbClr val="000000"/>
                          </a:solidFill>
                          <a:effectLst/>
                          <a:latin typeface="Inter" panose="020B0604020202020204" charset="0"/>
                          <a:cs typeface="Inter" panose="020B0604020202020204" charset="0"/>
                        </a:rPr>
                        <a:t>Use the information in creating flag</a:t>
                      </a:r>
                      <a:endParaRPr lang="en-IN" sz="1800" b="0" i="0" u="none" strike="noStrike" dirty="0">
                        <a:solidFill>
                          <a:srgbClr val="000000"/>
                        </a:solidFill>
                        <a:effectLst/>
                        <a:latin typeface="Inter" panose="020B0604020202020204" charset="0"/>
                        <a:cs typeface="Inter" panose="020B060402020202020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To preserve the message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1205791489"/>
                  </a:ext>
                </a:extLst>
              </a:tr>
              <a:tr h="370840">
                <a:tc>
                  <a:txBody>
                    <a:bodyPr/>
                    <a:lstStyle/>
                    <a:p>
                      <a:pPr algn="ctr"/>
                      <a:r>
                        <a:rPr lang="en-US" dirty="0">
                          <a:solidFill>
                            <a:schemeClr val="tx1"/>
                          </a:solidFill>
                          <a:latin typeface="Inter" panose="020B0604020202020204" charset="0"/>
                          <a:cs typeface="Inter" panose="020B0604020202020204" charset="0"/>
                        </a:rPr>
                        <a:t>45</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WALLSMATERIAL_MODE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Wall material type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50.84%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AC1A2"/>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Filled with Unknown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Preserve category information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3270408844"/>
                  </a:ext>
                </a:extLst>
              </a:tr>
              <a:tr h="370840">
                <a:tc>
                  <a:txBody>
                    <a:bodyPr/>
                    <a:lstStyle/>
                    <a:p>
                      <a:pPr algn="ctr"/>
                      <a:r>
                        <a:rPr lang="en-US" dirty="0">
                          <a:solidFill>
                            <a:schemeClr val="tx1"/>
                          </a:solidFill>
                          <a:latin typeface="Inter" panose="020B0604020202020204" charset="0"/>
                          <a:cs typeface="Inter" panose="020B0604020202020204" charset="0"/>
                        </a:rPr>
                        <a:t>46</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YEARS_BEGINEXPLUATATION_AVG</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Building usage start year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48.78%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AC1A2"/>
                    </a:solidFill>
                  </a:tcPr>
                </a:tc>
                <a:tc>
                  <a:txBody>
                    <a:bodyPr/>
                    <a:lstStyle/>
                    <a:p>
                      <a:pPr algn="ctr" fontAlgn="b">
                        <a:buNone/>
                      </a:pPr>
                      <a:r>
                        <a:rPr lang="en-US" sz="1800" b="0" i="0" u="none" strike="noStrike" dirty="0">
                          <a:solidFill>
                            <a:srgbClr val="000000"/>
                          </a:solidFill>
                          <a:effectLst/>
                          <a:latin typeface="Inter" panose="020B0604020202020204" charset="0"/>
                          <a:cs typeface="Inter" panose="020B0604020202020204" charset="0"/>
                        </a:rPr>
                        <a:t>Create</a:t>
                      </a:r>
                      <a:r>
                        <a:rPr lang="en-IN" sz="1800" b="0" i="0" u="none" strike="noStrike" dirty="0">
                          <a:solidFill>
                            <a:srgbClr val="000000"/>
                          </a:solidFill>
                          <a:effectLst/>
                          <a:latin typeface="Inter" panose="020B0604020202020204" charset="0"/>
                          <a:cs typeface="Inter" panose="020B0604020202020204" charset="0"/>
                        </a:rPr>
                        <a:t> flag and then drop</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To preserve the message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4179124664"/>
                  </a:ext>
                </a:extLst>
              </a:tr>
              <a:tr h="370840">
                <a:tc>
                  <a:txBody>
                    <a:bodyPr/>
                    <a:lstStyle/>
                    <a:p>
                      <a:pPr algn="ctr"/>
                      <a:r>
                        <a:rPr lang="en-US" dirty="0">
                          <a:solidFill>
                            <a:schemeClr val="tx1"/>
                          </a:solidFill>
                          <a:latin typeface="Inter" panose="020B0604020202020204" charset="0"/>
                          <a:cs typeface="Inter" panose="020B0604020202020204" charset="0"/>
                        </a:rPr>
                        <a:t>47</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YEARS_BEGINEXPLUATATION_MEDI</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Median usage year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48.78%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AC1A2"/>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Dropped</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Duplicate of AVG/MODE feature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567498049"/>
                  </a:ext>
                </a:extLst>
              </a:tr>
              <a:tr h="370840">
                <a:tc>
                  <a:txBody>
                    <a:bodyPr/>
                    <a:lstStyle/>
                    <a:p>
                      <a:pPr algn="ctr"/>
                      <a:r>
                        <a:rPr lang="en-US" dirty="0">
                          <a:solidFill>
                            <a:schemeClr val="tx1"/>
                          </a:solidFill>
                          <a:latin typeface="Inter" panose="020B0604020202020204" charset="0"/>
                          <a:cs typeface="Inter" panose="020B0604020202020204" charset="0"/>
                        </a:rPr>
                        <a:t>48</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YEARS_BEGINEXPLUATATION_MODE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Mode usage year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48.78%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AC1A2"/>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Dropped</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Duplicate of AVG/MODE feature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4095750177"/>
                  </a:ext>
                </a:extLst>
              </a:tr>
              <a:tr h="370840">
                <a:tc>
                  <a:txBody>
                    <a:bodyPr/>
                    <a:lstStyle/>
                    <a:p>
                      <a:pPr algn="ctr"/>
                      <a:r>
                        <a:rPr lang="en-US" dirty="0">
                          <a:solidFill>
                            <a:schemeClr val="tx1"/>
                          </a:solidFill>
                          <a:latin typeface="Inter" panose="020B0604020202020204" charset="0"/>
                          <a:cs typeface="Inter" panose="020B0604020202020204" charset="0"/>
                        </a:rPr>
                        <a:t>49</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EMERGENCYSTATE_MODE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Emergency state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47.39%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AC1A2"/>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create a flag/drop it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US" sz="1800" b="0" i="0" u="none" strike="noStrike" dirty="0">
                          <a:solidFill>
                            <a:srgbClr val="000000"/>
                          </a:solidFill>
                          <a:effectLst/>
                          <a:latin typeface="Inter" panose="020B0604020202020204" charset="0"/>
                          <a:cs typeface="Inter" panose="020B0604020202020204" charset="0"/>
                        </a:rPr>
                        <a:t>I</a:t>
                      </a:r>
                      <a:r>
                        <a:rPr lang="en-IN" sz="1800" b="0" i="0" u="none" strike="noStrike" dirty="0">
                          <a:solidFill>
                            <a:srgbClr val="000000"/>
                          </a:solidFill>
                          <a:effectLst/>
                          <a:latin typeface="Inter" panose="020B0604020202020204" charset="0"/>
                          <a:cs typeface="Inter" panose="020B0604020202020204" charset="0"/>
                        </a:rPr>
                        <a:t>f yes or missing then default rate is 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784672433"/>
                  </a:ext>
                </a:extLst>
              </a:tr>
              <a:tr h="370840">
                <a:tc>
                  <a:txBody>
                    <a:bodyPr/>
                    <a:lstStyle/>
                    <a:p>
                      <a:pPr algn="ctr"/>
                      <a:r>
                        <a:rPr lang="en-US" dirty="0">
                          <a:solidFill>
                            <a:schemeClr val="tx1"/>
                          </a:solidFill>
                          <a:latin typeface="Inter" panose="020B0604020202020204" charset="0"/>
                          <a:cs typeface="Inter" panose="020B0604020202020204" charset="0"/>
                        </a:rPr>
                        <a:t>50</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OCCUPATION_TYPE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Customer occupation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31.34%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AC1A2"/>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Filled with Unknown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US" sz="1800" b="0" i="0" u="none" strike="noStrike" dirty="0">
                          <a:solidFill>
                            <a:srgbClr val="000000"/>
                          </a:solidFill>
                          <a:effectLst/>
                          <a:latin typeface="Inter" panose="020B0604020202020204" charset="0"/>
                          <a:cs typeface="Inter" panose="020B0604020202020204" charset="0"/>
                        </a:rPr>
                        <a:t>Missing occupation type</a:t>
                      </a:r>
                      <a:endParaRPr lang="en-IN" sz="1800" b="0" i="0" u="none" strike="noStrike" dirty="0">
                        <a:solidFill>
                          <a:srgbClr val="000000"/>
                        </a:solidFill>
                        <a:effectLst/>
                        <a:latin typeface="Inter" panose="020B0604020202020204" charset="0"/>
                        <a:cs typeface="Inter" panose="020B060402020202020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432460073"/>
                  </a:ext>
                </a:extLst>
              </a:tr>
              <a:tr h="370840">
                <a:tc>
                  <a:txBody>
                    <a:bodyPr/>
                    <a:lstStyle/>
                    <a:p>
                      <a:pPr algn="ctr"/>
                      <a:r>
                        <a:rPr lang="en-US" dirty="0">
                          <a:solidFill>
                            <a:schemeClr val="tx1"/>
                          </a:solidFill>
                          <a:latin typeface="Inter" panose="020B0604020202020204" charset="0"/>
                          <a:cs typeface="Inter" panose="020B0604020202020204" charset="0"/>
                        </a:rPr>
                        <a:t>51</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AMT_REQ_CREDIT_BUREAU_HOUR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Bureau inquiry count/hour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13.50%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0 fill</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No inquiry</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3862202520"/>
                  </a:ext>
                </a:extLst>
              </a:tr>
              <a:tr h="370840">
                <a:tc>
                  <a:txBody>
                    <a:bodyPr/>
                    <a:lstStyle/>
                    <a:p>
                      <a:pPr algn="ctr"/>
                      <a:r>
                        <a:rPr lang="en-US" dirty="0">
                          <a:solidFill>
                            <a:schemeClr val="tx1"/>
                          </a:solidFill>
                          <a:latin typeface="Inter" panose="020B0604020202020204" charset="0"/>
                          <a:cs typeface="Inter" panose="020B0604020202020204" charset="0"/>
                        </a:rPr>
                        <a:t>52</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AMT_REQ_CREDIT_BUREAU_DAY</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Bureau inquiry count/day</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13.50%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0 fill</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No inquiry</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2043536697"/>
                  </a:ext>
                </a:extLst>
              </a:tr>
              <a:tr h="370840">
                <a:tc>
                  <a:txBody>
                    <a:bodyPr/>
                    <a:lstStyle/>
                    <a:p>
                      <a:pPr algn="ctr"/>
                      <a:r>
                        <a:rPr lang="en-US" dirty="0">
                          <a:solidFill>
                            <a:schemeClr val="tx1"/>
                          </a:solidFill>
                          <a:latin typeface="Inter" panose="020B0604020202020204" charset="0"/>
                          <a:cs typeface="Inter" panose="020B0604020202020204" charset="0"/>
                        </a:rPr>
                        <a:t>53</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AMT_REQ_CREDIT_BUREAU_WEEK</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Bureau inquiry count/week</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13.50%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0 fill</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No inquiry</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2040845060"/>
                  </a:ext>
                </a:extLst>
              </a:tr>
              <a:tr h="370840">
                <a:tc>
                  <a:txBody>
                    <a:bodyPr/>
                    <a:lstStyle/>
                    <a:p>
                      <a:pPr algn="ctr"/>
                      <a:r>
                        <a:rPr lang="en-US" dirty="0">
                          <a:solidFill>
                            <a:schemeClr val="tx1"/>
                          </a:solidFill>
                          <a:latin typeface="Inter" panose="020B0604020202020204" charset="0"/>
                          <a:cs typeface="Inter" panose="020B0604020202020204" charset="0"/>
                        </a:rPr>
                        <a:t>54</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AMT_REQ_CREDIT_BUREAU_MON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Bureau inquiry count/month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13.50%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0 fill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No inquiry</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3893479396"/>
                  </a:ext>
                </a:extLst>
              </a:tr>
              <a:tr h="370840">
                <a:tc>
                  <a:txBody>
                    <a:bodyPr/>
                    <a:lstStyle/>
                    <a:p>
                      <a:pPr algn="ctr"/>
                      <a:r>
                        <a:rPr lang="en-US" dirty="0">
                          <a:solidFill>
                            <a:schemeClr val="tx1"/>
                          </a:solidFill>
                          <a:latin typeface="Inter" panose="020B0604020202020204" charset="0"/>
                          <a:cs typeface="Inter" panose="020B0604020202020204" charset="0"/>
                        </a:rPr>
                        <a:t>55</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AMT_REQ_CREDIT_BUREAU_QRT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Bureau inquiry count/quarter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13.50%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0 fill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No inquiry</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4277476483"/>
                  </a:ext>
                </a:extLst>
              </a:tr>
              <a:tr h="370840">
                <a:tc>
                  <a:txBody>
                    <a:bodyPr/>
                    <a:lstStyle/>
                    <a:p>
                      <a:pPr algn="ctr"/>
                      <a:r>
                        <a:rPr lang="en-US" dirty="0">
                          <a:solidFill>
                            <a:schemeClr val="tx1"/>
                          </a:solidFill>
                          <a:latin typeface="Inter" panose="020B0604020202020204" charset="0"/>
                          <a:cs typeface="Inter" panose="020B0604020202020204" charset="0"/>
                        </a:rPr>
                        <a:t>56</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AMT_REQ_CREDIT_BUREAU_YEAR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Bureau inquiry count/year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13.50%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0 fill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No inquiry</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1064003665"/>
                  </a:ext>
                </a:extLst>
              </a:tr>
              <a:tr h="370840">
                <a:tc>
                  <a:txBody>
                    <a:bodyPr/>
                    <a:lstStyle/>
                    <a:p>
                      <a:pPr algn="ctr"/>
                      <a:r>
                        <a:rPr lang="en-US" dirty="0">
                          <a:solidFill>
                            <a:schemeClr val="tx1"/>
                          </a:solidFill>
                          <a:latin typeface="Inter" panose="020B0604020202020204" charset="0"/>
                          <a:cs typeface="Inter" panose="020B0604020202020204" charset="0"/>
                        </a:rPr>
                        <a:t>57</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AMT_GOODS_PRICE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Goods price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0.09%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Median fill</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Very low missingness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810637867"/>
                  </a:ext>
                </a:extLst>
              </a:tr>
              <a:tr h="370840">
                <a:tc>
                  <a:txBody>
                    <a:bodyPr/>
                    <a:lstStyle/>
                    <a:p>
                      <a:pPr algn="ctr"/>
                      <a:r>
                        <a:rPr lang="en-US" dirty="0">
                          <a:solidFill>
                            <a:schemeClr val="tx1"/>
                          </a:solidFill>
                          <a:latin typeface="Inter" panose="020B0604020202020204" charset="0"/>
                          <a:cs typeface="Inter" panose="020B0604020202020204" charset="0"/>
                        </a:rPr>
                        <a:t>58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NAME_TYPE_SUITE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Accompanying persons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0.42%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fontAlgn="b">
                        <a:buNone/>
                      </a:pPr>
                      <a:r>
                        <a:rPr lang="en-US" sz="1800" b="0" i="0" u="none" strike="noStrike" dirty="0">
                          <a:solidFill>
                            <a:srgbClr val="000000"/>
                          </a:solidFill>
                          <a:effectLst/>
                          <a:latin typeface="Inter" panose="020B0604020202020204" charset="0"/>
                          <a:cs typeface="Inter" panose="020B0604020202020204" charset="0"/>
                        </a:rPr>
                        <a:t>F</a:t>
                      </a:r>
                      <a:r>
                        <a:rPr lang="en-IN" sz="1800" b="0" i="0" u="none" strike="noStrike" dirty="0">
                          <a:solidFill>
                            <a:srgbClr val="000000"/>
                          </a:solidFill>
                          <a:effectLst/>
                          <a:latin typeface="Inter" panose="020B0604020202020204" charset="0"/>
                          <a:cs typeface="Inter" panose="020B0604020202020204" charset="0"/>
                        </a:rPr>
                        <a:t>ill with ‘Missing’</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Very low missingness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2532836618"/>
                  </a:ext>
                </a:extLst>
              </a:tr>
              <a:tr h="370840">
                <a:tc>
                  <a:txBody>
                    <a:bodyPr/>
                    <a:lstStyle/>
                    <a:p>
                      <a:pPr algn="ctr"/>
                      <a:r>
                        <a:rPr lang="en-US" dirty="0">
                          <a:solidFill>
                            <a:schemeClr val="tx1"/>
                          </a:solidFill>
                          <a:latin typeface="Inter" panose="020B0604020202020204" charset="0"/>
                          <a:cs typeface="Inter" panose="020B0604020202020204" charset="0"/>
                        </a:rPr>
                        <a:t>59</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DEF_30_CNT_SOCIAL_CIRCLE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30-day default social circle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0.33%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Fill 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Very low missingness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4051235187"/>
                  </a:ext>
                </a:extLst>
              </a:tr>
              <a:tr h="370840">
                <a:tc>
                  <a:txBody>
                    <a:bodyPr/>
                    <a:lstStyle/>
                    <a:p>
                      <a:pPr algn="ctr"/>
                      <a:r>
                        <a:rPr lang="en-US" dirty="0">
                          <a:solidFill>
                            <a:schemeClr val="tx1"/>
                          </a:solidFill>
                          <a:latin typeface="Inter" panose="020B0604020202020204" charset="0"/>
                          <a:cs typeface="Inter" panose="020B0604020202020204" charset="0"/>
                        </a:rPr>
                        <a:t>60</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AMT_ANNUITY</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Loan annuity</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0.003%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Median fill</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Negligible missingness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3734502284"/>
                  </a:ext>
                </a:extLst>
              </a:tr>
            </a:tbl>
          </a:graphicData>
        </a:graphic>
      </p:graphicFrame>
    </p:spTree>
    <p:extLst>
      <p:ext uri="{BB962C8B-B14F-4D97-AF65-F5344CB8AC3E}">
        <p14:creationId xmlns:p14="http://schemas.microsoft.com/office/powerpoint/2010/main" val="12836313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C5D6CA"/>
        </a:solidFill>
        <a:effectLst/>
      </p:bgPr>
    </p:bg>
    <p:spTree>
      <p:nvGrpSpPr>
        <p:cNvPr id="1" name="">
          <a:extLst>
            <a:ext uri="{FF2B5EF4-FFF2-40B4-BE49-F238E27FC236}">
              <a16:creationId xmlns:a16="http://schemas.microsoft.com/office/drawing/2014/main" id="{5CE5C29A-2DC9-0F9C-2641-38B28A3D9400}"/>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361C898B-6BD9-1A02-9EE4-593DCC7E8468}"/>
              </a:ext>
            </a:extLst>
          </p:cNvPr>
          <p:cNvGrpSpPr/>
          <p:nvPr/>
        </p:nvGrpSpPr>
        <p:grpSpPr>
          <a:xfrm>
            <a:off x="0" y="9497082"/>
            <a:ext cx="18292543" cy="787203"/>
            <a:chOff x="0" y="0"/>
            <a:chExt cx="24390058" cy="1049604"/>
          </a:xfrm>
        </p:grpSpPr>
        <p:sp>
          <p:nvSpPr>
            <p:cNvPr id="3" name="Freeform 3">
              <a:extLst>
                <a:ext uri="{FF2B5EF4-FFF2-40B4-BE49-F238E27FC236}">
                  <a16:creationId xmlns:a16="http://schemas.microsoft.com/office/drawing/2014/main" id="{9FA8651E-61D1-FEFB-9874-C49191D37BE6}"/>
                </a:ext>
              </a:extLst>
            </p:cNvPr>
            <p:cNvSpPr/>
            <p:nvPr/>
          </p:nvSpPr>
          <p:spPr>
            <a:xfrm>
              <a:off x="0" y="0"/>
              <a:ext cx="24390096" cy="1049655"/>
            </a:xfrm>
            <a:custGeom>
              <a:avLst/>
              <a:gdLst/>
              <a:ahLst/>
              <a:cxnLst/>
              <a:rect l="l" t="t" r="r" b="b"/>
              <a:pathLst>
                <a:path w="24390096" h="1049655">
                  <a:moveTo>
                    <a:pt x="0" y="0"/>
                  </a:moveTo>
                  <a:lnTo>
                    <a:pt x="24390096" y="0"/>
                  </a:lnTo>
                  <a:lnTo>
                    <a:pt x="24390096" y="1049655"/>
                  </a:lnTo>
                  <a:lnTo>
                    <a:pt x="0" y="1049655"/>
                  </a:lnTo>
                  <a:close/>
                </a:path>
              </a:pathLst>
            </a:custGeom>
            <a:solidFill>
              <a:srgbClr val="348E90"/>
            </a:solidFill>
          </p:spPr>
          <p:txBody>
            <a:bodyPr/>
            <a:lstStyle/>
            <a:p>
              <a:endParaRPr lang="en-IN"/>
            </a:p>
          </p:txBody>
        </p:sp>
      </p:grpSp>
      <p:sp>
        <p:nvSpPr>
          <p:cNvPr id="4" name="Rectangle 3">
            <a:extLst>
              <a:ext uri="{FF2B5EF4-FFF2-40B4-BE49-F238E27FC236}">
                <a16:creationId xmlns:a16="http://schemas.microsoft.com/office/drawing/2014/main" id="{CEBF64C4-EADF-DB1F-7AA0-3D1A7D783EFD}"/>
              </a:ext>
            </a:extLst>
          </p:cNvPr>
          <p:cNvSpPr/>
          <p:nvPr/>
        </p:nvSpPr>
        <p:spPr>
          <a:xfrm>
            <a:off x="15544800" y="0"/>
            <a:ext cx="1143000" cy="1823056"/>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637FD4B0-945D-E64A-D845-74F2BBD86691}"/>
              </a:ext>
            </a:extLst>
          </p:cNvPr>
          <p:cNvSpPr txBox="1"/>
          <p:nvPr/>
        </p:nvSpPr>
        <p:spPr>
          <a:xfrm>
            <a:off x="3390900" y="911528"/>
            <a:ext cx="11506200" cy="707886"/>
          </a:xfrm>
          <a:prstGeom prst="rect">
            <a:avLst/>
          </a:prstGeom>
          <a:noFill/>
        </p:spPr>
        <p:txBody>
          <a:bodyPr wrap="square">
            <a:spAutoFit/>
          </a:bodyPr>
          <a:lstStyle/>
          <a:p>
            <a:r>
              <a:rPr lang="en-IN" sz="4000" b="1" dirty="0">
                <a:latin typeface="Inter" panose="020B0604020202020204" charset="0"/>
                <a:cs typeface="Inter" panose="020B0604020202020204" charset="0"/>
              </a:rPr>
              <a:t>Missing Value Assessment — Application Dataset</a:t>
            </a:r>
          </a:p>
        </p:txBody>
      </p:sp>
      <p:graphicFrame>
        <p:nvGraphicFramePr>
          <p:cNvPr id="9" name="Table 8">
            <a:extLst>
              <a:ext uri="{FF2B5EF4-FFF2-40B4-BE49-F238E27FC236}">
                <a16:creationId xmlns:a16="http://schemas.microsoft.com/office/drawing/2014/main" id="{77EA6C58-A4A4-E0AA-5905-CA2FBCA1FD29}"/>
              </a:ext>
            </a:extLst>
          </p:cNvPr>
          <p:cNvGraphicFramePr>
            <a:graphicFrameLocks noGrp="1"/>
          </p:cNvGraphicFramePr>
          <p:nvPr>
            <p:extLst>
              <p:ext uri="{D42A27DB-BD31-4B8C-83A1-F6EECF244321}">
                <p14:modId xmlns:p14="http://schemas.microsoft.com/office/powerpoint/2010/main" val="1763703306"/>
              </p:ext>
            </p:extLst>
          </p:nvPr>
        </p:nvGraphicFramePr>
        <p:xfrm>
          <a:off x="1160585" y="1943100"/>
          <a:ext cx="15544801" cy="7585075"/>
        </p:xfrm>
        <a:graphic>
          <a:graphicData uri="http://schemas.openxmlformats.org/drawingml/2006/table">
            <a:tbl>
              <a:tblPr firstRow="1" bandRow="1">
                <a:tableStyleId>{5C22544A-7EE6-4342-B048-85BDC9FD1C3A}</a:tableStyleId>
              </a:tblPr>
              <a:tblGrid>
                <a:gridCol w="1049215">
                  <a:extLst>
                    <a:ext uri="{9D8B030D-6E8A-4147-A177-3AD203B41FA5}">
                      <a16:colId xmlns:a16="http://schemas.microsoft.com/office/drawing/2014/main" val="2969637189"/>
                    </a:ext>
                  </a:extLst>
                </a:gridCol>
                <a:gridCol w="3581400">
                  <a:extLst>
                    <a:ext uri="{9D8B030D-6E8A-4147-A177-3AD203B41FA5}">
                      <a16:colId xmlns:a16="http://schemas.microsoft.com/office/drawing/2014/main" val="3884130181"/>
                    </a:ext>
                  </a:extLst>
                </a:gridCol>
                <a:gridCol w="3124200">
                  <a:extLst>
                    <a:ext uri="{9D8B030D-6E8A-4147-A177-3AD203B41FA5}">
                      <a16:colId xmlns:a16="http://schemas.microsoft.com/office/drawing/2014/main" val="236091982"/>
                    </a:ext>
                  </a:extLst>
                </a:gridCol>
                <a:gridCol w="1981200">
                  <a:extLst>
                    <a:ext uri="{9D8B030D-6E8A-4147-A177-3AD203B41FA5}">
                      <a16:colId xmlns:a16="http://schemas.microsoft.com/office/drawing/2014/main" val="1675308986"/>
                    </a:ext>
                  </a:extLst>
                </a:gridCol>
                <a:gridCol w="2286000">
                  <a:extLst>
                    <a:ext uri="{9D8B030D-6E8A-4147-A177-3AD203B41FA5}">
                      <a16:colId xmlns:a16="http://schemas.microsoft.com/office/drawing/2014/main" val="1322069589"/>
                    </a:ext>
                  </a:extLst>
                </a:gridCol>
                <a:gridCol w="3522786">
                  <a:extLst>
                    <a:ext uri="{9D8B030D-6E8A-4147-A177-3AD203B41FA5}">
                      <a16:colId xmlns:a16="http://schemas.microsoft.com/office/drawing/2014/main" val="3627713557"/>
                    </a:ext>
                  </a:extLst>
                </a:gridCol>
              </a:tblGrid>
              <a:tr h="370840">
                <a:tc>
                  <a:txBody>
                    <a:bodyPr/>
                    <a:lstStyle/>
                    <a:p>
                      <a:pPr algn="ctr" fontAlgn="b">
                        <a:buNone/>
                      </a:pPr>
                      <a:r>
                        <a:rPr lang="en-US" sz="1800" b="1" i="0" u="none" strike="noStrike" dirty="0">
                          <a:solidFill>
                            <a:schemeClr val="tx1"/>
                          </a:solidFill>
                          <a:effectLst/>
                          <a:latin typeface="Inter" panose="020B0604020202020204" charset="0"/>
                          <a:cs typeface="Inter" panose="020B0604020202020204" charset="0"/>
                        </a:rPr>
                        <a:t>S.No</a:t>
                      </a:r>
                      <a:endParaRPr lang="en-IN" sz="1800" b="1" i="0" u="none" strike="noStrike" dirty="0">
                        <a:solidFill>
                          <a:schemeClr val="tx1"/>
                        </a:solidFill>
                        <a:effectLst/>
                        <a:latin typeface="Inter" panose="020B0604020202020204" charset="0"/>
                        <a:cs typeface="Inter" panose="020B060402020202020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1" i="0" u="none" strike="noStrike" dirty="0">
                          <a:solidFill>
                            <a:schemeClr val="tx1"/>
                          </a:solidFill>
                          <a:effectLst/>
                          <a:latin typeface="Inter" panose="020B0604020202020204" charset="0"/>
                          <a:cs typeface="Inter" panose="020B0604020202020204" charset="0"/>
                        </a:rPr>
                        <a:t>Column Name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1" i="0" u="none" strike="noStrike" dirty="0">
                          <a:solidFill>
                            <a:schemeClr val="tx1"/>
                          </a:solidFill>
                          <a:effectLst/>
                          <a:latin typeface="Inter" panose="020B0604020202020204" charset="0"/>
                          <a:cs typeface="Inter" panose="020B0604020202020204" charset="0"/>
                        </a:rPr>
                        <a:t>Column Purpose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1" i="0" u="none" strike="noStrike" dirty="0">
                          <a:solidFill>
                            <a:schemeClr val="tx1"/>
                          </a:solidFill>
                          <a:effectLst/>
                          <a:latin typeface="Inter" panose="020B0604020202020204" charset="0"/>
                          <a:cs typeface="Inter" panose="020B0604020202020204" charset="0"/>
                        </a:rPr>
                        <a:t>Missing % / Anomaly</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1" i="0" u="none" strike="noStrike" dirty="0">
                          <a:solidFill>
                            <a:schemeClr val="tx1"/>
                          </a:solidFill>
                          <a:effectLst/>
                          <a:latin typeface="Inter" panose="020B0604020202020204" charset="0"/>
                          <a:cs typeface="Inter" panose="020B0604020202020204" charset="0"/>
                        </a:rPr>
                        <a:t>What We Did</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1" i="0" u="none" strike="noStrike" dirty="0">
                          <a:solidFill>
                            <a:schemeClr val="tx1"/>
                          </a:solidFill>
                          <a:effectLst/>
                          <a:latin typeface="Inter" panose="020B0604020202020204" charset="0"/>
                          <a:cs typeface="Inter" panose="020B0604020202020204" charset="0"/>
                        </a:rPr>
                        <a:t>Why We Did It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2107660305"/>
                  </a:ext>
                </a:extLst>
              </a:tr>
              <a:tr h="370840">
                <a:tc>
                  <a:txBody>
                    <a:bodyPr/>
                    <a:lstStyle/>
                    <a:p>
                      <a:pPr algn="ctr"/>
                      <a:r>
                        <a:rPr lang="en-US" dirty="0">
                          <a:solidFill>
                            <a:schemeClr val="tx1"/>
                          </a:solidFill>
                          <a:latin typeface="Inter" panose="020B0604020202020204" charset="0"/>
                          <a:cs typeface="Inter" panose="020B0604020202020204" charset="0"/>
                        </a:rPr>
                        <a:t>61</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DEF_60_CNT_SOCIAL_CIRCLE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60-day default social circle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0.33%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IN" sz="1800" b="0" i="0" u="none" strike="noStrike" dirty="0">
                          <a:solidFill>
                            <a:srgbClr val="000000"/>
                          </a:solidFill>
                          <a:effectLst/>
                          <a:latin typeface="Inter" panose="020B0604020202020204" charset="0"/>
                          <a:cs typeface="Inter" panose="020B0604020202020204" charset="0"/>
                        </a:rPr>
                        <a:t>Fill 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Very low missingness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3270408844"/>
                  </a:ext>
                </a:extLst>
              </a:tr>
              <a:tr h="370840">
                <a:tc>
                  <a:txBody>
                    <a:bodyPr/>
                    <a:lstStyle/>
                    <a:p>
                      <a:pPr algn="ctr"/>
                      <a:r>
                        <a:rPr lang="en-US" dirty="0">
                          <a:solidFill>
                            <a:schemeClr val="tx1"/>
                          </a:solidFill>
                          <a:latin typeface="Inter" panose="020B0604020202020204" charset="0"/>
                          <a:cs typeface="Inter" panose="020B0604020202020204" charset="0"/>
                        </a:rPr>
                        <a:t>62</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OBS_30_CNT_SOCIAL_CIRCLE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30-day observed social circle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0.33%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Fill 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Very low missingness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4179124664"/>
                  </a:ext>
                </a:extLst>
              </a:tr>
              <a:tr h="370840">
                <a:tc>
                  <a:txBody>
                    <a:bodyPr/>
                    <a:lstStyle/>
                    <a:p>
                      <a:pPr algn="ctr"/>
                      <a:r>
                        <a:rPr lang="en-US" dirty="0">
                          <a:solidFill>
                            <a:schemeClr val="tx1"/>
                          </a:solidFill>
                          <a:latin typeface="Inter" panose="020B0604020202020204" charset="0"/>
                          <a:cs typeface="Inter" panose="020B0604020202020204" charset="0"/>
                        </a:rPr>
                        <a:t>63</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OBS_60_CNT_SOCIAL_CIRCLE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60-day observed social circle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0.33%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Fill 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Very low missingness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567498049"/>
                  </a:ext>
                </a:extLst>
              </a:tr>
              <a:tr h="370840">
                <a:tc>
                  <a:txBody>
                    <a:bodyPr/>
                    <a:lstStyle/>
                    <a:p>
                      <a:pPr algn="ctr"/>
                      <a:r>
                        <a:rPr lang="en-US" dirty="0">
                          <a:solidFill>
                            <a:schemeClr val="tx1"/>
                          </a:solidFill>
                          <a:latin typeface="Inter" panose="020B0604020202020204" charset="0"/>
                          <a:cs typeface="Inter" panose="020B0604020202020204" charset="0"/>
                        </a:rPr>
                        <a:t>64</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EXT_SOURCE_2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External risk score 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0.21%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rowSpan="3">
                  <a:txBody>
                    <a:bodyPr/>
                    <a:lstStyle/>
                    <a:p>
                      <a:pPr algn="ctr" fontAlgn="b">
                        <a:buNone/>
                      </a:pPr>
                      <a:r>
                        <a:rPr lang="en-US" sz="1800" b="0" i="0" u="none" strike="noStrike" dirty="0">
                          <a:solidFill>
                            <a:srgbClr val="000000"/>
                          </a:solidFill>
                          <a:effectLst/>
                          <a:latin typeface="Inter" panose="020B0604020202020204" charset="0"/>
                          <a:cs typeface="Inter" panose="020B0604020202020204" charset="0"/>
                        </a:rPr>
                        <a:t>Creating a new column which contain mean of the three/ then 0.06% left then drop</a:t>
                      </a:r>
                      <a:endParaRPr lang="en-IN" sz="1800" b="0" i="0" u="none" strike="noStrike" dirty="0">
                        <a:solidFill>
                          <a:srgbClr val="000000"/>
                        </a:solidFill>
                        <a:effectLst/>
                        <a:latin typeface="Inter" panose="020B0604020202020204" charset="0"/>
                        <a:cs typeface="Inter" panose="020B060402020202020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rowSpan="3">
                  <a:txBody>
                    <a:bodyPr/>
                    <a:lstStyle/>
                    <a:p>
                      <a:pPr algn="ctr" fontAlgn="b">
                        <a:buNone/>
                      </a:pPr>
                      <a:r>
                        <a:rPr lang="en-US" sz="1800" b="0" i="0" u="none" strike="noStrike" dirty="0">
                          <a:solidFill>
                            <a:srgbClr val="000000"/>
                          </a:solidFill>
                          <a:effectLst/>
                          <a:latin typeface="Inter" panose="020B0604020202020204" charset="0"/>
                          <a:cs typeface="Inter" panose="020B0604020202020204" charset="0"/>
                        </a:rPr>
                        <a:t>To reduce missingness. And keep the crux of the three</a:t>
                      </a:r>
                      <a:endParaRPr lang="en-IN" sz="1800" b="0" i="0" u="none" strike="noStrike" dirty="0">
                        <a:solidFill>
                          <a:srgbClr val="000000"/>
                        </a:solidFill>
                        <a:effectLst/>
                        <a:latin typeface="Inter" panose="020B0604020202020204" charset="0"/>
                        <a:cs typeface="Inter" panose="020B060402020202020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4095750177"/>
                  </a:ext>
                </a:extLst>
              </a:tr>
              <a:tr h="370840">
                <a:tc>
                  <a:txBody>
                    <a:bodyPr/>
                    <a:lstStyle/>
                    <a:p>
                      <a:pPr algn="ctr"/>
                      <a:r>
                        <a:rPr lang="en-US" dirty="0">
                          <a:solidFill>
                            <a:schemeClr val="tx1"/>
                          </a:solidFill>
                          <a:latin typeface="Inter" panose="020B0604020202020204" charset="0"/>
                          <a:cs typeface="Inter" panose="020B0604020202020204" charset="0"/>
                        </a:rPr>
                        <a:t>65</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EXT_SOURCE_3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External risk score 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19.82%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vMerge="1">
                  <a:txBody>
                    <a:bodyPr/>
                    <a:lstStyle/>
                    <a:p>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vMerge="1">
                  <a:txBody>
                    <a:bodyPr/>
                    <a:lstStyle/>
                    <a:p>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784672433"/>
                  </a:ext>
                </a:extLst>
              </a:tr>
              <a:tr h="370840">
                <a:tc>
                  <a:txBody>
                    <a:bodyPr/>
                    <a:lstStyle/>
                    <a:p>
                      <a:pPr algn="ctr"/>
                      <a:r>
                        <a:rPr lang="en-US" dirty="0">
                          <a:solidFill>
                            <a:schemeClr val="tx1"/>
                          </a:solidFill>
                          <a:latin typeface="Inter" panose="020B0604020202020204" charset="0"/>
                          <a:cs typeface="Inter" panose="020B0604020202020204" charset="0"/>
                        </a:rPr>
                        <a:t>66</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EXT_SOURCE_1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External risk score 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chemeClr val="bg1"/>
                          </a:solidFill>
                          <a:effectLst/>
                          <a:latin typeface="Inter" panose="020B0604020202020204" charset="0"/>
                          <a:cs typeface="Inter" panose="020B0604020202020204" charset="0"/>
                        </a:rPr>
                        <a:t>56.38%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vMerge="1">
                  <a:txBody>
                    <a:bodyPr/>
                    <a:lstStyle/>
                    <a:p>
                      <a:endParaRPr dirty="0"/>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vMerge="1">
                  <a:txBody>
                    <a:bodyPr/>
                    <a:lstStyle/>
                    <a:p>
                      <a:endParaRPr dirty="0"/>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432460073"/>
                  </a:ext>
                </a:extLst>
              </a:tr>
              <a:tr h="370840">
                <a:tc>
                  <a:txBody>
                    <a:bodyPr/>
                    <a:lstStyle/>
                    <a:p>
                      <a:pPr algn="ctr"/>
                      <a:r>
                        <a:rPr lang="en-US" dirty="0">
                          <a:solidFill>
                            <a:schemeClr val="tx1"/>
                          </a:solidFill>
                          <a:latin typeface="Inter" panose="020B0604020202020204" charset="0"/>
                          <a:cs typeface="Inter" panose="020B0604020202020204" charset="0"/>
                        </a:rPr>
                        <a:t>67</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CNT_FAM_MEMBERS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Family member count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0.0006%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Childern+2 if married else children +1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Negligible missingness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3862202520"/>
                  </a:ext>
                </a:extLst>
              </a:tr>
              <a:tr h="370840">
                <a:tc>
                  <a:txBody>
                    <a:bodyPr/>
                    <a:lstStyle/>
                    <a:p>
                      <a:pPr algn="ctr"/>
                      <a:r>
                        <a:rPr lang="en-US" dirty="0">
                          <a:solidFill>
                            <a:schemeClr val="tx1"/>
                          </a:solidFill>
                          <a:latin typeface="Inter" panose="020B0604020202020204" charset="0"/>
                          <a:cs typeface="Inter" panose="020B0604020202020204" charset="0"/>
                        </a:rPr>
                        <a:t>68</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DAYS_LAST_PHONE_CHANGE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Days since last phone change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0.0003%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Fill 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Negligible missingness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2043536697"/>
                  </a:ext>
                </a:extLst>
              </a:tr>
              <a:tr h="370840">
                <a:tc>
                  <a:txBody>
                    <a:bodyPr/>
                    <a:lstStyle/>
                    <a:p>
                      <a:pPr algn="ctr"/>
                      <a:r>
                        <a:rPr lang="en-US" dirty="0">
                          <a:solidFill>
                            <a:schemeClr val="tx1"/>
                          </a:solidFill>
                          <a:latin typeface="Inter" panose="020B0604020202020204" charset="0"/>
                          <a:cs typeface="Inter" panose="020B0604020202020204" charset="0"/>
                        </a:rPr>
                        <a:t>69</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DAYS_EMPLOYED</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Employment days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Anomaly: 365243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Converted anomaly to NaN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365243 represented unrealistic employment duration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2040845060"/>
                  </a:ext>
                </a:extLst>
              </a:tr>
              <a:tr h="370840">
                <a:tc>
                  <a:txBody>
                    <a:bodyPr/>
                    <a:lstStyle/>
                    <a:p>
                      <a:pPr algn="ctr"/>
                      <a:r>
                        <a:rPr lang="en-US" dirty="0">
                          <a:solidFill>
                            <a:schemeClr val="tx1"/>
                          </a:solidFill>
                          <a:latin typeface="Inter" panose="020B0604020202020204" charset="0"/>
                          <a:cs typeface="Inter" panose="020B0604020202020204" charset="0"/>
                        </a:rPr>
                        <a:t>70</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CODE_GENDER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Customer gender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kern="1200" dirty="0">
                          <a:solidFill>
                            <a:schemeClr val="dk1"/>
                          </a:solidFill>
                          <a:effectLst/>
                          <a:latin typeface="Inter" panose="020B0604020202020204" charset="0"/>
                          <a:ea typeface="+mn-ea"/>
                          <a:cs typeface="Inter" panose="020B0604020202020204" charset="0"/>
                        </a:rPr>
                        <a:t>0.000013% </a:t>
                      </a:r>
                      <a:r>
                        <a:rPr lang="en-IN" sz="1800" b="0" i="0" kern="1200" dirty="0">
                          <a:solidFill>
                            <a:schemeClr val="dk1"/>
                          </a:solidFill>
                          <a:effectLst/>
                          <a:latin typeface="+mn-lt"/>
                          <a:ea typeface="+mn-ea"/>
                          <a:cs typeface="+mn-cs"/>
                        </a:rPr>
                        <a:t>/</a:t>
                      </a:r>
                      <a:r>
                        <a:rPr lang="en-IN" sz="1800" b="0" i="0" u="none" strike="noStrike" dirty="0">
                          <a:solidFill>
                            <a:srgbClr val="000000"/>
                          </a:solidFill>
                          <a:effectLst/>
                          <a:latin typeface="Inter" panose="020B0604020202020204" charset="0"/>
                          <a:cs typeface="Inter" panose="020B0604020202020204" charset="0"/>
                        </a:rPr>
                        <a:t>Contains XNA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Dropped XNA rows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Invalid category/not available in test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3893479396"/>
                  </a:ext>
                </a:extLst>
              </a:tr>
              <a:tr h="370840">
                <a:tc>
                  <a:txBody>
                    <a:bodyPr/>
                    <a:lstStyle/>
                    <a:p>
                      <a:pPr algn="ctr"/>
                      <a:r>
                        <a:rPr lang="en-US" dirty="0">
                          <a:solidFill>
                            <a:schemeClr val="tx1"/>
                          </a:solidFill>
                          <a:latin typeface="Inter" panose="020B0604020202020204" charset="0"/>
                          <a:cs typeface="Inter" panose="020B0604020202020204" charset="0"/>
                        </a:rPr>
                        <a:t>71</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NAME_FAMILY_STATUS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dirty="0">
                          <a:latin typeface="Inter" panose="020B0604020202020204" charset="0"/>
                          <a:cs typeface="Inter" panose="020B0604020202020204" charset="0"/>
                        </a:rPr>
                        <a:t>Persons accompanying applicant</a:t>
                      </a:r>
                      <a:endParaRPr lang="en-IN" sz="1800" b="0" i="0" u="none" strike="noStrike" dirty="0">
                        <a:solidFill>
                          <a:srgbClr val="000000"/>
                        </a:solidFill>
                        <a:effectLst/>
                        <a:latin typeface="Inter" panose="020B0604020202020204" charset="0"/>
                        <a:cs typeface="Inter" panose="020B060402020202020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dirty="0">
                          <a:latin typeface="Inter" panose="020B0604020202020204" charset="0"/>
                          <a:cs typeface="Inter" panose="020B0604020202020204" charset="0"/>
                        </a:rPr>
                        <a:t>0.42% missing + rare categories</a:t>
                      </a:r>
                      <a:endParaRPr lang="en-IN" sz="1800" b="0" i="0" u="none" strike="noStrike" dirty="0">
                        <a:solidFill>
                          <a:srgbClr val="000000"/>
                        </a:solidFill>
                        <a:effectLst/>
                        <a:latin typeface="Inter" panose="020B0604020202020204" charset="0"/>
                        <a:cs typeface="Inter" panose="020B060402020202020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fontAlgn="b">
                        <a:buNone/>
                      </a:pPr>
                      <a:r>
                        <a:rPr lang="en-IN" dirty="0">
                          <a:latin typeface="Inter" panose="020B0604020202020204" charset="0"/>
                          <a:cs typeface="Inter" panose="020B0604020202020204" charset="0"/>
                        </a:rPr>
                        <a:t>Filled missing values and analysed rare categories separately and merged</a:t>
                      </a:r>
                      <a:endParaRPr lang="en-IN" sz="1800" b="0" i="0" u="none" strike="noStrike" dirty="0">
                        <a:solidFill>
                          <a:srgbClr val="000000"/>
                        </a:solidFill>
                        <a:effectLst/>
                        <a:latin typeface="Inter" panose="020B0604020202020204" charset="0"/>
                        <a:cs typeface="Inter" panose="020B060402020202020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dirty="0">
                          <a:latin typeface="Inter" panose="020B0604020202020204" charset="0"/>
                          <a:cs typeface="Inter" panose="020B0604020202020204" charset="0"/>
                        </a:rPr>
                        <a:t>Preserve business meaning while handling low-frequency categories</a:t>
                      </a:r>
                      <a:endParaRPr lang="en-IN" sz="1800" b="0" i="0" u="none" strike="noStrike" dirty="0">
                        <a:solidFill>
                          <a:srgbClr val="000000"/>
                        </a:solidFill>
                        <a:effectLst/>
                        <a:latin typeface="Inter" panose="020B0604020202020204" charset="0"/>
                        <a:cs typeface="Inter" panose="020B060402020202020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4277476483"/>
                  </a:ext>
                </a:extLst>
              </a:tr>
              <a:tr h="370840">
                <a:tc>
                  <a:txBody>
                    <a:bodyPr/>
                    <a:lstStyle/>
                    <a:p>
                      <a:pPr algn="ctr"/>
                      <a:r>
                        <a:rPr lang="en-US" dirty="0">
                          <a:solidFill>
                            <a:schemeClr val="tx1"/>
                          </a:solidFill>
                          <a:latin typeface="Inter" panose="020B0604020202020204" charset="0"/>
                          <a:cs typeface="Inter" panose="020B0604020202020204" charset="0"/>
                        </a:rPr>
                        <a:t>72</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dirty="0">
                          <a:latin typeface="Inter" panose="020B0604020202020204" charset="0"/>
                          <a:cs typeface="Inter" panose="020B0604020202020204" charset="0"/>
                        </a:rPr>
                        <a:t>ORGANIZATION_TYPE</a:t>
                      </a:r>
                      <a:endParaRPr lang="en-IN" sz="1800" b="0" i="0" u="none" strike="noStrike" dirty="0">
                        <a:solidFill>
                          <a:srgbClr val="000000"/>
                        </a:solidFill>
                        <a:effectLst/>
                        <a:latin typeface="Inter" panose="020B0604020202020204" charset="0"/>
                        <a:cs typeface="Inter" panose="020B060402020202020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dirty="0">
                          <a:latin typeface="Inter" panose="020B0604020202020204" charset="0"/>
                          <a:cs typeface="Inter" panose="020B0604020202020204" charset="0"/>
                        </a:rPr>
                        <a:t>Employer organization type</a:t>
                      </a:r>
                      <a:endParaRPr lang="en-IN" sz="1800" b="0" i="0" u="none" strike="noStrike" dirty="0">
                        <a:solidFill>
                          <a:srgbClr val="000000"/>
                        </a:solidFill>
                        <a:effectLst/>
                        <a:latin typeface="Inter" panose="020B0604020202020204" charset="0"/>
                        <a:cs typeface="Inter" panose="020B060402020202020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dirty="0">
                          <a:latin typeface="Inter" panose="020B0604020202020204" charset="0"/>
                          <a:cs typeface="Inter" panose="020B0604020202020204" charset="0"/>
                        </a:rPr>
                        <a:t>Contains </a:t>
                      </a:r>
                      <a:r>
                        <a:rPr lang="en-IN" sz="1800" kern="1200" dirty="0">
                          <a:solidFill>
                            <a:schemeClr val="dk1"/>
                          </a:solidFill>
                          <a:latin typeface="Inter" panose="020B0604020202020204" charset="0"/>
                          <a:ea typeface="+mn-ea"/>
                          <a:cs typeface="Inter" panose="020B0604020202020204" charset="0"/>
                        </a:rPr>
                        <a:t>XNA</a:t>
                      </a:r>
                      <a:r>
                        <a:rPr lang="en-IN" dirty="0">
                          <a:latin typeface="Inter" panose="020B0604020202020204" charset="0"/>
                          <a:cs typeface="Inter" panose="020B0604020202020204" charset="0"/>
                        </a:rPr>
                        <a:t> category</a:t>
                      </a:r>
                      <a:endParaRPr lang="en-IN" sz="1800" b="0" i="0" u="none" strike="noStrike" dirty="0">
                        <a:solidFill>
                          <a:srgbClr val="000000"/>
                        </a:solidFill>
                        <a:effectLst/>
                        <a:latin typeface="Inter" panose="020B0604020202020204" charset="0"/>
                        <a:cs typeface="Inter" panose="020B060402020202020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fontAlgn="b">
                        <a:buNone/>
                      </a:pPr>
                      <a:r>
                        <a:rPr lang="en-IN" dirty="0">
                          <a:latin typeface="Inter" panose="020B0604020202020204" charset="0"/>
                          <a:cs typeface="Inter" panose="020B0604020202020204" charset="0"/>
                        </a:rPr>
                        <a:t>Replaced with </a:t>
                      </a:r>
                      <a:r>
                        <a:rPr lang="en-IN" sz="1800" kern="1200" dirty="0">
                          <a:solidFill>
                            <a:schemeClr val="dk1"/>
                          </a:solidFill>
                          <a:latin typeface="Inter" panose="020B0604020202020204" charset="0"/>
                          <a:ea typeface="+mn-ea"/>
                          <a:cs typeface="Inter" panose="020B0604020202020204" charset="0"/>
                        </a:rPr>
                        <a:t>Not Working</a:t>
                      </a:r>
                      <a:endParaRPr lang="en-IN" sz="1800" b="0" i="0" u="none" strike="noStrike" dirty="0">
                        <a:solidFill>
                          <a:srgbClr val="000000"/>
                        </a:solidFill>
                        <a:effectLst/>
                        <a:latin typeface="Inter" panose="020B0604020202020204" charset="0"/>
                        <a:cs typeface="Inter" panose="020B060402020202020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IN" dirty="0">
                          <a:latin typeface="Inter" panose="020B0604020202020204" charset="0"/>
                          <a:cs typeface="Inter" panose="020B0604020202020204" charset="0"/>
                        </a:rPr>
                        <a:t>Business meaningful replacement for unemployed/non-working applicants (because it hold only pensioner and unemployed in </a:t>
                      </a:r>
                      <a:r>
                        <a:rPr lang="en-IN" sz="1800" b="0" kern="1200" dirty="0">
                          <a:solidFill>
                            <a:schemeClr val="dk1"/>
                          </a:solidFill>
                          <a:effectLst/>
                          <a:latin typeface="Inter" panose="020B0604020202020204" charset="0"/>
                          <a:ea typeface="+mn-ea"/>
                          <a:cs typeface="Inter" panose="020B0604020202020204" charset="0"/>
                        </a:rPr>
                        <a:t>NAME_INCOME_TYPE</a:t>
                      </a:r>
                      <a:r>
                        <a:rPr lang="en-IN" sz="1800" b="0" i="0" u="none" strike="noStrike" kern="1200" dirty="0">
                          <a:solidFill>
                            <a:srgbClr val="000000"/>
                          </a:solidFill>
                          <a:effectLst/>
                          <a:latin typeface="Inter" panose="020B0604020202020204" charset="0"/>
                          <a:ea typeface="+mn-ea"/>
                          <a:cs typeface="Inter" panose="020B0604020202020204" charset="0"/>
                        </a:rPr>
                        <a:t>)</a:t>
                      </a:r>
                      <a:endParaRPr lang="en-IN" sz="1800" b="0" kern="1200" dirty="0">
                        <a:solidFill>
                          <a:schemeClr val="dk1"/>
                        </a:solidFill>
                        <a:effectLst/>
                        <a:latin typeface="Inter" panose="020B0604020202020204" charset="0"/>
                        <a:ea typeface="+mn-ea"/>
                        <a:cs typeface="Inter" panose="020B060402020202020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2850407815"/>
                  </a:ext>
                </a:extLst>
              </a:tr>
            </a:tbl>
          </a:graphicData>
        </a:graphic>
      </p:graphicFrame>
    </p:spTree>
    <p:extLst>
      <p:ext uri="{BB962C8B-B14F-4D97-AF65-F5344CB8AC3E}">
        <p14:creationId xmlns:p14="http://schemas.microsoft.com/office/powerpoint/2010/main" val="141614085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C5D6CA"/>
        </a:solidFill>
        <a:effectLst/>
      </p:bgPr>
    </p:bg>
    <p:spTree>
      <p:nvGrpSpPr>
        <p:cNvPr id="1" name="">
          <a:extLst>
            <a:ext uri="{FF2B5EF4-FFF2-40B4-BE49-F238E27FC236}">
              <a16:creationId xmlns:a16="http://schemas.microsoft.com/office/drawing/2014/main" id="{C07EE992-FDE0-1A51-640C-B69F3F458B1C}"/>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4A2D8914-B5C4-A7D4-84CE-EA1A6FA0F718}"/>
              </a:ext>
            </a:extLst>
          </p:cNvPr>
          <p:cNvGrpSpPr/>
          <p:nvPr/>
        </p:nvGrpSpPr>
        <p:grpSpPr>
          <a:xfrm>
            <a:off x="0" y="9497082"/>
            <a:ext cx="18292543" cy="787203"/>
            <a:chOff x="0" y="0"/>
            <a:chExt cx="24390058" cy="1049604"/>
          </a:xfrm>
        </p:grpSpPr>
        <p:sp>
          <p:nvSpPr>
            <p:cNvPr id="3" name="Freeform 3">
              <a:extLst>
                <a:ext uri="{FF2B5EF4-FFF2-40B4-BE49-F238E27FC236}">
                  <a16:creationId xmlns:a16="http://schemas.microsoft.com/office/drawing/2014/main" id="{5E148947-4E5E-F790-4501-34C56A84C499}"/>
                </a:ext>
              </a:extLst>
            </p:cNvPr>
            <p:cNvSpPr/>
            <p:nvPr/>
          </p:nvSpPr>
          <p:spPr>
            <a:xfrm>
              <a:off x="0" y="0"/>
              <a:ext cx="24390096" cy="1049655"/>
            </a:xfrm>
            <a:custGeom>
              <a:avLst/>
              <a:gdLst/>
              <a:ahLst/>
              <a:cxnLst/>
              <a:rect l="l" t="t" r="r" b="b"/>
              <a:pathLst>
                <a:path w="24390096" h="1049655">
                  <a:moveTo>
                    <a:pt x="0" y="0"/>
                  </a:moveTo>
                  <a:lnTo>
                    <a:pt x="24390096" y="0"/>
                  </a:lnTo>
                  <a:lnTo>
                    <a:pt x="24390096" y="1049655"/>
                  </a:lnTo>
                  <a:lnTo>
                    <a:pt x="0" y="1049655"/>
                  </a:lnTo>
                  <a:close/>
                </a:path>
              </a:pathLst>
            </a:custGeom>
            <a:solidFill>
              <a:srgbClr val="348E90"/>
            </a:solidFill>
          </p:spPr>
          <p:txBody>
            <a:bodyPr/>
            <a:lstStyle/>
            <a:p>
              <a:endParaRPr lang="en-IN"/>
            </a:p>
          </p:txBody>
        </p:sp>
      </p:grpSp>
      <p:sp>
        <p:nvSpPr>
          <p:cNvPr id="4" name="Rectangle 3">
            <a:extLst>
              <a:ext uri="{FF2B5EF4-FFF2-40B4-BE49-F238E27FC236}">
                <a16:creationId xmlns:a16="http://schemas.microsoft.com/office/drawing/2014/main" id="{2C1F8092-B828-1984-3209-43BB8CB55C48}"/>
              </a:ext>
            </a:extLst>
          </p:cNvPr>
          <p:cNvSpPr/>
          <p:nvPr/>
        </p:nvSpPr>
        <p:spPr>
          <a:xfrm>
            <a:off x="15544800" y="0"/>
            <a:ext cx="1143000" cy="1823056"/>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03C81D7B-38A6-619B-4A0C-595948947338}"/>
              </a:ext>
            </a:extLst>
          </p:cNvPr>
          <p:cNvSpPr txBox="1"/>
          <p:nvPr/>
        </p:nvSpPr>
        <p:spPr>
          <a:xfrm>
            <a:off x="5067300" y="4127837"/>
            <a:ext cx="8153400" cy="1015663"/>
          </a:xfrm>
          <a:prstGeom prst="rect">
            <a:avLst/>
          </a:prstGeom>
          <a:noFill/>
        </p:spPr>
        <p:txBody>
          <a:bodyPr wrap="square">
            <a:spAutoFit/>
          </a:bodyPr>
          <a:lstStyle/>
          <a:p>
            <a:r>
              <a:rPr lang="en-IN" sz="6000" b="1" dirty="0">
                <a:latin typeface="Inter" panose="020B0604020202020204" charset="0"/>
                <a:cs typeface="Inter" panose="020B0604020202020204" charset="0"/>
              </a:rPr>
              <a:t>Previous_application</a:t>
            </a:r>
          </a:p>
        </p:txBody>
      </p:sp>
    </p:spTree>
    <p:extLst>
      <p:ext uri="{BB962C8B-B14F-4D97-AF65-F5344CB8AC3E}">
        <p14:creationId xmlns:p14="http://schemas.microsoft.com/office/powerpoint/2010/main" val="36424533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C5D6CA"/>
        </a:solidFill>
        <a:effectLst/>
      </p:bgPr>
    </p:bg>
    <p:spTree>
      <p:nvGrpSpPr>
        <p:cNvPr id="1" name="">
          <a:extLst>
            <a:ext uri="{FF2B5EF4-FFF2-40B4-BE49-F238E27FC236}">
              <a16:creationId xmlns:a16="http://schemas.microsoft.com/office/drawing/2014/main" id="{0C96E2C8-BBFC-85AD-AF8C-40B183A46F25}"/>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1A93A7B5-B265-50DC-27C3-3F5C32BF0B26}"/>
              </a:ext>
            </a:extLst>
          </p:cNvPr>
          <p:cNvGrpSpPr/>
          <p:nvPr/>
        </p:nvGrpSpPr>
        <p:grpSpPr>
          <a:xfrm>
            <a:off x="0" y="9497082"/>
            <a:ext cx="18292543" cy="787203"/>
            <a:chOff x="0" y="0"/>
            <a:chExt cx="24390058" cy="1049604"/>
          </a:xfrm>
        </p:grpSpPr>
        <p:sp>
          <p:nvSpPr>
            <p:cNvPr id="3" name="Freeform 3">
              <a:extLst>
                <a:ext uri="{FF2B5EF4-FFF2-40B4-BE49-F238E27FC236}">
                  <a16:creationId xmlns:a16="http://schemas.microsoft.com/office/drawing/2014/main" id="{E54AADD5-A9DA-1D22-61C5-52311321F3FF}"/>
                </a:ext>
              </a:extLst>
            </p:cNvPr>
            <p:cNvSpPr/>
            <p:nvPr/>
          </p:nvSpPr>
          <p:spPr>
            <a:xfrm>
              <a:off x="0" y="0"/>
              <a:ext cx="24390096" cy="1049655"/>
            </a:xfrm>
            <a:custGeom>
              <a:avLst/>
              <a:gdLst/>
              <a:ahLst/>
              <a:cxnLst/>
              <a:rect l="l" t="t" r="r" b="b"/>
              <a:pathLst>
                <a:path w="24390096" h="1049655">
                  <a:moveTo>
                    <a:pt x="0" y="0"/>
                  </a:moveTo>
                  <a:lnTo>
                    <a:pt x="24390096" y="0"/>
                  </a:lnTo>
                  <a:lnTo>
                    <a:pt x="24390096" y="1049655"/>
                  </a:lnTo>
                  <a:lnTo>
                    <a:pt x="0" y="1049655"/>
                  </a:lnTo>
                  <a:close/>
                </a:path>
              </a:pathLst>
            </a:custGeom>
            <a:solidFill>
              <a:srgbClr val="348E90"/>
            </a:solidFill>
          </p:spPr>
          <p:txBody>
            <a:bodyPr/>
            <a:lstStyle/>
            <a:p>
              <a:endParaRPr lang="en-IN"/>
            </a:p>
          </p:txBody>
        </p:sp>
      </p:grpSp>
      <p:sp>
        <p:nvSpPr>
          <p:cNvPr id="4" name="Rectangle 3">
            <a:extLst>
              <a:ext uri="{FF2B5EF4-FFF2-40B4-BE49-F238E27FC236}">
                <a16:creationId xmlns:a16="http://schemas.microsoft.com/office/drawing/2014/main" id="{E6285826-6C25-2229-49D1-8DB473D4F093}"/>
              </a:ext>
            </a:extLst>
          </p:cNvPr>
          <p:cNvSpPr/>
          <p:nvPr/>
        </p:nvSpPr>
        <p:spPr>
          <a:xfrm>
            <a:off x="15544800" y="0"/>
            <a:ext cx="1143000" cy="1823056"/>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IN"/>
          </a:p>
        </p:txBody>
      </p:sp>
      <p:sp>
        <p:nvSpPr>
          <p:cNvPr id="7" name="TextBox 6">
            <a:extLst>
              <a:ext uri="{FF2B5EF4-FFF2-40B4-BE49-F238E27FC236}">
                <a16:creationId xmlns:a16="http://schemas.microsoft.com/office/drawing/2014/main" id="{117514C9-15FB-2F0A-98E3-F484AFE925A5}"/>
              </a:ext>
            </a:extLst>
          </p:cNvPr>
          <p:cNvSpPr txBox="1"/>
          <p:nvPr/>
        </p:nvSpPr>
        <p:spPr>
          <a:xfrm>
            <a:off x="3390900" y="911528"/>
            <a:ext cx="11506200" cy="707886"/>
          </a:xfrm>
          <a:prstGeom prst="rect">
            <a:avLst/>
          </a:prstGeom>
          <a:noFill/>
        </p:spPr>
        <p:txBody>
          <a:bodyPr wrap="square">
            <a:spAutoFit/>
          </a:bodyPr>
          <a:lstStyle/>
          <a:p>
            <a:r>
              <a:rPr lang="en-IN" sz="4000" b="1" dirty="0">
                <a:latin typeface="Inter" panose="020B0604020202020204" charset="0"/>
                <a:cs typeface="Inter" panose="020B0604020202020204" charset="0"/>
              </a:rPr>
              <a:t>Missing Value Assessment </a:t>
            </a:r>
            <a:r>
              <a:rPr lang="en-IN" sz="4000" dirty="0">
                <a:latin typeface="Inter" panose="020B0604020202020204" charset="0"/>
                <a:cs typeface="Inter" panose="020B0604020202020204" charset="0"/>
              </a:rPr>
              <a:t>(</a:t>
            </a:r>
            <a:r>
              <a:rPr lang="en-IN" sz="4000" b="1" dirty="0">
                <a:latin typeface="Inter" panose="020B0604020202020204" charset="0"/>
                <a:cs typeface="Inter" panose="020B0604020202020204" charset="0"/>
              </a:rPr>
              <a:t>previous_application</a:t>
            </a:r>
            <a:r>
              <a:rPr lang="en-IN" sz="4000" dirty="0">
                <a:latin typeface="Inter" panose="020B0604020202020204" charset="0"/>
                <a:cs typeface="Inter" panose="020B0604020202020204" charset="0"/>
              </a:rPr>
              <a:t>)</a:t>
            </a:r>
            <a:endParaRPr lang="en-IN" sz="4000" b="1" dirty="0">
              <a:latin typeface="Inter" panose="020B0604020202020204" charset="0"/>
              <a:cs typeface="Inter" panose="020B0604020202020204" charset="0"/>
            </a:endParaRPr>
          </a:p>
        </p:txBody>
      </p:sp>
      <p:sp>
        <p:nvSpPr>
          <p:cNvPr id="9" name="TextBox 8">
            <a:extLst>
              <a:ext uri="{FF2B5EF4-FFF2-40B4-BE49-F238E27FC236}">
                <a16:creationId xmlns:a16="http://schemas.microsoft.com/office/drawing/2014/main" id="{31560C48-5533-6F5C-0200-8D1F6AB61905}"/>
              </a:ext>
            </a:extLst>
          </p:cNvPr>
          <p:cNvSpPr txBox="1"/>
          <p:nvPr/>
        </p:nvSpPr>
        <p:spPr>
          <a:xfrm>
            <a:off x="990600" y="1852918"/>
            <a:ext cx="15697200" cy="1031051"/>
          </a:xfrm>
          <a:prstGeom prst="rect">
            <a:avLst/>
          </a:prstGeom>
          <a:noFill/>
        </p:spPr>
        <p:txBody>
          <a:bodyPr wrap="square">
            <a:spAutoFit/>
          </a:bodyPr>
          <a:lstStyle/>
          <a:p>
            <a:pPr>
              <a:buNone/>
            </a:pPr>
            <a:r>
              <a:rPr lang="en-IN" sz="2500" b="1" dirty="0">
                <a:latin typeface="Inter" panose="020B0604020202020204" charset="0"/>
                <a:cs typeface="Inter" panose="020B0604020202020204" charset="0"/>
              </a:rPr>
              <a:t>Summary Statement</a:t>
            </a:r>
          </a:p>
          <a:p>
            <a:pPr>
              <a:buNone/>
            </a:pPr>
            <a:r>
              <a:rPr lang="en-IN" dirty="0">
                <a:latin typeface="Inter" panose="020B0604020202020204" charset="0"/>
                <a:cs typeface="Inter" panose="020B0604020202020204" charset="0"/>
              </a:rPr>
              <a:t>The previous_application dataset contains several high-missingness variables associated with historical loan lifecycle events, interest-rate information, and down-payment details. Most missing values appear to be business-driven and linked to rejected or non-applicable loan applications.</a:t>
            </a:r>
          </a:p>
        </p:txBody>
      </p:sp>
      <p:graphicFrame>
        <p:nvGraphicFramePr>
          <p:cNvPr id="10" name="Table 9">
            <a:extLst>
              <a:ext uri="{FF2B5EF4-FFF2-40B4-BE49-F238E27FC236}">
                <a16:creationId xmlns:a16="http://schemas.microsoft.com/office/drawing/2014/main" id="{4F7D54CD-840A-F064-4463-4A56264CBFEC}"/>
              </a:ext>
            </a:extLst>
          </p:cNvPr>
          <p:cNvGraphicFramePr>
            <a:graphicFrameLocks noGrp="1"/>
          </p:cNvGraphicFramePr>
          <p:nvPr>
            <p:extLst>
              <p:ext uri="{D42A27DB-BD31-4B8C-83A1-F6EECF244321}">
                <p14:modId xmlns:p14="http://schemas.microsoft.com/office/powerpoint/2010/main" val="2010956900"/>
              </p:ext>
            </p:extLst>
          </p:nvPr>
        </p:nvGraphicFramePr>
        <p:xfrm>
          <a:off x="994719" y="3117473"/>
          <a:ext cx="15693081" cy="6313805"/>
        </p:xfrm>
        <a:graphic>
          <a:graphicData uri="http://schemas.openxmlformats.org/drawingml/2006/table">
            <a:tbl>
              <a:tblPr firstRow="1" bandRow="1">
                <a:tableStyleId>{5C22544A-7EE6-4342-B048-85BDC9FD1C3A}</a:tableStyleId>
              </a:tblPr>
              <a:tblGrid>
                <a:gridCol w="949595">
                  <a:extLst>
                    <a:ext uri="{9D8B030D-6E8A-4147-A177-3AD203B41FA5}">
                      <a16:colId xmlns:a16="http://schemas.microsoft.com/office/drawing/2014/main" val="3862799426"/>
                    </a:ext>
                  </a:extLst>
                </a:gridCol>
                <a:gridCol w="3313486">
                  <a:extLst>
                    <a:ext uri="{9D8B030D-6E8A-4147-A177-3AD203B41FA5}">
                      <a16:colId xmlns:a16="http://schemas.microsoft.com/office/drawing/2014/main" val="3215684268"/>
                    </a:ext>
                  </a:extLst>
                </a:gridCol>
                <a:gridCol w="2334516">
                  <a:extLst>
                    <a:ext uri="{9D8B030D-6E8A-4147-A177-3AD203B41FA5}">
                      <a16:colId xmlns:a16="http://schemas.microsoft.com/office/drawing/2014/main" val="1676543941"/>
                    </a:ext>
                  </a:extLst>
                </a:gridCol>
                <a:gridCol w="2085084">
                  <a:extLst>
                    <a:ext uri="{9D8B030D-6E8A-4147-A177-3AD203B41FA5}">
                      <a16:colId xmlns:a16="http://schemas.microsoft.com/office/drawing/2014/main" val="1375971458"/>
                    </a:ext>
                  </a:extLst>
                </a:gridCol>
                <a:gridCol w="2590800">
                  <a:extLst>
                    <a:ext uri="{9D8B030D-6E8A-4147-A177-3AD203B41FA5}">
                      <a16:colId xmlns:a16="http://schemas.microsoft.com/office/drawing/2014/main" val="4001133099"/>
                    </a:ext>
                  </a:extLst>
                </a:gridCol>
                <a:gridCol w="4419600">
                  <a:extLst>
                    <a:ext uri="{9D8B030D-6E8A-4147-A177-3AD203B41FA5}">
                      <a16:colId xmlns:a16="http://schemas.microsoft.com/office/drawing/2014/main" val="2594481052"/>
                    </a:ext>
                  </a:extLst>
                </a:gridCol>
              </a:tblGrid>
              <a:tr h="370840">
                <a:tc>
                  <a:txBody>
                    <a:bodyPr/>
                    <a:lstStyle/>
                    <a:p>
                      <a:pPr algn="ctr" fontAlgn="b">
                        <a:buNone/>
                      </a:pPr>
                      <a:r>
                        <a:rPr lang="en-US" sz="1800" b="1" i="0" u="none" strike="noStrike" dirty="0">
                          <a:solidFill>
                            <a:schemeClr val="tx1"/>
                          </a:solidFill>
                          <a:effectLst/>
                          <a:latin typeface="Inter" panose="020B0604020202020204" charset="0"/>
                          <a:cs typeface="Inter" panose="020B0604020202020204" charset="0"/>
                        </a:rPr>
                        <a:t>S. No.</a:t>
                      </a:r>
                      <a:endParaRPr lang="en-IN" sz="1800" b="1" i="0" u="none" strike="noStrike" dirty="0">
                        <a:solidFill>
                          <a:schemeClr val="tx1"/>
                        </a:solidFill>
                        <a:effectLst/>
                        <a:latin typeface="Inter" panose="020B0604020202020204" charset="0"/>
                        <a:cs typeface="Inter" panose="020B060402020202020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1" i="0" u="none" strike="noStrike" dirty="0">
                          <a:solidFill>
                            <a:schemeClr val="tx1"/>
                          </a:solidFill>
                          <a:effectLst/>
                          <a:latin typeface="Inter" panose="020B0604020202020204" charset="0"/>
                          <a:cs typeface="Inter" panose="020B0604020202020204" charset="0"/>
                        </a:rPr>
                        <a:t>Column Name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1" i="0" u="none" strike="noStrike" dirty="0">
                          <a:solidFill>
                            <a:schemeClr val="tx1"/>
                          </a:solidFill>
                          <a:effectLst/>
                          <a:latin typeface="Inter" panose="020B0604020202020204" charset="0"/>
                          <a:cs typeface="Inter" panose="020B0604020202020204" charset="0"/>
                        </a:rPr>
                        <a:t>Column Purpose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1" i="0" u="none" strike="noStrike" dirty="0">
                          <a:solidFill>
                            <a:schemeClr val="tx1"/>
                          </a:solidFill>
                          <a:effectLst/>
                          <a:latin typeface="Inter" panose="020B0604020202020204" charset="0"/>
                          <a:cs typeface="Inter" panose="020B0604020202020204" charset="0"/>
                        </a:rPr>
                        <a:t>Missing % / Anomaly</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1" i="0" u="none" strike="noStrike" dirty="0">
                          <a:solidFill>
                            <a:schemeClr val="tx1"/>
                          </a:solidFill>
                          <a:effectLst/>
                          <a:latin typeface="Inter" panose="020B0604020202020204" charset="0"/>
                          <a:cs typeface="Inter" panose="020B0604020202020204" charset="0"/>
                        </a:rPr>
                        <a:t>What We Did</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1" i="0" u="none" strike="noStrike" dirty="0">
                          <a:solidFill>
                            <a:schemeClr val="tx1"/>
                          </a:solidFill>
                          <a:effectLst/>
                          <a:latin typeface="Inter" panose="020B0604020202020204" charset="0"/>
                          <a:cs typeface="Inter" panose="020B0604020202020204" charset="0"/>
                        </a:rPr>
                        <a:t>Why We Did It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4257040053"/>
                  </a:ext>
                </a:extLst>
              </a:tr>
              <a:tr h="370840">
                <a:tc>
                  <a:txBody>
                    <a:bodyPr/>
                    <a:lstStyle/>
                    <a:p>
                      <a:pPr algn="ctr"/>
                      <a:r>
                        <a:rPr lang="en-US" dirty="0">
                          <a:solidFill>
                            <a:schemeClr val="tx1"/>
                          </a:solidFill>
                          <a:latin typeface="Inter" panose="020B0604020202020204" charset="0"/>
                          <a:cs typeface="Inter" panose="020B0604020202020204" charset="0"/>
                        </a:rPr>
                        <a:t>1</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RATE_INTEREST_PRIVILEGED</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a:solidFill>
                            <a:srgbClr val="000000"/>
                          </a:solidFill>
                          <a:effectLst/>
                          <a:latin typeface="Inter" panose="020B0604020202020204" charset="0"/>
                          <a:cs typeface="Inter" panose="020B0604020202020204" charset="0"/>
                        </a:rPr>
                        <a:t>Special/privileged interest rate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chemeClr val="bg1"/>
                          </a:solidFill>
                          <a:effectLst/>
                          <a:latin typeface="Inter" panose="020B0604020202020204" charset="0"/>
                          <a:cs typeface="Inter" panose="020B0604020202020204" charset="0"/>
                        </a:rPr>
                        <a:t>99.64370%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tc>
                  <a:txBody>
                    <a:bodyPr/>
                    <a:lstStyle/>
                    <a:p>
                      <a:pPr algn="ctr" fontAlgn="b">
                        <a:buNone/>
                      </a:pPr>
                      <a:r>
                        <a:rPr lang="en-IN" sz="1800" b="0" i="0" u="none" strike="noStrike">
                          <a:solidFill>
                            <a:srgbClr val="000000"/>
                          </a:solidFill>
                          <a:effectLst/>
                          <a:latin typeface="Inter" panose="020B0604020202020204" charset="0"/>
                          <a:cs typeface="Inter" panose="020B0604020202020204" charset="0"/>
                        </a:rPr>
                        <a:t>Dropped</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a:solidFill>
                            <a:srgbClr val="000000"/>
                          </a:solidFill>
                          <a:effectLst/>
                          <a:latin typeface="Inter" panose="020B0604020202020204" charset="0"/>
                          <a:cs typeface="Inter" panose="020B0604020202020204" charset="0"/>
                        </a:rPr>
                        <a:t>Almost completely missing</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2629133832"/>
                  </a:ext>
                </a:extLst>
              </a:tr>
              <a:tr h="370840">
                <a:tc>
                  <a:txBody>
                    <a:bodyPr/>
                    <a:lstStyle/>
                    <a:p>
                      <a:pPr algn="ctr"/>
                      <a:r>
                        <a:rPr lang="en-US" dirty="0">
                          <a:solidFill>
                            <a:schemeClr val="tx1"/>
                          </a:solidFill>
                          <a:latin typeface="Inter" panose="020B0604020202020204" charset="0"/>
                          <a:cs typeface="Inter" panose="020B0604020202020204" charset="0"/>
                        </a:rPr>
                        <a:t>2</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RATE_INTEREST_PRIMARY</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a:solidFill>
                            <a:srgbClr val="000000"/>
                          </a:solidFill>
                          <a:effectLst/>
                          <a:latin typeface="Inter" panose="020B0604020202020204" charset="0"/>
                          <a:cs typeface="Inter" panose="020B0604020202020204" charset="0"/>
                        </a:rPr>
                        <a:t>Primary interest rate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chemeClr val="bg1"/>
                          </a:solidFill>
                          <a:effectLst/>
                          <a:latin typeface="Inter" panose="020B0604020202020204" charset="0"/>
                          <a:cs typeface="Inter" panose="020B0604020202020204" charset="0"/>
                        </a:rPr>
                        <a:t>99.64370%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tc>
                  <a:txBody>
                    <a:bodyPr/>
                    <a:lstStyle/>
                    <a:p>
                      <a:pPr algn="ctr" fontAlgn="b">
                        <a:buNone/>
                      </a:pPr>
                      <a:r>
                        <a:rPr lang="en-IN" sz="1800" b="0" i="0" u="none" strike="noStrike">
                          <a:solidFill>
                            <a:srgbClr val="000000"/>
                          </a:solidFill>
                          <a:effectLst/>
                          <a:latin typeface="Inter" panose="020B0604020202020204" charset="0"/>
                          <a:cs typeface="Inter" panose="020B0604020202020204" charset="0"/>
                        </a:rPr>
                        <a:t>Dropped</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a:solidFill>
                            <a:srgbClr val="000000"/>
                          </a:solidFill>
                          <a:effectLst/>
                          <a:latin typeface="Inter" panose="020B0604020202020204" charset="0"/>
                          <a:cs typeface="Inter" panose="020B0604020202020204" charset="0"/>
                        </a:rPr>
                        <a:t>Almost completely missing</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3650061759"/>
                  </a:ext>
                </a:extLst>
              </a:tr>
              <a:tr h="240407">
                <a:tc>
                  <a:txBody>
                    <a:bodyPr/>
                    <a:lstStyle/>
                    <a:p>
                      <a:pPr algn="ctr"/>
                      <a:r>
                        <a:rPr lang="en-US" dirty="0">
                          <a:solidFill>
                            <a:schemeClr val="tx1"/>
                          </a:solidFill>
                          <a:latin typeface="Inter" panose="020B0604020202020204" charset="0"/>
                          <a:cs typeface="Inter" panose="020B0604020202020204" charset="0"/>
                        </a:rPr>
                        <a:t>3</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a:solidFill>
                            <a:srgbClr val="000000"/>
                          </a:solidFill>
                          <a:effectLst/>
                          <a:latin typeface="Inter" panose="020B0604020202020204" charset="0"/>
                          <a:cs typeface="Inter" panose="020B0604020202020204" charset="0"/>
                        </a:rPr>
                        <a:t>AMT_DOWN_PAYMENT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Initial down payment amount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chemeClr val="bg1"/>
                          </a:solidFill>
                          <a:effectLst/>
                          <a:latin typeface="Inter" panose="020B0604020202020204" charset="0"/>
                          <a:cs typeface="Inter" panose="020B0604020202020204" charset="0"/>
                        </a:rPr>
                        <a:t>53.63648%</a:t>
                      </a:r>
                    </a:p>
                    <a:p>
                      <a:pPr algn="ctr" fontAlgn="b">
                        <a:buNone/>
                      </a:pPr>
                      <a:r>
                        <a:rPr lang="en-IN" sz="1800" b="0" i="0" u="none" strike="noStrike" dirty="0">
                          <a:solidFill>
                            <a:schemeClr val="bg1"/>
                          </a:solidFill>
                          <a:effectLst/>
                          <a:latin typeface="Inter" panose="020B0604020202020204" charset="0"/>
                          <a:cs typeface="Inter" panose="020B0604020202020204" charset="0"/>
                        </a:rPr>
                        <a:t>2 negative amount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3300"/>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Create a flag/</a:t>
                      </a:r>
                    </a:p>
                    <a:p>
                      <a:pPr algn="ctr" fontAlgn="b">
                        <a:buNone/>
                      </a:pPr>
                      <a:r>
                        <a:rPr lang="en-IN" sz="1800" b="0" i="0" u="none" strike="noStrike" dirty="0">
                          <a:solidFill>
                            <a:srgbClr val="000000"/>
                          </a:solidFill>
                          <a:effectLst/>
                          <a:latin typeface="Inter" panose="020B0604020202020204" charset="0"/>
                          <a:cs typeface="Inter" panose="020B0604020202020204" charset="0"/>
                        </a:rPr>
                        <a:t>Filled with 0 and negative to 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IN" dirty="0">
                          <a:latin typeface="Inter" panose="020B0604020202020204" charset="0"/>
                          <a:cs typeface="Inter" panose="020B0604020202020204" charset="0"/>
                        </a:rPr>
                        <a:t>Missing values are much more common in : </a:t>
                      </a:r>
                      <a:r>
                        <a:rPr lang="en-IN" sz="1800" kern="1200" dirty="0">
                          <a:solidFill>
                            <a:schemeClr val="dk1"/>
                          </a:solidFill>
                          <a:latin typeface="Inter" panose="020B0604020202020204" charset="0"/>
                          <a:ea typeface="+mn-ea"/>
                          <a:cs typeface="Inter" panose="020B0604020202020204" charset="0"/>
                        </a:rPr>
                        <a:t>Cancelled, Refused</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3616123418"/>
                  </a:ext>
                </a:extLst>
              </a:tr>
              <a:tr h="370840">
                <a:tc>
                  <a:txBody>
                    <a:bodyPr/>
                    <a:lstStyle/>
                    <a:p>
                      <a:pPr algn="ctr"/>
                      <a:r>
                        <a:rPr lang="en-US" dirty="0">
                          <a:solidFill>
                            <a:schemeClr val="tx1"/>
                          </a:solidFill>
                          <a:latin typeface="Inter" panose="020B0604020202020204" charset="0"/>
                          <a:cs typeface="Inter" panose="020B0604020202020204" charset="0"/>
                        </a:rPr>
                        <a:t>4</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a:solidFill>
                            <a:srgbClr val="000000"/>
                          </a:solidFill>
                          <a:effectLst/>
                          <a:latin typeface="Inter" panose="020B0604020202020204" charset="0"/>
                          <a:cs typeface="Inter" panose="020B0604020202020204" charset="0"/>
                        </a:rPr>
                        <a:t>RATE_DOWN_PAYMENT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a:solidFill>
                            <a:srgbClr val="000000"/>
                          </a:solidFill>
                          <a:effectLst/>
                          <a:latin typeface="Inter" panose="020B0604020202020204" charset="0"/>
                          <a:cs typeface="Inter" panose="020B0604020202020204" charset="0"/>
                        </a:rPr>
                        <a:t>Down payment ratio</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chemeClr val="bg1"/>
                          </a:solidFill>
                          <a:effectLst/>
                          <a:latin typeface="Inter" panose="020B0604020202020204" charset="0"/>
                          <a:cs typeface="Inter" panose="020B0604020202020204" charset="0"/>
                        </a:rPr>
                        <a:t>53.63648%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3300"/>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Flag / Filled with 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Same as above but stronger signal</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2680598663"/>
                  </a:ext>
                </a:extLst>
              </a:tr>
              <a:tr h="370840">
                <a:tc>
                  <a:txBody>
                    <a:bodyPr/>
                    <a:lstStyle/>
                    <a:p>
                      <a:pPr algn="ctr"/>
                      <a:r>
                        <a:rPr lang="en-US" dirty="0">
                          <a:solidFill>
                            <a:schemeClr val="tx1"/>
                          </a:solidFill>
                          <a:latin typeface="Inter" panose="020B0604020202020204" charset="0"/>
                          <a:cs typeface="Inter" panose="020B0604020202020204" charset="0"/>
                        </a:rPr>
                        <a:t>5</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a:solidFill>
                            <a:srgbClr val="000000"/>
                          </a:solidFill>
                          <a:effectLst/>
                          <a:latin typeface="Inter" panose="020B0604020202020204" charset="0"/>
                          <a:cs typeface="Inter" panose="020B0604020202020204" charset="0"/>
                        </a:rPr>
                        <a:t>NAME_TYPE_SUITE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a:solidFill>
                            <a:srgbClr val="000000"/>
                          </a:solidFill>
                          <a:effectLst/>
                          <a:latin typeface="Inter" panose="020B0604020202020204" charset="0"/>
                          <a:cs typeface="Inter" panose="020B0604020202020204" charset="0"/>
                        </a:rPr>
                        <a:t>Persons accompanying applicant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chemeClr val="bg1"/>
                          </a:solidFill>
                          <a:effectLst/>
                          <a:latin typeface="Inter" panose="020B0604020202020204" charset="0"/>
                          <a:cs typeface="Inter" panose="020B0604020202020204" charset="0"/>
                        </a:rPr>
                        <a:t>49.11975%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603B"/>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Filled with Unknown / mode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a:solidFill>
                            <a:srgbClr val="000000"/>
                          </a:solidFill>
                          <a:effectLst/>
                          <a:latin typeface="Inter" panose="020B0604020202020204" charset="0"/>
                          <a:cs typeface="Inter" panose="020B0604020202020204" charset="0"/>
                        </a:rPr>
                        <a:t>Preserve category consistency</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4020752703"/>
                  </a:ext>
                </a:extLst>
              </a:tr>
              <a:tr h="370840">
                <a:tc>
                  <a:txBody>
                    <a:bodyPr/>
                    <a:lstStyle/>
                    <a:p>
                      <a:pPr algn="ctr"/>
                      <a:r>
                        <a:rPr lang="en-US" dirty="0">
                          <a:solidFill>
                            <a:schemeClr val="tx1"/>
                          </a:solidFill>
                          <a:latin typeface="Inter" panose="020B0604020202020204" charset="0"/>
                          <a:cs typeface="Inter" panose="020B0604020202020204" charset="0"/>
                        </a:rPr>
                        <a:t>6</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a:solidFill>
                            <a:srgbClr val="000000"/>
                          </a:solidFill>
                          <a:effectLst/>
                          <a:latin typeface="Inter" panose="020B0604020202020204" charset="0"/>
                          <a:cs typeface="Inter" panose="020B0604020202020204" charset="0"/>
                        </a:rPr>
                        <a:t>DAYS_LAST_DUE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a:solidFill>
                            <a:srgbClr val="000000"/>
                          </a:solidFill>
                          <a:effectLst/>
                          <a:latin typeface="Inter" panose="020B0604020202020204" charset="0"/>
                          <a:cs typeface="Inter" panose="020B0604020202020204" charset="0"/>
                        </a:rPr>
                        <a:t>Final due date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40.29813% /</a:t>
                      </a:r>
                    </a:p>
                    <a:p>
                      <a:pPr marL="0" marR="0" lvl="0" indent="0" algn="ctr" defTabSz="914400" rtl="0" eaLnBrk="1" fontAlgn="b" latinLnBrk="0" hangingPunct="1">
                        <a:lnSpc>
                          <a:spcPct val="100000"/>
                        </a:lnSpc>
                        <a:spcBef>
                          <a:spcPts val="0"/>
                        </a:spcBef>
                        <a:spcAft>
                          <a:spcPts val="0"/>
                        </a:spcAft>
                        <a:buClrTx/>
                        <a:buSzTx/>
                        <a:buFontTx/>
                        <a:buNone/>
                        <a:tabLst/>
                        <a:defRPr/>
                      </a:pPr>
                      <a:r>
                        <a:rPr lang="en-IN" sz="1800" b="0" kern="1200" dirty="0">
                          <a:solidFill>
                            <a:schemeClr val="dk1"/>
                          </a:solidFill>
                          <a:effectLst/>
                          <a:latin typeface="+mn-lt"/>
                          <a:ea typeface="+mn-ea"/>
                          <a:cs typeface="+mn-cs"/>
                        </a:rPr>
                        <a:t>365243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8A7"/>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Filled with 0 + indicator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Missing linked with </a:t>
                      </a:r>
                      <a:r>
                        <a:rPr lang="en-IN" sz="1800" b="0" i="0" u="none" strike="noStrike" dirty="0" err="1">
                          <a:solidFill>
                            <a:srgbClr val="000000"/>
                          </a:solidFill>
                          <a:effectLst/>
                          <a:latin typeface="Inter" panose="020B0604020202020204" charset="0"/>
                          <a:cs typeface="Inter" panose="020B0604020202020204" charset="0"/>
                        </a:rPr>
                        <a:t>canceled</a:t>
                      </a:r>
                      <a:r>
                        <a:rPr lang="en-IN" sz="1800" b="0" i="0" u="none" strike="noStrike" dirty="0">
                          <a:solidFill>
                            <a:srgbClr val="000000"/>
                          </a:solidFill>
                          <a:effectLst/>
                          <a:latin typeface="Inter" panose="020B0604020202020204" charset="0"/>
                          <a:cs typeface="Inter" panose="020B0604020202020204" charset="0"/>
                        </a:rPr>
                        <a:t> / refused loans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695024628"/>
                  </a:ext>
                </a:extLst>
              </a:tr>
              <a:tr h="370840">
                <a:tc>
                  <a:txBody>
                    <a:bodyPr/>
                    <a:lstStyle/>
                    <a:p>
                      <a:pPr algn="ctr"/>
                      <a:r>
                        <a:rPr lang="en-US" dirty="0">
                          <a:solidFill>
                            <a:schemeClr val="tx1"/>
                          </a:solidFill>
                          <a:latin typeface="Inter" panose="020B0604020202020204" charset="0"/>
                          <a:cs typeface="Inter" panose="020B0604020202020204" charset="0"/>
                        </a:rPr>
                        <a:t>7</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a:solidFill>
                            <a:srgbClr val="000000"/>
                          </a:solidFill>
                          <a:effectLst/>
                          <a:latin typeface="Inter" panose="020B0604020202020204" charset="0"/>
                          <a:cs typeface="Inter" panose="020B0604020202020204" charset="0"/>
                        </a:rPr>
                        <a:t>DAYS_FIRST_DRAWING</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a:solidFill>
                            <a:srgbClr val="000000"/>
                          </a:solidFill>
                          <a:effectLst/>
                          <a:latin typeface="Inter" panose="020B0604020202020204" charset="0"/>
                          <a:cs typeface="Inter" panose="020B0604020202020204" charset="0"/>
                        </a:rPr>
                        <a:t>First drawing date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40.29813%/</a:t>
                      </a:r>
                    </a:p>
                    <a:p>
                      <a:pPr marL="0" marR="0" lvl="0" indent="0" algn="ctr" defTabSz="914400" rtl="0" eaLnBrk="1" fontAlgn="b" latinLnBrk="0" hangingPunct="1">
                        <a:lnSpc>
                          <a:spcPct val="100000"/>
                        </a:lnSpc>
                        <a:spcBef>
                          <a:spcPts val="0"/>
                        </a:spcBef>
                        <a:spcAft>
                          <a:spcPts val="0"/>
                        </a:spcAft>
                        <a:buClrTx/>
                        <a:buSzTx/>
                        <a:buFontTx/>
                        <a:buNone/>
                        <a:tabLst/>
                        <a:defRPr/>
                      </a:pPr>
                      <a:r>
                        <a:rPr lang="en-IN" sz="1800" b="0" i="0" u="none" strike="noStrike" dirty="0">
                          <a:solidFill>
                            <a:srgbClr val="000000"/>
                          </a:solidFill>
                          <a:effectLst/>
                          <a:latin typeface="Inter" panose="020B0604020202020204" charset="0"/>
                          <a:cs typeface="Inter" panose="020B0604020202020204" charset="0"/>
                        </a:rPr>
                        <a:t>96% after </a:t>
                      </a:r>
                      <a:r>
                        <a:rPr lang="en-IN" sz="1800" b="0" kern="1200" dirty="0">
                          <a:solidFill>
                            <a:schemeClr val="dk1"/>
                          </a:solidFill>
                          <a:effectLst/>
                          <a:latin typeface="+mn-lt"/>
                          <a:ea typeface="+mn-ea"/>
                          <a:cs typeface="+mn-cs"/>
                        </a:rPr>
                        <a:t>365243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8A7"/>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dropped</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Loan never activated</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1205656558"/>
                  </a:ext>
                </a:extLst>
              </a:tr>
              <a:tr h="370840">
                <a:tc>
                  <a:txBody>
                    <a:bodyPr/>
                    <a:lstStyle/>
                    <a:p>
                      <a:pPr algn="ctr"/>
                      <a:r>
                        <a:rPr lang="en-US" dirty="0">
                          <a:solidFill>
                            <a:schemeClr val="tx1"/>
                          </a:solidFill>
                          <a:latin typeface="Inter" panose="020B0604020202020204" charset="0"/>
                          <a:cs typeface="Inter" panose="020B0604020202020204" charset="0"/>
                        </a:rPr>
                        <a:t>8</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a:solidFill>
                            <a:srgbClr val="000000"/>
                          </a:solidFill>
                          <a:effectLst/>
                          <a:latin typeface="Inter" panose="020B0604020202020204" charset="0"/>
                          <a:cs typeface="Inter" panose="020B0604020202020204" charset="0"/>
                        </a:rPr>
                        <a:t>DAYS_FIRST_DUE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a:solidFill>
                            <a:srgbClr val="000000"/>
                          </a:solidFill>
                          <a:effectLst/>
                          <a:latin typeface="Inter" panose="020B0604020202020204" charset="0"/>
                          <a:cs typeface="Inter" panose="020B0604020202020204" charset="0"/>
                        </a:rPr>
                        <a:t>First due date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40.29813%/ </a:t>
                      </a:r>
                    </a:p>
                    <a:p>
                      <a:pPr marL="0" marR="0" lvl="0" indent="0" algn="ctr" defTabSz="914400" rtl="0" eaLnBrk="1" fontAlgn="b" latinLnBrk="0" hangingPunct="1">
                        <a:lnSpc>
                          <a:spcPct val="100000"/>
                        </a:lnSpc>
                        <a:spcBef>
                          <a:spcPts val="0"/>
                        </a:spcBef>
                        <a:spcAft>
                          <a:spcPts val="0"/>
                        </a:spcAft>
                        <a:buClrTx/>
                        <a:buSzTx/>
                        <a:buFontTx/>
                        <a:buNone/>
                        <a:tabLst/>
                        <a:defRPr/>
                      </a:pPr>
                      <a:r>
                        <a:rPr lang="en-IN" sz="1800" b="0" kern="1200" dirty="0">
                          <a:solidFill>
                            <a:schemeClr val="dk1"/>
                          </a:solidFill>
                          <a:effectLst/>
                          <a:latin typeface="+mn-lt"/>
                          <a:ea typeface="+mn-ea"/>
                          <a:cs typeface="+mn-cs"/>
                        </a:rPr>
                        <a:t>365243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8A7"/>
                    </a:solidFill>
                  </a:tcPr>
                </a:tc>
                <a:tc>
                  <a:txBody>
                    <a:bodyPr/>
                    <a:lstStyle/>
                    <a:p>
                      <a:pPr algn="ctr" fontAlgn="b">
                        <a:buNone/>
                      </a:pPr>
                      <a:r>
                        <a:rPr lang="en-IN" sz="1800" b="0" i="0" u="none" strike="noStrike">
                          <a:solidFill>
                            <a:srgbClr val="000000"/>
                          </a:solidFill>
                          <a:effectLst/>
                          <a:latin typeface="Inter" panose="020B0604020202020204" charset="0"/>
                          <a:cs typeface="Inter" panose="020B0604020202020204" charset="0"/>
                        </a:rPr>
                        <a:t>Filled with 0 + indicator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No repayment schedule available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2182669691"/>
                  </a:ext>
                </a:extLst>
              </a:tr>
              <a:tr h="370840">
                <a:tc>
                  <a:txBody>
                    <a:bodyPr/>
                    <a:lstStyle/>
                    <a:p>
                      <a:pPr algn="ctr"/>
                      <a:r>
                        <a:rPr lang="en-US" dirty="0">
                          <a:solidFill>
                            <a:schemeClr val="tx1"/>
                          </a:solidFill>
                          <a:latin typeface="Inter" panose="020B0604020202020204" charset="0"/>
                          <a:cs typeface="Inter" panose="020B0604020202020204" charset="0"/>
                        </a:rPr>
                        <a:t>9</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a:solidFill>
                            <a:srgbClr val="000000"/>
                          </a:solidFill>
                          <a:effectLst/>
                          <a:latin typeface="Inter" panose="020B0604020202020204" charset="0"/>
                          <a:cs typeface="Inter" panose="020B0604020202020204" charset="0"/>
                        </a:rPr>
                        <a:t>DAYS_TERMINATION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a:solidFill>
                            <a:srgbClr val="000000"/>
                          </a:solidFill>
                          <a:effectLst/>
                          <a:latin typeface="Inter" panose="020B0604020202020204" charset="0"/>
                          <a:cs typeface="Inter" panose="020B0604020202020204" charset="0"/>
                        </a:rPr>
                        <a:t>Loan termination date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40.29813% /</a:t>
                      </a:r>
                    </a:p>
                    <a:p>
                      <a:pPr marL="0" marR="0" lvl="0" indent="0" algn="ctr" defTabSz="914400" rtl="0" eaLnBrk="1" fontAlgn="b" latinLnBrk="0" hangingPunct="1">
                        <a:lnSpc>
                          <a:spcPct val="100000"/>
                        </a:lnSpc>
                        <a:spcBef>
                          <a:spcPts val="0"/>
                        </a:spcBef>
                        <a:spcAft>
                          <a:spcPts val="0"/>
                        </a:spcAft>
                        <a:buClrTx/>
                        <a:buSzTx/>
                        <a:buFontTx/>
                        <a:buNone/>
                        <a:tabLst/>
                        <a:defRPr/>
                      </a:pPr>
                      <a:r>
                        <a:rPr lang="en-IN" sz="1800" b="0" kern="1200" dirty="0">
                          <a:solidFill>
                            <a:schemeClr val="dk1"/>
                          </a:solidFill>
                          <a:effectLst/>
                          <a:latin typeface="+mn-lt"/>
                          <a:ea typeface="+mn-ea"/>
                          <a:cs typeface="+mn-cs"/>
                        </a:rPr>
                        <a:t>365243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8A7"/>
                    </a:solidFill>
                  </a:tcPr>
                </a:tc>
                <a:tc>
                  <a:txBody>
                    <a:bodyPr/>
                    <a:lstStyle/>
                    <a:p>
                      <a:pPr algn="ctr" fontAlgn="b">
                        <a:buNone/>
                      </a:pPr>
                      <a:r>
                        <a:rPr lang="en-IN" sz="1800" b="0" i="0" u="none" strike="noStrike">
                          <a:solidFill>
                            <a:srgbClr val="000000"/>
                          </a:solidFill>
                          <a:effectLst/>
                          <a:latin typeface="Inter" panose="020B0604020202020204" charset="0"/>
                          <a:cs typeface="Inter" panose="020B0604020202020204" charset="0"/>
                        </a:rPr>
                        <a:t>Filled with 0 + indicator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Loan lifecycle incomplete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2903857684"/>
                  </a:ext>
                </a:extLst>
              </a:tr>
              <a:tr h="202307">
                <a:tc>
                  <a:txBody>
                    <a:bodyPr/>
                    <a:lstStyle/>
                    <a:p>
                      <a:pPr algn="ctr"/>
                      <a:r>
                        <a:rPr lang="en-US" dirty="0">
                          <a:solidFill>
                            <a:schemeClr val="tx1"/>
                          </a:solidFill>
                          <a:latin typeface="Inter" panose="020B0604020202020204" charset="0"/>
                          <a:cs typeface="Inter" panose="020B0604020202020204" charset="0"/>
                        </a:rPr>
                        <a:t>10</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a:solidFill>
                            <a:srgbClr val="000000"/>
                          </a:solidFill>
                          <a:effectLst/>
                          <a:latin typeface="Inter" panose="020B0604020202020204" charset="0"/>
                          <a:cs typeface="Inter" panose="020B0604020202020204" charset="0"/>
                        </a:rPr>
                        <a:t>NFLAG_INSURED_ON_APPROVAL</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a:solidFill>
                            <a:srgbClr val="000000"/>
                          </a:solidFill>
                          <a:effectLst/>
                          <a:latin typeface="Inter" panose="020B0604020202020204" charset="0"/>
                          <a:cs typeface="Inter" panose="020B0604020202020204" charset="0"/>
                        </a:rPr>
                        <a:t>Insurance approval flag</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40.29813%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8A7"/>
                    </a:solidFill>
                  </a:tcPr>
                </a:tc>
                <a:tc>
                  <a:txBody>
                    <a:bodyPr/>
                    <a:lstStyle/>
                    <a:p>
                      <a:pPr algn="ctr" fontAlgn="b">
                        <a:buNone/>
                      </a:pPr>
                      <a:r>
                        <a:rPr lang="en-IN" sz="1800" b="0" i="0" u="none" strike="noStrike">
                          <a:solidFill>
                            <a:srgbClr val="000000"/>
                          </a:solidFill>
                          <a:effectLst/>
                          <a:latin typeface="Inter" panose="020B0604020202020204" charset="0"/>
                          <a:cs typeface="Inter" panose="020B0604020202020204" charset="0"/>
                        </a:rPr>
                        <a:t>Filled with 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Missing mostly in cancelled /refused applications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493307017"/>
                  </a:ext>
                </a:extLst>
              </a:tr>
            </a:tbl>
          </a:graphicData>
        </a:graphic>
      </p:graphicFrame>
    </p:spTree>
    <p:extLst>
      <p:ext uri="{BB962C8B-B14F-4D97-AF65-F5344CB8AC3E}">
        <p14:creationId xmlns:p14="http://schemas.microsoft.com/office/powerpoint/2010/main" val="15325248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C5D6CA"/>
        </a:solidFill>
        <a:effectLst/>
      </p:bgPr>
    </p:bg>
    <p:spTree>
      <p:nvGrpSpPr>
        <p:cNvPr id="1" name="">
          <a:extLst>
            <a:ext uri="{FF2B5EF4-FFF2-40B4-BE49-F238E27FC236}">
              <a16:creationId xmlns:a16="http://schemas.microsoft.com/office/drawing/2014/main" id="{92A68AFF-3B8F-0422-7C01-34E5847CDF03}"/>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BA39DCC5-23FC-87A2-C7E6-6BE8DBBC8DB4}"/>
              </a:ext>
            </a:extLst>
          </p:cNvPr>
          <p:cNvGrpSpPr/>
          <p:nvPr/>
        </p:nvGrpSpPr>
        <p:grpSpPr>
          <a:xfrm>
            <a:off x="0" y="9497082"/>
            <a:ext cx="18292543" cy="787203"/>
            <a:chOff x="0" y="0"/>
            <a:chExt cx="24390058" cy="1049604"/>
          </a:xfrm>
        </p:grpSpPr>
        <p:sp>
          <p:nvSpPr>
            <p:cNvPr id="3" name="Freeform 3">
              <a:extLst>
                <a:ext uri="{FF2B5EF4-FFF2-40B4-BE49-F238E27FC236}">
                  <a16:creationId xmlns:a16="http://schemas.microsoft.com/office/drawing/2014/main" id="{E20B4E74-4919-7C2A-3A48-06CCD4C4BFB9}"/>
                </a:ext>
              </a:extLst>
            </p:cNvPr>
            <p:cNvSpPr/>
            <p:nvPr/>
          </p:nvSpPr>
          <p:spPr>
            <a:xfrm>
              <a:off x="0" y="0"/>
              <a:ext cx="24390096" cy="1049655"/>
            </a:xfrm>
            <a:custGeom>
              <a:avLst/>
              <a:gdLst/>
              <a:ahLst/>
              <a:cxnLst/>
              <a:rect l="l" t="t" r="r" b="b"/>
              <a:pathLst>
                <a:path w="24390096" h="1049655">
                  <a:moveTo>
                    <a:pt x="0" y="0"/>
                  </a:moveTo>
                  <a:lnTo>
                    <a:pt x="24390096" y="0"/>
                  </a:lnTo>
                  <a:lnTo>
                    <a:pt x="24390096" y="1049655"/>
                  </a:lnTo>
                  <a:lnTo>
                    <a:pt x="0" y="1049655"/>
                  </a:lnTo>
                  <a:close/>
                </a:path>
              </a:pathLst>
            </a:custGeom>
            <a:solidFill>
              <a:srgbClr val="348E90"/>
            </a:solidFill>
          </p:spPr>
          <p:txBody>
            <a:bodyPr/>
            <a:lstStyle/>
            <a:p>
              <a:endParaRPr lang="en-IN"/>
            </a:p>
          </p:txBody>
        </p:sp>
      </p:grpSp>
      <p:sp>
        <p:nvSpPr>
          <p:cNvPr id="4" name="Rectangle 3">
            <a:extLst>
              <a:ext uri="{FF2B5EF4-FFF2-40B4-BE49-F238E27FC236}">
                <a16:creationId xmlns:a16="http://schemas.microsoft.com/office/drawing/2014/main" id="{5200F990-C452-33C3-DFE8-275C18A1F225}"/>
              </a:ext>
            </a:extLst>
          </p:cNvPr>
          <p:cNvSpPr/>
          <p:nvPr/>
        </p:nvSpPr>
        <p:spPr>
          <a:xfrm>
            <a:off x="15544800" y="0"/>
            <a:ext cx="1143000" cy="1823056"/>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IN"/>
          </a:p>
        </p:txBody>
      </p:sp>
      <p:sp>
        <p:nvSpPr>
          <p:cNvPr id="7" name="TextBox 6">
            <a:extLst>
              <a:ext uri="{FF2B5EF4-FFF2-40B4-BE49-F238E27FC236}">
                <a16:creationId xmlns:a16="http://schemas.microsoft.com/office/drawing/2014/main" id="{995859E1-BAA4-032B-FCFE-36C6755A88E3}"/>
              </a:ext>
            </a:extLst>
          </p:cNvPr>
          <p:cNvSpPr txBox="1"/>
          <p:nvPr/>
        </p:nvSpPr>
        <p:spPr>
          <a:xfrm>
            <a:off x="3390900" y="911528"/>
            <a:ext cx="11506200" cy="707886"/>
          </a:xfrm>
          <a:prstGeom prst="rect">
            <a:avLst/>
          </a:prstGeom>
          <a:noFill/>
        </p:spPr>
        <p:txBody>
          <a:bodyPr wrap="square">
            <a:spAutoFit/>
          </a:bodyPr>
          <a:lstStyle/>
          <a:p>
            <a:r>
              <a:rPr lang="en-IN" sz="4000" b="1" dirty="0">
                <a:latin typeface="Inter" panose="020B0604020202020204" charset="0"/>
                <a:cs typeface="Inter" panose="020B0604020202020204" charset="0"/>
              </a:rPr>
              <a:t>Missing Value Assessment </a:t>
            </a:r>
            <a:r>
              <a:rPr lang="en-IN" sz="4000" dirty="0">
                <a:latin typeface="Inter" panose="020B0604020202020204" charset="0"/>
                <a:cs typeface="Inter" panose="020B0604020202020204" charset="0"/>
              </a:rPr>
              <a:t>(</a:t>
            </a:r>
            <a:r>
              <a:rPr lang="en-IN" sz="4000" b="1" dirty="0">
                <a:latin typeface="Inter" panose="020B0604020202020204" charset="0"/>
                <a:cs typeface="Inter" panose="020B0604020202020204" charset="0"/>
              </a:rPr>
              <a:t>previous_application</a:t>
            </a:r>
            <a:r>
              <a:rPr lang="en-IN" sz="4000" dirty="0">
                <a:latin typeface="Inter" panose="020B0604020202020204" charset="0"/>
                <a:cs typeface="Inter" panose="020B0604020202020204" charset="0"/>
              </a:rPr>
              <a:t>)</a:t>
            </a:r>
            <a:endParaRPr lang="en-IN" sz="4000" b="1" dirty="0">
              <a:latin typeface="Inter" panose="020B0604020202020204" charset="0"/>
              <a:cs typeface="Inter" panose="020B0604020202020204" charset="0"/>
            </a:endParaRPr>
          </a:p>
        </p:txBody>
      </p:sp>
      <p:graphicFrame>
        <p:nvGraphicFramePr>
          <p:cNvPr id="10" name="Table 9">
            <a:extLst>
              <a:ext uri="{FF2B5EF4-FFF2-40B4-BE49-F238E27FC236}">
                <a16:creationId xmlns:a16="http://schemas.microsoft.com/office/drawing/2014/main" id="{E1A15486-E0BB-C151-990E-08B4FC930A1F}"/>
              </a:ext>
            </a:extLst>
          </p:cNvPr>
          <p:cNvGraphicFramePr>
            <a:graphicFrameLocks noGrp="1"/>
          </p:cNvGraphicFramePr>
          <p:nvPr>
            <p:extLst>
              <p:ext uri="{D42A27DB-BD31-4B8C-83A1-F6EECF244321}">
                <p14:modId xmlns:p14="http://schemas.microsoft.com/office/powerpoint/2010/main" val="2063008635"/>
              </p:ext>
            </p:extLst>
          </p:nvPr>
        </p:nvGraphicFramePr>
        <p:xfrm>
          <a:off x="994719" y="2171700"/>
          <a:ext cx="15693081" cy="5428374"/>
        </p:xfrm>
        <a:graphic>
          <a:graphicData uri="http://schemas.openxmlformats.org/drawingml/2006/table">
            <a:tbl>
              <a:tblPr firstRow="1" bandRow="1">
                <a:tableStyleId>{5C22544A-7EE6-4342-B048-85BDC9FD1C3A}</a:tableStyleId>
              </a:tblPr>
              <a:tblGrid>
                <a:gridCol w="949595">
                  <a:extLst>
                    <a:ext uri="{9D8B030D-6E8A-4147-A177-3AD203B41FA5}">
                      <a16:colId xmlns:a16="http://schemas.microsoft.com/office/drawing/2014/main" val="3862799426"/>
                    </a:ext>
                  </a:extLst>
                </a:gridCol>
                <a:gridCol w="3814235">
                  <a:extLst>
                    <a:ext uri="{9D8B030D-6E8A-4147-A177-3AD203B41FA5}">
                      <a16:colId xmlns:a16="http://schemas.microsoft.com/office/drawing/2014/main" val="3215684268"/>
                    </a:ext>
                  </a:extLst>
                </a:gridCol>
                <a:gridCol w="1833767">
                  <a:extLst>
                    <a:ext uri="{9D8B030D-6E8A-4147-A177-3AD203B41FA5}">
                      <a16:colId xmlns:a16="http://schemas.microsoft.com/office/drawing/2014/main" val="1676543941"/>
                    </a:ext>
                  </a:extLst>
                </a:gridCol>
                <a:gridCol w="1760416">
                  <a:extLst>
                    <a:ext uri="{9D8B030D-6E8A-4147-A177-3AD203B41FA5}">
                      <a16:colId xmlns:a16="http://schemas.microsoft.com/office/drawing/2014/main" val="1375971458"/>
                    </a:ext>
                  </a:extLst>
                </a:gridCol>
                <a:gridCol w="2420572">
                  <a:extLst>
                    <a:ext uri="{9D8B030D-6E8A-4147-A177-3AD203B41FA5}">
                      <a16:colId xmlns:a16="http://schemas.microsoft.com/office/drawing/2014/main" val="4001133099"/>
                    </a:ext>
                  </a:extLst>
                </a:gridCol>
                <a:gridCol w="4914496">
                  <a:extLst>
                    <a:ext uri="{9D8B030D-6E8A-4147-A177-3AD203B41FA5}">
                      <a16:colId xmlns:a16="http://schemas.microsoft.com/office/drawing/2014/main" val="2594481052"/>
                    </a:ext>
                  </a:extLst>
                </a:gridCol>
              </a:tblGrid>
              <a:tr h="775482">
                <a:tc>
                  <a:txBody>
                    <a:bodyPr/>
                    <a:lstStyle/>
                    <a:p>
                      <a:pPr algn="ctr" fontAlgn="b">
                        <a:buNone/>
                      </a:pPr>
                      <a:r>
                        <a:rPr lang="en-US" sz="1800" b="1" i="0" u="none" strike="noStrike" dirty="0">
                          <a:solidFill>
                            <a:schemeClr val="tx1"/>
                          </a:solidFill>
                          <a:effectLst/>
                          <a:latin typeface="Inter" panose="020B0604020202020204" charset="0"/>
                          <a:cs typeface="Inter" panose="020B0604020202020204" charset="0"/>
                        </a:rPr>
                        <a:t>S. No.</a:t>
                      </a:r>
                      <a:endParaRPr lang="en-IN" sz="1800" b="1" i="0" u="none" strike="noStrike" dirty="0">
                        <a:solidFill>
                          <a:schemeClr val="tx1"/>
                        </a:solidFill>
                        <a:effectLst/>
                        <a:latin typeface="Inter" panose="020B0604020202020204" charset="0"/>
                        <a:cs typeface="Inter" panose="020B060402020202020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1" i="0" u="none" strike="noStrike" dirty="0">
                          <a:solidFill>
                            <a:schemeClr val="tx1"/>
                          </a:solidFill>
                          <a:effectLst/>
                          <a:latin typeface="Inter" panose="020B0604020202020204" charset="0"/>
                          <a:cs typeface="Inter" panose="020B0604020202020204" charset="0"/>
                        </a:rPr>
                        <a:t>Column Name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1" i="0" u="none" strike="noStrike" dirty="0">
                          <a:solidFill>
                            <a:schemeClr val="tx1"/>
                          </a:solidFill>
                          <a:effectLst/>
                          <a:latin typeface="Inter" panose="020B0604020202020204" charset="0"/>
                          <a:cs typeface="Inter" panose="020B0604020202020204" charset="0"/>
                        </a:rPr>
                        <a:t>Column Purpose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1" i="0" u="none" strike="noStrike" dirty="0">
                          <a:solidFill>
                            <a:schemeClr val="tx1"/>
                          </a:solidFill>
                          <a:effectLst/>
                          <a:latin typeface="Inter" panose="020B0604020202020204" charset="0"/>
                          <a:cs typeface="Inter" panose="020B0604020202020204" charset="0"/>
                        </a:rPr>
                        <a:t>Missing % / Anomaly</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1" i="0" u="none" strike="noStrike" dirty="0">
                          <a:solidFill>
                            <a:schemeClr val="tx1"/>
                          </a:solidFill>
                          <a:effectLst/>
                          <a:latin typeface="Inter" panose="020B0604020202020204" charset="0"/>
                          <a:cs typeface="Inter" panose="020B0604020202020204" charset="0"/>
                        </a:rPr>
                        <a:t>What We Did</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1" i="0" u="none" strike="noStrike" dirty="0">
                          <a:solidFill>
                            <a:schemeClr val="tx1"/>
                          </a:solidFill>
                          <a:effectLst/>
                          <a:latin typeface="Inter" panose="020B0604020202020204" charset="0"/>
                          <a:cs typeface="Inter" panose="020B0604020202020204" charset="0"/>
                        </a:rPr>
                        <a:t>Why We Did It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4257040053"/>
                  </a:ext>
                </a:extLst>
              </a:tr>
              <a:tr h="775482">
                <a:tc>
                  <a:txBody>
                    <a:bodyPr/>
                    <a:lstStyle/>
                    <a:p>
                      <a:pPr algn="ctr"/>
                      <a:r>
                        <a:rPr lang="en-US" dirty="0">
                          <a:solidFill>
                            <a:schemeClr val="tx1"/>
                          </a:solidFill>
                          <a:latin typeface="Inter" panose="020B0604020202020204" charset="0"/>
                          <a:cs typeface="Inter" panose="020B0604020202020204" charset="0"/>
                        </a:rPr>
                        <a:t>11</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DAYS_LAST_DUE_1ST_VERSION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Initial last due date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chemeClr val="tx1"/>
                          </a:solidFill>
                          <a:effectLst/>
                          <a:latin typeface="Inter" panose="020B0604020202020204" charset="0"/>
                          <a:cs typeface="Inter" panose="020B0604020202020204" charset="0"/>
                        </a:rPr>
                        <a:t>40.29813%/</a:t>
                      </a:r>
                    </a:p>
                    <a:p>
                      <a:pPr marL="0" marR="0" lvl="0" indent="0" algn="ctr" defTabSz="914400" rtl="0" eaLnBrk="1" fontAlgn="b" latinLnBrk="0" hangingPunct="1">
                        <a:lnSpc>
                          <a:spcPct val="100000"/>
                        </a:lnSpc>
                        <a:spcBef>
                          <a:spcPts val="0"/>
                        </a:spcBef>
                        <a:spcAft>
                          <a:spcPts val="0"/>
                        </a:spcAft>
                        <a:buClrTx/>
                        <a:buSzTx/>
                        <a:buFontTx/>
                        <a:buNone/>
                        <a:tabLst/>
                        <a:defRPr/>
                      </a:pPr>
                      <a:r>
                        <a:rPr lang="en-IN" sz="1800" b="0" kern="1200" dirty="0">
                          <a:solidFill>
                            <a:schemeClr val="dk1"/>
                          </a:solidFill>
                          <a:effectLst/>
                          <a:latin typeface="+mn-lt"/>
                          <a:ea typeface="+mn-ea"/>
                          <a:cs typeface="+mn-cs"/>
                        </a:rPr>
                        <a:t>365243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8A7"/>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Filled with 0 + indicator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No finalized repayment schedule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2629133832"/>
                  </a:ext>
                </a:extLst>
              </a:tr>
              <a:tr h="775482">
                <a:tc>
                  <a:txBody>
                    <a:bodyPr/>
                    <a:lstStyle/>
                    <a:p>
                      <a:pPr algn="ctr"/>
                      <a:r>
                        <a:rPr lang="en-US" dirty="0">
                          <a:solidFill>
                            <a:schemeClr val="tx1"/>
                          </a:solidFill>
                          <a:latin typeface="Inter" panose="020B0604020202020204" charset="0"/>
                          <a:cs typeface="Inter" panose="020B0604020202020204" charset="0"/>
                        </a:rPr>
                        <a:t>12</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AMT_GOODS_PRICE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Goods financed price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23.08177%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buNone/>
                      </a:pPr>
                      <a:r>
                        <a:rPr lang="en-US" sz="1800" b="0" i="0" u="none" strike="noStrike" dirty="0">
                          <a:solidFill>
                            <a:srgbClr val="000000"/>
                          </a:solidFill>
                          <a:effectLst/>
                          <a:latin typeface="Inter" panose="020B0604020202020204" charset="0"/>
                          <a:cs typeface="Inter" panose="020B0604020202020204" charset="0"/>
                        </a:rPr>
                        <a:t>C</a:t>
                      </a:r>
                      <a:r>
                        <a:rPr lang="en-IN" sz="1800" b="0" i="0" u="none" strike="noStrike" dirty="0">
                          <a:solidFill>
                            <a:srgbClr val="000000"/>
                          </a:solidFill>
                          <a:effectLst/>
                          <a:latin typeface="Inter" panose="020B0604020202020204" charset="0"/>
                          <a:cs typeface="Inter" panose="020B0604020202020204" charset="0"/>
                        </a:rPr>
                        <a:t>reate a flag/ fill with 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Show signals toward cash loan/ revolving loans</a:t>
                      </a:r>
                    </a:p>
                    <a:p>
                      <a:pPr algn="ctr" fontAlgn="b">
                        <a:buNone/>
                      </a:pPr>
                      <a:r>
                        <a:rPr lang="en-IN" sz="1800" b="0" i="0" u="none" strike="noStrike" dirty="0">
                          <a:solidFill>
                            <a:srgbClr val="000000"/>
                          </a:solidFill>
                          <a:effectLst/>
                          <a:latin typeface="Inter" panose="020B0604020202020204" charset="0"/>
                          <a:cs typeface="Inter" panose="020B0604020202020204" charset="0"/>
                        </a:rPr>
                        <a:t>And 0 already present so flag</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3650061759"/>
                  </a:ext>
                </a:extLst>
              </a:tr>
              <a:tr h="775482">
                <a:tc>
                  <a:txBody>
                    <a:bodyPr/>
                    <a:lstStyle/>
                    <a:p>
                      <a:pPr algn="ctr"/>
                      <a:r>
                        <a:rPr lang="en-US" dirty="0">
                          <a:solidFill>
                            <a:schemeClr val="tx1"/>
                          </a:solidFill>
                          <a:latin typeface="Inter" panose="020B0604020202020204" charset="0"/>
                          <a:cs typeface="Inter" panose="020B0604020202020204" charset="0"/>
                        </a:rPr>
                        <a:t>13</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AMT_ANNUITY</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Loan annuity amount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22.28667%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Create a flag /fill to 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dirty="0">
                          <a:latin typeface="Inter" panose="020B0604020202020204" charset="0"/>
                          <a:cs typeface="Inter" panose="020B0604020202020204" charset="0"/>
                        </a:rPr>
                        <a:t>Almost every approved application has an annuity value.</a:t>
                      </a:r>
                      <a:endParaRPr lang="en-IN" sz="1800" b="0" i="0" u="none" strike="noStrike" dirty="0">
                        <a:solidFill>
                          <a:srgbClr val="000000"/>
                        </a:solidFill>
                        <a:effectLst/>
                        <a:latin typeface="Inter" panose="020B0604020202020204" charset="0"/>
                        <a:cs typeface="Inter" panose="020B060402020202020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3616123418"/>
                  </a:ext>
                </a:extLst>
              </a:tr>
              <a:tr h="775482">
                <a:tc>
                  <a:txBody>
                    <a:bodyPr/>
                    <a:lstStyle/>
                    <a:p>
                      <a:pPr algn="ctr"/>
                      <a:r>
                        <a:rPr lang="en-US" dirty="0">
                          <a:solidFill>
                            <a:schemeClr val="tx1"/>
                          </a:solidFill>
                          <a:latin typeface="Inter" panose="020B0604020202020204" charset="0"/>
                          <a:cs typeface="Inter" panose="020B0604020202020204" charset="0"/>
                        </a:rPr>
                        <a:t>14</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CNT_PAYMENT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Planned payment count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22.28637%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Fill 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US" sz="1800" b="0" i="0" u="none" strike="noStrike" dirty="0">
                          <a:solidFill>
                            <a:srgbClr val="000000"/>
                          </a:solidFill>
                          <a:effectLst/>
                          <a:latin typeface="Inter" panose="020B0604020202020204" charset="0"/>
                          <a:cs typeface="Inter" panose="020B0604020202020204" charset="0"/>
                        </a:rPr>
                        <a:t>I</a:t>
                      </a:r>
                      <a:r>
                        <a:rPr lang="en-IN" sz="1800" b="0" i="0" u="none" strike="noStrike" dirty="0">
                          <a:solidFill>
                            <a:srgbClr val="000000"/>
                          </a:solidFill>
                          <a:effectLst/>
                          <a:latin typeface="Inter" panose="020B0604020202020204" charset="0"/>
                          <a:cs typeface="Inter" panose="020B0604020202020204" charset="0"/>
                        </a:rPr>
                        <a:t>t is missing specially in approved and no real 0 present so no need of flag</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2680598663"/>
                  </a:ext>
                </a:extLst>
              </a:tr>
              <a:tr h="775482">
                <a:tc>
                  <a:txBody>
                    <a:bodyPr/>
                    <a:lstStyle/>
                    <a:p>
                      <a:pPr algn="ctr"/>
                      <a:r>
                        <a:rPr lang="en-US" dirty="0">
                          <a:solidFill>
                            <a:schemeClr val="tx1"/>
                          </a:solidFill>
                          <a:latin typeface="Inter" panose="020B0604020202020204" charset="0"/>
                          <a:cs typeface="Inter" panose="020B0604020202020204" charset="0"/>
                        </a:rPr>
                        <a:t>15</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PRODUCT_COMBINATION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Loan-product combination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0.02072%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fontAlgn="b">
                        <a:buNone/>
                      </a:pPr>
                      <a:r>
                        <a:rPr lang="en-US" sz="1800" b="0" i="0" u="none" strike="noStrike" dirty="0">
                          <a:solidFill>
                            <a:srgbClr val="000000"/>
                          </a:solidFill>
                          <a:effectLst/>
                          <a:latin typeface="Inter" panose="020B0604020202020204" charset="0"/>
                          <a:cs typeface="Inter" panose="020B0604020202020204" charset="0"/>
                        </a:rPr>
                        <a:t>Just </a:t>
                      </a:r>
                      <a:r>
                        <a:rPr lang="en-IN" sz="1800" b="0" i="0" u="none" strike="noStrike" dirty="0">
                          <a:solidFill>
                            <a:srgbClr val="000000"/>
                          </a:solidFill>
                          <a:effectLst/>
                          <a:latin typeface="Inter" panose="020B0604020202020204" charset="0"/>
                          <a:cs typeface="Inter" panose="020B0604020202020204" charset="0"/>
                        </a:rPr>
                        <a:t>drop missing rows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Too low missing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4020752703"/>
                  </a:ext>
                </a:extLst>
              </a:tr>
              <a:tr h="775482">
                <a:tc>
                  <a:txBody>
                    <a:bodyPr/>
                    <a:lstStyle/>
                    <a:p>
                      <a:pPr algn="ctr"/>
                      <a:r>
                        <a:rPr lang="en-US" dirty="0">
                          <a:solidFill>
                            <a:schemeClr val="tx1"/>
                          </a:solidFill>
                          <a:latin typeface="Inter" panose="020B0604020202020204" charset="0"/>
                          <a:cs typeface="Inter" panose="020B0604020202020204" charset="0"/>
                        </a:rPr>
                        <a:t>16</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AMT_CREDIT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Previous loan credit amount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1 value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Drop</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Negligible missingness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695024628"/>
                  </a:ext>
                </a:extLst>
              </a:tr>
            </a:tbl>
          </a:graphicData>
        </a:graphic>
      </p:graphicFrame>
    </p:spTree>
    <p:extLst>
      <p:ext uri="{BB962C8B-B14F-4D97-AF65-F5344CB8AC3E}">
        <p14:creationId xmlns:p14="http://schemas.microsoft.com/office/powerpoint/2010/main" val="372302629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C5D6CA"/>
        </a:solidFill>
        <a:effectLst/>
      </p:bgPr>
    </p:bg>
    <p:spTree>
      <p:nvGrpSpPr>
        <p:cNvPr id="1" name="">
          <a:extLst>
            <a:ext uri="{FF2B5EF4-FFF2-40B4-BE49-F238E27FC236}">
              <a16:creationId xmlns:a16="http://schemas.microsoft.com/office/drawing/2014/main" id="{7F9B493E-2EA3-AF6C-1435-A89DAF61645F}"/>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9A75A6DA-1489-6520-A8CF-0CC23AE7A4FD}"/>
              </a:ext>
            </a:extLst>
          </p:cNvPr>
          <p:cNvGrpSpPr/>
          <p:nvPr/>
        </p:nvGrpSpPr>
        <p:grpSpPr>
          <a:xfrm>
            <a:off x="0" y="9497082"/>
            <a:ext cx="18292543" cy="787203"/>
            <a:chOff x="0" y="0"/>
            <a:chExt cx="24390058" cy="1049604"/>
          </a:xfrm>
        </p:grpSpPr>
        <p:sp>
          <p:nvSpPr>
            <p:cNvPr id="3" name="Freeform 3">
              <a:extLst>
                <a:ext uri="{FF2B5EF4-FFF2-40B4-BE49-F238E27FC236}">
                  <a16:creationId xmlns:a16="http://schemas.microsoft.com/office/drawing/2014/main" id="{8A58DCF3-E24A-D4E0-1D6C-EF259A96B3B5}"/>
                </a:ext>
              </a:extLst>
            </p:cNvPr>
            <p:cNvSpPr/>
            <p:nvPr/>
          </p:nvSpPr>
          <p:spPr>
            <a:xfrm>
              <a:off x="0" y="0"/>
              <a:ext cx="24390096" cy="1049655"/>
            </a:xfrm>
            <a:custGeom>
              <a:avLst/>
              <a:gdLst/>
              <a:ahLst/>
              <a:cxnLst/>
              <a:rect l="l" t="t" r="r" b="b"/>
              <a:pathLst>
                <a:path w="24390096" h="1049655">
                  <a:moveTo>
                    <a:pt x="0" y="0"/>
                  </a:moveTo>
                  <a:lnTo>
                    <a:pt x="24390096" y="0"/>
                  </a:lnTo>
                  <a:lnTo>
                    <a:pt x="24390096" y="1049655"/>
                  </a:lnTo>
                  <a:lnTo>
                    <a:pt x="0" y="1049655"/>
                  </a:lnTo>
                  <a:close/>
                </a:path>
              </a:pathLst>
            </a:custGeom>
            <a:solidFill>
              <a:srgbClr val="348E90"/>
            </a:solidFill>
          </p:spPr>
          <p:txBody>
            <a:bodyPr/>
            <a:lstStyle/>
            <a:p>
              <a:endParaRPr lang="en-IN"/>
            </a:p>
          </p:txBody>
        </p:sp>
      </p:grpSp>
      <p:sp>
        <p:nvSpPr>
          <p:cNvPr id="4" name="Rectangle 3">
            <a:extLst>
              <a:ext uri="{FF2B5EF4-FFF2-40B4-BE49-F238E27FC236}">
                <a16:creationId xmlns:a16="http://schemas.microsoft.com/office/drawing/2014/main" id="{15446205-0E22-8B02-99A5-F807CD74E5B0}"/>
              </a:ext>
            </a:extLst>
          </p:cNvPr>
          <p:cNvSpPr/>
          <p:nvPr/>
        </p:nvSpPr>
        <p:spPr>
          <a:xfrm>
            <a:off x="15544800" y="0"/>
            <a:ext cx="1143000" cy="1823056"/>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2D1D01BC-9340-9E50-7C86-AB7622E10302}"/>
              </a:ext>
            </a:extLst>
          </p:cNvPr>
          <p:cNvSpPr txBox="1"/>
          <p:nvPr/>
        </p:nvSpPr>
        <p:spPr>
          <a:xfrm>
            <a:off x="7829550" y="4162318"/>
            <a:ext cx="2628900" cy="1015663"/>
          </a:xfrm>
          <a:prstGeom prst="rect">
            <a:avLst/>
          </a:prstGeom>
          <a:noFill/>
        </p:spPr>
        <p:txBody>
          <a:bodyPr wrap="square">
            <a:spAutoFit/>
          </a:bodyPr>
          <a:lstStyle/>
          <a:p>
            <a:r>
              <a:rPr lang="en-IN" sz="6000" b="1" dirty="0">
                <a:latin typeface="Inter" panose="020B0604020202020204" charset="0"/>
                <a:cs typeface="Inter" panose="020B0604020202020204" charset="0"/>
              </a:rPr>
              <a:t>bureau</a:t>
            </a:r>
          </a:p>
        </p:txBody>
      </p:sp>
    </p:spTree>
    <p:extLst>
      <p:ext uri="{BB962C8B-B14F-4D97-AF65-F5344CB8AC3E}">
        <p14:creationId xmlns:p14="http://schemas.microsoft.com/office/powerpoint/2010/main" val="42033059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C5D6CA"/>
        </a:solidFill>
        <a:effectLst/>
      </p:bgPr>
    </p:bg>
    <p:spTree>
      <p:nvGrpSpPr>
        <p:cNvPr id="1" name="">
          <a:extLst>
            <a:ext uri="{FF2B5EF4-FFF2-40B4-BE49-F238E27FC236}">
              <a16:creationId xmlns:a16="http://schemas.microsoft.com/office/drawing/2014/main" id="{629DA2DF-1D88-5DD4-8070-9CF9F7B28C49}"/>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061E6052-5C55-4C6C-7563-12319990BAA5}"/>
              </a:ext>
            </a:extLst>
          </p:cNvPr>
          <p:cNvGrpSpPr/>
          <p:nvPr/>
        </p:nvGrpSpPr>
        <p:grpSpPr>
          <a:xfrm>
            <a:off x="0" y="9497082"/>
            <a:ext cx="18292543" cy="787203"/>
            <a:chOff x="0" y="0"/>
            <a:chExt cx="24390058" cy="1049604"/>
          </a:xfrm>
        </p:grpSpPr>
        <p:sp>
          <p:nvSpPr>
            <p:cNvPr id="3" name="Freeform 3">
              <a:extLst>
                <a:ext uri="{FF2B5EF4-FFF2-40B4-BE49-F238E27FC236}">
                  <a16:creationId xmlns:a16="http://schemas.microsoft.com/office/drawing/2014/main" id="{132712B4-6694-E9ED-6A79-DC982F447E17}"/>
                </a:ext>
              </a:extLst>
            </p:cNvPr>
            <p:cNvSpPr/>
            <p:nvPr/>
          </p:nvSpPr>
          <p:spPr>
            <a:xfrm>
              <a:off x="0" y="0"/>
              <a:ext cx="24390096" cy="1049655"/>
            </a:xfrm>
            <a:custGeom>
              <a:avLst/>
              <a:gdLst/>
              <a:ahLst/>
              <a:cxnLst/>
              <a:rect l="l" t="t" r="r" b="b"/>
              <a:pathLst>
                <a:path w="24390096" h="1049655">
                  <a:moveTo>
                    <a:pt x="0" y="0"/>
                  </a:moveTo>
                  <a:lnTo>
                    <a:pt x="24390096" y="0"/>
                  </a:lnTo>
                  <a:lnTo>
                    <a:pt x="24390096" y="1049655"/>
                  </a:lnTo>
                  <a:lnTo>
                    <a:pt x="0" y="1049655"/>
                  </a:lnTo>
                  <a:close/>
                </a:path>
              </a:pathLst>
            </a:custGeom>
            <a:solidFill>
              <a:srgbClr val="348E90"/>
            </a:solidFill>
          </p:spPr>
          <p:txBody>
            <a:bodyPr/>
            <a:lstStyle/>
            <a:p>
              <a:endParaRPr lang="en-IN"/>
            </a:p>
          </p:txBody>
        </p:sp>
      </p:grpSp>
      <p:sp>
        <p:nvSpPr>
          <p:cNvPr id="4" name="Rectangle 3">
            <a:extLst>
              <a:ext uri="{FF2B5EF4-FFF2-40B4-BE49-F238E27FC236}">
                <a16:creationId xmlns:a16="http://schemas.microsoft.com/office/drawing/2014/main" id="{9B13C5E7-EE8B-B1F4-E2B1-30B776DDAA54}"/>
              </a:ext>
            </a:extLst>
          </p:cNvPr>
          <p:cNvSpPr/>
          <p:nvPr/>
        </p:nvSpPr>
        <p:spPr>
          <a:xfrm>
            <a:off x="15544800" y="0"/>
            <a:ext cx="1143000" cy="1823056"/>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05485F4F-11FF-21B4-C799-F3D3D1970E41}"/>
              </a:ext>
            </a:extLst>
          </p:cNvPr>
          <p:cNvSpPr txBox="1"/>
          <p:nvPr/>
        </p:nvSpPr>
        <p:spPr>
          <a:xfrm>
            <a:off x="3390900" y="911528"/>
            <a:ext cx="11506200" cy="707886"/>
          </a:xfrm>
          <a:prstGeom prst="rect">
            <a:avLst/>
          </a:prstGeom>
          <a:noFill/>
        </p:spPr>
        <p:txBody>
          <a:bodyPr wrap="square">
            <a:spAutoFit/>
          </a:bodyPr>
          <a:lstStyle/>
          <a:p>
            <a:r>
              <a:rPr lang="en-IN" sz="4000" b="1" dirty="0">
                <a:latin typeface="Inter" panose="020B0604020202020204" charset="0"/>
                <a:cs typeface="Inter" panose="020B0604020202020204" charset="0"/>
              </a:rPr>
              <a:t>Missing Value Assessment </a:t>
            </a:r>
            <a:r>
              <a:rPr lang="en-IN" sz="4000" dirty="0">
                <a:latin typeface="Inter" panose="020B0604020202020204" charset="0"/>
                <a:cs typeface="Inter" panose="020B0604020202020204" charset="0"/>
              </a:rPr>
              <a:t>(</a:t>
            </a:r>
            <a:r>
              <a:rPr lang="en-IN" sz="4000" b="1" dirty="0">
                <a:latin typeface="Inter" panose="020B0604020202020204" charset="0"/>
                <a:cs typeface="Inter" panose="020B0604020202020204" charset="0"/>
              </a:rPr>
              <a:t>bureau</a:t>
            </a:r>
            <a:r>
              <a:rPr lang="en-IN" sz="4000" dirty="0">
                <a:latin typeface="Inter" panose="020B0604020202020204" charset="0"/>
                <a:cs typeface="Inter" panose="020B0604020202020204" charset="0"/>
              </a:rPr>
              <a:t>)</a:t>
            </a:r>
            <a:endParaRPr lang="en-IN" sz="4000" b="1" dirty="0">
              <a:latin typeface="Inter" panose="020B0604020202020204" charset="0"/>
              <a:cs typeface="Inter" panose="020B0604020202020204" charset="0"/>
            </a:endParaRPr>
          </a:p>
        </p:txBody>
      </p:sp>
      <p:sp>
        <p:nvSpPr>
          <p:cNvPr id="6" name="TextBox 5">
            <a:extLst>
              <a:ext uri="{FF2B5EF4-FFF2-40B4-BE49-F238E27FC236}">
                <a16:creationId xmlns:a16="http://schemas.microsoft.com/office/drawing/2014/main" id="{4D6F351B-2D9C-06D1-B591-A79918C247DF}"/>
              </a:ext>
            </a:extLst>
          </p:cNvPr>
          <p:cNvSpPr txBox="1"/>
          <p:nvPr/>
        </p:nvSpPr>
        <p:spPr>
          <a:xfrm>
            <a:off x="990600" y="1852918"/>
            <a:ext cx="15697200" cy="1031051"/>
          </a:xfrm>
          <a:prstGeom prst="rect">
            <a:avLst/>
          </a:prstGeom>
          <a:noFill/>
        </p:spPr>
        <p:txBody>
          <a:bodyPr wrap="square">
            <a:spAutoFit/>
          </a:bodyPr>
          <a:lstStyle/>
          <a:p>
            <a:pPr>
              <a:buNone/>
            </a:pPr>
            <a:r>
              <a:rPr lang="en-IN" sz="2500" b="1" dirty="0">
                <a:latin typeface="Inter" panose="020B0604020202020204" charset="0"/>
                <a:cs typeface="Inter" panose="020B0604020202020204" charset="0"/>
              </a:rPr>
              <a:t>Summary Statement</a:t>
            </a:r>
          </a:p>
          <a:p>
            <a:pPr>
              <a:buNone/>
            </a:pPr>
            <a:r>
              <a:rPr lang="en-IN" dirty="0">
                <a:latin typeface="Inter" panose="020B0604020202020204" charset="0"/>
                <a:cs typeface="Inter" panose="020B0604020202020204" charset="0"/>
              </a:rPr>
              <a:t>The bureau dataset contains external credit history information collected from credit bureaus. Missing values are primarily concentrated in overdue, debt, and loan closure-related variables, reflecting variations in customer credit activity and loan status.</a:t>
            </a:r>
          </a:p>
        </p:txBody>
      </p:sp>
      <p:graphicFrame>
        <p:nvGraphicFramePr>
          <p:cNvPr id="7" name="Table 6">
            <a:extLst>
              <a:ext uri="{FF2B5EF4-FFF2-40B4-BE49-F238E27FC236}">
                <a16:creationId xmlns:a16="http://schemas.microsoft.com/office/drawing/2014/main" id="{66F0BCC7-8B83-A312-8E46-BE11462E899E}"/>
              </a:ext>
            </a:extLst>
          </p:cNvPr>
          <p:cNvGraphicFramePr>
            <a:graphicFrameLocks noGrp="1"/>
          </p:cNvGraphicFramePr>
          <p:nvPr>
            <p:extLst>
              <p:ext uri="{D42A27DB-BD31-4B8C-83A1-F6EECF244321}">
                <p14:modId xmlns:p14="http://schemas.microsoft.com/office/powerpoint/2010/main" val="17830885"/>
              </p:ext>
            </p:extLst>
          </p:nvPr>
        </p:nvGraphicFramePr>
        <p:xfrm>
          <a:off x="990600" y="3117473"/>
          <a:ext cx="15697200" cy="5047357"/>
        </p:xfrm>
        <a:graphic>
          <a:graphicData uri="http://schemas.openxmlformats.org/drawingml/2006/table">
            <a:tbl>
              <a:tblPr firstRow="1" bandRow="1">
                <a:tableStyleId>{5C22544A-7EE6-4342-B048-85BDC9FD1C3A}</a:tableStyleId>
              </a:tblPr>
              <a:tblGrid>
                <a:gridCol w="1447800">
                  <a:extLst>
                    <a:ext uri="{9D8B030D-6E8A-4147-A177-3AD203B41FA5}">
                      <a16:colId xmlns:a16="http://schemas.microsoft.com/office/drawing/2014/main" val="3715788884"/>
                    </a:ext>
                  </a:extLst>
                </a:gridCol>
                <a:gridCol w="3784600">
                  <a:extLst>
                    <a:ext uri="{9D8B030D-6E8A-4147-A177-3AD203B41FA5}">
                      <a16:colId xmlns:a16="http://schemas.microsoft.com/office/drawing/2014/main" val="3589930619"/>
                    </a:ext>
                  </a:extLst>
                </a:gridCol>
                <a:gridCol w="2616200">
                  <a:extLst>
                    <a:ext uri="{9D8B030D-6E8A-4147-A177-3AD203B41FA5}">
                      <a16:colId xmlns:a16="http://schemas.microsoft.com/office/drawing/2014/main" val="175260853"/>
                    </a:ext>
                  </a:extLst>
                </a:gridCol>
                <a:gridCol w="2616200">
                  <a:extLst>
                    <a:ext uri="{9D8B030D-6E8A-4147-A177-3AD203B41FA5}">
                      <a16:colId xmlns:a16="http://schemas.microsoft.com/office/drawing/2014/main" val="1790431648"/>
                    </a:ext>
                  </a:extLst>
                </a:gridCol>
                <a:gridCol w="2616200">
                  <a:extLst>
                    <a:ext uri="{9D8B030D-6E8A-4147-A177-3AD203B41FA5}">
                      <a16:colId xmlns:a16="http://schemas.microsoft.com/office/drawing/2014/main" val="4133588844"/>
                    </a:ext>
                  </a:extLst>
                </a:gridCol>
                <a:gridCol w="2616200">
                  <a:extLst>
                    <a:ext uri="{9D8B030D-6E8A-4147-A177-3AD203B41FA5}">
                      <a16:colId xmlns:a16="http://schemas.microsoft.com/office/drawing/2014/main" val="108615562"/>
                    </a:ext>
                  </a:extLst>
                </a:gridCol>
              </a:tblGrid>
              <a:tr h="319440">
                <a:tc>
                  <a:txBody>
                    <a:bodyPr/>
                    <a:lstStyle/>
                    <a:p>
                      <a:pPr algn="ctr" fontAlgn="b">
                        <a:buNone/>
                      </a:pPr>
                      <a:r>
                        <a:rPr lang="en-US" sz="1800" b="1" i="0" u="none" strike="noStrike" dirty="0">
                          <a:solidFill>
                            <a:schemeClr val="tx1"/>
                          </a:solidFill>
                          <a:effectLst/>
                          <a:latin typeface="Inter" panose="020B0604020202020204" charset="0"/>
                          <a:cs typeface="Inter" panose="020B0604020202020204" charset="0"/>
                        </a:rPr>
                        <a:t>S, No.</a:t>
                      </a:r>
                      <a:endParaRPr lang="en-IN" sz="1800" b="1" i="0" u="none" strike="noStrike" dirty="0">
                        <a:solidFill>
                          <a:schemeClr val="tx1"/>
                        </a:solidFill>
                        <a:effectLst/>
                        <a:latin typeface="Inter" panose="020B0604020202020204" charset="0"/>
                        <a:cs typeface="Inter" panose="020B060402020202020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1" i="0" u="none" strike="noStrike" dirty="0">
                          <a:solidFill>
                            <a:schemeClr val="tx1"/>
                          </a:solidFill>
                          <a:effectLst/>
                          <a:latin typeface="Inter" panose="020B0604020202020204" charset="0"/>
                          <a:cs typeface="Inter" panose="020B0604020202020204" charset="0"/>
                        </a:rPr>
                        <a:t>Column Name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1" i="0" u="none" strike="noStrike" dirty="0">
                          <a:solidFill>
                            <a:schemeClr val="tx1"/>
                          </a:solidFill>
                          <a:effectLst/>
                          <a:latin typeface="Inter" panose="020B0604020202020204" charset="0"/>
                          <a:cs typeface="Inter" panose="020B0604020202020204" charset="0"/>
                        </a:rPr>
                        <a:t>Column Purpose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1" i="0" u="none" strike="noStrike" dirty="0">
                          <a:solidFill>
                            <a:schemeClr val="tx1"/>
                          </a:solidFill>
                          <a:effectLst/>
                          <a:latin typeface="Inter" panose="020B0604020202020204" charset="0"/>
                          <a:cs typeface="Inter" panose="020B0604020202020204" charset="0"/>
                        </a:rPr>
                        <a:t>Missing % / Anomaly</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1" i="0" u="none" strike="noStrike" dirty="0">
                          <a:solidFill>
                            <a:schemeClr val="tx1"/>
                          </a:solidFill>
                          <a:effectLst/>
                          <a:latin typeface="Inter" panose="020B0604020202020204" charset="0"/>
                          <a:cs typeface="Inter" panose="020B0604020202020204" charset="0"/>
                        </a:rPr>
                        <a:t>What We Did</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1" i="0" u="none" strike="noStrike" dirty="0">
                          <a:solidFill>
                            <a:schemeClr val="tx1"/>
                          </a:solidFill>
                          <a:effectLst/>
                          <a:latin typeface="Inter" panose="020B0604020202020204" charset="0"/>
                          <a:cs typeface="Inter" panose="020B0604020202020204" charset="0"/>
                        </a:rPr>
                        <a:t>Why We Did It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3645093670"/>
                  </a:ext>
                </a:extLst>
              </a:tr>
              <a:tr h="723782">
                <a:tc>
                  <a:txBody>
                    <a:bodyPr/>
                    <a:lstStyle/>
                    <a:p>
                      <a:pPr algn="ctr" fontAlgn="b">
                        <a:buNone/>
                      </a:pPr>
                      <a:r>
                        <a:rPr lang="en-US" sz="1800" b="0" i="0" u="none" strike="noStrike" dirty="0">
                          <a:solidFill>
                            <a:srgbClr val="000000"/>
                          </a:solidFill>
                          <a:effectLst/>
                          <a:latin typeface="Inter" panose="020B0604020202020204" charset="0"/>
                          <a:cs typeface="Inter" panose="020B0604020202020204" charset="0"/>
                        </a:rPr>
                        <a:t>1</a:t>
                      </a:r>
                      <a:endParaRPr lang="en-IN" sz="1800" b="0" i="0" u="none" strike="noStrike" dirty="0">
                        <a:solidFill>
                          <a:srgbClr val="000000"/>
                        </a:solidFill>
                        <a:effectLst/>
                        <a:latin typeface="Inter" panose="020B0604020202020204" charset="0"/>
                        <a:cs typeface="Inter" panose="020B0604020202020204" charset="0"/>
                      </a:endParaRPr>
                    </a:p>
                  </a:txBody>
                  <a:tcPr marL="9525" marR="9525" marT="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AMT_ANNUITY</a:t>
                      </a:r>
                    </a:p>
                  </a:txBody>
                  <a:tcPr marL="9525" marR="9525" marT="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a:solidFill>
                            <a:srgbClr val="000000"/>
                          </a:solidFill>
                          <a:effectLst/>
                          <a:latin typeface="Inter" panose="020B0604020202020204" charset="0"/>
                          <a:cs typeface="Inter" panose="020B0604020202020204" charset="0"/>
                        </a:rPr>
                        <a:t>Loan annuity amount</a:t>
                      </a:r>
                    </a:p>
                  </a:txBody>
                  <a:tcPr marL="9525" marR="9525" marT="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chemeClr val="bg1"/>
                          </a:solidFill>
                          <a:effectLst/>
                          <a:latin typeface="Inter" panose="020B0604020202020204" charset="0"/>
                          <a:cs typeface="Inter" panose="020B0604020202020204" charset="0"/>
                        </a:rPr>
                        <a:t>71.47349%</a:t>
                      </a:r>
                    </a:p>
                  </a:txBody>
                  <a:tcPr marL="9525" marR="9525" marT="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algn="ctr" fontAlgn="b">
                        <a:buNone/>
                      </a:pPr>
                      <a:r>
                        <a:rPr lang="en-IN" sz="1800" b="0" i="0" u="none" strike="noStrike">
                          <a:solidFill>
                            <a:srgbClr val="000000"/>
                          </a:solidFill>
                          <a:effectLst/>
                          <a:latin typeface="Inter" panose="020B0604020202020204" charset="0"/>
                          <a:cs typeface="Inter" panose="020B0604020202020204" charset="0"/>
                        </a:rPr>
                        <a:t>Dropped</a:t>
                      </a:r>
                    </a:p>
                  </a:txBody>
                  <a:tcPr marL="9525" marR="9525" marT="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Missing is spread across all </a:t>
                      </a:r>
                      <a:r>
                        <a:rPr lang="en-IN" sz="1800" b="0" i="0" u="none" strike="noStrike" dirty="0" err="1">
                          <a:solidFill>
                            <a:srgbClr val="000000"/>
                          </a:solidFill>
                          <a:effectLst/>
                          <a:latin typeface="Inter" panose="020B0604020202020204" charset="0"/>
                          <a:cs typeface="Inter" panose="020B0604020202020204" charset="0"/>
                        </a:rPr>
                        <a:t>credit_active</a:t>
                      </a:r>
                      <a:r>
                        <a:rPr lang="en-IN" sz="1800" b="0" i="0" u="none" strike="noStrike" dirty="0">
                          <a:solidFill>
                            <a:srgbClr val="000000"/>
                          </a:solidFill>
                          <a:effectLst/>
                          <a:latin typeface="Inter" panose="020B0604020202020204" charset="0"/>
                          <a:cs typeface="Inter" panose="020B0604020202020204" charset="0"/>
                        </a:rPr>
                        <a:t> and </a:t>
                      </a:r>
                      <a:r>
                        <a:rPr lang="en-IN" sz="1800" b="0" i="0" u="none" strike="noStrike" dirty="0" err="1">
                          <a:solidFill>
                            <a:srgbClr val="000000"/>
                          </a:solidFill>
                          <a:effectLst/>
                          <a:latin typeface="Inter" panose="020B0604020202020204" charset="0"/>
                          <a:cs typeface="Inter" panose="020B0604020202020204" charset="0"/>
                        </a:rPr>
                        <a:t>credit_type</a:t>
                      </a:r>
                      <a:endParaRPr lang="en-IN" sz="1800" b="0" i="0" u="none" strike="noStrike" dirty="0">
                        <a:solidFill>
                          <a:srgbClr val="000000"/>
                        </a:solidFill>
                        <a:effectLst/>
                        <a:latin typeface="Inter" panose="020B0604020202020204" charset="0"/>
                        <a:cs typeface="Inter" panose="020B0604020202020204" charset="0"/>
                      </a:endParaRPr>
                    </a:p>
                  </a:txBody>
                  <a:tcPr marL="9525" marR="9525" marT="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31657005"/>
                  </a:ext>
                </a:extLst>
              </a:tr>
              <a:tr h="520184">
                <a:tc>
                  <a:txBody>
                    <a:bodyPr/>
                    <a:lstStyle/>
                    <a:p>
                      <a:pPr algn="ctr" fontAlgn="b">
                        <a:buNone/>
                      </a:pPr>
                      <a:r>
                        <a:rPr lang="en-US" sz="1800" b="0" i="0" u="none" strike="noStrike" dirty="0">
                          <a:solidFill>
                            <a:srgbClr val="000000"/>
                          </a:solidFill>
                          <a:effectLst/>
                          <a:latin typeface="Inter" panose="020B0604020202020204" charset="0"/>
                          <a:cs typeface="Inter" panose="020B0604020202020204" charset="0"/>
                        </a:rPr>
                        <a:t>2</a:t>
                      </a:r>
                      <a:endParaRPr lang="en-IN" sz="1800" b="0" i="0" u="none" strike="noStrike" dirty="0">
                        <a:solidFill>
                          <a:srgbClr val="000000"/>
                        </a:solidFill>
                        <a:effectLst/>
                        <a:latin typeface="Inter" panose="020B0604020202020204" charset="0"/>
                        <a:cs typeface="Inter" panose="020B0604020202020204" charset="0"/>
                      </a:endParaRPr>
                    </a:p>
                  </a:txBody>
                  <a:tcPr marL="9525" marR="9525" marT="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a:solidFill>
                            <a:srgbClr val="000000"/>
                          </a:solidFill>
                          <a:effectLst/>
                          <a:latin typeface="Inter" panose="020B0604020202020204" charset="0"/>
                          <a:cs typeface="Inter" panose="020B0604020202020204" charset="0"/>
                        </a:rPr>
                        <a:t>AMT_CREDIT_MAX_OVERDUE</a:t>
                      </a:r>
                    </a:p>
                  </a:txBody>
                  <a:tcPr marL="9525" marR="9525" marT="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a:solidFill>
                            <a:srgbClr val="000000"/>
                          </a:solidFill>
                          <a:effectLst/>
                          <a:latin typeface="Inter" panose="020B0604020202020204" charset="0"/>
                          <a:cs typeface="Inter" panose="020B0604020202020204" charset="0"/>
                        </a:rPr>
                        <a:t>Maximum overdue credit amount</a:t>
                      </a:r>
                    </a:p>
                  </a:txBody>
                  <a:tcPr marL="9525" marR="9525" marT="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chemeClr val="bg1"/>
                          </a:solidFill>
                          <a:effectLst/>
                          <a:latin typeface="Inter" panose="020B0604020202020204" charset="0"/>
                          <a:cs typeface="Inter" panose="020B0604020202020204" charset="0"/>
                        </a:rPr>
                        <a:t>65.51326%</a:t>
                      </a:r>
                    </a:p>
                  </a:txBody>
                  <a:tcPr marL="9525" marR="9525" marT="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Filled with 0/ flag of missing</a:t>
                      </a:r>
                    </a:p>
                  </a:txBody>
                  <a:tcPr marL="9525" marR="9525" marT="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Missing often indicates no overdue history</a:t>
                      </a:r>
                    </a:p>
                  </a:txBody>
                  <a:tcPr marL="9525" marR="9525" marT="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3010496057"/>
                  </a:ext>
                </a:extLst>
              </a:tr>
              <a:tr h="520184">
                <a:tc>
                  <a:txBody>
                    <a:bodyPr/>
                    <a:lstStyle/>
                    <a:p>
                      <a:pPr algn="ctr" fontAlgn="b">
                        <a:buNone/>
                      </a:pPr>
                      <a:r>
                        <a:rPr lang="en-US" sz="1800" b="0" i="0" u="none" strike="noStrike" dirty="0">
                          <a:solidFill>
                            <a:srgbClr val="000000"/>
                          </a:solidFill>
                          <a:effectLst/>
                          <a:latin typeface="Inter" panose="020B0604020202020204" charset="0"/>
                          <a:cs typeface="Inter" panose="020B0604020202020204" charset="0"/>
                        </a:rPr>
                        <a:t>3</a:t>
                      </a:r>
                      <a:endParaRPr lang="en-IN" sz="1800" b="0" i="0" u="none" strike="noStrike" dirty="0">
                        <a:solidFill>
                          <a:srgbClr val="000000"/>
                        </a:solidFill>
                        <a:effectLst/>
                        <a:latin typeface="Inter" panose="020B0604020202020204" charset="0"/>
                        <a:cs typeface="Inter" panose="020B0604020202020204" charset="0"/>
                      </a:endParaRPr>
                    </a:p>
                  </a:txBody>
                  <a:tcPr marL="9525" marR="9525" marT="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DAYS_ENDDATE_FACT</a:t>
                      </a:r>
                    </a:p>
                  </a:txBody>
                  <a:tcPr marL="9525" marR="9525" marT="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a:solidFill>
                            <a:srgbClr val="000000"/>
                          </a:solidFill>
                          <a:effectLst/>
                          <a:latin typeface="Inter" panose="020B0604020202020204" charset="0"/>
                          <a:cs typeface="Inter" panose="020B0604020202020204" charset="0"/>
                        </a:rPr>
                        <a:t>Actual loan end date</a:t>
                      </a:r>
                    </a:p>
                  </a:txBody>
                  <a:tcPr marL="9525" marR="9525" marT="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36.91696%</a:t>
                      </a:r>
                    </a:p>
                  </a:txBody>
                  <a:tcPr marL="9525" marR="9525" marT="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967D"/>
                    </a:solidFill>
                  </a:tcPr>
                </a:tc>
                <a:tc>
                  <a:txBody>
                    <a:bodyPr/>
                    <a:lstStyle/>
                    <a:p>
                      <a:pPr algn="ctr" fontAlgn="b">
                        <a:buNone/>
                      </a:pPr>
                      <a:r>
                        <a:rPr lang="en-IN" sz="1800" b="0" i="0" u="none" strike="noStrike">
                          <a:solidFill>
                            <a:srgbClr val="000000"/>
                          </a:solidFill>
                          <a:effectLst/>
                          <a:latin typeface="Inter" panose="020B0604020202020204" charset="0"/>
                          <a:cs typeface="Inter" panose="020B0604020202020204" charset="0"/>
                        </a:rPr>
                        <a:t>Filled with 0 + indicator</a:t>
                      </a:r>
                    </a:p>
                  </a:txBody>
                  <a:tcPr marL="9525" marR="9525" marT="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a:solidFill>
                            <a:srgbClr val="000000"/>
                          </a:solidFill>
                          <a:effectLst/>
                          <a:latin typeface="Inter" panose="020B0604020202020204" charset="0"/>
                          <a:cs typeface="Inter" panose="020B0604020202020204" charset="0"/>
                        </a:rPr>
                        <a:t>Missing often means loan still active</a:t>
                      </a:r>
                    </a:p>
                  </a:txBody>
                  <a:tcPr marL="9525" marR="9525" marT="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1642960195"/>
                  </a:ext>
                </a:extLst>
              </a:tr>
              <a:tr h="520184">
                <a:tc>
                  <a:txBody>
                    <a:bodyPr/>
                    <a:lstStyle/>
                    <a:p>
                      <a:pPr algn="ctr" fontAlgn="b">
                        <a:buNone/>
                      </a:pPr>
                      <a:r>
                        <a:rPr lang="en-US" sz="1800" b="0" i="0" u="none" strike="noStrike" dirty="0">
                          <a:solidFill>
                            <a:srgbClr val="000000"/>
                          </a:solidFill>
                          <a:effectLst/>
                          <a:latin typeface="Inter" panose="020B0604020202020204" charset="0"/>
                          <a:cs typeface="Inter" panose="020B0604020202020204" charset="0"/>
                        </a:rPr>
                        <a:t>4</a:t>
                      </a:r>
                      <a:endParaRPr lang="en-IN" sz="1800" b="0" i="0" u="none" strike="noStrike" dirty="0">
                        <a:solidFill>
                          <a:srgbClr val="000000"/>
                        </a:solidFill>
                        <a:effectLst/>
                        <a:latin typeface="Inter" panose="020B0604020202020204" charset="0"/>
                        <a:cs typeface="Inter" panose="020B0604020202020204" charset="0"/>
                      </a:endParaRPr>
                    </a:p>
                  </a:txBody>
                  <a:tcPr marL="9525" marR="9525" marT="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a:solidFill>
                            <a:srgbClr val="000000"/>
                          </a:solidFill>
                          <a:effectLst/>
                          <a:latin typeface="Inter" panose="020B0604020202020204" charset="0"/>
                          <a:cs typeface="Inter" panose="020B0604020202020204" charset="0"/>
                        </a:rPr>
                        <a:t>AMT_CREDIT_SUM_LIMIT</a:t>
                      </a:r>
                    </a:p>
                  </a:txBody>
                  <a:tcPr marL="9525" marR="9525" marT="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a:solidFill>
                            <a:srgbClr val="000000"/>
                          </a:solidFill>
                          <a:effectLst/>
                          <a:latin typeface="Inter" panose="020B0604020202020204" charset="0"/>
                          <a:cs typeface="Inter" panose="020B0604020202020204" charset="0"/>
                        </a:rPr>
                        <a:t>Credit card limit amount</a:t>
                      </a:r>
                    </a:p>
                  </a:txBody>
                  <a:tcPr marL="9525" marR="9525" marT="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34.47741%</a:t>
                      </a:r>
                    </a:p>
                  </a:txBody>
                  <a:tcPr marL="9525" marR="9525" marT="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Filled with 0</a:t>
                      </a:r>
                    </a:p>
                  </a:txBody>
                  <a:tcPr marL="9525" marR="9525" marT="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a:solidFill>
                            <a:srgbClr val="000000"/>
                          </a:solidFill>
                          <a:effectLst/>
                          <a:latin typeface="Inter" panose="020B0604020202020204" charset="0"/>
                          <a:cs typeface="Inter" panose="020B0604020202020204" charset="0"/>
                        </a:rPr>
                        <a:t>Missing often indicates no credit limit</a:t>
                      </a:r>
                    </a:p>
                  </a:txBody>
                  <a:tcPr marL="9525" marR="9525" marT="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900846648"/>
                  </a:ext>
                </a:extLst>
              </a:tr>
              <a:tr h="520184">
                <a:tc>
                  <a:txBody>
                    <a:bodyPr/>
                    <a:lstStyle/>
                    <a:p>
                      <a:pPr algn="ctr" fontAlgn="b">
                        <a:buNone/>
                      </a:pPr>
                      <a:r>
                        <a:rPr lang="en-US" sz="1800" b="0" i="0" u="none" strike="noStrike" dirty="0">
                          <a:solidFill>
                            <a:srgbClr val="000000"/>
                          </a:solidFill>
                          <a:effectLst/>
                          <a:latin typeface="Inter" panose="020B0604020202020204" charset="0"/>
                          <a:cs typeface="Inter" panose="020B0604020202020204" charset="0"/>
                        </a:rPr>
                        <a:t>5</a:t>
                      </a:r>
                      <a:endParaRPr lang="en-IN" sz="1800" b="0" i="0" u="none" strike="noStrike" dirty="0">
                        <a:solidFill>
                          <a:srgbClr val="000000"/>
                        </a:solidFill>
                        <a:effectLst/>
                        <a:latin typeface="Inter" panose="020B0604020202020204" charset="0"/>
                        <a:cs typeface="Inter" panose="020B0604020202020204" charset="0"/>
                      </a:endParaRPr>
                    </a:p>
                  </a:txBody>
                  <a:tcPr marL="9525" marR="9525" marT="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AMT_CREDIT_SUM_DEBT</a:t>
                      </a:r>
                    </a:p>
                  </a:txBody>
                  <a:tcPr marL="9525" marR="9525" marT="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Current debt amount</a:t>
                      </a:r>
                    </a:p>
                  </a:txBody>
                  <a:tcPr marL="9525" marR="9525" marT="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15.01193%</a:t>
                      </a:r>
                    </a:p>
                  </a:txBody>
                  <a:tcPr marL="9525" marR="9525" marT="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Filled with 0/ create a flag</a:t>
                      </a:r>
                    </a:p>
                  </a:txBody>
                  <a:tcPr marL="9525" marR="9525" marT="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US" sz="1800" b="0" i="0" u="none" strike="noStrike" dirty="0">
                          <a:solidFill>
                            <a:srgbClr val="000000"/>
                          </a:solidFill>
                          <a:effectLst/>
                          <a:latin typeface="Inter" panose="020B0604020202020204" charset="0"/>
                          <a:cs typeface="Inter" panose="020B0604020202020204" charset="0"/>
                        </a:rPr>
                        <a:t>It is missing in credit_active all category</a:t>
                      </a:r>
                      <a:endParaRPr lang="en-IN" sz="1800" b="0" i="0" u="none" strike="noStrike" dirty="0">
                        <a:solidFill>
                          <a:srgbClr val="000000"/>
                        </a:solidFill>
                        <a:effectLst/>
                        <a:latin typeface="Inter" panose="020B0604020202020204" charset="0"/>
                        <a:cs typeface="Inter" panose="020B0604020202020204" charset="0"/>
                      </a:endParaRPr>
                    </a:p>
                  </a:txBody>
                  <a:tcPr marL="9525" marR="9525" marT="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508620099"/>
                  </a:ext>
                </a:extLst>
              </a:tr>
              <a:tr h="775042">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800" b="0" i="0" u="none" strike="noStrike" dirty="0">
                          <a:solidFill>
                            <a:srgbClr val="000000"/>
                          </a:solidFill>
                          <a:effectLst/>
                          <a:latin typeface="Inter" panose="020B0604020202020204" charset="0"/>
                          <a:cs typeface="Inter" panose="020B0604020202020204" charset="0"/>
                        </a:rPr>
                        <a:t>6</a:t>
                      </a:r>
                      <a:endParaRPr lang="en-IN" sz="1800" b="0" i="0" u="none" strike="noStrike" dirty="0">
                        <a:solidFill>
                          <a:srgbClr val="000000"/>
                        </a:solidFill>
                        <a:effectLst/>
                        <a:latin typeface="Inter" panose="020B0604020202020204" charset="0"/>
                        <a:cs typeface="Inter" panose="020B0604020202020204" charset="0"/>
                      </a:endParaRPr>
                    </a:p>
                    <a:p>
                      <a:pPr algn="ctr" fontAlgn="b">
                        <a:buNone/>
                      </a:pPr>
                      <a:endParaRPr lang="en-IN" sz="1800" b="0" i="0" u="none" strike="noStrike" dirty="0">
                        <a:solidFill>
                          <a:srgbClr val="000000"/>
                        </a:solidFill>
                        <a:effectLst/>
                        <a:latin typeface="Inter" panose="020B0604020202020204" charset="0"/>
                        <a:cs typeface="Inter" panose="020B0604020202020204" charset="0"/>
                      </a:endParaRPr>
                    </a:p>
                  </a:txBody>
                  <a:tcPr marL="9525" marR="9525" marT="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AMT_CREDIT_SUM_DEBT</a:t>
                      </a:r>
                    </a:p>
                  </a:txBody>
                  <a:tcPr marL="9525" marR="9525" marT="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Current debt amount</a:t>
                      </a:r>
                    </a:p>
                  </a:txBody>
                  <a:tcPr marL="9525" marR="9525" marT="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US" sz="1800" b="0" i="0" u="none" strike="noStrike" dirty="0">
                          <a:solidFill>
                            <a:srgbClr val="000000"/>
                          </a:solidFill>
                          <a:effectLst/>
                          <a:latin typeface="Inter" panose="020B0604020202020204" charset="0"/>
                          <a:cs typeface="Inter" panose="020B0604020202020204" charset="0"/>
                        </a:rPr>
                        <a:t>0.49% </a:t>
                      </a:r>
                    </a:p>
                    <a:p>
                      <a:pPr algn="ctr" fontAlgn="b">
                        <a:buNone/>
                      </a:pPr>
                      <a:r>
                        <a:rPr lang="en-US" sz="1800" b="0" i="0" u="none" strike="noStrike" dirty="0">
                          <a:solidFill>
                            <a:srgbClr val="000000"/>
                          </a:solidFill>
                          <a:effectLst/>
                          <a:latin typeface="Inter" panose="020B0604020202020204" charset="0"/>
                          <a:cs typeface="Inter" panose="020B0604020202020204" charset="0"/>
                        </a:rPr>
                        <a:t>Negative values</a:t>
                      </a:r>
                      <a:endParaRPr lang="en-IN" sz="1800" b="0" i="0" u="none" strike="noStrike" dirty="0">
                        <a:solidFill>
                          <a:srgbClr val="000000"/>
                        </a:solidFill>
                        <a:effectLst/>
                        <a:latin typeface="Inter" panose="020B0604020202020204" charset="0"/>
                        <a:cs typeface="Inter" panose="020B0604020202020204" charset="0"/>
                      </a:endParaRPr>
                    </a:p>
                  </a:txBody>
                  <a:tcPr marL="9525" marR="9525" marT="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buNone/>
                      </a:pPr>
                      <a:r>
                        <a:rPr lang="en-US" sz="1800" b="0" i="0" u="none" strike="noStrike" dirty="0">
                          <a:solidFill>
                            <a:srgbClr val="000000"/>
                          </a:solidFill>
                          <a:effectLst/>
                          <a:latin typeface="Inter" panose="020B0604020202020204" charset="0"/>
                          <a:cs typeface="Inter" panose="020B0604020202020204" charset="0"/>
                        </a:rPr>
                        <a:t>Create a flag and clip to 0</a:t>
                      </a:r>
                      <a:endParaRPr lang="en-IN" sz="1800" b="0" i="0" u="none" strike="noStrike" dirty="0">
                        <a:solidFill>
                          <a:srgbClr val="000000"/>
                        </a:solidFill>
                        <a:effectLst/>
                        <a:latin typeface="Inter" panose="020B0604020202020204" charset="0"/>
                        <a:cs typeface="Inter" panose="020B0604020202020204" charset="0"/>
                      </a:endParaRPr>
                    </a:p>
                  </a:txBody>
                  <a:tcPr marL="9525" marR="9525" marT="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marL="285750" indent="-285750" algn="l" fontAlgn="b">
                        <a:buFont typeface="Arial" panose="020B0604020202020204" pitchFamily="34" charset="0"/>
                        <a:buChar char="•"/>
                      </a:pPr>
                      <a:r>
                        <a:rPr lang="en-IN" dirty="0">
                          <a:latin typeface="Inter" panose="020B0604020202020204" charset="0"/>
                          <a:cs typeface="Inter" panose="020B0604020202020204" charset="0"/>
                        </a:rPr>
                        <a:t>Overpayment</a:t>
                      </a:r>
                    </a:p>
                    <a:p>
                      <a:pPr marL="285750" indent="-285750" algn="l" fontAlgn="b">
                        <a:buFont typeface="Arial" panose="020B0604020202020204" pitchFamily="34" charset="0"/>
                        <a:buChar char="•"/>
                      </a:pPr>
                      <a:r>
                        <a:rPr lang="en-IN" dirty="0">
                          <a:latin typeface="Inter" panose="020B0604020202020204" charset="0"/>
                          <a:cs typeface="Inter" panose="020B0604020202020204" charset="0"/>
                        </a:rPr>
                        <a:t>Data reporting issue.</a:t>
                      </a:r>
                    </a:p>
                  </a:txBody>
                  <a:tcPr marL="9525" marR="9525" marT="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3402204367"/>
                  </a:ext>
                </a:extLst>
              </a:tr>
              <a:tr h="319440">
                <a:tc>
                  <a:txBody>
                    <a:bodyPr/>
                    <a:lstStyle/>
                    <a:p>
                      <a:pPr algn="ctr" fontAlgn="b">
                        <a:buNone/>
                      </a:pPr>
                      <a:r>
                        <a:rPr lang="en-US" sz="1800" b="0" i="0" u="none" strike="noStrike" dirty="0">
                          <a:solidFill>
                            <a:srgbClr val="000000"/>
                          </a:solidFill>
                          <a:effectLst/>
                          <a:latin typeface="Inter" panose="020B0604020202020204" charset="0"/>
                          <a:cs typeface="Inter" panose="020B0604020202020204" charset="0"/>
                        </a:rPr>
                        <a:t>7</a:t>
                      </a:r>
                      <a:endParaRPr lang="en-IN" sz="1800" b="0" i="0" u="none" strike="noStrike" dirty="0">
                        <a:solidFill>
                          <a:srgbClr val="000000"/>
                        </a:solidFill>
                        <a:effectLst/>
                        <a:latin typeface="Inter" panose="020B0604020202020204" charset="0"/>
                        <a:cs typeface="Inter" panose="020B0604020202020204" charset="0"/>
                      </a:endParaRPr>
                    </a:p>
                  </a:txBody>
                  <a:tcPr marL="9525" marR="9525" marT="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DAYS_CREDIT_ENDDATE</a:t>
                      </a:r>
                    </a:p>
                  </a:txBody>
                  <a:tcPr marL="9525" marR="9525" marT="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a:solidFill>
                            <a:srgbClr val="000000"/>
                          </a:solidFill>
                          <a:effectLst/>
                          <a:latin typeface="Inter" panose="020B0604020202020204" charset="0"/>
                          <a:cs typeface="Inter" panose="020B0604020202020204" charset="0"/>
                        </a:rPr>
                        <a:t>Expected loan end date</a:t>
                      </a:r>
                    </a:p>
                  </a:txBody>
                  <a:tcPr marL="9525" marR="9525" marT="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6.14957%</a:t>
                      </a:r>
                    </a:p>
                  </a:txBody>
                  <a:tcPr marL="9525" marR="9525" marT="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Median fill</a:t>
                      </a:r>
                    </a:p>
                  </a:txBody>
                  <a:tcPr marL="9525" marR="9525" marT="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Moderate missingness</a:t>
                      </a:r>
                    </a:p>
                  </a:txBody>
                  <a:tcPr marL="9525" marR="9525" marT="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1831605972"/>
                  </a:ext>
                </a:extLst>
              </a:tr>
              <a:tr h="319440">
                <a:tc>
                  <a:txBody>
                    <a:bodyPr/>
                    <a:lstStyle/>
                    <a:p>
                      <a:pPr algn="ctr" fontAlgn="b">
                        <a:buNone/>
                      </a:pPr>
                      <a:r>
                        <a:rPr lang="en-US" sz="1800" b="0" i="0" u="none" strike="noStrike" dirty="0">
                          <a:solidFill>
                            <a:srgbClr val="000000"/>
                          </a:solidFill>
                          <a:effectLst/>
                          <a:latin typeface="Inter" panose="020B0604020202020204" charset="0"/>
                          <a:cs typeface="Inter" panose="020B0604020202020204" charset="0"/>
                        </a:rPr>
                        <a:t>8</a:t>
                      </a:r>
                      <a:endParaRPr lang="en-IN" sz="1800" b="0" i="0" u="none" strike="noStrike" dirty="0">
                        <a:solidFill>
                          <a:srgbClr val="000000"/>
                        </a:solidFill>
                        <a:effectLst/>
                        <a:latin typeface="Inter" panose="020B0604020202020204" charset="0"/>
                        <a:cs typeface="Inter" panose="020B0604020202020204" charset="0"/>
                      </a:endParaRPr>
                    </a:p>
                  </a:txBody>
                  <a:tcPr marL="9525" marR="9525" marT="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IN" sz="1800" b="0" kern="1200" dirty="0">
                          <a:solidFill>
                            <a:schemeClr val="dk1"/>
                          </a:solidFill>
                          <a:effectLst/>
                          <a:latin typeface="Inter" panose="020B0604020202020204" charset="0"/>
                          <a:ea typeface="+mn-ea"/>
                          <a:cs typeface="Inter" panose="020B0604020202020204" charset="0"/>
                        </a:rPr>
                        <a:t>AMT_CREDIT_SUM</a:t>
                      </a:r>
                    </a:p>
                  </a:txBody>
                  <a:tcPr marL="9525" marR="9525" marT="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dirty="0">
                          <a:latin typeface="Inter" panose="020B0604020202020204" charset="0"/>
                          <a:cs typeface="Inter" panose="020B0604020202020204" charset="0"/>
                        </a:rPr>
                        <a:t>actual credit amount</a:t>
                      </a:r>
                      <a:endParaRPr lang="en-IN" sz="1800" b="0" i="0" u="none" strike="noStrike" dirty="0">
                        <a:solidFill>
                          <a:srgbClr val="000000"/>
                        </a:solidFill>
                        <a:effectLst/>
                        <a:latin typeface="Inter" panose="020B0604020202020204" charset="0"/>
                        <a:cs typeface="Inter" panose="020B0604020202020204" charset="0"/>
                      </a:endParaRPr>
                    </a:p>
                  </a:txBody>
                  <a:tcPr marL="9525" marR="9525" marT="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US" sz="1800" b="0" i="0" u="none" strike="noStrike" dirty="0">
                          <a:solidFill>
                            <a:srgbClr val="000000"/>
                          </a:solidFill>
                          <a:effectLst/>
                          <a:latin typeface="Inter" panose="020B0604020202020204" charset="0"/>
                          <a:cs typeface="Inter" panose="020B0604020202020204" charset="0"/>
                        </a:rPr>
                        <a:t>0.0007%</a:t>
                      </a:r>
                      <a:endParaRPr lang="en-IN" sz="1800" b="0" i="0" u="none" strike="noStrike" dirty="0">
                        <a:solidFill>
                          <a:srgbClr val="000000"/>
                        </a:solidFill>
                        <a:effectLst/>
                        <a:latin typeface="Inter" panose="020B0604020202020204" charset="0"/>
                        <a:cs typeface="Inter" panose="020B0604020202020204" charset="0"/>
                      </a:endParaRPr>
                    </a:p>
                  </a:txBody>
                  <a:tcPr marL="9525" marR="9525" marT="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fontAlgn="b">
                        <a:buNone/>
                      </a:pPr>
                      <a:r>
                        <a:rPr lang="en-US" sz="1800" b="0" i="0" u="none" strike="noStrike" dirty="0">
                          <a:solidFill>
                            <a:srgbClr val="000000"/>
                          </a:solidFill>
                          <a:effectLst/>
                          <a:latin typeface="Inter" panose="020B0604020202020204" charset="0"/>
                          <a:cs typeface="Inter" panose="020B0604020202020204" charset="0"/>
                        </a:rPr>
                        <a:t>Drop</a:t>
                      </a:r>
                      <a:endParaRPr lang="en-IN" sz="1800" b="0" i="0" u="none" strike="noStrike" dirty="0">
                        <a:solidFill>
                          <a:srgbClr val="000000"/>
                        </a:solidFill>
                        <a:effectLst/>
                        <a:latin typeface="Inter" panose="020B0604020202020204" charset="0"/>
                        <a:cs typeface="Inter" panose="020B0604020202020204" charset="0"/>
                      </a:endParaRPr>
                    </a:p>
                  </a:txBody>
                  <a:tcPr marL="9525" marR="9525" marT="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US" sz="1800" b="0" i="0" u="none" strike="noStrike" dirty="0">
                          <a:solidFill>
                            <a:srgbClr val="000000"/>
                          </a:solidFill>
                          <a:effectLst/>
                          <a:latin typeface="Inter" panose="020B0604020202020204" charset="0"/>
                          <a:cs typeface="Inter" panose="020B0604020202020204" charset="0"/>
                        </a:rPr>
                        <a:t>Credit not be 0</a:t>
                      </a:r>
                      <a:endParaRPr lang="en-IN" sz="1800" b="0" i="0" u="none" strike="noStrike" dirty="0">
                        <a:solidFill>
                          <a:srgbClr val="000000"/>
                        </a:solidFill>
                        <a:effectLst/>
                        <a:latin typeface="Inter" panose="020B0604020202020204" charset="0"/>
                        <a:cs typeface="Inter" panose="020B0604020202020204" charset="0"/>
                      </a:endParaRPr>
                    </a:p>
                  </a:txBody>
                  <a:tcPr marL="9525" marR="9525" marT="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2475531160"/>
                  </a:ext>
                </a:extLst>
              </a:tr>
            </a:tbl>
          </a:graphicData>
        </a:graphic>
      </p:graphicFrame>
    </p:spTree>
    <p:extLst>
      <p:ext uri="{BB962C8B-B14F-4D97-AF65-F5344CB8AC3E}">
        <p14:creationId xmlns:p14="http://schemas.microsoft.com/office/powerpoint/2010/main" val="288866269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C5D6CA"/>
        </a:solidFill>
        <a:effectLst/>
      </p:bgPr>
    </p:bg>
    <p:spTree>
      <p:nvGrpSpPr>
        <p:cNvPr id="1" name="">
          <a:extLst>
            <a:ext uri="{FF2B5EF4-FFF2-40B4-BE49-F238E27FC236}">
              <a16:creationId xmlns:a16="http://schemas.microsoft.com/office/drawing/2014/main" id="{250D13DF-7699-2550-98C0-C372EE6595F3}"/>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A59A95A0-010C-35DA-0E27-0859E46444EB}"/>
              </a:ext>
            </a:extLst>
          </p:cNvPr>
          <p:cNvGrpSpPr/>
          <p:nvPr/>
        </p:nvGrpSpPr>
        <p:grpSpPr>
          <a:xfrm>
            <a:off x="0" y="9497082"/>
            <a:ext cx="18292543" cy="787203"/>
            <a:chOff x="0" y="0"/>
            <a:chExt cx="24390058" cy="1049604"/>
          </a:xfrm>
        </p:grpSpPr>
        <p:sp>
          <p:nvSpPr>
            <p:cNvPr id="3" name="Freeform 3">
              <a:extLst>
                <a:ext uri="{FF2B5EF4-FFF2-40B4-BE49-F238E27FC236}">
                  <a16:creationId xmlns:a16="http://schemas.microsoft.com/office/drawing/2014/main" id="{2447A537-D461-9DC8-6B55-8DC8E6E37F95}"/>
                </a:ext>
              </a:extLst>
            </p:cNvPr>
            <p:cNvSpPr/>
            <p:nvPr/>
          </p:nvSpPr>
          <p:spPr>
            <a:xfrm>
              <a:off x="0" y="0"/>
              <a:ext cx="24390096" cy="1049655"/>
            </a:xfrm>
            <a:custGeom>
              <a:avLst/>
              <a:gdLst/>
              <a:ahLst/>
              <a:cxnLst/>
              <a:rect l="l" t="t" r="r" b="b"/>
              <a:pathLst>
                <a:path w="24390096" h="1049655">
                  <a:moveTo>
                    <a:pt x="0" y="0"/>
                  </a:moveTo>
                  <a:lnTo>
                    <a:pt x="24390096" y="0"/>
                  </a:lnTo>
                  <a:lnTo>
                    <a:pt x="24390096" y="1049655"/>
                  </a:lnTo>
                  <a:lnTo>
                    <a:pt x="0" y="1049655"/>
                  </a:lnTo>
                  <a:close/>
                </a:path>
              </a:pathLst>
            </a:custGeom>
            <a:solidFill>
              <a:srgbClr val="348E90"/>
            </a:solidFill>
          </p:spPr>
          <p:txBody>
            <a:bodyPr/>
            <a:lstStyle/>
            <a:p>
              <a:endParaRPr lang="en-IN"/>
            </a:p>
          </p:txBody>
        </p:sp>
      </p:grpSp>
      <p:sp>
        <p:nvSpPr>
          <p:cNvPr id="4" name="Rectangle 3">
            <a:extLst>
              <a:ext uri="{FF2B5EF4-FFF2-40B4-BE49-F238E27FC236}">
                <a16:creationId xmlns:a16="http://schemas.microsoft.com/office/drawing/2014/main" id="{34FCE342-9AA9-7432-0D25-3282FF3C511F}"/>
              </a:ext>
            </a:extLst>
          </p:cNvPr>
          <p:cNvSpPr/>
          <p:nvPr/>
        </p:nvSpPr>
        <p:spPr>
          <a:xfrm>
            <a:off x="15544800" y="0"/>
            <a:ext cx="1143000" cy="1823056"/>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BFF14692-44CE-B837-3CAE-B818097E1A28}"/>
              </a:ext>
            </a:extLst>
          </p:cNvPr>
          <p:cNvSpPr txBox="1"/>
          <p:nvPr/>
        </p:nvSpPr>
        <p:spPr>
          <a:xfrm>
            <a:off x="5524500" y="4127837"/>
            <a:ext cx="7239000" cy="1015663"/>
          </a:xfrm>
          <a:prstGeom prst="rect">
            <a:avLst/>
          </a:prstGeom>
          <a:noFill/>
        </p:spPr>
        <p:txBody>
          <a:bodyPr wrap="square">
            <a:spAutoFit/>
          </a:bodyPr>
          <a:lstStyle/>
          <a:p>
            <a:r>
              <a:rPr lang="en-US" sz="6000" b="1" dirty="0">
                <a:latin typeface="Inter" panose="020B0604020202020204" charset="0"/>
                <a:cs typeface="Inter" panose="020B0604020202020204" charset="0"/>
              </a:rPr>
              <a:t>c</a:t>
            </a:r>
            <a:r>
              <a:rPr lang="en-IN" sz="6000" b="1" dirty="0" err="1">
                <a:latin typeface="Inter" panose="020B0604020202020204" charset="0"/>
                <a:cs typeface="Inter" panose="020B0604020202020204" charset="0"/>
              </a:rPr>
              <a:t>redit_card_balance</a:t>
            </a:r>
            <a:endParaRPr lang="en-IN" sz="6000" b="1" dirty="0">
              <a:latin typeface="Inter" panose="020B0604020202020204" charset="0"/>
              <a:cs typeface="Inter" panose="020B0604020202020204" charset="0"/>
            </a:endParaRPr>
          </a:p>
        </p:txBody>
      </p:sp>
    </p:spTree>
    <p:extLst>
      <p:ext uri="{BB962C8B-B14F-4D97-AF65-F5344CB8AC3E}">
        <p14:creationId xmlns:p14="http://schemas.microsoft.com/office/powerpoint/2010/main" val="381043149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C5D6CA"/>
        </a:solidFill>
        <a:effectLst/>
      </p:bgPr>
    </p:bg>
    <p:spTree>
      <p:nvGrpSpPr>
        <p:cNvPr id="1" name="">
          <a:extLst>
            <a:ext uri="{FF2B5EF4-FFF2-40B4-BE49-F238E27FC236}">
              <a16:creationId xmlns:a16="http://schemas.microsoft.com/office/drawing/2014/main" id="{6EDEEAED-1AE0-2FC6-ECD1-41AD7C156937}"/>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D0C06F34-45C0-BD58-C8E8-9CB25580B03A}"/>
              </a:ext>
            </a:extLst>
          </p:cNvPr>
          <p:cNvGrpSpPr/>
          <p:nvPr/>
        </p:nvGrpSpPr>
        <p:grpSpPr>
          <a:xfrm>
            <a:off x="0" y="9497082"/>
            <a:ext cx="18292543" cy="787203"/>
            <a:chOff x="0" y="0"/>
            <a:chExt cx="24390058" cy="1049604"/>
          </a:xfrm>
        </p:grpSpPr>
        <p:sp>
          <p:nvSpPr>
            <p:cNvPr id="3" name="Freeform 3">
              <a:extLst>
                <a:ext uri="{FF2B5EF4-FFF2-40B4-BE49-F238E27FC236}">
                  <a16:creationId xmlns:a16="http://schemas.microsoft.com/office/drawing/2014/main" id="{F9BD1998-7260-4C93-465B-E1C1314EBB56}"/>
                </a:ext>
              </a:extLst>
            </p:cNvPr>
            <p:cNvSpPr/>
            <p:nvPr/>
          </p:nvSpPr>
          <p:spPr>
            <a:xfrm>
              <a:off x="0" y="0"/>
              <a:ext cx="24390096" cy="1049655"/>
            </a:xfrm>
            <a:custGeom>
              <a:avLst/>
              <a:gdLst/>
              <a:ahLst/>
              <a:cxnLst/>
              <a:rect l="l" t="t" r="r" b="b"/>
              <a:pathLst>
                <a:path w="24390096" h="1049655">
                  <a:moveTo>
                    <a:pt x="0" y="0"/>
                  </a:moveTo>
                  <a:lnTo>
                    <a:pt x="24390096" y="0"/>
                  </a:lnTo>
                  <a:lnTo>
                    <a:pt x="24390096" y="1049655"/>
                  </a:lnTo>
                  <a:lnTo>
                    <a:pt x="0" y="1049655"/>
                  </a:lnTo>
                  <a:close/>
                </a:path>
              </a:pathLst>
            </a:custGeom>
            <a:solidFill>
              <a:srgbClr val="348E90"/>
            </a:solidFill>
          </p:spPr>
          <p:txBody>
            <a:bodyPr/>
            <a:lstStyle/>
            <a:p>
              <a:endParaRPr lang="en-IN"/>
            </a:p>
          </p:txBody>
        </p:sp>
      </p:grpSp>
      <p:sp>
        <p:nvSpPr>
          <p:cNvPr id="4" name="Rectangle 3">
            <a:extLst>
              <a:ext uri="{FF2B5EF4-FFF2-40B4-BE49-F238E27FC236}">
                <a16:creationId xmlns:a16="http://schemas.microsoft.com/office/drawing/2014/main" id="{A39CA20E-95FC-7AB2-3403-C314E40E32D1}"/>
              </a:ext>
            </a:extLst>
          </p:cNvPr>
          <p:cNvSpPr/>
          <p:nvPr/>
        </p:nvSpPr>
        <p:spPr>
          <a:xfrm>
            <a:off x="15544800" y="0"/>
            <a:ext cx="1143000" cy="1823056"/>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D9318EA7-F700-BC3C-937B-437D6A823477}"/>
              </a:ext>
            </a:extLst>
          </p:cNvPr>
          <p:cNvSpPr txBox="1"/>
          <p:nvPr/>
        </p:nvSpPr>
        <p:spPr>
          <a:xfrm>
            <a:off x="3390900" y="911528"/>
            <a:ext cx="11506200" cy="707886"/>
          </a:xfrm>
          <a:prstGeom prst="rect">
            <a:avLst/>
          </a:prstGeom>
          <a:noFill/>
        </p:spPr>
        <p:txBody>
          <a:bodyPr wrap="square">
            <a:spAutoFit/>
          </a:bodyPr>
          <a:lstStyle/>
          <a:p>
            <a:r>
              <a:rPr lang="en-IN" sz="4000" b="1" dirty="0">
                <a:latin typeface="Inter" panose="020B0604020202020204" charset="0"/>
                <a:cs typeface="Inter" panose="020B0604020202020204" charset="0"/>
              </a:rPr>
              <a:t>Missing Value Assessment </a:t>
            </a:r>
            <a:r>
              <a:rPr lang="en-IN" sz="4000" dirty="0">
                <a:latin typeface="Inter" panose="020B0604020202020204" charset="0"/>
                <a:cs typeface="Inter" panose="020B0604020202020204" charset="0"/>
              </a:rPr>
              <a:t>(</a:t>
            </a:r>
            <a:r>
              <a:rPr lang="en-IN" sz="4000" b="1" dirty="0">
                <a:latin typeface="Inter" panose="020B0604020202020204" charset="0"/>
                <a:cs typeface="Inter" panose="020B0604020202020204" charset="0"/>
              </a:rPr>
              <a:t>credit_card_balance</a:t>
            </a:r>
            <a:r>
              <a:rPr lang="en-IN" sz="4000" dirty="0">
                <a:latin typeface="Inter" panose="020B0604020202020204" charset="0"/>
                <a:cs typeface="Inter" panose="020B0604020202020204" charset="0"/>
              </a:rPr>
              <a:t>)</a:t>
            </a:r>
            <a:endParaRPr lang="en-IN" sz="4000" b="1" dirty="0">
              <a:latin typeface="Inter" panose="020B0604020202020204" charset="0"/>
              <a:cs typeface="Inter" panose="020B0604020202020204" charset="0"/>
            </a:endParaRPr>
          </a:p>
        </p:txBody>
      </p:sp>
      <p:sp>
        <p:nvSpPr>
          <p:cNvPr id="6" name="TextBox 5">
            <a:extLst>
              <a:ext uri="{FF2B5EF4-FFF2-40B4-BE49-F238E27FC236}">
                <a16:creationId xmlns:a16="http://schemas.microsoft.com/office/drawing/2014/main" id="{FCD71AAE-D6EB-028C-9EBE-B515C21C8869}"/>
              </a:ext>
            </a:extLst>
          </p:cNvPr>
          <p:cNvSpPr txBox="1"/>
          <p:nvPr/>
        </p:nvSpPr>
        <p:spPr>
          <a:xfrm>
            <a:off x="990600" y="1852918"/>
            <a:ext cx="15697200" cy="1031051"/>
          </a:xfrm>
          <a:prstGeom prst="rect">
            <a:avLst/>
          </a:prstGeom>
          <a:noFill/>
        </p:spPr>
        <p:txBody>
          <a:bodyPr wrap="square">
            <a:spAutoFit/>
          </a:bodyPr>
          <a:lstStyle/>
          <a:p>
            <a:pPr>
              <a:buNone/>
            </a:pPr>
            <a:r>
              <a:rPr lang="en-IN" sz="2500" b="1" dirty="0">
                <a:latin typeface="Inter" panose="020B0604020202020204" charset="0"/>
                <a:cs typeface="Inter" panose="020B0604020202020204" charset="0"/>
              </a:rPr>
              <a:t>Summary Statement</a:t>
            </a:r>
          </a:p>
          <a:p>
            <a:r>
              <a:rPr lang="en-IN" dirty="0">
                <a:latin typeface="Inter" panose="020B0604020202020204" charset="0"/>
                <a:cs typeface="Inter" panose="020B0604020202020204" charset="0"/>
              </a:rPr>
              <a:t>The credit_card_balance dataset shows relatively low-to-moderate missingness concentrated in transaction and instalment-related variables. Missing values are primarily associated with inactive credit card usage or unavailable transaction activity. </a:t>
            </a:r>
          </a:p>
        </p:txBody>
      </p:sp>
      <p:graphicFrame>
        <p:nvGraphicFramePr>
          <p:cNvPr id="7" name="Table 6">
            <a:extLst>
              <a:ext uri="{FF2B5EF4-FFF2-40B4-BE49-F238E27FC236}">
                <a16:creationId xmlns:a16="http://schemas.microsoft.com/office/drawing/2014/main" id="{7DC4E02E-756A-8032-1F18-E3B9064BE26E}"/>
              </a:ext>
            </a:extLst>
          </p:cNvPr>
          <p:cNvGraphicFramePr>
            <a:graphicFrameLocks noGrp="1"/>
          </p:cNvGraphicFramePr>
          <p:nvPr>
            <p:extLst>
              <p:ext uri="{D42A27DB-BD31-4B8C-83A1-F6EECF244321}">
                <p14:modId xmlns:p14="http://schemas.microsoft.com/office/powerpoint/2010/main" val="1552740612"/>
              </p:ext>
            </p:extLst>
          </p:nvPr>
        </p:nvGraphicFramePr>
        <p:xfrm>
          <a:off x="990600" y="3117473"/>
          <a:ext cx="15697199" cy="5234305"/>
        </p:xfrm>
        <a:graphic>
          <a:graphicData uri="http://schemas.openxmlformats.org/drawingml/2006/table">
            <a:tbl>
              <a:tblPr firstRow="1" bandRow="1">
                <a:tableStyleId>{5C22544A-7EE6-4342-B048-85BDC9FD1C3A}</a:tableStyleId>
              </a:tblPr>
              <a:tblGrid>
                <a:gridCol w="1143000">
                  <a:extLst>
                    <a:ext uri="{9D8B030D-6E8A-4147-A177-3AD203B41FA5}">
                      <a16:colId xmlns:a16="http://schemas.microsoft.com/office/drawing/2014/main" val="1503224804"/>
                    </a:ext>
                  </a:extLst>
                </a:gridCol>
                <a:gridCol w="3733800">
                  <a:extLst>
                    <a:ext uri="{9D8B030D-6E8A-4147-A177-3AD203B41FA5}">
                      <a16:colId xmlns:a16="http://schemas.microsoft.com/office/drawing/2014/main" val="3589930619"/>
                    </a:ext>
                  </a:extLst>
                </a:gridCol>
                <a:gridCol w="3200400">
                  <a:extLst>
                    <a:ext uri="{9D8B030D-6E8A-4147-A177-3AD203B41FA5}">
                      <a16:colId xmlns:a16="http://schemas.microsoft.com/office/drawing/2014/main" val="175260853"/>
                    </a:ext>
                  </a:extLst>
                </a:gridCol>
                <a:gridCol w="1752600">
                  <a:extLst>
                    <a:ext uri="{9D8B030D-6E8A-4147-A177-3AD203B41FA5}">
                      <a16:colId xmlns:a16="http://schemas.microsoft.com/office/drawing/2014/main" val="1790431648"/>
                    </a:ext>
                  </a:extLst>
                </a:gridCol>
                <a:gridCol w="1905000">
                  <a:extLst>
                    <a:ext uri="{9D8B030D-6E8A-4147-A177-3AD203B41FA5}">
                      <a16:colId xmlns:a16="http://schemas.microsoft.com/office/drawing/2014/main" val="4133588844"/>
                    </a:ext>
                  </a:extLst>
                </a:gridCol>
                <a:gridCol w="3962399">
                  <a:extLst>
                    <a:ext uri="{9D8B030D-6E8A-4147-A177-3AD203B41FA5}">
                      <a16:colId xmlns:a16="http://schemas.microsoft.com/office/drawing/2014/main" val="108615562"/>
                    </a:ext>
                  </a:extLst>
                </a:gridCol>
              </a:tblGrid>
              <a:tr h="370840">
                <a:tc>
                  <a:txBody>
                    <a:bodyPr/>
                    <a:lstStyle/>
                    <a:p>
                      <a:pPr algn="ctr"/>
                      <a:r>
                        <a:rPr lang="en-US" sz="2100" dirty="0">
                          <a:solidFill>
                            <a:schemeClr val="tx1"/>
                          </a:solidFill>
                          <a:latin typeface="Inter" panose="020B0604020202020204" charset="0"/>
                          <a:cs typeface="Inter" panose="020B0604020202020204" charset="0"/>
                        </a:rPr>
                        <a:t>S. No.</a:t>
                      </a:r>
                      <a:endParaRPr lang="en-IN" sz="2100"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sz="2100" dirty="0">
                          <a:solidFill>
                            <a:schemeClr val="tx1"/>
                          </a:solidFill>
                          <a:latin typeface="Inter" panose="020B0604020202020204" charset="0"/>
                          <a:cs typeface="Inter" panose="020B0604020202020204" charset="0"/>
                        </a:rPr>
                        <a:t>Feature</a:t>
                      </a:r>
                      <a:endParaRPr lang="en-IN" sz="2100"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sz="2100" dirty="0">
                          <a:solidFill>
                            <a:schemeClr val="tx1"/>
                          </a:solidFill>
                          <a:latin typeface="Inter" panose="020B0604020202020204" charset="0"/>
                          <a:cs typeface="Inter" panose="020B0604020202020204" charset="0"/>
                        </a:rPr>
                        <a:t>Missing </a:t>
                      </a:r>
                      <a:endParaRPr lang="en-IN" sz="2100"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sz="2100" dirty="0">
                          <a:solidFill>
                            <a:schemeClr val="tx1"/>
                          </a:solidFill>
                          <a:latin typeface="Inter" panose="020B0604020202020204" charset="0"/>
                          <a:cs typeface="Inter" panose="020B0604020202020204" charset="0"/>
                        </a:rPr>
                        <a:t>Feature Category</a:t>
                      </a:r>
                      <a:endParaRPr lang="en-IN" sz="2100"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sz="2100" dirty="0">
                          <a:solidFill>
                            <a:schemeClr val="tx1"/>
                          </a:solidFill>
                          <a:latin typeface="Inter" panose="020B0604020202020204" charset="0"/>
                          <a:cs typeface="Inter" panose="020B0604020202020204" charset="0"/>
                        </a:rPr>
                        <a:t>Business Interpretation</a:t>
                      </a:r>
                      <a:endParaRPr lang="en-IN" sz="2100"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sz="2100" dirty="0">
                          <a:solidFill>
                            <a:schemeClr val="tx1"/>
                          </a:solidFill>
                          <a:latin typeface="Inter" panose="020B0604020202020204" charset="0"/>
                          <a:cs typeface="Inter" panose="020B0604020202020204" charset="0"/>
                        </a:rPr>
                        <a:t>Suggested Treatment</a:t>
                      </a:r>
                      <a:endParaRPr lang="en-IN" sz="2100"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3645093670"/>
                  </a:ext>
                </a:extLst>
              </a:tr>
              <a:tr h="370840">
                <a:tc>
                  <a:txBody>
                    <a:bodyPr/>
                    <a:lstStyle/>
                    <a:p>
                      <a:pPr algn="ctr" fontAlgn="b">
                        <a:buNone/>
                      </a:pPr>
                      <a:r>
                        <a:rPr lang="en-US" sz="1800" b="0" i="0" u="none" strike="noStrike" dirty="0">
                          <a:solidFill>
                            <a:srgbClr val="000000"/>
                          </a:solidFill>
                          <a:effectLst/>
                          <a:latin typeface="Inter" panose="020B0604020202020204" charset="0"/>
                          <a:cs typeface="Inter" panose="020B0604020202020204" charset="0"/>
                        </a:rPr>
                        <a:t>1</a:t>
                      </a:r>
                      <a:endParaRPr lang="en-IN" sz="1800" b="0" i="0" u="none" strike="noStrike" dirty="0">
                        <a:solidFill>
                          <a:srgbClr val="000000"/>
                        </a:solidFill>
                        <a:effectLst/>
                        <a:latin typeface="Inter" panose="020B0604020202020204" charset="0"/>
                        <a:cs typeface="Inter" panose="020B0604020202020204" charset="0"/>
                      </a:endParaRPr>
                    </a:p>
                  </a:txBody>
                  <a:tcPr marL="9525" marR="9525" marT="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a:solidFill>
                            <a:srgbClr val="000000"/>
                          </a:solidFill>
                          <a:effectLst/>
                          <a:latin typeface="Inter" panose="020B0604020202020204" charset="0"/>
                          <a:cs typeface="Inter" panose="020B0604020202020204" charset="0"/>
                        </a:rPr>
                        <a:t>AMT_PAYMENT_CURRENT</a:t>
                      </a:r>
                    </a:p>
                  </a:txBody>
                  <a:tcPr marL="9525" marR="9525" marT="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a:solidFill>
                            <a:srgbClr val="000000"/>
                          </a:solidFill>
                          <a:effectLst/>
                          <a:latin typeface="Inter" panose="020B0604020202020204" charset="0"/>
                          <a:cs typeface="Inter" panose="020B0604020202020204" charset="0"/>
                        </a:rPr>
                        <a:t>Current payment amount</a:t>
                      </a:r>
                    </a:p>
                  </a:txBody>
                  <a:tcPr marL="9525" marR="9525" marT="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19.99806%</a:t>
                      </a:r>
                    </a:p>
                  </a:txBody>
                  <a:tcPr marL="9525" marR="9525" marT="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Create flag/ Filled with 0</a:t>
                      </a:r>
                    </a:p>
                  </a:txBody>
                  <a:tcPr marL="9525" marR="9525" marT="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dirty="0">
                          <a:latin typeface="Inter" panose="020B0604020202020204" charset="0"/>
                          <a:cs typeface="Inter" panose="020B0604020202020204" charset="0"/>
                        </a:rPr>
                        <a:t>Missing pattern differs from drawing variables and real 0 values exist.</a:t>
                      </a:r>
                      <a:endParaRPr lang="en-IN" sz="1800" b="0" i="0" u="none" strike="noStrike" dirty="0">
                        <a:solidFill>
                          <a:srgbClr val="000000"/>
                        </a:solidFill>
                        <a:effectLst/>
                        <a:latin typeface="Inter" panose="020B0604020202020204" charset="0"/>
                        <a:cs typeface="Inter" panose="020B0604020202020204" charset="0"/>
                      </a:endParaRPr>
                    </a:p>
                  </a:txBody>
                  <a:tcPr marL="9525" marR="9525" marT="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31657005"/>
                  </a:ext>
                </a:extLst>
              </a:tr>
              <a:tr h="370840">
                <a:tc>
                  <a:txBody>
                    <a:bodyPr/>
                    <a:lstStyle/>
                    <a:p>
                      <a:pPr algn="ctr" fontAlgn="b">
                        <a:buNone/>
                      </a:pPr>
                      <a:r>
                        <a:rPr lang="en-US" sz="1800" b="0" i="0" u="none" strike="noStrike" dirty="0">
                          <a:solidFill>
                            <a:srgbClr val="000000"/>
                          </a:solidFill>
                          <a:effectLst/>
                          <a:latin typeface="Inter" panose="020B0604020202020204" charset="0"/>
                          <a:cs typeface="Inter" panose="020B0604020202020204" charset="0"/>
                        </a:rPr>
                        <a:t>2</a:t>
                      </a:r>
                      <a:endParaRPr lang="en-IN" sz="1800" b="0" i="0" u="none" strike="noStrike" dirty="0">
                        <a:solidFill>
                          <a:srgbClr val="000000"/>
                        </a:solidFill>
                        <a:effectLst/>
                        <a:latin typeface="Inter" panose="020B0604020202020204" charset="0"/>
                        <a:cs typeface="Inter" panose="020B0604020202020204" charset="0"/>
                      </a:endParaRPr>
                    </a:p>
                  </a:txBody>
                  <a:tcPr marL="9525" marR="9525" marT="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AMT_DRAWINGS_ATM_CURRENT</a:t>
                      </a:r>
                    </a:p>
                  </a:txBody>
                  <a:tcPr marL="9525" marR="9525" marT="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a:solidFill>
                            <a:srgbClr val="000000"/>
                          </a:solidFill>
                          <a:effectLst/>
                          <a:latin typeface="Inter" panose="020B0604020202020204" charset="0"/>
                          <a:cs typeface="Inter" panose="020B0604020202020204" charset="0"/>
                        </a:rPr>
                        <a:t>ATM withdrawal amount</a:t>
                      </a:r>
                    </a:p>
                  </a:txBody>
                  <a:tcPr marL="9525" marR="9525" marT="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19.52487%</a:t>
                      </a:r>
                    </a:p>
                  </a:txBody>
                  <a:tcPr marL="9525" marR="9525" marT="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rowSpan="6">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Create a flag and fill with 0</a:t>
                      </a:r>
                    </a:p>
                  </a:txBody>
                  <a:tcPr marL="9525" marR="9525" marT="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rowSpan="6">
                  <a:txBody>
                    <a:bodyPr/>
                    <a:lstStyle/>
                    <a:p>
                      <a:pPr algn="ctr" fontAlgn="b">
                        <a:buNone/>
                      </a:pPr>
                      <a:r>
                        <a:rPr lang="en-IN" dirty="0">
                          <a:latin typeface="Inter" panose="020B0604020202020204" charset="0"/>
                          <a:cs typeface="Inter" panose="020B0604020202020204" charset="0"/>
                        </a:rPr>
                        <a:t>Shares identical missingness pattern with all drawing amount/count variables.</a:t>
                      </a:r>
                      <a:br>
                        <a:rPr lang="en-IN" dirty="0">
                          <a:latin typeface="Inter" panose="020B0604020202020204" charset="0"/>
                          <a:cs typeface="Inter" panose="020B0604020202020204" charset="0"/>
                        </a:rPr>
                      </a:br>
                      <a:r>
                        <a:rPr lang="en-IN" dirty="0">
                          <a:latin typeface="Inter" panose="020B0604020202020204" charset="0"/>
                          <a:cs typeface="Inter" panose="020B0604020202020204" charset="0"/>
                        </a:rPr>
                        <a:t>Create one DRAWING_INFO_MISSING flag and fill all with 0.</a:t>
                      </a:r>
                      <a:endParaRPr lang="en-IN" sz="1800" b="0" i="0" u="none" strike="noStrike" dirty="0">
                        <a:solidFill>
                          <a:srgbClr val="000000"/>
                        </a:solidFill>
                        <a:effectLst/>
                        <a:latin typeface="Inter" panose="020B0604020202020204" charset="0"/>
                        <a:cs typeface="Inter" panose="020B0604020202020204" charset="0"/>
                      </a:endParaRPr>
                    </a:p>
                  </a:txBody>
                  <a:tcPr marL="9525" marR="9525" marT="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3010496057"/>
                  </a:ext>
                </a:extLst>
              </a:tr>
              <a:tr h="370840">
                <a:tc>
                  <a:txBody>
                    <a:bodyPr/>
                    <a:lstStyle/>
                    <a:p>
                      <a:pPr algn="ctr" fontAlgn="b">
                        <a:buNone/>
                      </a:pPr>
                      <a:r>
                        <a:rPr lang="en-US" sz="1800" b="0" i="0" u="none" strike="noStrike" dirty="0">
                          <a:solidFill>
                            <a:srgbClr val="000000"/>
                          </a:solidFill>
                          <a:effectLst/>
                          <a:latin typeface="Inter" panose="020B0604020202020204" charset="0"/>
                          <a:cs typeface="Inter" panose="020B0604020202020204" charset="0"/>
                        </a:rPr>
                        <a:t>3</a:t>
                      </a:r>
                      <a:endParaRPr lang="en-IN" sz="1800" b="0" i="0" u="none" strike="noStrike" dirty="0">
                        <a:solidFill>
                          <a:srgbClr val="000000"/>
                        </a:solidFill>
                        <a:effectLst/>
                        <a:latin typeface="Inter" panose="020B0604020202020204" charset="0"/>
                        <a:cs typeface="Inter" panose="020B0604020202020204" charset="0"/>
                      </a:endParaRPr>
                    </a:p>
                  </a:txBody>
                  <a:tcPr marL="9525" marR="9525" marT="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CNT_DRAWINGS_ATM_CURRENT</a:t>
                      </a:r>
                    </a:p>
                  </a:txBody>
                  <a:tcPr marL="9525" marR="9525" marT="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ATM withdrawal count</a:t>
                      </a:r>
                    </a:p>
                  </a:txBody>
                  <a:tcPr marL="9525" marR="9525" marT="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19.52487%</a:t>
                      </a:r>
                    </a:p>
                  </a:txBody>
                  <a:tcPr marL="9525" marR="9525" marT="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vMerge="1">
                  <a:txBody>
                    <a:bodyPr/>
                    <a:lstStyle/>
                    <a:p>
                      <a:endParaRPr dirty="0"/>
                    </a:p>
                  </a:txBody>
                  <a:tcPr marL="9525" marR="9525" marT="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vMerge="1">
                  <a:txBody>
                    <a:bodyPr/>
                    <a:lstStyle/>
                    <a:p>
                      <a:endParaRPr dirty="0"/>
                    </a:p>
                  </a:txBody>
                  <a:tcPr marL="9525" marR="9525" marT="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1642960195"/>
                  </a:ext>
                </a:extLst>
              </a:tr>
              <a:tr h="370840">
                <a:tc>
                  <a:txBody>
                    <a:bodyPr/>
                    <a:lstStyle/>
                    <a:p>
                      <a:pPr algn="ctr" fontAlgn="b">
                        <a:buNone/>
                      </a:pPr>
                      <a:r>
                        <a:rPr lang="en-US" sz="1800" b="0" i="0" u="none" strike="noStrike" dirty="0">
                          <a:solidFill>
                            <a:srgbClr val="000000"/>
                          </a:solidFill>
                          <a:effectLst/>
                          <a:latin typeface="Inter" panose="020B0604020202020204" charset="0"/>
                          <a:cs typeface="Inter" panose="020B0604020202020204" charset="0"/>
                        </a:rPr>
                        <a:t>4</a:t>
                      </a:r>
                      <a:endParaRPr lang="en-IN" sz="1800" b="0" i="0" u="none" strike="noStrike" dirty="0">
                        <a:solidFill>
                          <a:srgbClr val="000000"/>
                        </a:solidFill>
                        <a:effectLst/>
                        <a:latin typeface="Inter" panose="020B0604020202020204" charset="0"/>
                        <a:cs typeface="Inter" panose="020B0604020202020204" charset="0"/>
                      </a:endParaRPr>
                    </a:p>
                  </a:txBody>
                  <a:tcPr marL="9525" marR="9525" marT="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AMT_DRAWINGS_OTHER_CURRENT</a:t>
                      </a:r>
                    </a:p>
                  </a:txBody>
                  <a:tcPr marL="9525" marR="9525" marT="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Other withdrawal amount</a:t>
                      </a:r>
                    </a:p>
                  </a:txBody>
                  <a:tcPr marL="9525" marR="9525" marT="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19.52487%</a:t>
                      </a:r>
                    </a:p>
                  </a:txBody>
                  <a:tcPr marL="9525" marR="9525" marT="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vMerge="1">
                  <a:txBody>
                    <a:bodyPr/>
                    <a:lstStyle/>
                    <a:p>
                      <a:endParaRPr/>
                    </a:p>
                  </a:txBody>
                  <a:tcPr marL="9525" marR="9525" marT="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vMerge="1">
                  <a:txBody>
                    <a:bodyPr/>
                    <a:lstStyle/>
                    <a:p>
                      <a:endParaRPr/>
                    </a:p>
                  </a:txBody>
                  <a:tcPr marL="9525" marR="9525" marT="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900846648"/>
                  </a:ext>
                </a:extLst>
              </a:tr>
              <a:tr h="370840">
                <a:tc>
                  <a:txBody>
                    <a:bodyPr/>
                    <a:lstStyle/>
                    <a:p>
                      <a:pPr algn="ctr" fontAlgn="b">
                        <a:buNone/>
                      </a:pPr>
                      <a:r>
                        <a:rPr lang="en-US" sz="1800" b="0" i="0" u="none" strike="noStrike" dirty="0">
                          <a:solidFill>
                            <a:srgbClr val="000000"/>
                          </a:solidFill>
                          <a:effectLst/>
                          <a:latin typeface="Inter" panose="020B0604020202020204" charset="0"/>
                          <a:cs typeface="Inter" panose="020B0604020202020204" charset="0"/>
                        </a:rPr>
                        <a:t>5</a:t>
                      </a:r>
                      <a:endParaRPr lang="en-IN" sz="1800" b="0" i="0" u="none" strike="noStrike" dirty="0">
                        <a:solidFill>
                          <a:srgbClr val="000000"/>
                        </a:solidFill>
                        <a:effectLst/>
                        <a:latin typeface="Inter" panose="020B0604020202020204" charset="0"/>
                        <a:cs typeface="Inter" panose="020B0604020202020204" charset="0"/>
                      </a:endParaRPr>
                    </a:p>
                  </a:txBody>
                  <a:tcPr marL="9525" marR="9525" marT="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CNT_DRAWINGS_OTHER_CURRENT</a:t>
                      </a:r>
                    </a:p>
                  </a:txBody>
                  <a:tcPr marL="9525" marR="9525" marT="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Other withdrawal count</a:t>
                      </a:r>
                    </a:p>
                  </a:txBody>
                  <a:tcPr marL="9525" marR="9525" marT="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19.52487%</a:t>
                      </a:r>
                    </a:p>
                  </a:txBody>
                  <a:tcPr marL="9525" marR="9525" marT="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vMerge="1">
                  <a:txBody>
                    <a:bodyPr/>
                    <a:lstStyle/>
                    <a:p>
                      <a:endParaRPr/>
                    </a:p>
                  </a:txBody>
                  <a:tcPr marL="9525" marR="9525" marT="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vMerge="1">
                  <a:txBody>
                    <a:bodyPr/>
                    <a:lstStyle/>
                    <a:p>
                      <a:endParaRPr dirty="0"/>
                    </a:p>
                  </a:txBody>
                  <a:tcPr marL="9525" marR="9525" marT="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508620099"/>
                  </a:ext>
                </a:extLst>
              </a:tr>
              <a:tr h="370840">
                <a:tc>
                  <a:txBody>
                    <a:bodyPr/>
                    <a:lstStyle/>
                    <a:p>
                      <a:pPr algn="ctr" fontAlgn="b">
                        <a:buNone/>
                      </a:pPr>
                      <a:r>
                        <a:rPr lang="en-US" sz="1800" b="0" i="0" u="none" strike="noStrike" dirty="0">
                          <a:solidFill>
                            <a:srgbClr val="000000"/>
                          </a:solidFill>
                          <a:effectLst/>
                          <a:latin typeface="Inter" panose="020B0604020202020204" charset="0"/>
                          <a:cs typeface="Inter" panose="020B0604020202020204" charset="0"/>
                        </a:rPr>
                        <a:t>6</a:t>
                      </a:r>
                      <a:endParaRPr lang="en-IN" sz="1800" b="0" i="0" u="none" strike="noStrike" dirty="0">
                        <a:solidFill>
                          <a:srgbClr val="000000"/>
                        </a:solidFill>
                        <a:effectLst/>
                        <a:latin typeface="Inter" panose="020B0604020202020204" charset="0"/>
                        <a:cs typeface="Inter" panose="020B0604020202020204" charset="0"/>
                      </a:endParaRPr>
                    </a:p>
                  </a:txBody>
                  <a:tcPr marL="9525" marR="9525" marT="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CNT_DRAWINGS_POS_CURRENT</a:t>
                      </a:r>
                    </a:p>
                  </a:txBody>
                  <a:tcPr marL="9525" marR="9525" marT="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POS transaction count</a:t>
                      </a:r>
                    </a:p>
                  </a:txBody>
                  <a:tcPr marL="9525" marR="9525" marT="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19.52487%</a:t>
                      </a:r>
                    </a:p>
                  </a:txBody>
                  <a:tcPr marL="9525" marR="9525" marT="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vMerge="1">
                  <a:txBody>
                    <a:bodyPr/>
                    <a:lstStyle/>
                    <a:p>
                      <a:endParaRPr/>
                    </a:p>
                  </a:txBody>
                  <a:tcPr marL="9525" marR="9525" marT="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vMerge="1">
                  <a:txBody>
                    <a:bodyPr/>
                    <a:lstStyle/>
                    <a:p>
                      <a:endParaRPr dirty="0"/>
                    </a:p>
                  </a:txBody>
                  <a:tcPr marL="9525" marR="9525" marT="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1831605972"/>
                  </a:ext>
                </a:extLst>
              </a:tr>
              <a:tr h="370840">
                <a:tc>
                  <a:txBody>
                    <a:bodyPr/>
                    <a:lstStyle/>
                    <a:p>
                      <a:pPr algn="ctr" fontAlgn="b">
                        <a:buNone/>
                      </a:pPr>
                      <a:r>
                        <a:rPr lang="en-US" sz="1800" b="0" i="0" u="none" strike="noStrike" dirty="0">
                          <a:solidFill>
                            <a:srgbClr val="000000"/>
                          </a:solidFill>
                          <a:effectLst/>
                          <a:latin typeface="Inter" panose="020B0604020202020204" charset="0"/>
                          <a:cs typeface="Inter" panose="020B0604020202020204" charset="0"/>
                        </a:rPr>
                        <a:t>7</a:t>
                      </a:r>
                      <a:endParaRPr lang="en-IN" sz="1800" b="0" i="0" u="none" strike="noStrike" dirty="0">
                        <a:solidFill>
                          <a:srgbClr val="000000"/>
                        </a:solidFill>
                        <a:effectLst/>
                        <a:latin typeface="Inter" panose="020B0604020202020204" charset="0"/>
                        <a:cs typeface="Inter" panose="020B0604020202020204" charset="0"/>
                      </a:endParaRPr>
                    </a:p>
                  </a:txBody>
                  <a:tcPr marL="9525" marR="9525" marT="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AMT_DRAWINGS_POS_CURRENT</a:t>
                      </a:r>
                    </a:p>
                  </a:txBody>
                  <a:tcPr marL="9525" marR="9525" marT="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POS withdrawal amount</a:t>
                      </a:r>
                    </a:p>
                  </a:txBody>
                  <a:tcPr marL="9525" marR="9525" marT="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19.52487%</a:t>
                      </a:r>
                    </a:p>
                  </a:txBody>
                  <a:tcPr marL="9525" marR="9525" marT="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vMerge="1">
                  <a:txBody>
                    <a:bodyPr/>
                    <a:lstStyle/>
                    <a:p>
                      <a:endParaRPr dirty="0"/>
                    </a:p>
                  </a:txBody>
                  <a:tcPr marL="9525" marR="9525" marT="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vMerge="1">
                  <a:txBody>
                    <a:bodyPr/>
                    <a:lstStyle/>
                    <a:p>
                      <a:endParaRPr dirty="0"/>
                    </a:p>
                  </a:txBody>
                  <a:tcPr marL="9525" marR="9525" marT="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1502091366"/>
                  </a:ext>
                </a:extLst>
              </a:tr>
              <a:tr h="370840">
                <a:tc>
                  <a:txBody>
                    <a:bodyPr/>
                    <a:lstStyle/>
                    <a:p>
                      <a:pPr algn="ctr" fontAlgn="b">
                        <a:buNone/>
                      </a:pPr>
                      <a:r>
                        <a:rPr lang="en-US" sz="1800" b="0" i="0" u="none" strike="noStrike" dirty="0">
                          <a:solidFill>
                            <a:srgbClr val="000000"/>
                          </a:solidFill>
                          <a:effectLst/>
                          <a:latin typeface="Inter" panose="020B0604020202020204" charset="0"/>
                          <a:cs typeface="Inter" panose="020B0604020202020204" charset="0"/>
                        </a:rPr>
                        <a:t>8</a:t>
                      </a:r>
                      <a:endParaRPr lang="en-IN" sz="1800" b="0" i="0" u="none" strike="noStrike" dirty="0">
                        <a:solidFill>
                          <a:srgbClr val="000000"/>
                        </a:solidFill>
                        <a:effectLst/>
                        <a:latin typeface="Inter" panose="020B0604020202020204" charset="0"/>
                        <a:cs typeface="Inter" panose="020B0604020202020204" charset="0"/>
                      </a:endParaRPr>
                    </a:p>
                  </a:txBody>
                  <a:tcPr marL="9525" marR="9525" marT="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a:solidFill>
                            <a:srgbClr val="000000"/>
                          </a:solidFill>
                          <a:effectLst/>
                          <a:latin typeface="Inter" panose="020B0604020202020204" charset="0"/>
                          <a:cs typeface="Inter" panose="020B0604020202020204" charset="0"/>
                        </a:rPr>
                        <a:t>AMT_INST_MIN_REGULARITY</a:t>
                      </a:r>
                    </a:p>
                  </a:txBody>
                  <a:tcPr marL="9525" marR="9525" marT="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Minimum regular installment amount</a:t>
                      </a:r>
                    </a:p>
                  </a:txBody>
                  <a:tcPr marL="9525" marR="9525" marT="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7.94821%</a:t>
                      </a:r>
                    </a:p>
                  </a:txBody>
                  <a:tcPr marL="9525" marR="9525" marT="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rowSpan="2">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Create a flag and fill with 0</a:t>
                      </a:r>
                    </a:p>
                  </a:txBody>
                  <a:tcPr marL="9525" marR="9525" marT="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rowSpan="2">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Identical missing</a:t>
                      </a:r>
                    </a:p>
                  </a:txBody>
                  <a:tcPr marL="9525" marR="9525" marT="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151889006"/>
                  </a:ext>
                </a:extLst>
              </a:tr>
              <a:tr h="370840">
                <a:tc>
                  <a:txBody>
                    <a:bodyPr/>
                    <a:lstStyle/>
                    <a:p>
                      <a:pPr algn="ctr" fontAlgn="b">
                        <a:buNone/>
                      </a:pPr>
                      <a:r>
                        <a:rPr lang="en-US" sz="1800" b="0" i="0" u="none" strike="noStrike" dirty="0">
                          <a:solidFill>
                            <a:srgbClr val="000000"/>
                          </a:solidFill>
                          <a:effectLst/>
                          <a:latin typeface="Inter" panose="020B0604020202020204" charset="0"/>
                          <a:cs typeface="Inter" panose="020B0604020202020204" charset="0"/>
                        </a:rPr>
                        <a:t>9</a:t>
                      </a:r>
                      <a:endParaRPr lang="en-IN" sz="1800" b="0" i="0" u="none" strike="noStrike" dirty="0">
                        <a:solidFill>
                          <a:srgbClr val="000000"/>
                        </a:solidFill>
                        <a:effectLst/>
                        <a:latin typeface="Inter" panose="020B0604020202020204" charset="0"/>
                        <a:cs typeface="Inter" panose="020B0604020202020204" charset="0"/>
                      </a:endParaRPr>
                    </a:p>
                  </a:txBody>
                  <a:tcPr marL="9525" marR="9525" marT="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CNT_INSTALMENT_MATURE_CUM</a:t>
                      </a:r>
                    </a:p>
                  </a:txBody>
                  <a:tcPr marL="9525" marR="9525" marT="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Completed installment count</a:t>
                      </a:r>
                    </a:p>
                  </a:txBody>
                  <a:tcPr marL="9525" marR="9525" marT="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7.94821%</a:t>
                      </a:r>
                    </a:p>
                  </a:txBody>
                  <a:tcPr marL="9525" marR="9525" marT="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vMerge="1">
                  <a:txBody>
                    <a:bodyPr/>
                    <a:lstStyle/>
                    <a:p>
                      <a:endParaRPr dirty="0"/>
                    </a:p>
                  </a:txBody>
                  <a:tcPr marL="9525" marR="9525" marT="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vMerge="1">
                  <a:txBody>
                    <a:bodyPr/>
                    <a:lstStyle/>
                    <a:p>
                      <a:endParaRPr dirty="0"/>
                    </a:p>
                  </a:txBody>
                  <a:tcPr marL="9525" marR="9525" marT="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1846416525"/>
                  </a:ext>
                </a:extLst>
              </a:tr>
            </a:tbl>
          </a:graphicData>
        </a:graphic>
      </p:graphicFrame>
    </p:spTree>
    <p:extLst>
      <p:ext uri="{BB962C8B-B14F-4D97-AF65-F5344CB8AC3E}">
        <p14:creationId xmlns:p14="http://schemas.microsoft.com/office/powerpoint/2010/main" val="58360231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C5D6CA"/>
        </a:solidFill>
        <a:effectLst/>
      </p:bgPr>
    </p:bg>
    <p:spTree>
      <p:nvGrpSpPr>
        <p:cNvPr id="1" name="">
          <a:extLst>
            <a:ext uri="{FF2B5EF4-FFF2-40B4-BE49-F238E27FC236}">
              <a16:creationId xmlns:a16="http://schemas.microsoft.com/office/drawing/2014/main" id="{EF703DAA-89F9-4F55-297C-8114CE62447C}"/>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0951AA8C-9E77-C861-AC80-60296EEE565C}"/>
              </a:ext>
            </a:extLst>
          </p:cNvPr>
          <p:cNvGrpSpPr/>
          <p:nvPr/>
        </p:nvGrpSpPr>
        <p:grpSpPr>
          <a:xfrm>
            <a:off x="0" y="9497082"/>
            <a:ext cx="18292543" cy="787203"/>
            <a:chOff x="0" y="0"/>
            <a:chExt cx="24390058" cy="1049604"/>
          </a:xfrm>
        </p:grpSpPr>
        <p:sp>
          <p:nvSpPr>
            <p:cNvPr id="3" name="Freeform 3">
              <a:extLst>
                <a:ext uri="{FF2B5EF4-FFF2-40B4-BE49-F238E27FC236}">
                  <a16:creationId xmlns:a16="http://schemas.microsoft.com/office/drawing/2014/main" id="{111A7F40-D4C2-318F-C1E3-6CB0E41BF4FB}"/>
                </a:ext>
              </a:extLst>
            </p:cNvPr>
            <p:cNvSpPr/>
            <p:nvPr/>
          </p:nvSpPr>
          <p:spPr>
            <a:xfrm>
              <a:off x="0" y="0"/>
              <a:ext cx="24390096" cy="1049655"/>
            </a:xfrm>
            <a:custGeom>
              <a:avLst/>
              <a:gdLst/>
              <a:ahLst/>
              <a:cxnLst/>
              <a:rect l="l" t="t" r="r" b="b"/>
              <a:pathLst>
                <a:path w="24390096" h="1049655">
                  <a:moveTo>
                    <a:pt x="0" y="0"/>
                  </a:moveTo>
                  <a:lnTo>
                    <a:pt x="24390096" y="0"/>
                  </a:lnTo>
                  <a:lnTo>
                    <a:pt x="24390096" y="1049655"/>
                  </a:lnTo>
                  <a:lnTo>
                    <a:pt x="0" y="1049655"/>
                  </a:lnTo>
                  <a:close/>
                </a:path>
              </a:pathLst>
            </a:custGeom>
            <a:solidFill>
              <a:srgbClr val="348E90"/>
            </a:solidFill>
          </p:spPr>
          <p:txBody>
            <a:bodyPr/>
            <a:lstStyle/>
            <a:p>
              <a:endParaRPr lang="en-IN"/>
            </a:p>
          </p:txBody>
        </p:sp>
      </p:grpSp>
      <p:sp>
        <p:nvSpPr>
          <p:cNvPr id="4" name="Rectangle 3">
            <a:extLst>
              <a:ext uri="{FF2B5EF4-FFF2-40B4-BE49-F238E27FC236}">
                <a16:creationId xmlns:a16="http://schemas.microsoft.com/office/drawing/2014/main" id="{B8D7691C-2938-F612-DEDA-4B75C4C3AB9A}"/>
              </a:ext>
            </a:extLst>
          </p:cNvPr>
          <p:cNvSpPr/>
          <p:nvPr/>
        </p:nvSpPr>
        <p:spPr>
          <a:xfrm>
            <a:off x="15544800" y="0"/>
            <a:ext cx="1143000" cy="1823056"/>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5C893B8A-416E-5000-C99D-BFBF250573BE}"/>
              </a:ext>
            </a:extLst>
          </p:cNvPr>
          <p:cNvSpPr txBox="1"/>
          <p:nvPr/>
        </p:nvSpPr>
        <p:spPr>
          <a:xfrm>
            <a:off x="5524500" y="4127837"/>
            <a:ext cx="7581900" cy="1015663"/>
          </a:xfrm>
          <a:prstGeom prst="rect">
            <a:avLst/>
          </a:prstGeom>
          <a:noFill/>
        </p:spPr>
        <p:txBody>
          <a:bodyPr wrap="square">
            <a:spAutoFit/>
          </a:bodyPr>
          <a:lstStyle/>
          <a:p>
            <a:r>
              <a:rPr lang="en-IN" sz="6000" b="1" dirty="0">
                <a:latin typeface="Inter" panose="020B0604020202020204" charset="0"/>
                <a:cs typeface="Inter" panose="020B0604020202020204" charset="0"/>
              </a:rPr>
              <a:t>POS_CASH_balance</a:t>
            </a:r>
          </a:p>
        </p:txBody>
      </p:sp>
    </p:spTree>
    <p:extLst>
      <p:ext uri="{BB962C8B-B14F-4D97-AF65-F5344CB8AC3E}">
        <p14:creationId xmlns:p14="http://schemas.microsoft.com/office/powerpoint/2010/main" val="228811244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C5D6CA"/>
        </a:solidFill>
        <a:effectLst/>
      </p:bgPr>
    </p:bg>
    <p:spTree>
      <p:nvGrpSpPr>
        <p:cNvPr id="1" name="">
          <a:extLst>
            <a:ext uri="{FF2B5EF4-FFF2-40B4-BE49-F238E27FC236}">
              <a16:creationId xmlns:a16="http://schemas.microsoft.com/office/drawing/2014/main" id="{FC6EE084-AE6C-FA5F-7308-4DC3C48365AF}"/>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6C3359B7-AF23-99F5-618D-AFDAEAE5F23D}"/>
              </a:ext>
            </a:extLst>
          </p:cNvPr>
          <p:cNvGrpSpPr/>
          <p:nvPr/>
        </p:nvGrpSpPr>
        <p:grpSpPr>
          <a:xfrm>
            <a:off x="0" y="9497082"/>
            <a:ext cx="18292543" cy="787203"/>
            <a:chOff x="0" y="0"/>
            <a:chExt cx="24390058" cy="1049604"/>
          </a:xfrm>
        </p:grpSpPr>
        <p:sp>
          <p:nvSpPr>
            <p:cNvPr id="3" name="Freeform 3">
              <a:extLst>
                <a:ext uri="{FF2B5EF4-FFF2-40B4-BE49-F238E27FC236}">
                  <a16:creationId xmlns:a16="http://schemas.microsoft.com/office/drawing/2014/main" id="{96E83BF5-0761-1A6E-0165-0B15EBD727F6}"/>
                </a:ext>
              </a:extLst>
            </p:cNvPr>
            <p:cNvSpPr/>
            <p:nvPr/>
          </p:nvSpPr>
          <p:spPr>
            <a:xfrm>
              <a:off x="0" y="0"/>
              <a:ext cx="24390096" cy="1049655"/>
            </a:xfrm>
            <a:custGeom>
              <a:avLst/>
              <a:gdLst/>
              <a:ahLst/>
              <a:cxnLst/>
              <a:rect l="l" t="t" r="r" b="b"/>
              <a:pathLst>
                <a:path w="24390096" h="1049655">
                  <a:moveTo>
                    <a:pt x="0" y="0"/>
                  </a:moveTo>
                  <a:lnTo>
                    <a:pt x="24390096" y="0"/>
                  </a:lnTo>
                  <a:lnTo>
                    <a:pt x="24390096" y="1049655"/>
                  </a:lnTo>
                  <a:lnTo>
                    <a:pt x="0" y="1049655"/>
                  </a:lnTo>
                  <a:close/>
                </a:path>
              </a:pathLst>
            </a:custGeom>
            <a:solidFill>
              <a:srgbClr val="348E90"/>
            </a:solidFill>
          </p:spPr>
          <p:txBody>
            <a:bodyPr/>
            <a:lstStyle/>
            <a:p>
              <a:endParaRPr lang="en-IN"/>
            </a:p>
          </p:txBody>
        </p:sp>
      </p:grpSp>
      <p:sp>
        <p:nvSpPr>
          <p:cNvPr id="4" name="Rectangle 3">
            <a:extLst>
              <a:ext uri="{FF2B5EF4-FFF2-40B4-BE49-F238E27FC236}">
                <a16:creationId xmlns:a16="http://schemas.microsoft.com/office/drawing/2014/main" id="{DB51F4A8-4531-2163-F668-CDBDE2B822D3}"/>
              </a:ext>
            </a:extLst>
          </p:cNvPr>
          <p:cNvSpPr/>
          <p:nvPr/>
        </p:nvSpPr>
        <p:spPr>
          <a:xfrm>
            <a:off x="15544800" y="0"/>
            <a:ext cx="1143000" cy="1823056"/>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8B9EDAF8-32C5-47D8-1443-1D10ECE7F6E0}"/>
              </a:ext>
            </a:extLst>
          </p:cNvPr>
          <p:cNvSpPr txBox="1"/>
          <p:nvPr/>
        </p:nvSpPr>
        <p:spPr>
          <a:xfrm>
            <a:off x="3390900" y="911528"/>
            <a:ext cx="11506200" cy="707886"/>
          </a:xfrm>
          <a:prstGeom prst="rect">
            <a:avLst/>
          </a:prstGeom>
          <a:noFill/>
        </p:spPr>
        <p:txBody>
          <a:bodyPr wrap="square">
            <a:spAutoFit/>
          </a:bodyPr>
          <a:lstStyle/>
          <a:p>
            <a:r>
              <a:rPr lang="en-IN" sz="4000" b="1" dirty="0">
                <a:latin typeface="Inter" panose="020B0604020202020204" charset="0"/>
                <a:cs typeface="Inter" panose="020B0604020202020204" charset="0"/>
              </a:rPr>
              <a:t>Missing Value Assessment </a:t>
            </a:r>
            <a:r>
              <a:rPr lang="en-IN" sz="4000" dirty="0">
                <a:latin typeface="Inter" panose="020B0604020202020204" charset="0"/>
                <a:cs typeface="Inter" panose="020B0604020202020204" charset="0"/>
              </a:rPr>
              <a:t>(</a:t>
            </a:r>
            <a:r>
              <a:rPr lang="en-IN" sz="4000" b="1" dirty="0">
                <a:latin typeface="Inter" panose="020B0604020202020204" charset="0"/>
                <a:cs typeface="Inter" panose="020B0604020202020204" charset="0"/>
              </a:rPr>
              <a:t>credit_card_balance</a:t>
            </a:r>
            <a:r>
              <a:rPr lang="en-IN" sz="4000" dirty="0">
                <a:latin typeface="Inter" panose="020B0604020202020204" charset="0"/>
                <a:cs typeface="Inter" panose="020B0604020202020204" charset="0"/>
              </a:rPr>
              <a:t>)</a:t>
            </a:r>
            <a:endParaRPr lang="en-IN" sz="4000" b="1" dirty="0">
              <a:latin typeface="Inter" panose="020B0604020202020204" charset="0"/>
              <a:cs typeface="Inter" panose="020B0604020202020204" charset="0"/>
            </a:endParaRPr>
          </a:p>
        </p:txBody>
      </p:sp>
      <p:sp>
        <p:nvSpPr>
          <p:cNvPr id="6" name="TextBox 5">
            <a:extLst>
              <a:ext uri="{FF2B5EF4-FFF2-40B4-BE49-F238E27FC236}">
                <a16:creationId xmlns:a16="http://schemas.microsoft.com/office/drawing/2014/main" id="{55C8C6ED-02BE-3EA2-9D23-E18940263FC4}"/>
              </a:ext>
            </a:extLst>
          </p:cNvPr>
          <p:cNvSpPr txBox="1"/>
          <p:nvPr/>
        </p:nvSpPr>
        <p:spPr>
          <a:xfrm>
            <a:off x="1000898" y="2179948"/>
            <a:ext cx="15697200" cy="4078039"/>
          </a:xfrm>
          <a:prstGeom prst="rect">
            <a:avLst/>
          </a:prstGeom>
          <a:noFill/>
        </p:spPr>
        <p:txBody>
          <a:bodyPr wrap="square">
            <a:spAutoFit/>
          </a:bodyPr>
          <a:lstStyle/>
          <a:p>
            <a:pPr>
              <a:buNone/>
            </a:pPr>
            <a:r>
              <a:rPr lang="en-IN" sz="2500" b="1" dirty="0">
                <a:latin typeface="Inter" panose="020B0604020202020204" charset="0"/>
                <a:cs typeface="Inter" panose="020B0604020202020204" charset="0"/>
              </a:rPr>
              <a:t>Summary Statement</a:t>
            </a:r>
          </a:p>
          <a:p>
            <a:pPr marL="285750" indent="-285750">
              <a:buFont typeface="Arial" panose="020B0604020202020204" pitchFamily="34" charset="0"/>
              <a:buChar char="•"/>
            </a:pPr>
            <a:r>
              <a:rPr lang="en-IN" dirty="0">
                <a:latin typeface="Inter" panose="020B0604020202020204" charset="0"/>
                <a:cs typeface="Inter" panose="020B0604020202020204" charset="0"/>
              </a:rPr>
              <a:t> The POS_CASH_balance table was highly clean with only ~0.26% missing values.</a:t>
            </a:r>
          </a:p>
          <a:p>
            <a:pPr marL="285750" indent="-285750">
              <a:buFont typeface="Arial" panose="020B0604020202020204" pitchFamily="34" charset="0"/>
              <a:buChar char="•"/>
            </a:pPr>
            <a:r>
              <a:rPr lang="en-IN" dirty="0">
                <a:latin typeface="Inter" panose="020B0604020202020204" charset="0"/>
                <a:cs typeface="Inter" panose="020B0604020202020204" charset="0"/>
              </a:rPr>
              <a:t> Missing values existed only in:</a:t>
            </a:r>
          </a:p>
          <a:p>
            <a:pPr marL="815975" indent="-285750">
              <a:buFont typeface="Arial" panose="020B0604020202020204" pitchFamily="34" charset="0"/>
              <a:buChar char="•"/>
            </a:pPr>
            <a:r>
              <a:rPr lang="en-IN" dirty="0">
                <a:latin typeface="Inter" panose="020B0604020202020204" charset="0"/>
                <a:cs typeface="Inter" panose="020B0604020202020204" charset="0"/>
              </a:rPr>
              <a:t>CNT_INSTALMENT</a:t>
            </a:r>
          </a:p>
          <a:p>
            <a:pPr marL="815975" indent="-285750">
              <a:buFont typeface="Arial" panose="020B0604020202020204" pitchFamily="34" charset="0"/>
              <a:buChar char="•"/>
            </a:pPr>
            <a:r>
              <a:rPr lang="en-IN" dirty="0">
                <a:latin typeface="Inter" panose="020B0604020202020204" charset="0"/>
                <a:cs typeface="Inter" panose="020B0604020202020204" charset="0"/>
              </a:rPr>
              <a:t>CNT_INSTALMENT_FUTURE</a:t>
            </a:r>
          </a:p>
          <a:p>
            <a:pPr marL="285750" indent="-285750">
              <a:buFont typeface="Arial" panose="020B0604020202020204" pitchFamily="34" charset="0"/>
              <a:buChar char="•"/>
            </a:pPr>
            <a:r>
              <a:rPr lang="en-IN" dirty="0">
                <a:latin typeface="Inter" panose="020B0604020202020204" charset="0"/>
                <a:cs typeface="Inter" panose="020B0604020202020204" charset="0"/>
              </a:rPr>
              <a:t> These columns represent:</a:t>
            </a:r>
          </a:p>
          <a:p>
            <a:pPr marL="815975" indent="-285750">
              <a:buFont typeface="Arial" panose="020B0604020202020204" pitchFamily="34" charset="0"/>
              <a:buChar char="•"/>
            </a:pPr>
            <a:r>
              <a:rPr lang="en-IN" dirty="0">
                <a:latin typeface="Inter" panose="020B0604020202020204" charset="0"/>
                <a:cs typeface="Inter" panose="020B0604020202020204" charset="0"/>
              </a:rPr>
              <a:t> total instalment count</a:t>
            </a:r>
          </a:p>
          <a:p>
            <a:pPr marL="815975" indent="-285750">
              <a:buFont typeface="Arial" panose="020B0604020202020204" pitchFamily="34" charset="0"/>
              <a:buChar char="•"/>
            </a:pPr>
            <a:r>
              <a:rPr lang="en-IN" dirty="0">
                <a:latin typeface="Inter" panose="020B0604020202020204" charset="0"/>
                <a:cs typeface="Inter" panose="020B0604020202020204" charset="0"/>
              </a:rPr>
              <a:t> remaining future instalments</a:t>
            </a:r>
          </a:p>
          <a:p>
            <a:pPr marL="285750" indent="-285750">
              <a:buFont typeface="Arial" panose="020B0604020202020204" pitchFamily="34" charset="0"/>
              <a:buChar char="•"/>
            </a:pPr>
            <a:r>
              <a:rPr lang="en-IN" dirty="0">
                <a:latin typeface="Inter" panose="020B0604020202020204" charset="0"/>
                <a:cs typeface="Inter" panose="020B0604020202020204" charset="0"/>
              </a:rPr>
              <a:t> Since the missing percentage was extremely low, **median imputation** was applied.</a:t>
            </a:r>
          </a:p>
          <a:p>
            <a:pPr marL="285750" indent="-285750">
              <a:buFont typeface="Arial" panose="020B0604020202020204" pitchFamily="34" charset="0"/>
              <a:buChar char="•"/>
            </a:pPr>
            <a:r>
              <a:rPr lang="en-IN" dirty="0">
                <a:latin typeface="Inter" panose="020B0604020202020204" charset="0"/>
                <a:cs typeface="Inter" panose="020B0604020202020204" charset="0"/>
              </a:rPr>
              <a:t> This ensured:</a:t>
            </a:r>
          </a:p>
          <a:p>
            <a:pPr marL="815975" indent="-285750">
              <a:buFont typeface="Arial" panose="020B0604020202020204" pitchFamily="34" charset="0"/>
              <a:buChar char="•"/>
            </a:pPr>
            <a:r>
              <a:rPr lang="en-IN" dirty="0">
                <a:latin typeface="Inter" panose="020B0604020202020204" charset="0"/>
                <a:cs typeface="Inter" panose="020B0604020202020204" charset="0"/>
              </a:rPr>
              <a:t> minimal impact on distribution</a:t>
            </a:r>
          </a:p>
          <a:p>
            <a:pPr marL="815975" indent="-285750">
              <a:buFont typeface="Arial" panose="020B0604020202020204" pitchFamily="34" charset="0"/>
              <a:buChar char="•"/>
            </a:pPr>
            <a:r>
              <a:rPr lang="en-IN" dirty="0">
                <a:latin typeface="Inter" panose="020B0604020202020204" charset="0"/>
                <a:cs typeface="Inter" panose="020B0604020202020204" charset="0"/>
              </a:rPr>
              <a:t> preservation of dataset size</a:t>
            </a:r>
          </a:p>
          <a:p>
            <a:pPr marL="815975" indent="-285750">
              <a:buFont typeface="Arial" panose="020B0604020202020204" pitchFamily="34" charset="0"/>
              <a:buChar char="•"/>
            </a:pPr>
            <a:r>
              <a:rPr lang="en-IN" dirty="0">
                <a:latin typeface="Inter" panose="020B0604020202020204" charset="0"/>
                <a:cs typeface="Inter" panose="020B0604020202020204" charset="0"/>
              </a:rPr>
              <a:t> stable aggregation behaviour</a:t>
            </a:r>
          </a:p>
          <a:p>
            <a:pPr marL="285750" indent="-285750">
              <a:buFont typeface="Arial" panose="020B0604020202020204" pitchFamily="34" charset="0"/>
              <a:buChar char="•"/>
            </a:pPr>
            <a:r>
              <a:rPr lang="en-IN" dirty="0">
                <a:latin typeface="Inter" panose="020B0604020202020204" charset="0"/>
                <a:cs typeface="Inter" panose="020B0604020202020204" charset="0"/>
              </a:rPr>
              <a:t> No major anomalies or structural issues were identified in this table.</a:t>
            </a:r>
          </a:p>
        </p:txBody>
      </p:sp>
      <p:graphicFrame>
        <p:nvGraphicFramePr>
          <p:cNvPr id="7" name="Table 6">
            <a:extLst>
              <a:ext uri="{FF2B5EF4-FFF2-40B4-BE49-F238E27FC236}">
                <a16:creationId xmlns:a16="http://schemas.microsoft.com/office/drawing/2014/main" id="{B1B522F0-71D6-EF32-F52E-10250B3662A0}"/>
              </a:ext>
            </a:extLst>
          </p:cNvPr>
          <p:cNvGraphicFramePr>
            <a:graphicFrameLocks noGrp="1"/>
          </p:cNvGraphicFramePr>
          <p:nvPr>
            <p:extLst>
              <p:ext uri="{D42A27DB-BD31-4B8C-83A1-F6EECF244321}">
                <p14:modId xmlns:p14="http://schemas.microsoft.com/office/powerpoint/2010/main" val="1369870407"/>
              </p:ext>
            </p:extLst>
          </p:nvPr>
        </p:nvGraphicFramePr>
        <p:xfrm>
          <a:off x="1000898" y="6907889"/>
          <a:ext cx="15697199" cy="1939290"/>
        </p:xfrm>
        <a:graphic>
          <a:graphicData uri="http://schemas.openxmlformats.org/drawingml/2006/table">
            <a:tbl>
              <a:tblPr firstRow="1" bandRow="1">
                <a:tableStyleId>{5C22544A-7EE6-4342-B048-85BDC9FD1C3A}</a:tableStyleId>
              </a:tblPr>
              <a:tblGrid>
                <a:gridCol w="1143000">
                  <a:extLst>
                    <a:ext uri="{9D8B030D-6E8A-4147-A177-3AD203B41FA5}">
                      <a16:colId xmlns:a16="http://schemas.microsoft.com/office/drawing/2014/main" val="1503224804"/>
                    </a:ext>
                  </a:extLst>
                </a:gridCol>
                <a:gridCol w="3733800">
                  <a:extLst>
                    <a:ext uri="{9D8B030D-6E8A-4147-A177-3AD203B41FA5}">
                      <a16:colId xmlns:a16="http://schemas.microsoft.com/office/drawing/2014/main" val="3589930619"/>
                    </a:ext>
                  </a:extLst>
                </a:gridCol>
                <a:gridCol w="3200400">
                  <a:extLst>
                    <a:ext uri="{9D8B030D-6E8A-4147-A177-3AD203B41FA5}">
                      <a16:colId xmlns:a16="http://schemas.microsoft.com/office/drawing/2014/main" val="175260853"/>
                    </a:ext>
                  </a:extLst>
                </a:gridCol>
                <a:gridCol w="1752600">
                  <a:extLst>
                    <a:ext uri="{9D8B030D-6E8A-4147-A177-3AD203B41FA5}">
                      <a16:colId xmlns:a16="http://schemas.microsoft.com/office/drawing/2014/main" val="1790431648"/>
                    </a:ext>
                  </a:extLst>
                </a:gridCol>
                <a:gridCol w="1905000">
                  <a:extLst>
                    <a:ext uri="{9D8B030D-6E8A-4147-A177-3AD203B41FA5}">
                      <a16:colId xmlns:a16="http://schemas.microsoft.com/office/drawing/2014/main" val="4133588844"/>
                    </a:ext>
                  </a:extLst>
                </a:gridCol>
                <a:gridCol w="3962399">
                  <a:extLst>
                    <a:ext uri="{9D8B030D-6E8A-4147-A177-3AD203B41FA5}">
                      <a16:colId xmlns:a16="http://schemas.microsoft.com/office/drawing/2014/main" val="108615562"/>
                    </a:ext>
                  </a:extLst>
                </a:gridCol>
              </a:tblGrid>
              <a:tr h="370840">
                <a:tc>
                  <a:txBody>
                    <a:bodyPr/>
                    <a:lstStyle/>
                    <a:p>
                      <a:pPr algn="ctr"/>
                      <a:r>
                        <a:rPr lang="en-US" sz="2100" dirty="0">
                          <a:solidFill>
                            <a:schemeClr val="tx1"/>
                          </a:solidFill>
                          <a:latin typeface="Inter" panose="020B0604020202020204" charset="0"/>
                          <a:cs typeface="Inter" panose="020B0604020202020204" charset="0"/>
                        </a:rPr>
                        <a:t>S. No.</a:t>
                      </a:r>
                      <a:endParaRPr lang="en-IN" sz="2100"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sz="2100" dirty="0">
                          <a:solidFill>
                            <a:schemeClr val="tx1"/>
                          </a:solidFill>
                          <a:latin typeface="Inter" panose="020B0604020202020204" charset="0"/>
                          <a:cs typeface="Inter" panose="020B0604020202020204" charset="0"/>
                        </a:rPr>
                        <a:t>Feature</a:t>
                      </a:r>
                      <a:endParaRPr lang="en-IN" sz="2100"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sz="2100" dirty="0">
                          <a:solidFill>
                            <a:schemeClr val="tx1"/>
                          </a:solidFill>
                          <a:latin typeface="Inter" panose="020B0604020202020204" charset="0"/>
                          <a:cs typeface="Inter" panose="020B0604020202020204" charset="0"/>
                        </a:rPr>
                        <a:t>Missing </a:t>
                      </a:r>
                      <a:endParaRPr lang="en-IN" sz="2100"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sz="2100" dirty="0">
                          <a:solidFill>
                            <a:schemeClr val="tx1"/>
                          </a:solidFill>
                          <a:latin typeface="Inter" panose="020B0604020202020204" charset="0"/>
                          <a:cs typeface="Inter" panose="020B0604020202020204" charset="0"/>
                        </a:rPr>
                        <a:t>Feature Category</a:t>
                      </a:r>
                      <a:endParaRPr lang="en-IN" sz="2100"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sz="2100" dirty="0">
                          <a:solidFill>
                            <a:schemeClr val="tx1"/>
                          </a:solidFill>
                          <a:latin typeface="Inter" panose="020B0604020202020204" charset="0"/>
                          <a:cs typeface="Inter" panose="020B0604020202020204" charset="0"/>
                        </a:rPr>
                        <a:t>Business Interpretation</a:t>
                      </a:r>
                      <a:endParaRPr lang="en-IN" sz="2100"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sz="2100" dirty="0">
                          <a:solidFill>
                            <a:schemeClr val="tx1"/>
                          </a:solidFill>
                          <a:latin typeface="Inter" panose="020B0604020202020204" charset="0"/>
                          <a:cs typeface="Inter" panose="020B0604020202020204" charset="0"/>
                        </a:rPr>
                        <a:t>Suggested Treatment</a:t>
                      </a:r>
                      <a:endParaRPr lang="en-IN" sz="2100"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3645093670"/>
                  </a:ext>
                </a:extLst>
              </a:tr>
              <a:tr h="370840">
                <a:tc>
                  <a:txBody>
                    <a:bodyPr/>
                    <a:lstStyle/>
                    <a:p>
                      <a:pPr algn="ctr" fontAlgn="b">
                        <a:buNone/>
                      </a:pPr>
                      <a:r>
                        <a:rPr lang="en-US" sz="1800" b="0" i="0" u="none" strike="noStrike" dirty="0">
                          <a:solidFill>
                            <a:srgbClr val="000000"/>
                          </a:solidFill>
                          <a:effectLst/>
                          <a:latin typeface="Inter" panose="020B0604020202020204" charset="0"/>
                          <a:cs typeface="Inter" panose="020B0604020202020204" charset="0"/>
                        </a:rPr>
                        <a:t>1</a:t>
                      </a:r>
                      <a:endParaRPr lang="en-IN" sz="1800" b="0" i="0" u="none" strike="noStrike" dirty="0">
                        <a:solidFill>
                          <a:srgbClr val="000000"/>
                        </a:solidFill>
                        <a:effectLst/>
                        <a:latin typeface="Inter" panose="020B0604020202020204" charset="0"/>
                        <a:cs typeface="Inter" panose="020B0604020202020204" charset="0"/>
                      </a:endParaRPr>
                    </a:p>
                  </a:txBody>
                  <a:tcPr marL="9525" marR="9525" marT="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a:solidFill>
                            <a:srgbClr val="000000"/>
                          </a:solidFill>
                          <a:effectLst/>
                          <a:latin typeface="Inter" panose="020B0604020202020204" charset="0"/>
                          <a:cs typeface="Inter" panose="020B0604020202020204" charset="0"/>
                        </a:rPr>
                        <a:t>CNT_INSTALMENT_FUTURE</a:t>
                      </a:r>
                    </a:p>
                  </a:txBody>
                  <a:tcPr marL="9525" marR="9525" marT="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Remaining future installments</a:t>
                      </a:r>
                    </a:p>
                  </a:txBody>
                  <a:tcPr marL="9525" marR="9525" marT="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0.26083%</a:t>
                      </a:r>
                    </a:p>
                  </a:txBody>
                  <a:tcPr marL="9525" marR="9525" marT="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Drop</a:t>
                      </a:r>
                    </a:p>
                  </a:txBody>
                  <a:tcPr marL="9525" marR="9525" marT="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Already contain 0 and very low missingness</a:t>
                      </a:r>
                    </a:p>
                  </a:txBody>
                  <a:tcPr marL="9525" marR="9525" marT="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31657005"/>
                  </a:ext>
                </a:extLst>
              </a:tr>
              <a:tr h="370840">
                <a:tc>
                  <a:txBody>
                    <a:bodyPr/>
                    <a:lstStyle/>
                    <a:p>
                      <a:pPr algn="ctr" fontAlgn="b">
                        <a:buNone/>
                      </a:pPr>
                      <a:r>
                        <a:rPr lang="en-US" sz="1800" b="0" i="0" u="none" strike="noStrike" dirty="0">
                          <a:solidFill>
                            <a:srgbClr val="000000"/>
                          </a:solidFill>
                          <a:effectLst/>
                          <a:latin typeface="Inter" panose="020B0604020202020204" charset="0"/>
                          <a:cs typeface="Inter" panose="020B0604020202020204" charset="0"/>
                        </a:rPr>
                        <a:t>2</a:t>
                      </a:r>
                      <a:endParaRPr lang="en-IN" sz="1800" b="0" i="0" u="none" strike="noStrike" dirty="0">
                        <a:solidFill>
                          <a:srgbClr val="000000"/>
                        </a:solidFill>
                        <a:effectLst/>
                        <a:latin typeface="Inter" panose="020B0604020202020204" charset="0"/>
                        <a:cs typeface="Inter" panose="020B0604020202020204" charset="0"/>
                      </a:endParaRPr>
                    </a:p>
                  </a:txBody>
                  <a:tcPr marL="9525" marR="9525" marT="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CNT_INSTALMENT</a:t>
                      </a:r>
                    </a:p>
                  </a:txBody>
                  <a:tcPr marL="9525" marR="9525" marT="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Total instalment count</a:t>
                      </a:r>
                    </a:p>
                  </a:txBody>
                  <a:tcPr marL="9525" marR="9525" marT="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0.26067%</a:t>
                      </a:r>
                    </a:p>
                  </a:txBody>
                  <a:tcPr marL="9525" marR="9525" marT="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fontAlgn="b">
                        <a:buNone/>
                      </a:pPr>
                      <a:r>
                        <a:rPr lang="en-US" sz="1800" b="0" i="0" u="none" strike="noStrike" dirty="0">
                          <a:solidFill>
                            <a:srgbClr val="000000"/>
                          </a:solidFill>
                          <a:effectLst/>
                          <a:latin typeface="Inter" panose="020B0604020202020204" charset="0"/>
                          <a:cs typeface="Inter" panose="020B0604020202020204" charset="0"/>
                        </a:rPr>
                        <a:t>D</a:t>
                      </a:r>
                      <a:r>
                        <a:rPr lang="en-IN" sz="1800" b="0" i="0" u="none" strike="noStrike" dirty="0" err="1">
                          <a:solidFill>
                            <a:srgbClr val="000000"/>
                          </a:solidFill>
                          <a:effectLst/>
                          <a:latin typeface="Inter" panose="020B0604020202020204" charset="0"/>
                          <a:cs typeface="Inter" panose="020B0604020202020204" charset="0"/>
                        </a:rPr>
                        <a:t>rop</a:t>
                      </a:r>
                      <a:endParaRPr lang="en-IN" sz="1800" b="0" i="0" u="none" strike="noStrike" dirty="0">
                        <a:solidFill>
                          <a:srgbClr val="000000"/>
                        </a:solidFill>
                        <a:effectLst/>
                        <a:latin typeface="Inter" panose="020B0604020202020204" charset="0"/>
                        <a:cs typeface="Inter" panose="020B0604020202020204" charset="0"/>
                      </a:endParaRPr>
                    </a:p>
                  </a:txBody>
                  <a:tcPr marL="9525" marR="9525" marT="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Very low missingness with minimal impact</a:t>
                      </a:r>
                    </a:p>
                  </a:txBody>
                  <a:tcPr marL="9525" marR="9525" marT="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3010496057"/>
                  </a:ext>
                </a:extLst>
              </a:tr>
            </a:tbl>
          </a:graphicData>
        </a:graphic>
      </p:graphicFrame>
    </p:spTree>
    <p:extLst>
      <p:ext uri="{BB962C8B-B14F-4D97-AF65-F5344CB8AC3E}">
        <p14:creationId xmlns:p14="http://schemas.microsoft.com/office/powerpoint/2010/main" val="287833959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C5D6CA"/>
        </a:solidFill>
        <a:effectLst/>
      </p:bgPr>
    </p:bg>
    <p:spTree>
      <p:nvGrpSpPr>
        <p:cNvPr id="1" name="">
          <a:extLst>
            <a:ext uri="{FF2B5EF4-FFF2-40B4-BE49-F238E27FC236}">
              <a16:creationId xmlns:a16="http://schemas.microsoft.com/office/drawing/2014/main" id="{4D6DDB21-0C8E-B881-CF78-785253650548}"/>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B29BDDDE-2C25-85C0-BF91-24107BB5135C}"/>
              </a:ext>
            </a:extLst>
          </p:cNvPr>
          <p:cNvGrpSpPr/>
          <p:nvPr/>
        </p:nvGrpSpPr>
        <p:grpSpPr>
          <a:xfrm>
            <a:off x="0" y="9497082"/>
            <a:ext cx="18292543" cy="787203"/>
            <a:chOff x="0" y="0"/>
            <a:chExt cx="24390058" cy="1049604"/>
          </a:xfrm>
        </p:grpSpPr>
        <p:sp>
          <p:nvSpPr>
            <p:cNvPr id="3" name="Freeform 3">
              <a:extLst>
                <a:ext uri="{FF2B5EF4-FFF2-40B4-BE49-F238E27FC236}">
                  <a16:creationId xmlns:a16="http://schemas.microsoft.com/office/drawing/2014/main" id="{3AE65FEA-DCAB-4E6C-36DA-F5CB2D65402D}"/>
                </a:ext>
              </a:extLst>
            </p:cNvPr>
            <p:cNvSpPr/>
            <p:nvPr/>
          </p:nvSpPr>
          <p:spPr>
            <a:xfrm>
              <a:off x="0" y="0"/>
              <a:ext cx="24390096" cy="1049655"/>
            </a:xfrm>
            <a:custGeom>
              <a:avLst/>
              <a:gdLst/>
              <a:ahLst/>
              <a:cxnLst/>
              <a:rect l="l" t="t" r="r" b="b"/>
              <a:pathLst>
                <a:path w="24390096" h="1049655">
                  <a:moveTo>
                    <a:pt x="0" y="0"/>
                  </a:moveTo>
                  <a:lnTo>
                    <a:pt x="24390096" y="0"/>
                  </a:lnTo>
                  <a:lnTo>
                    <a:pt x="24390096" y="1049655"/>
                  </a:lnTo>
                  <a:lnTo>
                    <a:pt x="0" y="1049655"/>
                  </a:lnTo>
                  <a:close/>
                </a:path>
              </a:pathLst>
            </a:custGeom>
            <a:solidFill>
              <a:srgbClr val="348E90"/>
            </a:solidFill>
          </p:spPr>
          <p:txBody>
            <a:bodyPr/>
            <a:lstStyle/>
            <a:p>
              <a:endParaRPr lang="en-IN"/>
            </a:p>
          </p:txBody>
        </p:sp>
      </p:grpSp>
      <p:sp>
        <p:nvSpPr>
          <p:cNvPr id="4" name="Rectangle 3">
            <a:extLst>
              <a:ext uri="{FF2B5EF4-FFF2-40B4-BE49-F238E27FC236}">
                <a16:creationId xmlns:a16="http://schemas.microsoft.com/office/drawing/2014/main" id="{0BCB51DD-F131-2F3A-BC51-224D768D8969}"/>
              </a:ext>
            </a:extLst>
          </p:cNvPr>
          <p:cNvSpPr/>
          <p:nvPr/>
        </p:nvSpPr>
        <p:spPr>
          <a:xfrm>
            <a:off x="15544800" y="0"/>
            <a:ext cx="1143000" cy="1823056"/>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BBBA0F2C-23CE-0A6F-7037-FB9649C78D74}"/>
              </a:ext>
            </a:extLst>
          </p:cNvPr>
          <p:cNvSpPr txBox="1"/>
          <p:nvPr/>
        </p:nvSpPr>
        <p:spPr>
          <a:xfrm>
            <a:off x="5162550" y="4136575"/>
            <a:ext cx="8096250" cy="1015663"/>
          </a:xfrm>
          <a:prstGeom prst="rect">
            <a:avLst/>
          </a:prstGeom>
          <a:noFill/>
        </p:spPr>
        <p:txBody>
          <a:bodyPr wrap="square">
            <a:spAutoFit/>
          </a:bodyPr>
          <a:lstStyle/>
          <a:p>
            <a:r>
              <a:rPr lang="en-US" sz="6000" b="1" dirty="0">
                <a:latin typeface="Inter" panose="020B0604020202020204" charset="0"/>
                <a:cs typeface="Inter" panose="020B0604020202020204" charset="0"/>
              </a:rPr>
              <a:t>Installments_payments</a:t>
            </a:r>
            <a:endParaRPr lang="en-IN" sz="6000" b="1" dirty="0">
              <a:latin typeface="Inter" panose="020B0604020202020204" charset="0"/>
              <a:cs typeface="Inter" panose="020B0604020202020204" charset="0"/>
            </a:endParaRPr>
          </a:p>
        </p:txBody>
      </p:sp>
    </p:spTree>
    <p:extLst>
      <p:ext uri="{BB962C8B-B14F-4D97-AF65-F5344CB8AC3E}">
        <p14:creationId xmlns:p14="http://schemas.microsoft.com/office/powerpoint/2010/main" val="3931087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C5D6CA"/>
        </a:solidFill>
        <a:effectLst/>
      </p:bgPr>
    </p:bg>
    <p:spTree>
      <p:nvGrpSpPr>
        <p:cNvPr id="1" name="">
          <a:extLst>
            <a:ext uri="{FF2B5EF4-FFF2-40B4-BE49-F238E27FC236}">
              <a16:creationId xmlns:a16="http://schemas.microsoft.com/office/drawing/2014/main" id="{23FFE4D7-44B3-D6B6-0B37-8646FAEF2CBE}"/>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25D537D4-D997-8212-EDB5-449EBC6EBE63}"/>
              </a:ext>
            </a:extLst>
          </p:cNvPr>
          <p:cNvGrpSpPr/>
          <p:nvPr/>
        </p:nvGrpSpPr>
        <p:grpSpPr>
          <a:xfrm>
            <a:off x="0" y="9497082"/>
            <a:ext cx="18292543" cy="787203"/>
            <a:chOff x="0" y="0"/>
            <a:chExt cx="24390058" cy="1049604"/>
          </a:xfrm>
        </p:grpSpPr>
        <p:sp>
          <p:nvSpPr>
            <p:cNvPr id="3" name="Freeform 3">
              <a:extLst>
                <a:ext uri="{FF2B5EF4-FFF2-40B4-BE49-F238E27FC236}">
                  <a16:creationId xmlns:a16="http://schemas.microsoft.com/office/drawing/2014/main" id="{B163F301-8F89-334F-538C-C2F9DFEC1154}"/>
                </a:ext>
              </a:extLst>
            </p:cNvPr>
            <p:cNvSpPr/>
            <p:nvPr/>
          </p:nvSpPr>
          <p:spPr>
            <a:xfrm>
              <a:off x="0" y="0"/>
              <a:ext cx="24390096" cy="1049655"/>
            </a:xfrm>
            <a:custGeom>
              <a:avLst/>
              <a:gdLst/>
              <a:ahLst/>
              <a:cxnLst/>
              <a:rect l="l" t="t" r="r" b="b"/>
              <a:pathLst>
                <a:path w="24390096" h="1049655">
                  <a:moveTo>
                    <a:pt x="0" y="0"/>
                  </a:moveTo>
                  <a:lnTo>
                    <a:pt x="24390096" y="0"/>
                  </a:lnTo>
                  <a:lnTo>
                    <a:pt x="24390096" y="1049655"/>
                  </a:lnTo>
                  <a:lnTo>
                    <a:pt x="0" y="1049655"/>
                  </a:lnTo>
                  <a:close/>
                </a:path>
              </a:pathLst>
            </a:custGeom>
            <a:solidFill>
              <a:srgbClr val="348E90"/>
            </a:solidFill>
          </p:spPr>
          <p:txBody>
            <a:bodyPr/>
            <a:lstStyle/>
            <a:p>
              <a:endParaRPr lang="en-IN"/>
            </a:p>
          </p:txBody>
        </p:sp>
      </p:grpSp>
      <p:sp>
        <p:nvSpPr>
          <p:cNvPr id="4" name="Rectangle 3">
            <a:extLst>
              <a:ext uri="{FF2B5EF4-FFF2-40B4-BE49-F238E27FC236}">
                <a16:creationId xmlns:a16="http://schemas.microsoft.com/office/drawing/2014/main" id="{82A22DB5-1EB0-31EB-AC72-32EF30B478AC}"/>
              </a:ext>
            </a:extLst>
          </p:cNvPr>
          <p:cNvSpPr/>
          <p:nvPr/>
        </p:nvSpPr>
        <p:spPr>
          <a:xfrm>
            <a:off x="15544800" y="0"/>
            <a:ext cx="1143000" cy="1823056"/>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2F1B9393-AC97-4B45-BA73-954D58254750}"/>
              </a:ext>
            </a:extLst>
          </p:cNvPr>
          <p:cNvSpPr txBox="1"/>
          <p:nvPr/>
        </p:nvSpPr>
        <p:spPr>
          <a:xfrm>
            <a:off x="3390900" y="911528"/>
            <a:ext cx="11506200" cy="707886"/>
          </a:xfrm>
          <a:prstGeom prst="rect">
            <a:avLst/>
          </a:prstGeom>
          <a:noFill/>
        </p:spPr>
        <p:txBody>
          <a:bodyPr wrap="square">
            <a:spAutoFit/>
          </a:bodyPr>
          <a:lstStyle/>
          <a:p>
            <a:r>
              <a:rPr lang="en-IN" sz="4000" b="1" dirty="0">
                <a:latin typeface="Inter" panose="020B0604020202020204" charset="0"/>
                <a:cs typeface="Inter" panose="020B0604020202020204" charset="0"/>
              </a:rPr>
              <a:t>Missing Value Assessment </a:t>
            </a:r>
            <a:r>
              <a:rPr lang="en-IN" sz="4000" dirty="0">
                <a:latin typeface="Inter" panose="020B0604020202020204" charset="0"/>
                <a:cs typeface="Inter" panose="020B0604020202020204" charset="0"/>
              </a:rPr>
              <a:t>(</a:t>
            </a:r>
            <a:r>
              <a:rPr lang="en-IN" sz="4000" b="1" dirty="0">
                <a:latin typeface="Inter" panose="020B0604020202020204" charset="0"/>
                <a:cs typeface="Inter" panose="020B0604020202020204" charset="0"/>
              </a:rPr>
              <a:t>credit_card_balance</a:t>
            </a:r>
            <a:r>
              <a:rPr lang="en-IN" sz="4000" dirty="0">
                <a:latin typeface="Inter" panose="020B0604020202020204" charset="0"/>
                <a:cs typeface="Inter" panose="020B0604020202020204" charset="0"/>
              </a:rPr>
              <a:t>)</a:t>
            </a:r>
            <a:endParaRPr lang="en-IN" sz="4000" b="1" dirty="0">
              <a:latin typeface="Inter" panose="020B0604020202020204" charset="0"/>
              <a:cs typeface="Inter" panose="020B0604020202020204" charset="0"/>
            </a:endParaRPr>
          </a:p>
        </p:txBody>
      </p:sp>
      <p:sp>
        <p:nvSpPr>
          <p:cNvPr id="6" name="TextBox 5">
            <a:extLst>
              <a:ext uri="{FF2B5EF4-FFF2-40B4-BE49-F238E27FC236}">
                <a16:creationId xmlns:a16="http://schemas.microsoft.com/office/drawing/2014/main" id="{3AC2EDCA-6A9F-145D-E6F4-9B60577CCC1D}"/>
              </a:ext>
            </a:extLst>
          </p:cNvPr>
          <p:cNvSpPr txBox="1"/>
          <p:nvPr/>
        </p:nvSpPr>
        <p:spPr>
          <a:xfrm>
            <a:off x="1000898" y="2179948"/>
            <a:ext cx="15697200" cy="1585049"/>
          </a:xfrm>
          <a:prstGeom prst="rect">
            <a:avLst/>
          </a:prstGeom>
          <a:noFill/>
        </p:spPr>
        <p:txBody>
          <a:bodyPr wrap="square">
            <a:spAutoFit/>
          </a:bodyPr>
          <a:lstStyle/>
          <a:p>
            <a:pPr>
              <a:buNone/>
            </a:pPr>
            <a:r>
              <a:rPr lang="en-IN" sz="2500" b="1" dirty="0">
                <a:latin typeface="Inter" panose="020B0604020202020204" charset="0"/>
                <a:cs typeface="Inter" panose="020B0604020202020204" charset="0"/>
              </a:rPr>
              <a:t>Summary Statement</a:t>
            </a:r>
          </a:p>
          <a:p>
            <a:pPr marL="285750" indent="-285750">
              <a:buFont typeface="Arial" panose="020B0604020202020204" pitchFamily="34" charset="0"/>
              <a:buChar char="•"/>
            </a:pPr>
            <a:r>
              <a:rPr lang="en-IN" dirty="0">
                <a:latin typeface="Inter" panose="020B0604020202020204" charset="0"/>
                <a:cs typeface="Inter" panose="020B0604020202020204" charset="0"/>
              </a:rPr>
              <a:t> Extremely low missingness (~0.02%)</a:t>
            </a:r>
          </a:p>
          <a:p>
            <a:pPr marL="285750" indent="-285750">
              <a:buFont typeface="Arial" panose="020B0604020202020204" pitchFamily="34" charset="0"/>
              <a:buChar char="•"/>
            </a:pPr>
            <a:r>
              <a:rPr lang="en-IN" dirty="0">
                <a:latin typeface="Inter" panose="020B0604020202020204" charset="0"/>
                <a:cs typeface="Inter" panose="020B0604020202020204" charset="0"/>
              </a:rPr>
              <a:t> Missing values found only in payment-related columns</a:t>
            </a:r>
          </a:p>
          <a:p>
            <a:pPr marL="285750" indent="-285750">
              <a:buFont typeface="Arial" panose="020B0604020202020204" pitchFamily="34" charset="0"/>
              <a:buChar char="•"/>
            </a:pPr>
            <a:r>
              <a:rPr lang="en-IN" dirty="0">
                <a:latin typeface="Inter" panose="020B0604020202020204" charset="0"/>
                <a:cs typeface="Inter" panose="020B0604020202020204" charset="0"/>
              </a:rPr>
              <a:t> Median imputation applied</a:t>
            </a:r>
          </a:p>
          <a:p>
            <a:pPr marL="285750" indent="-285750">
              <a:buFont typeface="Arial" panose="020B0604020202020204" pitchFamily="34" charset="0"/>
              <a:buChar char="•"/>
            </a:pPr>
            <a:r>
              <a:rPr lang="en-IN" dirty="0">
                <a:latin typeface="Inter" panose="020B0604020202020204" charset="0"/>
                <a:cs typeface="Inter" panose="020B0604020202020204" charset="0"/>
              </a:rPr>
              <a:t> No major anomalies or structural issues detected</a:t>
            </a:r>
          </a:p>
        </p:txBody>
      </p:sp>
      <p:graphicFrame>
        <p:nvGraphicFramePr>
          <p:cNvPr id="7" name="Table 6">
            <a:extLst>
              <a:ext uri="{FF2B5EF4-FFF2-40B4-BE49-F238E27FC236}">
                <a16:creationId xmlns:a16="http://schemas.microsoft.com/office/drawing/2014/main" id="{9826A372-1791-27C2-4551-C42800EB27F7}"/>
              </a:ext>
            </a:extLst>
          </p:cNvPr>
          <p:cNvGraphicFramePr>
            <a:graphicFrameLocks noGrp="1"/>
          </p:cNvGraphicFramePr>
          <p:nvPr>
            <p:extLst>
              <p:ext uri="{D42A27DB-BD31-4B8C-83A1-F6EECF244321}">
                <p14:modId xmlns:p14="http://schemas.microsoft.com/office/powerpoint/2010/main" val="3371698628"/>
              </p:ext>
            </p:extLst>
          </p:nvPr>
        </p:nvGraphicFramePr>
        <p:xfrm>
          <a:off x="1000899" y="4397555"/>
          <a:ext cx="15697199" cy="1473200"/>
        </p:xfrm>
        <a:graphic>
          <a:graphicData uri="http://schemas.openxmlformats.org/drawingml/2006/table">
            <a:tbl>
              <a:tblPr firstRow="1" bandRow="1">
                <a:tableStyleId>{5C22544A-7EE6-4342-B048-85BDC9FD1C3A}</a:tableStyleId>
              </a:tblPr>
              <a:tblGrid>
                <a:gridCol w="1143000">
                  <a:extLst>
                    <a:ext uri="{9D8B030D-6E8A-4147-A177-3AD203B41FA5}">
                      <a16:colId xmlns:a16="http://schemas.microsoft.com/office/drawing/2014/main" val="1503224804"/>
                    </a:ext>
                  </a:extLst>
                </a:gridCol>
                <a:gridCol w="3733800">
                  <a:extLst>
                    <a:ext uri="{9D8B030D-6E8A-4147-A177-3AD203B41FA5}">
                      <a16:colId xmlns:a16="http://schemas.microsoft.com/office/drawing/2014/main" val="3589930619"/>
                    </a:ext>
                  </a:extLst>
                </a:gridCol>
                <a:gridCol w="3200400">
                  <a:extLst>
                    <a:ext uri="{9D8B030D-6E8A-4147-A177-3AD203B41FA5}">
                      <a16:colId xmlns:a16="http://schemas.microsoft.com/office/drawing/2014/main" val="175260853"/>
                    </a:ext>
                  </a:extLst>
                </a:gridCol>
                <a:gridCol w="1752600">
                  <a:extLst>
                    <a:ext uri="{9D8B030D-6E8A-4147-A177-3AD203B41FA5}">
                      <a16:colId xmlns:a16="http://schemas.microsoft.com/office/drawing/2014/main" val="1790431648"/>
                    </a:ext>
                  </a:extLst>
                </a:gridCol>
                <a:gridCol w="1905000">
                  <a:extLst>
                    <a:ext uri="{9D8B030D-6E8A-4147-A177-3AD203B41FA5}">
                      <a16:colId xmlns:a16="http://schemas.microsoft.com/office/drawing/2014/main" val="4133588844"/>
                    </a:ext>
                  </a:extLst>
                </a:gridCol>
                <a:gridCol w="3962399">
                  <a:extLst>
                    <a:ext uri="{9D8B030D-6E8A-4147-A177-3AD203B41FA5}">
                      <a16:colId xmlns:a16="http://schemas.microsoft.com/office/drawing/2014/main" val="108615562"/>
                    </a:ext>
                  </a:extLst>
                </a:gridCol>
              </a:tblGrid>
              <a:tr h="370840">
                <a:tc>
                  <a:txBody>
                    <a:bodyPr/>
                    <a:lstStyle/>
                    <a:p>
                      <a:pPr algn="ctr"/>
                      <a:r>
                        <a:rPr lang="en-US" sz="2100" dirty="0">
                          <a:solidFill>
                            <a:schemeClr val="tx1"/>
                          </a:solidFill>
                          <a:latin typeface="Inter" panose="020B0604020202020204" charset="0"/>
                          <a:cs typeface="Inter" panose="020B0604020202020204" charset="0"/>
                        </a:rPr>
                        <a:t>S. No.</a:t>
                      </a:r>
                      <a:endParaRPr lang="en-IN" sz="2100"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sz="2100" dirty="0">
                          <a:solidFill>
                            <a:schemeClr val="tx1"/>
                          </a:solidFill>
                          <a:latin typeface="Inter" panose="020B0604020202020204" charset="0"/>
                          <a:cs typeface="Inter" panose="020B0604020202020204" charset="0"/>
                        </a:rPr>
                        <a:t>Feature</a:t>
                      </a:r>
                      <a:endParaRPr lang="en-IN" sz="2100"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sz="2100" dirty="0">
                          <a:solidFill>
                            <a:schemeClr val="tx1"/>
                          </a:solidFill>
                          <a:latin typeface="Inter" panose="020B0604020202020204" charset="0"/>
                          <a:cs typeface="Inter" panose="020B0604020202020204" charset="0"/>
                        </a:rPr>
                        <a:t>Missing </a:t>
                      </a:r>
                      <a:endParaRPr lang="en-IN" sz="2100"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sz="2100" dirty="0">
                          <a:solidFill>
                            <a:schemeClr val="tx1"/>
                          </a:solidFill>
                          <a:latin typeface="Inter" panose="020B0604020202020204" charset="0"/>
                          <a:cs typeface="Inter" panose="020B0604020202020204" charset="0"/>
                        </a:rPr>
                        <a:t>Feature Category</a:t>
                      </a:r>
                      <a:endParaRPr lang="en-IN" sz="2100"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sz="2100" dirty="0">
                          <a:solidFill>
                            <a:schemeClr val="tx1"/>
                          </a:solidFill>
                          <a:latin typeface="Inter" panose="020B0604020202020204" charset="0"/>
                          <a:cs typeface="Inter" panose="020B0604020202020204" charset="0"/>
                        </a:rPr>
                        <a:t>Business Interpretation</a:t>
                      </a:r>
                      <a:endParaRPr lang="en-IN" sz="2100"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sz="2100" dirty="0">
                          <a:solidFill>
                            <a:schemeClr val="tx1"/>
                          </a:solidFill>
                          <a:latin typeface="Inter" panose="020B0604020202020204" charset="0"/>
                          <a:cs typeface="Inter" panose="020B0604020202020204" charset="0"/>
                        </a:rPr>
                        <a:t>Suggested Treatment</a:t>
                      </a:r>
                      <a:endParaRPr lang="en-IN" sz="2100"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3645093670"/>
                  </a:ext>
                </a:extLst>
              </a:tr>
              <a:tr h="370840">
                <a:tc>
                  <a:txBody>
                    <a:bodyPr/>
                    <a:lstStyle/>
                    <a:p>
                      <a:pPr algn="ctr" fontAlgn="b">
                        <a:buNone/>
                      </a:pPr>
                      <a:r>
                        <a:rPr lang="en-US" sz="1800" b="0" i="0" u="none" strike="noStrike" dirty="0">
                          <a:solidFill>
                            <a:srgbClr val="000000"/>
                          </a:solidFill>
                          <a:effectLst/>
                          <a:latin typeface="Inter" panose="020B0604020202020204" charset="0"/>
                          <a:cs typeface="Inter" panose="020B0604020202020204" charset="0"/>
                        </a:rPr>
                        <a:t>1</a:t>
                      </a:r>
                      <a:endParaRPr lang="en-IN" sz="1800" b="0" i="0" u="none" strike="noStrike" dirty="0">
                        <a:solidFill>
                          <a:srgbClr val="000000"/>
                        </a:solidFill>
                        <a:effectLst/>
                        <a:latin typeface="Inter" panose="020B0604020202020204" charset="0"/>
                        <a:cs typeface="Inter" panose="020B0604020202020204" charset="0"/>
                      </a:endParaRPr>
                    </a:p>
                  </a:txBody>
                  <a:tcPr marL="9525" marR="9525" marT="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a:solidFill>
                            <a:srgbClr val="000000"/>
                          </a:solidFill>
                          <a:effectLst/>
                          <a:latin typeface="Inter" panose="020B0604020202020204" charset="0"/>
                          <a:cs typeface="Inter" panose="020B0604020202020204" charset="0"/>
                        </a:rPr>
                        <a:t>DAYS_ENTRY_PAYMENT</a:t>
                      </a:r>
                    </a:p>
                  </a:txBody>
                  <a:tcPr marL="9525" marR="9525" marT="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a:solidFill>
                            <a:srgbClr val="000000"/>
                          </a:solidFill>
                          <a:effectLst/>
                          <a:latin typeface="Inter" panose="020B0604020202020204" charset="0"/>
                          <a:cs typeface="Inter" panose="020B0604020202020204" charset="0"/>
                        </a:rPr>
                        <a:t>Actual payment entry date</a:t>
                      </a:r>
                    </a:p>
                  </a:txBody>
                  <a:tcPr marL="9525" marR="9525" marT="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0.02135%</a:t>
                      </a:r>
                    </a:p>
                  </a:txBody>
                  <a:tcPr marL="9525" marR="9525" marT="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Drop</a:t>
                      </a:r>
                    </a:p>
                  </a:txBody>
                  <a:tcPr marL="9525" marR="9525" marT="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a:solidFill>
                            <a:srgbClr val="000000"/>
                          </a:solidFill>
                          <a:effectLst/>
                          <a:latin typeface="Inter" panose="020B0604020202020204" charset="0"/>
                          <a:cs typeface="Inter" panose="020B0604020202020204" charset="0"/>
                        </a:rPr>
                        <a:t>Negligible missingness</a:t>
                      </a:r>
                    </a:p>
                  </a:txBody>
                  <a:tcPr marL="9525" marR="9525" marT="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31657005"/>
                  </a:ext>
                </a:extLst>
              </a:tr>
              <a:tr h="370840">
                <a:tc>
                  <a:txBody>
                    <a:bodyPr/>
                    <a:lstStyle/>
                    <a:p>
                      <a:pPr algn="ctr" fontAlgn="b">
                        <a:buNone/>
                      </a:pPr>
                      <a:r>
                        <a:rPr lang="en-US" sz="1800" b="0" i="0" u="none" strike="noStrike" dirty="0">
                          <a:solidFill>
                            <a:srgbClr val="000000"/>
                          </a:solidFill>
                          <a:effectLst/>
                          <a:latin typeface="Inter" panose="020B0604020202020204" charset="0"/>
                          <a:cs typeface="Inter" panose="020B0604020202020204" charset="0"/>
                        </a:rPr>
                        <a:t>2</a:t>
                      </a:r>
                      <a:endParaRPr lang="en-IN" sz="1800" b="0" i="0" u="none" strike="noStrike" dirty="0">
                        <a:solidFill>
                          <a:srgbClr val="000000"/>
                        </a:solidFill>
                        <a:effectLst/>
                        <a:latin typeface="Inter" panose="020B0604020202020204" charset="0"/>
                        <a:cs typeface="Inter" panose="020B0604020202020204" charset="0"/>
                      </a:endParaRPr>
                    </a:p>
                  </a:txBody>
                  <a:tcPr marL="9525" marR="9525" marT="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a:solidFill>
                            <a:srgbClr val="000000"/>
                          </a:solidFill>
                          <a:effectLst/>
                          <a:latin typeface="Inter" panose="020B0604020202020204" charset="0"/>
                          <a:cs typeface="Inter" panose="020B0604020202020204" charset="0"/>
                        </a:rPr>
                        <a:t>AMT_PAYMENT</a:t>
                      </a:r>
                    </a:p>
                  </a:txBody>
                  <a:tcPr marL="9525" marR="9525" marT="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a:solidFill>
                            <a:srgbClr val="000000"/>
                          </a:solidFill>
                          <a:effectLst/>
                          <a:latin typeface="Inter" panose="020B0604020202020204" charset="0"/>
                          <a:cs typeface="Inter" panose="020B0604020202020204" charset="0"/>
                        </a:rPr>
                        <a:t>Payment amount</a:t>
                      </a:r>
                    </a:p>
                  </a:txBody>
                  <a:tcPr marL="9525" marR="9525" marT="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0.02135%</a:t>
                      </a:r>
                    </a:p>
                  </a:txBody>
                  <a:tcPr marL="9525" marR="9525" marT="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fontAlgn="b">
                        <a:buNone/>
                      </a:pPr>
                      <a:r>
                        <a:rPr lang="en-US" sz="1800" b="0" i="0" u="none" strike="noStrike" dirty="0">
                          <a:solidFill>
                            <a:srgbClr val="000000"/>
                          </a:solidFill>
                          <a:effectLst/>
                          <a:latin typeface="Inter" panose="020B0604020202020204" charset="0"/>
                          <a:cs typeface="Inter" panose="020B0604020202020204" charset="0"/>
                        </a:rPr>
                        <a:t>Drop</a:t>
                      </a:r>
                      <a:endParaRPr lang="en-IN" sz="1800" b="0" i="0" u="none" strike="noStrike" dirty="0">
                        <a:solidFill>
                          <a:srgbClr val="000000"/>
                        </a:solidFill>
                        <a:effectLst/>
                        <a:latin typeface="Inter" panose="020B0604020202020204" charset="0"/>
                        <a:cs typeface="Inter" panose="020B0604020202020204" charset="0"/>
                      </a:endParaRPr>
                    </a:p>
                  </a:txBody>
                  <a:tcPr marL="9525" marR="9525" marT="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fontAlgn="b">
                        <a:buNone/>
                      </a:pPr>
                      <a:r>
                        <a:rPr lang="en-IN" sz="1800" b="0" i="0" u="none" strike="noStrike" dirty="0">
                          <a:solidFill>
                            <a:srgbClr val="000000"/>
                          </a:solidFill>
                          <a:effectLst/>
                          <a:latin typeface="Inter" panose="020B0604020202020204" charset="0"/>
                          <a:cs typeface="Inter" panose="020B0604020202020204" charset="0"/>
                        </a:rPr>
                        <a:t>Negligible missingness</a:t>
                      </a:r>
                    </a:p>
                  </a:txBody>
                  <a:tcPr marL="9525" marR="9525" marT="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3010496057"/>
                  </a:ext>
                </a:extLst>
              </a:tr>
            </a:tbl>
          </a:graphicData>
        </a:graphic>
      </p:graphicFrame>
    </p:spTree>
    <p:extLst>
      <p:ext uri="{BB962C8B-B14F-4D97-AF65-F5344CB8AC3E}">
        <p14:creationId xmlns:p14="http://schemas.microsoft.com/office/powerpoint/2010/main" val="188224500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C5D6CA"/>
        </a:solidFill>
        <a:effectLst/>
      </p:bgPr>
    </p:bg>
    <p:spTree>
      <p:nvGrpSpPr>
        <p:cNvPr id="1" name="">
          <a:extLst>
            <a:ext uri="{FF2B5EF4-FFF2-40B4-BE49-F238E27FC236}">
              <a16:creationId xmlns:a16="http://schemas.microsoft.com/office/drawing/2014/main" id="{1D4D48AB-8120-0444-C7F3-22164C501524}"/>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8EC5267D-E84A-BA1E-6CAD-F07F5C99E742}"/>
              </a:ext>
            </a:extLst>
          </p:cNvPr>
          <p:cNvGrpSpPr/>
          <p:nvPr/>
        </p:nvGrpSpPr>
        <p:grpSpPr>
          <a:xfrm>
            <a:off x="0" y="9497082"/>
            <a:ext cx="18292543" cy="787203"/>
            <a:chOff x="0" y="0"/>
            <a:chExt cx="24390058" cy="1049604"/>
          </a:xfrm>
        </p:grpSpPr>
        <p:sp>
          <p:nvSpPr>
            <p:cNvPr id="3" name="Freeform 3">
              <a:extLst>
                <a:ext uri="{FF2B5EF4-FFF2-40B4-BE49-F238E27FC236}">
                  <a16:creationId xmlns:a16="http://schemas.microsoft.com/office/drawing/2014/main" id="{09BAB10A-67A3-45BF-B86E-98467BDD7057}"/>
                </a:ext>
              </a:extLst>
            </p:cNvPr>
            <p:cNvSpPr/>
            <p:nvPr/>
          </p:nvSpPr>
          <p:spPr>
            <a:xfrm>
              <a:off x="0" y="0"/>
              <a:ext cx="24390096" cy="1049655"/>
            </a:xfrm>
            <a:custGeom>
              <a:avLst/>
              <a:gdLst/>
              <a:ahLst/>
              <a:cxnLst/>
              <a:rect l="l" t="t" r="r" b="b"/>
              <a:pathLst>
                <a:path w="24390096" h="1049655">
                  <a:moveTo>
                    <a:pt x="0" y="0"/>
                  </a:moveTo>
                  <a:lnTo>
                    <a:pt x="24390096" y="0"/>
                  </a:lnTo>
                  <a:lnTo>
                    <a:pt x="24390096" y="1049655"/>
                  </a:lnTo>
                  <a:lnTo>
                    <a:pt x="0" y="1049655"/>
                  </a:lnTo>
                  <a:close/>
                </a:path>
              </a:pathLst>
            </a:custGeom>
            <a:solidFill>
              <a:srgbClr val="348E90"/>
            </a:solidFill>
          </p:spPr>
          <p:txBody>
            <a:bodyPr/>
            <a:lstStyle/>
            <a:p>
              <a:endParaRPr lang="en-IN"/>
            </a:p>
          </p:txBody>
        </p:sp>
      </p:grpSp>
      <p:sp>
        <p:nvSpPr>
          <p:cNvPr id="4" name="Rectangle 3">
            <a:extLst>
              <a:ext uri="{FF2B5EF4-FFF2-40B4-BE49-F238E27FC236}">
                <a16:creationId xmlns:a16="http://schemas.microsoft.com/office/drawing/2014/main" id="{4887A7B1-7656-8DDF-E34F-246665380E01}"/>
              </a:ext>
            </a:extLst>
          </p:cNvPr>
          <p:cNvSpPr/>
          <p:nvPr/>
        </p:nvSpPr>
        <p:spPr>
          <a:xfrm>
            <a:off x="15544800" y="0"/>
            <a:ext cx="1143000" cy="1823056"/>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D7EB7890-F557-9350-BA59-C19D88257AED}"/>
              </a:ext>
            </a:extLst>
          </p:cNvPr>
          <p:cNvSpPr txBox="1"/>
          <p:nvPr/>
        </p:nvSpPr>
        <p:spPr>
          <a:xfrm>
            <a:off x="4857750" y="1115170"/>
            <a:ext cx="8572500" cy="707886"/>
          </a:xfrm>
          <a:prstGeom prst="rect">
            <a:avLst/>
          </a:prstGeom>
          <a:noFill/>
        </p:spPr>
        <p:txBody>
          <a:bodyPr wrap="square">
            <a:spAutoFit/>
          </a:bodyPr>
          <a:lstStyle/>
          <a:p>
            <a:r>
              <a:rPr lang="en-IN" sz="4000" b="1" dirty="0">
                <a:latin typeface="Inter" panose="020B0604020202020204" charset="0"/>
                <a:cs typeface="Inter" panose="020B0604020202020204" charset="0"/>
              </a:rPr>
              <a:t>Timeline Variable Anomaly Detection</a:t>
            </a:r>
          </a:p>
        </p:txBody>
      </p:sp>
      <p:graphicFrame>
        <p:nvGraphicFramePr>
          <p:cNvPr id="6" name="Table 5">
            <a:extLst>
              <a:ext uri="{FF2B5EF4-FFF2-40B4-BE49-F238E27FC236}">
                <a16:creationId xmlns:a16="http://schemas.microsoft.com/office/drawing/2014/main" id="{F7E4BB3F-00BD-4326-00B3-11DF4AB00317}"/>
              </a:ext>
            </a:extLst>
          </p:cNvPr>
          <p:cNvGraphicFramePr>
            <a:graphicFrameLocks noGrp="1"/>
          </p:cNvGraphicFramePr>
          <p:nvPr>
            <p:extLst>
              <p:ext uri="{D42A27DB-BD31-4B8C-83A1-F6EECF244321}">
                <p14:modId xmlns:p14="http://schemas.microsoft.com/office/powerpoint/2010/main" val="3343977730"/>
              </p:ext>
            </p:extLst>
          </p:nvPr>
        </p:nvGraphicFramePr>
        <p:xfrm>
          <a:off x="1752600" y="2678086"/>
          <a:ext cx="14935200" cy="4218013"/>
        </p:xfrm>
        <a:graphic>
          <a:graphicData uri="http://schemas.openxmlformats.org/drawingml/2006/table">
            <a:tbl>
              <a:tblPr firstRow="1" bandRow="1">
                <a:tableStyleId>{5C22544A-7EE6-4342-B048-85BDC9FD1C3A}</a:tableStyleId>
              </a:tblPr>
              <a:tblGrid>
                <a:gridCol w="3733800">
                  <a:extLst>
                    <a:ext uri="{9D8B030D-6E8A-4147-A177-3AD203B41FA5}">
                      <a16:colId xmlns:a16="http://schemas.microsoft.com/office/drawing/2014/main" val="60828127"/>
                    </a:ext>
                  </a:extLst>
                </a:gridCol>
                <a:gridCol w="3733800">
                  <a:extLst>
                    <a:ext uri="{9D8B030D-6E8A-4147-A177-3AD203B41FA5}">
                      <a16:colId xmlns:a16="http://schemas.microsoft.com/office/drawing/2014/main" val="3509672948"/>
                    </a:ext>
                  </a:extLst>
                </a:gridCol>
                <a:gridCol w="3733800">
                  <a:extLst>
                    <a:ext uri="{9D8B030D-6E8A-4147-A177-3AD203B41FA5}">
                      <a16:colId xmlns:a16="http://schemas.microsoft.com/office/drawing/2014/main" val="848709816"/>
                    </a:ext>
                  </a:extLst>
                </a:gridCol>
                <a:gridCol w="3733800">
                  <a:extLst>
                    <a:ext uri="{9D8B030D-6E8A-4147-A177-3AD203B41FA5}">
                      <a16:colId xmlns:a16="http://schemas.microsoft.com/office/drawing/2014/main" val="4094893915"/>
                    </a:ext>
                  </a:extLst>
                </a:gridCol>
              </a:tblGrid>
              <a:tr h="1138864">
                <a:tc>
                  <a:txBody>
                    <a:bodyPr/>
                    <a:lstStyle/>
                    <a:p>
                      <a:pPr algn="ctr"/>
                      <a:r>
                        <a:rPr lang="en-US" sz="2100" dirty="0">
                          <a:solidFill>
                            <a:schemeClr val="tx1"/>
                          </a:solidFill>
                          <a:latin typeface="Inter" panose="020B0604020202020204" charset="0"/>
                          <a:cs typeface="Inter" panose="020B0604020202020204" charset="0"/>
                        </a:rPr>
                        <a:t>Feature</a:t>
                      </a:r>
                      <a:endParaRPr lang="en-IN" sz="2100"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sz="2100" dirty="0">
                          <a:solidFill>
                            <a:schemeClr val="tx1"/>
                          </a:solidFill>
                          <a:latin typeface="Inter" panose="020B0604020202020204" charset="0"/>
                          <a:cs typeface="Inter" panose="020B0604020202020204" charset="0"/>
                        </a:rPr>
                        <a:t>Observation</a:t>
                      </a:r>
                      <a:endParaRPr lang="en-IN" sz="2100"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sz="2100" dirty="0">
                          <a:solidFill>
                            <a:schemeClr val="tx1"/>
                          </a:solidFill>
                          <a:latin typeface="Inter" panose="020B0604020202020204" charset="0"/>
                          <a:cs typeface="Inter" panose="020B0604020202020204" charset="0"/>
                        </a:rPr>
                        <a:t>Interpretation</a:t>
                      </a:r>
                      <a:endParaRPr lang="en-IN" sz="2100"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sz="2100" dirty="0">
                          <a:solidFill>
                            <a:schemeClr val="tx1"/>
                          </a:solidFill>
                          <a:latin typeface="Inter" panose="020B0604020202020204" charset="0"/>
                          <a:cs typeface="Inter" panose="020B0604020202020204" charset="0"/>
                        </a:rPr>
                        <a:t>Planned Treatment</a:t>
                      </a:r>
                      <a:endParaRPr lang="en-IN" sz="2100"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2078074201"/>
                  </a:ext>
                </a:extLst>
              </a:tr>
              <a:tr h="1026383">
                <a:tc>
                  <a:txBody>
                    <a:bodyPr/>
                    <a:lstStyle/>
                    <a:p>
                      <a:pPr algn="ctr"/>
                      <a:r>
                        <a:rPr lang="en-US" dirty="0">
                          <a:solidFill>
                            <a:schemeClr val="tx1"/>
                          </a:solidFill>
                          <a:latin typeface="Inter" panose="020B0604020202020204" charset="0"/>
                          <a:cs typeface="Inter" panose="020B0604020202020204" charset="0"/>
                        </a:rPr>
                        <a:t>DAYS_EMPLOYED</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Negative values</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Historical timeline representation</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IN" dirty="0">
                          <a:latin typeface="Inter" panose="020B0604020202020204" charset="0"/>
                          <a:cs typeface="Inter" panose="020B0604020202020204" charset="0"/>
                        </a:rPr>
                        <a:t>Retain as historical timeline variable</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4153070572"/>
                  </a:ext>
                </a:extLst>
              </a:tr>
              <a:tr h="1026383">
                <a:tc>
                  <a:txBody>
                    <a:bodyPr/>
                    <a:lstStyle/>
                    <a:p>
                      <a:pPr algn="ctr"/>
                      <a:r>
                        <a:rPr lang="en-US" dirty="0">
                          <a:solidFill>
                            <a:schemeClr val="tx1"/>
                          </a:solidFill>
                          <a:latin typeface="Inter" panose="020B0604020202020204" charset="0"/>
                          <a:cs typeface="Inter" panose="020B0604020202020204" charset="0"/>
                        </a:rPr>
                        <a:t>DAYS_EMPLOYED</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Repeating value</a:t>
                      </a:r>
                      <a:r>
                        <a:rPr lang="en-US" b="1" dirty="0">
                          <a:solidFill>
                            <a:schemeClr val="tx1"/>
                          </a:solidFill>
                          <a:latin typeface="Inter" panose="020B0604020202020204" charset="0"/>
                          <a:cs typeface="Inter" panose="020B0604020202020204" charset="0"/>
                        </a:rPr>
                        <a:t> </a:t>
                      </a:r>
                      <a:r>
                        <a:rPr lang="en-US" b="1" dirty="0">
                          <a:solidFill>
                            <a:srgbClr val="C00000"/>
                          </a:solidFill>
                          <a:latin typeface="Inter" panose="020B0604020202020204" charset="0"/>
                          <a:cs typeface="Inter" panose="020B0604020202020204" charset="0"/>
                        </a:rPr>
                        <a:t>(365243)</a:t>
                      </a:r>
                      <a:endParaRPr lang="en-IN" b="1" dirty="0">
                        <a:solidFill>
                          <a:srgbClr val="C00000"/>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Placeholder anomaly</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Replace with </a:t>
                      </a:r>
                      <a:r>
                        <a:rPr lang="en-US" dirty="0" err="1">
                          <a:solidFill>
                            <a:schemeClr val="tx1"/>
                          </a:solidFill>
                          <a:latin typeface="Inter" panose="020B0604020202020204" charset="0"/>
                          <a:cs typeface="Inter" panose="020B0604020202020204" charset="0"/>
                        </a:rPr>
                        <a:t>NaN</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3167888736"/>
                  </a:ext>
                </a:extLst>
              </a:tr>
              <a:tr h="1026383">
                <a:tc>
                  <a:txBody>
                    <a:bodyPr/>
                    <a:lstStyle/>
                    <a:p>
                      <a:pPr algn="ctr"/>
                      <a:r>
                        <a:rPr lang="en-US" dirty="0">
                          <a:solidFill>
                            <a:schemeClr val="tx1"/>
                          </a:solidFill>
                          <a:latin typeface="Inter" panose="020B0604020202020204" charset="0"/>
                          <a:cs typeface="Inter" panose="020B0604020202020204" charset="0"/>
                        </a:rPr>
                        <a:t>DAYS_BIRTH</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Negative values</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Backward date calculation </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Keep as valid</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164317339"/>
                  </a:ext>
                </a:extLst>
              </a:tr>
            </a:tbl>
          </a:graphicData>
        </a:graphic>
      </p:graphicFrame>
      <p:sp>
        <p:nvSpPr>
          <p:cNvPr id="7" name="Rectangle: Rounded Corners 6">
            <a:extLst>
              <a:ext uri="{FF2B5EF4-FFF2-40B4-BE49-F238E27FC236}">
                <a16:creationId xmlns:a16="http://schemas.microsoft.com/office/drawing/2014/main" id="{69C6B0EE-9E92-5C17-B44E-E727529E2205}"/>
              </a:ext>
            </a:extLst>
          </p:cNvPr>
          <p:cNvSpPr/>
          <p:nvPr/>
        </p:nvSpPr>
        <p:spPr>
          <a:xfrm>
            <a:off x="1752600" y="7277100"/>
            <a:ext cx="14935200" cy="1524000"/>
          </a:xfrm>
          <a:prstGeom prst="roundRect">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buNone/>
            </a:pPr>
            <a:r>
              <a:rPr lang="en-IN" sz="2500" b="1" dirty="0">
                <a:solidFill>
                  <a:schemeClr val="bg1"/>
                </a:solidFill>
                <a:latin typeface="Inter" panose="020B0604020202020204" charset="0"/>
                <a:cs typeface="Inter" panose="020B0604020202020204" charset="0"/>
              </a:rPr>
              <a:t>Key Insight</a:t>
            </a:r>
          </a:p>
          <a:p>
            <a:pPr>
              <a:buNone/>
            </a:pPr>
            <a:r>
              <a:rPr lang="en-IN" dirty="0">
                <a:solidFill>
                  <a:schemeClr val="bg1"/>
                </a:solidFill>
                <a:latin typeface="Inter" panose="020B0604020202020204" charset="0"/>
                <a:cs typeface="Inter" panose="020B0604020202020204" charset="0"/>
              </a:rPr>
              <a:t>Timeline-related variables are represented as backward historical durations. A placeholder value (365243) was identified in DAYS_EMPLOYED, requiring preprocessing before analysis and modelling.</a:t>
            </a:r>
          </a:p>
        </p:txBody>
      </p:sp>
    </p:spTree>
    <p:extLst>
      <p:ext uri="{BB962C8B-B14F-4D97-AF65-F5344CB8AC3E}">
        <p14:creationId xmlns:p14="http://schemas.microsoft.com/office/powerpoint/2010/main" val="147838083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C5D6CA"/>
        </a:solidFill>
        <a:effectLst/>
      </p:bgPr>
    </p:bg>
    <p:spTree>
      <p:nvGrpSpPr>
        <p:cNvPr id="1" name="">
          <a:extLst>
            <a:ext uri="{FF2B5EF4-FFF2-40B4-BE49-F238E27FC236}">
              <a16:creationId xmlns:a16="http://schemas.microsoft.com/office/drawing/2014/main" id="{F30543A6-9F40-7E68-22D3-82CC80987468}"/>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F311C7F7-C120-D53F-9F74-5C7D242DED4A}"/>
              </a:ext>
            </a:extLst>
          </p:cNvPr>
          <p:cNvGrpSpPr/>
          <p:nvPr/>
        </p:nvGrpSpPr>
        <p:grpSpPr>
          <a:xfrm>
            <a:off x="0" y="9497082"/>
            <a:ext cx="18292543" cy="787203"/>
            <a:chOff x="0" y="0"/>
            <a:chExt cx="24390058" cy="1049604"/>
          </a:xfrm>
        </p:grpSpPr>
        <p:sp>
          <p:nvSpPr>
            <p:cNvPr id="3" name="Freeform 3">
              <a:extLst>
                <a:ext uri="{FF2B5EF4-FFF2-40B4-BE49-F238E27FC236}">
                  <a16:creationId xmlns:a16="http://schemas.microsoft.com/office/drawing/2014/main" id="{0B678468-C5BF-328C-CC48-C83A0DE2BC57}"/>
                </a:ext>
              </a:extLst>
            </p:cNvPr>
            <p:cNvSpPr/>
            <p:nvPr/>
          </p:nvSpPr>
          <p:spPr>
            <a:xfrm>
              <a:off x="0" y="0"/>
              <a:ext cx="24390096" cy="1049655"/>
            </a:xfrm>
            <a:custGeom>
              <a:avLst/>
              <a:gdLst/>
              <a:ahLst/>
              <a:cxnLst/>
              <a:rect l="l" t="t" r="r" b="b"/>
              <a:pathLst>
                <a:path w="24390096" h="1049655">
                  <a:moveTo>
                    <a:pt x="0" y="0"/>
                  </a:moveTo>
                  <a:lnTo>
                    <a:pt x="24390096" y="0"/>
                  </a:lnTo>
                  <a:lnTo>
                    <a:pt x="24390096" y="1049655"/>
                  </a:lnTo>
                  <a:lnTo>
                    <a:pt x="0" y="1049655"/>
                  </a:lnTo>
                  <a:close/>
                </a:path>
              </a:pathLst>
            </a:custGeom>
            <a:solidFill>
              <a:srgbClr val="348E90"/>
            </a:solidFill>
          </p:spPr>
          <p:txBody>
            <a:bodyPr/>
            <a:lstStyle/>
            <a:p>
              <a:endParaRPr lang="en-IN"/>
            </a:p>
          </p:txBody>
        </p:sp>
      </p:grpSp>
      <p:sp>
        <p:nvSpPr>
          <p:cNvPr id="4" name="Rectangle 3">
            <a:extLst>
              <a:ext uri="{FF2B5EF4-FFF2-40B4-BE49-F238E27FC236}">
                <a16:creationId xmlns:a16="http://schemas.microsoft.com/office/drawing/2014/main" id="{F711F67A-FA97-504B-BFA2-A4E13BF56D1F}"/>
              </a:ext>
            </a:extLst>
          </p:cNvPr>
          <p:cNvSpPr/>
          <p:nvPr/>
        </p:nvSpPr>
        <p:spPr>
          <a:xfrm>
            <a:off x="15544800" y="0"/>
            <a:ext cx="1143000" cy="1823056"/>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A4B15B25-1260-3BE9-3C1E-82F8237B39EF}"/>
              </a:ext>
            </a:extLst>
          </p:cNvPr>
          <p:cNvSpPr txBox="1"/>
          <p:nvPr/>
        </p:nvSpPr>
        <p:spPr>
          <a:xfrm>
            <a:off x="4895850" y="723900"/>
            <a:ext cx="8496300" cy="707886"/>
          </a:xfrm>
          <a:prstGeom prst="rect">
            <a:avLst/>
          </a:prstGeom>
          <a:noFill/>
        </p:spPr>
        <p:txBody>
          <a:bodyPr wrap="square">
            <a:spAutoFit/>
          </a:bodyPr>
          <a:lstStyle/>
          <a:p>
            <a:r>
              <a:rPr lang="en-IN" sz="4000" b="1" dirty="0">
                <a:latin typeface="Inter" panose="020B0604020202020204" charset="0"/>
                <a:cs typeface="Inter" panose="020B0604020202020204" charset="0"/>
              </a:rPr>
              <a:t>Proposed Exploratory Data Analysis</a:t>
            </a:r>
          </a:p>
        </p:txBody>
      </p:sp>
      <p:sp>
        <p:nvSpPr>
          <p:cNvPr id="7" name="TextBox 6">
            <a:extLst>
              <a:ext uri="{FF2B5EF4-FFF2-40B4-BE49-F238E27FC236}">
                <a16:creationId xmlns:a16="http://schemas.microsoft.com/office/drawing/2014/main" id="{4F1835BB-F7C4-F6F8-A6E0-11FE99378042}"/>
              </a:ext>
            </a:extLst>
          </p:cNvPr>
          <p:cNvSpPr txBox="1"/>
          <p:nvPr/>
        </p:nvSpPr>
        <p:spPr>
          <a:xfrm>
            <a:off x="1219200" y="1584529"/>
            <a:ext cx="9144000" cy="477054"/>
          </a:xfrm>
          <a:prstGeom prst="rect">
            <a:avLst/>
          </a:prstGeom>
          <a:noFill/>
        </p:spPr>
        <p:txBody>
          <a:bodyPr wrap="square">
            <a:spAutoFit/>
          </a:bodyPr>
          <a:lstStyle/>
          <a:p>
            <a:r>
              <a:rPr lang="en-IN" sz="2500" b="1" dirty="0">
                <a:latin typeface="Inter" panose="020B0604020202020204" charset="0"/>
                <a:cs typeface="Inter" panose="020B0604020202020204" charset="0"/>
              </a:rPr>
              <a:t>Potential EDA Areas</a:t>
            </a:r>
          </a:p>
        </p:txBody>
      </p:sp>
      <p:sp>
        <p:nvSpPr>
          <p:cNvPr id="8" name="Rectangle: Rounded Corners 7">
            <a:extLst>
              <a:ext uri="{FF2B5EF4-FFF2-40B4-BE49-F238E27FC236}">
                <a16:creationId xmlns:a16="http://schemas.microsoft.com/office/drawing/2014/main" id="{4684F651-CF70-D847-1ED1-4107D934FDC2}"/>
              </a:ext>
            </a:extLst>
          </p:cNvPr>
          <p:cNvSpPr/>
          <p:nvPr/>
        </p:nvSpPr>
        <p:spPr>
          <a:xfrm>
            <a:off x="1219200" y="2235950"/>
            <a:ext cx="5600700" cy="2907550"/>
          </a:xfrm>
          <a:prstGeom prst="roundRect">
            <a:avLst/>
          </a:prstGeom>
          <a:solidFill>
            <a:srgbClr val="AADFE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buNone/>
            </a:pPr>
            <a:r>
              <a:rPr lang="en-IN" sz="2500" b="1" dirty="0">
                <a:solidFill>
                  <a:schemeClr val="tx1"/>
                </a:solidFill>
                <a:latin typeface="Inter" panose="020B0604020202020204" charset="0"/>
                <a:cs typeface="Inter" panose="020B0604020202020204" charset="0"/>
              </a:rPr>
              <a:t>Customer Demographics Analysis</a:t>
            </a:r>
          </a:p>
          <a:p>
            <a:pPr>
              <a:buNone/>
            </a:pPr>
            <a:r>
              <a:rPr lang="en-IN" sz="2500" dirty="0">
                <a:solidFill>
                  <a:schemeClr val="tx1"/>
                </a:solidFill>
                <a:latin typeface="Inter" panose="020B0604020202020204" charset="0"/>
                <a:cs typeface="Inter" panose="020B0604020202020204" charset="0"/>
              </a:rPr>
              <a:t>Possible Questions:</a:t>
            </a:r>
            <a:endParaRPr lang="en-IN" sz="2500" b="1" dirty="0">
              <a:solidFill>
                <a:schemeClr val="tx1"/>
              </a:solidFill>
              <a:latin typeface="Inter" panose="020B0604020202020204" charset="0"/>
              <a:cs typeface="Inter" panose="020B0604020202020204" charset="0"/>
            </a:endParaRPr>
          </a:p>
          <a:p>
            <a:pPr marL="457200" indent="-457200">
              <a:buFont typeface="Arial" panose="020B0604020202020204" pitchFamily="34" charset="0"/>
              <a:buChar char="•"/>
            </a:pPr>
            <a:r>
              <a:rPr lang="en-IN" dirty="0">
                <a:solidFill>
                  <a:schemeClr val="tx1"/>
                </a:solidFill>
                <a:latin typeface="Inter" panose="020B0604020202020204" charset="0"/>
                <a:cs typeface="Inter" panose="020B0604020202020204" charset="0"/>
              </a:rPr>
              <a:t>Which age groups default more?</a:t>
            </a:r>
          </a:p>
          <a:p>
            <a:pPr marL="457200" indent="-457200">
              <a:buFont typeface="Arial" panose="020B0604020202020204" pitchFamily="34" charset="0"/>
              <a:buChar char="•"/>
            </a:pPr>
            <a:r>
              <a:rPr lang="en-IN" dirty="0">
                <a:solidFill>
                  <a:schemeClr val="tx1"/>
                </a:solidFill>
                <a:latin typeface="Inter" panose="020B0604020202020204" charset="0"/>
                <a:cs typeface="Inter" panose="020B0604020202020204" charset="0"/>
              </a:rPr>
              <a:t>Does occupation impact default?</a:t>
            </a:r>
          </a:p>
          <a:p>
            <a:pPr marL="457200" indent="-457200">
              <a:buFont typeface="Arial" panose="020B0604020202020204" pitchFamily="34" charset="0"/>
              <a:buChar char="•"/>
            </a:pPr>
            <a:r>
              <a:rPr lang="en-IN" dirty="0">
                <a:solidFill>
                  <a:schemeClr val="tx1"/>
                </a:solidFill>
                <a:latin typeface="Inter" panose="020B0604020202020204" charset="0"/>
                <a:cs typeface="Inter" panose="020B0604020202020204" charset="0"/>
              </a:rPr>
              <a:t>Does gender influence repayment behaviour?</a:t>
            </a:r>
          </a:p>
        </p:txBody>
      </p:sp>
      <p:sp>
        <p:nvSpPr>
          <p:cNvPr id="9" name="Rectangle: Rounded Corners 8">
            <a:extLst>
              <a:ext uri="{FF2B5EF4-FFF2-40B4-BE49-F238E27FC236}">
                <a16:creationId xmlns:a16="http://schemas.microsoft.com/office/drawing/2014/main" id="{826C72D7-706B-2FD1-86C1-F19CE040DF46}"/>
              </a:ext>
            </a:extLst>
          </p:cNvPr>
          <p:cNvSpPr/>
          <p:nvPr/>
        </p:nvSpPr>
        <p:spPr>
          <a:xfrm>
            <a:off x="11353800" y="2042018"/>
            <a:ext cx="5219701" cy="2907550"/>
          </a:xfrm>
          <a:prstGeom prst="roundRect">
            <a:avLst/>
          </a:prstGeom>
          <a:solidFill>
            <a:srgbClr val="348E9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buNone/>
            </a:pPr>
            <a:r>
              <a:rPr lang="en-IN" sz="2500" dirty="0">
                <a:latin typeface="Inter" panose="020B0604020202020204" charset="0"/>
                <a:cs typeface="Inter" panose="020B0604020202020204" charset="0"/>
              </a:rPr>
              <a:t>Financial Analysis</a:t>
            </a:r>
          </a:p>
          <a:p>
            <a:pPr>
              <a:buNone/>
            </a:pPr>
            <a:r>
              <a:rPr lang="en-IN" sz="2500" dirty="0">
                <a:solidFill>
                  <a:schemeClr val="bg1"/>
                </a:solidFill>
                <a:latin typeface="Inter" panose="020B0604020202020204" charset="0"/>
                <a:cs typeface="Inter" panose="020B0604020202020204" charset="0"/>
              </a:rPr>
              <a:t>Possible Questions:</a:t>
            </a:r>
            <a:endParaRPr lang="en-IN" sz="2500" b="1" dirty="0">
              <a:solidFill>
                <a:schemeClr val="bg1"/>
              </a:solidFill>
              <a:latin typeface="Inter" panose="020B0604020202020204" charset="0"/>
              <a:cs typeface="Inter" panose="020B0604020202020204" charset="0"/>
            </a:endParaRPr>
          </a:p>
          <a:p>
            <a:pPr marL="457200" indent="-457200">
              <a:buFont typeface="Arial" panose="020B0604020202020204" pitchFamily="34" charset="0"/>
              <a:buChar char="•"/>
            </a:pPr>
            <a:r>
              <a:rPr lang="en-IN" dirty="0">
                <a:latin typeface="Inter" panose="020B0604020202020204" charset="0"/>
                <a:cs typeface="Inter" panose="020B0604020202020204" charset="0"/>
              </a:rPr>
              <a:t>Relationship between income and default</a:t>
            </a:r>
          </a:p>
          <a:p>
            <a:pPr marL="457200" indent="-457200">
              <a:buFont typeface="Arial" panose="020B0604020202020204" pitchFamily="34" charset="0"/>
              <a:buChar char="•"/>
            </a:pPr>
            <a:r>
              <a:rPr lang="en-IN" dirty="0">
                <a:latin typeface="Inter" panose="020B0604020202020204" charset="0"/>
                <a:cs typeface="Inter" panose="020B0604020202020204" charset="0"/>
              </a:rPr>
              <a:t>Credit amount vs repayment capability</a:t>
            </a:r>
          </a:p>
          <a:p>
            <a:pPr marL="457200" indent="-457200">
              <a:buFont typeface="Arial" panose="020B0604020202020204" pitchFamily="34" charset="0"/>
              <a:buChar char="•"/>
            </a:pPr>
            <a:r>
              <a:rPr lang="en-IN" dirty="0">
                <a:latin typeface="Inter" panose="020B0604020202020204" charset="0"/>
                <a:cs typeface="Inter" panose="020B0604020202020204" charset="0"/>
              </a:rPr>
              <a:t>Loan annuity burden analysis</a:t>
            </a:r>
            <a:endParaRPr lang="en-IN" dirty="0">
              <a:solidFill>
                <a:schemeClr val="tx1"/>
              </a:solidFill>
              <a:latin typeface="Inter" panose="020B0604020202020204" charset="0"/>
              <a:cs typeface="Inter" panose="020B0604020202020204" charset="0"/>
            </a:endParaRPr>
          </a:p>
        </p:txBody>
      </p:sp>
      <p:sp>
        <p:nvSpPr>
          <p:cNvPr id="10" name="Rectangle: Rounded Corners 9">
            <a:extLst>
              <a:ext uri="{FF2B5EF4-FFF2-40B4-BE49-F238E27FC236}">
                <a16:creationId xmlns:a16="http://schemas.microsoft.com/office/drawing/2014/main" id="{91B67504-801A-3901-095A-CF5CF25405FC}"/>
              </a:ext>
            </a:extLst>
          </p:cNvPr>
          <p:cNvSpPr/>
          <p:nvPr/>
        </p:nvSpPr>
        <p:spPr>
          <a:xfrm>
            <a:off x="1219200" y="6600859"/>
            <a:ext cx="5600700" cy="2548517"/>
          </a:xfrm>
          <a:prstGeom prst="roundRect">
            <a:avLst/>
          </a:prstGeom>
          <a:solidFill>
            <a:srgbClr val="348E9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buNone/>
            </a:pPr>
            <a:r>
              <a:rPr lang="en-IN" sz="2800" dirty="0"/>
              <a:t>Credit Behaviour Analysis</a:t>
            </a:r>
          </a:p>
          <a:p>
            <a:pPr>
              <a:buNone/>
            </a:pPr>
            <a:r>
              <a:rPr lang="en-IN" sz="2500" dirty="0">
                <a:solidFill>
                  <a:schemeClr val="bg1"/>
                </a:solidFill>
                <a:latin typeface="Inter" panose="020B0604020202020204" charset="0"/>
                <a:cs typeface="Inter" panose="020B0604020202020204" charset="0"/>
              </a:rPr>
              <a:t>Possible Questions:</a:t>
            </a:r>
            <a:endParaRPr lang="en-IN" sz="2500" b="1" dirty="0">
              <a:solidFill>
                <a:schemeClr val="bg1"/>
              </a:solidFill>
              <a:latin typeface="Inter" panose="020B0604020202020204" charset="0"/>
              <a:cs typeface="Inter" panose="020B0604020202020204" charset="0"/>
            </a:endParaRPr>
          </a:p>
          <a:p>
            <a:pPr marL="457200" indent="-457200">
              <a:buFont typeface="Arial" panose="020B0604020202020204" pitchFamily="34" charset="0"/>
              <a:buChar char="•"/>
            </a:pPr>
            <a:r>
              <a:rPr lang="en-IN" dirty="0">
                <a:latin typeface="Inter" panose="020B0604020202020204" charset="0"/>
                <a:cs typeface="Inter" panose="020B0604020202020204" charset="0"/>
              </a:rPr>
              <a:t>Customers with existing debts</a:t>
            </a:r>
          </a:p>
          <a:p>
            <a:pPr marL="457200" indent="-457200">
              <a:buFont typeface="Arial" panose="020B0604020202020204" pitchFamily="34" charset="0"/>
              <a:buChar char="•"/>
            </a:pPr>
            <a:r>
              <a:rPr lang="en-IN" dirty="0">
                <a:latin typeface="Inter" panose="020B0604020202020204" charset="0"/>
                <a:cs typeface="Inter" panose="020B0604020202020204" charset="0"/>
              </a:rPr>
              <a:t>Delayed payment behaviour</a:t>
            </a:r>
          </a:p>
          <a:p>
            <a:pPr marL="457200" indent="-457200">
              <a:buFont typeface="Arial" panose="020B0604020202020204" pitchFamily="34" charset="0"/>
              <a:buChar char="•"/>
            </a:pPr>
            <a:r>
              <a:rPr lang="en-IN" dirty="0">
                <a:latin typeface="Inter" panose="020B0604020202020204" charset="0"/>
                <a:cs typeface="Inter" panose="020B0604020202020204" charset="0"/>
              </a:rPr>
              <a:t>Credit utilization patterns</a:t>
            </a:r>
            <a:endParaRPr lang="en-IN" dirty="0">
              <a:solidFill>
                <a:schemeClr val="tx1"/>
              </a:solidFill>
              <a:latin typeface="Inter" panose="020B0604020202020204" charset="0"/>
              <a:cs typeface="Inter" panose="020B0604020202020204" charset="0"/>
            </a:endParaRPr>
          </a:p>
        </p:txBody>
      </p:sp>
      <p:sp>
        <p:nvSpPr>
          <p:cNvPr id="11" name="Rectangle: Rounded Corners 10">
            <a:extLst>
              <a:ext uri="{FF2B5EF4-FFF2-40B4-BE49-F238E27FC236}">
                <a16:creationId xmlns:a16="http://schemas.microsoft.com/office/drawing/2014/main" id="{C6E45626-8499-D328-850A-29FC5B3BF9E2}"/>
              </a:ext>
            </a:extLst>
          </p:cNvPr>
          <p:cNvSpPr/>
          <p:nvPr/>
        </p:nvSpPr>
        <p:spPr>
          <a:xfrm>
            <a:off x="11468099" y="6600858"/>
            <a:ext cx="5219701" cy="2548517"/>
          </a:xfrm>
          <a:prstGeom prst="roundRect">
            <a:avLst/>
          </a:prstGeom>
          <a:solidFill>
            <a:srgbClr val="AADFE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buNone/>
            </a:pPr>
            <a:r>
              <a:rPr lang="en-IN" sz="2500" b="1" dirty="0">
                <a:solidFill>
                  <a:schemeClr val="tx1"/>
                </a:solidFill>
                <a:latin typeface="Inter" panose="020B0604020202020204" charset="0"/>
                <a:cs typeface="Inter" panose="020B0604020202020204" charset="0"/>
              </a:rPr>
              <a:t>Loan History Analysis</a:t>
            </a:r>
          </a:p>
          <a:p>
            <a:pPr>
              <a:buNone/>
            </a:pPr>
            <a:r>
              <a:rPr lang="en-IN" sz="2500" dirty="0">
                <a:solidFill>
                  <a:schemeClr val="tx1"/>
                </a:solidFill>
                <a:latin typeface="Inter" panose="020B0604020202020204" charset="0"/>
                <a:cs typeface="Inter" panose="020B0604020202020204" charset="0"/>
              </a:rPr>
              <a:t>Possible Questions:</a:t>
            </a:r>
            <a:endParaRPr lang="en-IN" sz="2500" b="1" dirty="0">
              <a:solidFill>
                <a:schemeClr val="tx1"/>
              </a:solidFill>
              <a:latin typeface="Inter" panose="020B0604020202020204" charset="0"/>
              <a:cs typeface="Inter" panose="020B0604020202020204" charset="0"/>
            </a:endParaRPr>
          </a:p>
          <a:p>
            <a:pPr marL="457200" indent="-457200">
              <a:buFont typeface="Arial" panose="020B0604020202020204" pitchFamily="34" charset="0"/>
              <a:buChar char="•"/>
            </a:pPr>
            <a:r>
              <a:rPr lang="en-IN" dirty="0">
                <a:solidFill>
                  <a:schemeClr val="tx1"/>
                </a:solidFill>
                <a:latin typeface="Inter" panose="020B0604020202020204" charset="0"/>
                <a:cs typeface="Inter" panose="020B0604020202020204" charset="0"/>
              </a:rPr>
              <a:t>Previous loan rejection patterns</a:t>
            </a:r>
          </a:p>
          <a:p>
            <a:pPr marL="457200" indent="-457200">
              <a:buFont typeface="Arial" panose="020B0604020202020204" pitchFamily="34" charset="0"/>
              <a:buChar char="•"/>
            </a:pPr>
            <a:r>
              <a:rPr lang="en-IN" dirty="0">
                <a:solidFill>
                  <a:schemeClr val="tx1"/>
                </a:solidFill>
                <a:latin typeface="Inter" panose="020B0604020202020204" charset="0"/>
                <a:cs typeface="Inter" panose="020B0604020202020204" charset="0"/>
              </a:rPr>
              <a:t>Impact of past approvals on default</a:t>
            </a:r>
          </a:p>
        </p:txBody>
      </p:sp>
      <p:sp>
        <p:nvSpPr>
          <p:cNvPr id="12" name="Rectangle: Rounded Corners 11">
            <a:extLst>
              <a:ext uri="{FF2B5EF4-FFF2-40B4-BE49-F238E27FC236}">
                <a16:creationId xmlns:a16="http://schemas.microsoft.com/office/drawing/2014/main" id="{CDB3740F-C63E-9DD8-7C9B-6F621C5B8AC7}"/>
              </a:ext>
            </a:extLst>
          </p:cNvPr>
          <p:cNvSpPr/>
          <p:nvPr/>
        </p:nvSpPr>
        <p:spPr>
          <a:xfrm>
            <a:off x="6819901" y="4369550"/>
            <a:ext cx="4648198" cy="2907550"/>
          </a:xfrm>
          <a:prstGeom prst="roundRect">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buNone/>
            </a:pPr>
            <a:r>
              <a:rPr lang="en-IN" sz="2800" dirty="0">
                <a:solidFill>
                  <a:schemeClr val="bg1"/>
                </a:solidFill>
                <a:latin typeface="Inter" panose="020B0604020202020204" charset="0"/>
                <a:cs typeface="Inter" panose="020B0604020202020204" charset="0"/>
              </a:rPr>
              <a:t>Behavioural Analysis</a:t>
            </a:r>
          </a:p>
          <a:p>
            <a:pPr>
              <a:buNone/>
            </a:pPr>
            <a:r>
              <a:rPr lang="en-IN" sz="2500" dirty="0">
                <a:solidFill>
                  <a:schemeClr val="bg1"/>
                </a:solidFill>
                <a:latin typeface="Inter" panose="020B0604020202020204" charset="0"/>
                <a:cs typeface="Inter" panose="020B0604020202020204" charset="0"/>
              </a:rPr>
              <a:t>Possible Questions:</a:t>
            </a:r>
            <a:endParaRPr lang="en-IN" sz="2500" b="1" dirty="0">
              <a:solidFill>
                <a:schemeClr val="bg1"/>
              </a:solidFill>
              <a:latin typeface="Inter" panose="020B0604020202020204" charset="0"/>
              <a:cs typeface="Inter" panose="020B0604020202020204" charset="0"/>
            </a:endParaRPr>
          </a:p>
          <a:p>
            <a:pPr marL="457200" indent="-457200">
              <a:buFont typeface="Arial" panose="020B0604020202020204" pitchFamily="34" charset="0"/>
              <a:buChar char="•"/>
            </a:pPr>
            <a:r>
              <a:rPr lang="en-IN" dirty="0">
                <a:solidFill>
                  <a:schemeClr val="bg1"/>
                </a:solidFill>
                <a:latin typeface="Inter" panose="020B0604020202020204" charset="0"/>
                <a:cs typeface="Inter" panose="020B0604020202020204" charset="0"/>
              </a:rPr>
              <a:t>Instalment payment delays</a:t>
            </a:r>
          </a:p>
          <a:p>
            <a:pPr marL="457200" indent="-457200">
              <a:buFont typeface="Arial" panose="020B0604020202020204" pitchFamily="34" charset="0"/>
              <a:buChar char="•"/>
            </a:pPr>
            <a:r>
              <a:rPr lang="en-IN" dirty="0">
                <a:solidFill>
                  <a:schemeClr val="bg1"/>
                </a:solidFill>
                <a:latin typeface="Inter" panose="020B0604020202020204" charset="0"/>
                <a:cs typeface="Inter" panose="020B0604020202020204" charset="0"/>
              </a:rPr>
              <a:t>Spending behaviour trends</a:t>
            </a:r>
          </a:p>
          <a:p>
            <a:pPr marL="457200" indent="-457200">
              <a:buFont typeface="Arial" panose="020B0604020202020204" pitchFamily="34" charset="0"/>
              <a:buChar char="•"/>
            </a:pPr>
            <a:r>
              <a:rPr lang="en-IN" dirty="0">
                <a:solidFill>
                  <a:schemeClr val="bg1"/>
                </a:solidFill>
                <a:latin typeface="Inter" panose="020B0604020202020204" charset="0"/>
                <a:cs typeface="Inter" panose="020B0604020202020204" charset="0"/>
              </a:rPr>
              <a:t>Credit card repayment consistency</a:t>
            </a:r>
          </a:p>
        </p:txBody>
      </p:sp>
    </p:spTree>
    <p:extLst>
      <p:ext uri="{BB962C8B-B14F-4D97-AF65-F5344CB8AC3E}">
        <p14:creationId xmlns:p14="http://schemas.microsoft.com/office/powerpoint/2010/main" val="337474804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C5D6CA"/>
        </a:solidFill>
        <a:effectLst/>
      </p:bgPr>
    </p:bg>
    <p:spTree>
      <p:nvGrpSpPr>
        <p:cNvPr id="1" name="">
          <a:extLst>
            <a:ext uri="{FF2B5EF4-FFF2-40B4-BE49-F238E27FC236}">
              <a16:creationId xmlns:a16="http://schemas.microsoft.com/office/drawing/2014/main" id="{0DF9A5AB-5AB8-F2AD-5EEF-6DB466FD3C80}"/>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320E5F45-77F8-B87F-D96C-C9CC64D1F64D}"/>
              </a:ext>
            </a:extLst>
          </p:cNvPr>
          <p:cNvGrpSpPr/>
          <p:nvPr/>
        </p:nvGrpSpPr>
        <p:grpSpPr>
          <a:xfrm>
            <a:off x="0" y="9497082"/>
            <a:ext cx="18292543" cy="787203"/>
            <a:chOff x="0" y="0"/>
            <a:chExt cx="24390058" cy="1049604"/>
          </a:xfrm>
        </p:grpSpPr>
        <p:sp>
          <p:nvSpPr>
            <p:cNvPr id="3" name="Freeform 3">
              <a:extLst>
                <a:ext uri="{FF2B5EF4-FFF2-40B4-BE49-F238E27FC236}">
                  <a16:creationId xmlns:a16="http://schemas.microsoft.com/office/drawing/2014/main" id="{E1B1975C-C6E3-E078-E1B5-67455C497C82}"/>
                </a:ext>
              </a:extLst>
            </p:cNvPr>
            <p:cNvSpPr/>
            <p:nvPr/>
          </p:nvSpPr>
          <p:spPr>
            <a:xfrm>
              <a:off x="0" y="0"/>
              <a:ext cx="24390096" cy="1049655"/>
            </a:xfrm>
            <a:custGeom>
              <a:avLst/>
              <a:gdLst/>
              <a:ahLst/>
              <a:cxnLst/>
              <a:rect l="l" t="t" r="r" b="b"/>
              <a:pathLst>
                <a:path w="24390096" h="1049655">
                  <a:moveTo>
                    <a:pt x="0" y="0"/>
                  </a:moveTo>
                  <a:lnTo>
                    <a:pt x="24390096" y="0"/>
                  </a:lnTo>
                  <a:lnTo>
                    <a:pt x="24390096" y="1049655"/>
                  </a:lnTo>
                  <a:lnTo>
                    <a:pt x="0" y="1049655"/>
                  </a:lnTo>
                  <a:close/>
                </a:path>
              </a:pathLst>
            </a:custGeom>
            <a:solidFill>
              <a:srgbClr val="348E90"/>
            </a:solidFill>
          </p:spPr>
          <p:txBody>
            <a:bodyPr/>
            <a:lstStyle/>
            <a:p>
              <a:endParaRPr lang="en-IN"/>
            </a:p>
          </p:txBody>
        </p:sp>
      </p:grpSp>
      <p:sp>
        <p:nvSpPr>
          <p:cNvPr id="4" name="Rectangle 3">
            <a:extLst>
              <a:ext uri="{FF2B5EF4-FFF2-40B4-BE49-F238E27FC236}">
                <a16:creationId xmlns:a16="http://schemas.microsoft.com/office/drawing/2014/main" id="{2F8728A3-468A-7965-8025-FC40417AA6A4}"/>
              </a:ext>
            </a:extLst>
          </p:cNvPr>
          <p:cNvSpPr/>
          <p:nvPr/>
        </p:nvSpPr>
        <p:spPr>
          <a:xfrm>
            <a:off x="15544800" y="0"/>
            <a:ext cx="1143000" cy="1823056"/>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D8CEABC8-A80C-1874-A94E-C9B1AF443607}"/>
              </a:ext>
            </a:extLst>
          </p:cNvPr>
          <p:cNvSpPr txBox="1"/>
          <p:nvPr/>
        </p:nvSpPr>
        <p:spPr>
          <a:xfrm>
            <a:off x="5562600" y="4635668"/>
            <a:ext cx="7162800" cy="1015663"/>
          </a:xfrm>
          <a:prstGeom prst="rect">
            <a:avLst/>
          </a:prstGeom>
          <a:noFill/>
        </p:spPr>
        <p:txBody>
          <a:bodyPr wrap="square">
            <a:spAutoFit/>
          </a:bodyPr>
          <a:lstStyle/>
          <a:p>
            <a:r>
              <a:rPr lang="en-IN" sz="6000" b="1" dirty="0">
                <a:latin typeface="Inter" panose="020B0604020202020204" charset="0"/>
                <a:cs typeface="Inter" panose="020B0604020202020204" charset="0"/>
              </a:rPr>
              <a:t>Dashboard Planning</a:t>
            </a:r>
          </a:p>
        </p:txBody>
      </p:sp>
    </p:spTree>
    <p:extLst>
      <p:ext uri="{BB962C8B-B14F-4D97-AF65-F5344CB8AC3E}">
        <p14:creationId xmlns:p14="http://schemas.microsoft.com/office/powerpoint/2010/main" val="222799696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B6871C1-31B5-C4D9-D487-CF6813AF138A}"/>
              </a:ext>
            </a:extLst>
          </p:cNvPr>
          <p:cNvSpPr/>
          <p:nvPr/>
        </p:nvSpPr>
        <p:spPr>
          <a:xfrm>
            <a:off x="150878" y="89940"/>
            <a:ext cx="2084831" cy="1309092"/>
          </a:xfrm>
          <a:prstGeom prst="rect">
            <a:avLst/>
          </a:prstGeom>
          <a:solidFill>
            <a:srgbClr val="C5D6CA"/>
          </a:solidFill>
        </p:spPr>
        <p:style>
          <a:lnRef idx="0">
            <a:schemeClr val="accent1"/>
          </a:lnRef>
          <a:fillRef idx="3">
            <a:schemeClr val="accent1"/>
          </a:fillRef>
          <a:effectRef idx="3">
            <a:schemeClr val="accent1"/>
          </a:effectRef>
          <a:fontRef idx="minor">
            <a:schemeClr val="lt1"/>
          </a:fontRef>
        </p:style>
        <p:txBody>
          <a:bodyPr rtlCol="0" anchor="ctr"/>
          <a:lstStyle/>
          <a:p>
            <a:pPr algn="ctr"/>
            <a:endParaRPr lang="en-IN" sz="2700"/>
          </a:p>
        </p:txBody>
      </p:sp>
      <p:sp>
        <p:nvSpPr>
          <p:cNvPr id="3" name="Rectangle 2">
            <a:extLst>
              <a:ext uri="{FF2B5EF4-FFF2-40B4-BE49-F238E27FC236}">
                <a16:creationId xmlns:a16="http://schemas.microsoft.com/office/drawing/2014/main" id="{FFDA095F-A97B-CEE2-BA02-146E0D24A534}"/>
              </a:ext>
            </a:extLst>
          </p:cNvPr>
          <p:cNvSpPr/>
          <p:nvPr/>
        </p:nvSpPr>
        <p:spPr>
          <a:xfrm>
            <a:off x="2500696" y="89940"/>
            <a:ext cx="11804753" cy="1309092"/>
          </a:xfrm>
          <a:prstGeom prst="rect">
            <a:avLst/>
          </a:prstGeom>
          <a:solidFill>
            <a:srgbClr val="348E90"/>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7000" b="1" dirty="0">
                <a:solidFill>
                  <a:schemeClr val="bg1"/>
                </a:solidFill>
                <a:latin typeface="Inter" panose="020B0604020202020204" charset="0"/>
                <a:cs typeface="Inter" panose="020B0604020202020204" charset="0"/>
              </a:rPr>
              <a:t>Executive Dashboard</a:t>
            </a:r>
            <a:endParaRPr lang="en-IN" sz="7000" b="1" dirty="0">
              <a:solidFill>
                <a:schemeClr val="bg1"/>
              </a:solidFill>
              <a:latin typeface="Inter" panose="020B0604020202020204" charset="0"/>
              <a:cs typeface="Inter" panose="020B0604020202020204" charset="0"/>
            </a:endParaRPr>
          </a:p>
        </p:txBody>
      </p:sp>
      <p:sp>
        <p:nvSpPr>
          <p:cNvPr id="4" name="Rectangle 3">
            <a:extLst>
              <a:ext uri="{FF2B5EF4-FFF2-40B4-BE49-F238E27FC236}">
                <a16:creationId xmlns:a16="http://schemas.microsoft.com/office/drawing/2014/main" id="{55C05DFA-8C73-E9FA-5BC0-2067E0448589}"/>
              </a:ext>
            </a:extLst>
          </p:cNvPr>
          <p:cNvSpPr/>
          <p:nvPr/>
        </p:nvSpPr>
        <p:spPr>
          <a:xfrm>
            <a:off x="14570435" y="89940"/>
            <a:ext cx="3424956" cy="1309092"/>
          </a:xfrm>
          <a:prstGeom prst="rect">
            <a:avLst/>
          </a:prstGeom>
          <a:solidFill>
            <a:srgbClr val="C5D6CA"/>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2700" dirty="0">
                <a:solidFill>
                  <a:schemeClr val="tx1"/>
                </a:solidFill>
              </a:rPr>
              <a:t>Navigation</a:t>
            </a:r>
            <a:endParaRPr lang="en-IN" sz="2700" dirty="0">
              <a:solidFill>
                <a:schemeClr val="tx1"/>
              </a:solidFill>
            </a:endParaRPr>
          </a:p>
        </p:txBody>
      </p:sp>
      <p:sp>
        <p:nvSpPr>
          <p:cNvPr id="5" name="Rectangle 4">
            <a:extLst>
              <a:ext uri="{FF2B5EF4-FFF2-40B4-BE49-F238E27FC236}">
                <a16:creationId xmlns:a16="http://schemas.microsoft.com/office/drawing/2014/main" id="{9C2AD059-10E2-F2CF-A1AE-AC1CBE63422C}"/>
              </a:ext>
            </a:extLst>
          </p:cNvPr>
          <p:cNvSpPr/>
          <p:nvPr/>
        </p:nvSpPr>
        <p:spPr>
          <a:xfrm>
            <a:off x="2394820" y="1564548"/>
            <a:ext cx="2558180" cy="1486950"/>
          </a:xfrm>
          <a:prstGeom prst="rect">
            <a:avLst/>
          </a:prstGeom>
          <a:solidFill>
            <a:srgbClr val="C5D6CA"/>
          </a:solidFill>
          <a:ln>
            <a:solidFill>
              <a:schemeClr val="bg1"/>
            </a:solid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n-IN" sz="2500" dirty="0">
                <a:solidFill>
                  <a:schemeClr val="tx1"/>
                </a:solidFill>
                <a:latin typeface="Inter" panose="020B0604020202020204" charset="0"/>
                <a:cs typeface="Inter" panose="020B0604020202020204" charset="0"/>
              </a:rPr>
              <a:t>Total Customers</a:t>
            </a:r>
          </a:p>
        </p:txBody>
      </p:sp>
      <p:sp>
        <p:nvSpPr>
          <p:cNvPr id="6" name="Rectangle 5">
            <a:extLst>
              <a:ext uri="{FF2B5EF4-FFF2-40B4-BE49-F238E27FC236}">
                <a16:creationId xmlns:a16="http://schemas.microsoft.com/office/drawing/2014/main" id="{3B48884D-DF59-9840-2FB4-B87FDCDEEF44}"/>
              </a:ext>
            </a:extLst>
          </p:cNvPr>
          <p:cNvSpPr/>
          <p:nvPr/>
        </p:nvSpPr>
        <p:spPr>
          <a:xfrm>
            <a:off x="150875" y="1614344"/>
            <a:ext cx="2084831" cy="7781116"/>
          </a:xfrm>
          <a:prstGeom prst="rect">
            <a:avLst/>
          </a:prstGeom>
          <a:solidFill>
            <a:srgbClr val="C5D6CA"/>
          </a:solidFill>
        </p:spPr>
        <p:style>
          <a:lnRef idx="0">
            <a:schemeClr val="accent1"/>
          </a:lnRef>
          <a:fillRef idx="3">
            <a:schemeClr val="accent1"/>
          </a:fillRef>
          <a:effectRef idx="3">
            <a:schemeClr val="accent1"/>
          </a:effectRef>
          <a:fontRef idx="minor">
            <a:schemeClr val="lt1"/>
          </a:fontRef>
        </p:style>
        <p:txBody>
          <a:bodyPr rtlCol="0" anchor="ctr"/>
          <a:lstStyle/>
          <a:p>
            <a:pPr marL="342900" indent="-342900">
              <a:buFont typeface="Arial" panose="020B0604020202020204" pitchFamily="34" charset="0"/>
              <a:buChar char="•"/>
            </a:pPr>
            <a:r>
              <a:rPr lang="en-IN" sz="2500" dirty="0">
                <a:solidFill>
                  <a:schemeClr val="tx1"/>
                </a:solidFill>
                <a:latin typeface="Inter" panose="020B0604020202020204" charset="0"/>
                <a:cs typeface="Inter" panose="020B0604020202020204" charset="0"/>
              </a:rPr>
              <a:t>Gender</a:t>
            </a:r>
          </a:p>
          <a:p>
            <a:pPr marL="342900" indent="-342900">
              <a:buFont typeface="Arial" panose="020B0604020202020204" pitchFamily="34" charset="0"/>
              <a:buChar char="•"/>
            </a:pPr>
            <a:r>
              <a:rPr lang="en-IN" sz="2500" dirty="0">
                <a:solidFill>
                  <a:schemeClr val="tx1"/>
                </a:solidFill>
                <a:latin typeface="Inter" panose="020B0604020202020204" charset="0"/>
                <a:cs typeface="Inter" panose="020B0604020202020204" charset="0"/>
              </a:rPr>
              <a:t>Occupation</a:t>
            </a:r>
          </a:p>
          <a:p>
            <a:pPr marL="342900" indent="-342900">
              <a:buFont typeface="Arial" panose="020B0604020202020204" pitchFamily="34" charset="0"/>
              <a:buChar char="•"/>
            </a:pPr>
            <a:r>
              <a:rPr lang="en-IN" sz="2500" dirty="0">
                <a:solidFill>
                  <a:schemeClr val="tx1"/>
                </a:solidFill>
                <a:latin typeface="Inter" panose="020B0604020202020204" charset="0"/>
                <a:cs typeface="Inter" panose="020B0604020202020204" charset="0"/>
              </a:rPr>
              <a:t>Income Range</a:t>
            </a:r>
          </a:p>
          <a:p>
            <a:pPr marL="342900" indent="-342900">
              <a:buFont typeface="Arial" panose="020B0604020202020204" pitchFamily="34" charset="0"/>
              <a:buChar char="•"/>
            </a:pPr>
            <a:r>
              <a:rPr lang="en-IN" sz="2500" dirty="0">
                <a:solidFill>
                  <a:schemeClr val="tx1"/>
                </a:solidFill>
                <a:latin typeface="Inter" panose="020B0604020202020204" charset="0"/>
                <a:cs typeface="Inter" panose="020B0604020202020204" charset="0"/>
              </a:rPr>
              <a:t>Loan Type</a:t>
            </a:r>
          </a:p>
          <a:p>
            <a:pPr marL="342900" indent="-342900">
              <a:buFont typeface="Arial" panose="020B0604020202020204" pitchFamily="34" charset="0"/>
              <a:buChar char="•"/>
            </a:pPr>
            <a:r>
              <a:rPr lang="en-IN" sz="2500" dirty="0">
                <a:solidFill>
                  <a:schemeClr val="tx1"/>
                </a:solidFill>
                <a:latin typeface="Inter" panose="020B0604020202020204" charset="0"/>
                <a:cs typeface="Inter" panose="020B0604020202020204" charset="0"/>
              </a:rPr>
              <a:t>Region</a:t>
            </a:r>
          </a:p>
        </p:txBody>
      </p:sp>
      <p:sp>
        <p:nvSpPr>
          <p:cNvPr id="8" name="Rectangle 7">
            <a:extLst>
              <a:ext uri="{FF2B5EF4-FFF2-40B4-BE49-F238E27FC236}">
                <a16:creationId xmlns:a16="http://schemas.microsoft.com/office/drawing/2014/main" id="{B2F55EFA-2022-E398-7268-9E6CE1736FA5}"/>
              </a:ext>
            </a:extLst>
          </p:cNvPr>
          <p:cNvSpPr/>
          <p:nvPr/>
        </p:nvSpPr>
        <p:spPr>
          <a:xfrm>
            <a:off x="2386582" y="6427632"/>
            <a:ext cx="7824218" cy="2967828"/>
          </a:xfrm>
          <a:prstGeom prst="rect">
            <a:avLst/>
          </a:prstGeom>
          <a:solidFill>
            <a:srgbClr val="C5D6CA"/>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IN" sz="2500" dirty="0">
                <a:solidFill>
                  <a:schemeClr val="tx1"/>
                </a:solidFill>
                <a:latin typeface="Inter" panose="020B0604020202020204" charset="0"/>
                <a:cs typeface="Inter" panose="020B0604020202020204" charset="0"/>
              </a:rPr>
              <a:t>Monthly default trend</a:t>
            </a:r>
          </a:p>
          <a:p>
            <a:pPr algn="ctr"/>
            <a:r>
              <a:rPr lang="en-IN" sz="2500" dirty="0">
                <a:solidFill>
                  <a:schemeClr val="tx1"/>
                </a:solidFill>
                <a:latin typeface="Inter" panose="020B0604020202020204" charset="0"/>
                <a:cs typeface="Inter" panose="020B0604020202020204" charset="0"/>
              </a:rPr>
              <a:t>(Line Chart)</a:t>
            </a:r>
          </a:p>
          <a:p>
            <a:pPr algn="ctr"/>
            <a:endParaRPr lang="en-IN" sz="2500" dirty="0">
              <a:solidFill>
                <a:schemeClr val="tx1"/>
              </a:solidFill>
              <a:latin typeface="Inter" panose="020B0604020202020204" charset="0"/>
              <a:cs typeface="Inter" panose="020B0604020202020204" charset="0"/>
            </a:endParaRPr>
          </a:p>
          <a:p>
            <a:pPr algn="ctr"/>
            <a:endParaRPr lang="en-IN" sz="2500" dirty="0">
              <a:solidFill>
                <a:schemeClr val="tx1"/>
              </a:solidFill>
              <a:latin typeface="Inter" panose="020B0604020202020204" charset="0"/>
              <a:cs typeface="Inter" panose="020B0604020202020204" charset="0"/>
            </a:endParaRPr>
          </a:p>
          <a:p>
            <a:pPr algn="ctr"/>
            <a:endParaRPr lang="en-IN" sz="2500" dirty="0">
              <a:solidFill>
                <a:schemeClr val="tx1"/>
              </a:solidFill>
              <a:latin typeface="Inter" panose="020B0604020202020204" charset="0"/>
              <a:cs typeface="Inter" panose="020B0604020202020204" charset="0"/>
            </a:endParaRPr>
          </a:p>
        </p:txBody>
      </p:sp>
      <p:sp>
        <p:nvSpPr>
          <p:cNvPr id="10" name="Rectangle 9">
            <a:extLst>
              <a:ext uri="{FF2B5EF4-FFF2-40B4-BE49-F238E27FC236}">
                <a16:creationId xmlns:a16="http://schemas.microsoft.com/office/drawing/2014/main" id="{4FED1AA5-666C-0824-5FF4-77A42D0A20D5}"/>
              </a:ext>
            </a:extLst>
          </p:cNvPr>
          <p:cNvSpPr/>
          <p:nvPr/>
        </p:nvSpPr>
        <p:spPr>
          <a:xfrm>
            <a:off x="10515600" y="3149958"/>
            <a:ext cx="7479451" cy="3141414"/>
          </a:xfrm>
          <a:prstGeom prst="rect">
            <a:avLst/>
          </a:prstGeom>
          <a:solidFill>
            <a:srgbClr val="C5D6CA"/>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IN" sz="2500" dirty="0">
                <a:solidFill>
                  <a:schemeClr val="tx1"/>
                </a:solidFill>
                <a:latin typeface="Inter" panose="020B0604020202020204" charset="0"/>
                <a:cs typeface="Inter" panose="020B0604020202020204" charset="0"/>
              </a:rPr>
              <a:t>Default by occupation</a:t>
            </a:r>
          </a:p>
          <a:p>
            <a:pPr algn="ctr"/>
            <a:r>
              <a:rPr lang="en-IN" sz="2500" dirty="0">
                <a:solidFill>
                  <a:schemeClr val="tx1"/>
                </a:solidFill>
                <a:latin typeface="Inter" panose="020B0604020202020204" charset="0"/>
                <a:cs typeface="Inter" panose="020B0604020202020204" charset="0"/>
              </a:rPr>
              <a:t>(Bar Chart)</a:t>
            </a:r>
          </a:p>
        </p:txBody>
      </p:sp>
      <p:sp>
        <p:nvSpPr>
          <p:cNvPr id="13" name="Rectangle 12">
            <a:extLst>
              <a:ext uri="{FF2B5EF4-FFF2-40B4-BE49-F238E27FC236}">
                <a16:creationId xmlns:a16="http://schemas.microsoft.com/office/drawing/2014/main" id="{FDF18617-7CA9-D188-7DBD-09D00D45A8EA}"/>
              </a:ext>
            </a:extLst>
          </p:cNvPr>
          <p:cNvSpPr/>
          <p:nvPr/>
        </p:nvSpPr>
        <p:spPr>
          <a:xfrm>
            <a:off x="2394820" y="3217014"/>
            <a:ext cx="7815980" cy="3145686"/>
          </a:xfrm>
          <a:prstGeom prst="rect">
            <a:avLst/>
          </a:prstGeom>
          <a:solidFill>
            <a:srgbClr val="C5D6CA"/>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IN" sz="2500" dirty="0">
                <a:solidFill>
                  <a:schemeClr val="tx1"/>
                </a:solidFill>
                <a:latin typeface="Inter" panose="020B0604020202020204" charset="0"/>
                <a:cs typeface="Inter" panose="020B0604020202020204" charset="0"/>
              </a:rPr>
              <a:t>Default distribution</a:t>
            </a:r>
          </a:p>
          <a:p>
            <a:pPr algn="ctr"/>
            <a:r>
              <a:rPr lang="en-IN" sz="2500" dirty="0">
                <a:solidFill>
                  <a:schemeClr val="tx1"/>
                </a:solidFill>
                <a:latin typeface="Inter" panose="020B0604020202020204" charset="0"/>
                <a:cs typeface="Inter" panose="020B0604020202020204" charset="0"/>
              </a:rPr>
              <a:t>(Donut Chart)</a:t>
            </a:r>
          </a:p>
        </p:txBody>
      </p:sp>
      <p:sp>
        <p:nvSpPr>
          <p:cNvPr id="14" name="Rectangle 13">
            <a:extLst>
              <a:ext uri="{FF2B5EF4-FFF2-40B4-BE49-F238E27FC236}">
                <a16:creationId xmlns:a16="http://schemas.microsoft.com/office/drawing/2014/main" id="{084DF94D-23A2-54F1-A7E6-5AF77FF21E57}"/>
              </a:ext>
            </a:extLst>
          </p:cNvPr>
          <p:cNvSpPr/>
          <p:nvPr/>
        </p:nvSpPr>
        <p:spPr>
          <a:xfrm>
            <a:off x="10515600" y="6469054"/>
            <a:ext cx="7444440" cy="3022242"/>
          </a:xfrm>
          <a:prstGeom prst="rect">
            <a:avLst/>
          </a:prstGeom>
          <a:solidFill>
            <a:srgbClr val="C5D6CA"/>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IN" sz="2500" dirty="0">
                <a:solidFill>
                  <a:schemeClr val="tx1"/>
                </a:solidFill>
                <a:latin typeface="Inter" panose="020B0604020202020204" charset="0"/>
                <a:cs typeface="Inter" panose="020B0604020202020204" charset="0"/>
              </a:rPr>
              <a:t>Risk concentration</a:t>
            </a:r>
          </a:p>
          <a:p>
            <a:pPr algn="ctr"/>
            <a:r>
              <a:rPr lang="en-IN" sz="2500" dirty="0">
                <a:solidFill>
                  <a:schemeClr val="tx1"/>
                </a:solidFill>
                <a:latin typeface="Inter" panose="020B0604020202020204" charset="0"/>
                <a:cs typeface="Inter" panose="020B0604020202020204" charset="0"/>
              </a:rPr>
              <a:t>(Heatmap)</a:t>
            </a:r>
          </a:p>
        </p:txBody>
      </p:sp>
      <p:pic>
        <p:nvPicPr>
          <p:cNvPr id="16" name="Picture 15" descr="A green square with white outline&#10;&#10;AI-generated content may be incorrect.">
            <a:extLst>
              <a:ext uri="{FF2B5EF4-FFF2-40B4-BE49-F238E27FC236}">
                <a16:creationId xmlns:a16="http://schemas.microsoft.com/office/drawing/2014/main" id="{F94C9DF8-A4B9-4F7A-C280-AFB4A00A96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3775" y="305252"/>
            <a:ext cx="1399029" cy="878469"/>
          </a:xfrm>
          <a:prstGeom prst="rect">
            <a:avLst/>
          </a:prstGeom>
        </p:spPr>
      </p:pic>
      <p:sp>
        <p:nvSpPr>
          <p:cNvPr id="7" name="Rectangle 6">
            <a:extLst>
              <a:ext uri="{FF2B5EF4-FFF2-40B4-BE49-F238E27FC236}">
                <a16:creationId xmlns:a16="http://schemas.microsoft.com/office/drawing/2014/main" id="{0C5B5C1C-7314-52FF-B496-B46365380F59}"/>
              </a:ext>
            </a:extLst>
          </p:cNvPr>
          <p:cNvSpPr/>
          <p:nvPr/>
        </p:nvSpPr>
        <p:spPr>
          <a:xfrm>
            <a:off x="5112114" y="1564548"/>
            <a:ext cx="2558180" cy="1486950"/>
          </a:xfrm>
          <a:prstGeom prst="rect">
            <a:avLst/>
          </a:prstGeom>
          <a:solidFill>
            <a:srgbClr val="C5D6CA"/>
          </a:solidFill>
          <a:ln>
            <a:solidFill>
              <a:schemeClr val="bg1"/>
            </a:solid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n-IN" sz="2500" dirty="0">
                <a:solidFill>
                  <a:schemeClr val="tx1"/>
                </a:solidFill>
                <a:latin typeface="Inter" panose="020B0604020202020204" charset="0"/>
                <a:cs typeface="Inter" panose="020B0604020202020204" charset="0"/>
              </a:rPr>
              <a:t>Default Rate %</a:t>
            </a:r>
          </a:p>
        </p:txBody>
      </p:sp>
      <p:sp>
        <p:nvSpPr>
          <p:cNvPr id="9" name="Rectangle 8">
            <a:extLst>
              <a:ext uri="{FF2B5EF4-FFF2-40B4-BE49-F238E27FC236}">
                <a16:creationId xmlns:a16="http://schemas.microsoft.com/office/drawing/2014/main" id="{38C06024-CB7D-AC81-B28C-6D7F802B1BF5}"/>
              </a:ext>
            </a:extLst>
          </p:cNvPr>
          <p:cNvSpPr/>
          <p:nvPr/>
        </p:nvSpPr>
        <p:spPr>
          <a:xfrm>
            <a:off x="7848600" y="1522950"/>
            <a:ext cx="2715951" cy="1486950"/>
          </a:xfrm>
          <a:prstGeom prst="rect">
            <a:avLst/>
          </a:prstGeom>
          <a:solidFill>
            <a:srgbClr val="C5D6CA"/>
          </a:solidFill>
          <a:ln>
            <a:solidFill>
              <a:schemeClr val="bg1"/>
            </a:solid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n-IN" sz="2500" dirty="0">
                <a:solidFill>
                  <a:schemeClr val="tx1"/>
                </a:solidFill>
                <a:latin typeface="Inter" panose="020B0604020202020204" charset="0"/>
                <a:cs typeface="Inter" panose="020B0604020202020204" charset="0"/>
              </a:rPr>
              <a:t>Total Loan Amount</a:t>
            </a:r>
          </a:p>
        </p:txBody>
      </p:sp>
      <p:sp>
        <p:nvSpPr>
          <p:cNvPr id="11" name="Rectangle 10">
            <a:extLst>
              <a:ext uri="{FF2B5EF4-FFF2-40B4-BE49-F238E27FC236}">
                <a16:creationId xmlns:a16="http://schemas.microsoft.com/office/drawing/2014/main" id="{5D5757AF-FC30-8671-C6B4-EF977A2B2F52}"/>
              </a:ext>
            </a:extLst>
          </p:cNvPr>
          <p:cNvSpPr/>
          <p:nvPr/>
        </p:nvSpPr>
        <p:spPr>
          <a:xfrm>
            <a:off x="10744200" y="1487123"/>
            <a:ext cx="2286000" cy="1486950"/>
          </a:xfrm>
          <a:prstGeom prst="rect">
            <a:avLst/>
          </a:prstGeom>
          <a:solidFill>
            <a:srgbClr val="C5D6CA"/>
          </a:solidFill>
          <a:ln>
            <a:solidFill>
              <a:schemeClr val="bg1"/>
            </a:solid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n-IN" sz="2500" dirty="0">
                <a:solidFill>
                  <a:schemeClr val="tx1"/>
                </a:solidFill>
                <a:latin typeface="Inter" panose="020B0604020202020204" charset="0"/>
                <a:cs typeface="Inter" panose="020B0604020202020204" charset="0"/>
              </a:rPr>
              <a:t>Average Income</a:t>
            </a:r>
          </a:p>
        </p:txBody>
      </p:sp>
      <p:sp>
        <p:nvSpPr>
          <p:cNvPr id="12" name="Rectangle 11">
            <a:extLst>
              <a:ext uri="{FF2B5EF4-FFF2-40B4-BE49-F238E27FC236}">
                <a16:creationId xmlns:a16="http://schemas.microsoft.com/office/drawing/2014/main" id="{CDA0FDA0-84C8-D5FA-961F-6AC99A25BD00}"/>
              </a:ext>
            </a:extLst>
          </p:cNvPr>
          <p:cNvSpPr/>
          <p:nvPr/>
        </p:nvSpPr>
        <p:spPr>
          <a:xfrm>
            <a:off x="13209849" y="1487123"/>
            <a:ext cx="2286183" cy="1486950"/>
          </a:xfrm>
          <a:prstGeom prst="rect">
            <a:avLst/>
          </a:prstGeom>
          <a:solidFill>
            <a:srgbClr val="C5D6CA"/>
          </a:solidFill>
          <a:ln>
            <a:solidFill>
              <a:schemeClr val="bg1"/>
            </a:solid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n-IN" sz="2500">
                <a:solidFill>
                  <a:schemeClr val="tx1"/>
                </a:solidFill>
                <a:latin typeface="Inter" panose="020B0604020202020204" charset="0"/>
                <a:cs typeface="Inter" panose="020B0604020202020204" charset="0"/>
              </a:rPr>
              <a:t>,, High-Risk Customers</a:t>
            </a:r>
            <a:endParaRPr lang="en-IN" sz="2500" dirty="0">
              <a:solidFill>
                <a:schemeClr val="tx1"/>
              </a:solidFill>
              <a:latin typeface="Inter" panose="020B0604020202020204" charset="0"/>
              <a:cs typeface="Inter" panose="020B0604020202020204" charset="0"/>
            </a:endParaRPr>
          </a:p>
        </p:txBody>
      </p:sp>
      <p:sp>
        <p:nvSpPr>
          <p:cNvPr id="15" name="Rectangle 14">
            <a:extLst>
              <a:ext uri="{FF2B5EF4-FFF2-40B4-BE49-F238E27FC236}">
                <a16:creationId xmlns:a16="http://schemas.microsoft.com/office/drawing/2014/main" id="{02A70AFD-BD26-4C04-711A-48067587BB1C}"/>
              </a:ext>
            </a:extLst>
          </p:cNvPr>
          <p:cNvSpPr/>
          <p:nvPr/>
        </p:nvSpPr>
        <p:spPr>
          <a:xfrm>
            <a:off x="15620817" y="1465761"/>
            <a:ext cx="2286183" cy="1486950"/>
          </a:xfrm>
          <a:prstGeom prst="rect">
            <a:avLst/>
          </a:prstGeom>
          <a:solidFill>
            <a:srgbClr val="C5D6CA"/>
          </a:solidFill>
          <a:ln>
            <a:solidFill>
              <a:schemeClr val="bg1"/>
            </a:solid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n-IN" sz="2500">
                <a:solidFill>
                  <a:schemeClr val="tx1"/>
                </a:solidFill>
                <a:latin typeface="Inter" panose="020B0604020202020204" charset="0"/>
                <a:cs typeface="Inter" panose="020B0604020202020204" charset="0"/>
              </a:rPr>
              <a:t>Approval vs Default Ratio</a:t>
            </a:r>
            <a:endParaRPr lang="en-IN" sz="2500" dirty="0">
              <a:solidFill>
                <a:schemeClr val="tx1"/>
              </a:solidFill>
              <a:latin typeface="Inter" panose="020B0604020202020204" charset="0"/>
              <a:cs typeface="Inter" panose="020B0604020202020204" charset="0"/>
            </a:endParaRPr>
          </a:p>
        </p:txBody>
      </p:sp>
    </p:spTree>
    <p:extLst>
      <p:ext uri="{BB962C8B-B14F-4D97-AF65-F5344CB8AC3E}">
        <p14:creationId xmlns:p14="http://schemas.microsoft.com/office/powerpoint/2010/main" val="266619179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5CBC55-48D8-D4CF-4EC6-332A8BAC71C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D366974-C2C4-E084-9C4E-7A64A773D6CB}"/>
              </a:ext>
            </a:extLst>
          </p:cNvPr>
          <p:cNvSpPr/>
          <p:nvPr/>
        </p:nvSpPr>
        <p:spPr>
          <a:xfrm>
            <a:off x="150878" y="89940"/>
            <a:ext cx="2084831" cy="1309092"/>
          </a:xfrm>
          <a:prstGeom prst="rect">
            <a:avLst/>
          </a:prstGeom>
          <a:solidFill>
            <a:srgbClr val="C5D6CA"/>
          </a:solidFill>
        </p:spPr>
        <p:style>
          <a:lnRef idx="0">
            <a:schemeClr val="accent1"/>
          </a:lnRef>
          <a:fillRef idx="3">
            <a:schemeClr val="accent1"/>
          </a:fillRef>
          <a:effectRef idx="3">
            <a:schemeClr val="accent1"/>
          </a:effectRef>
          <a:fontRef idx="minor">
            <a:schemeClr val="lt1"/>
          </a:fontRef>
        </p:style>
        <p:txBody>
          <a:bodyPr rtlCol="0" anchor="ctr"/>
          <a:lstStyle/>
          <a:p>
            <a:pPr algn="ctr"/>
            <a:endParaRPr lang="en-IN" sz="2700"/>
          </a:p>
        </p:txBody>
      </p:sp>
      <p:sp>
        <p:nvSpPr>
          <p:cNvPr id="3" name="Rectangle 2">
            <a:extLst>
              <a:ext uri="{FF2B5EF4-FFF2-40B4-BE49-F238E27FC236}">
                <a16:creationId xmlns:a16="http://schemas.microsoft.com/office/drawing/2014/main" id="{F62EFCBC-C414-C1D4-866A-707BEB109354}"/>
              </a:ext>
            </a:extLst>
          </p:cNvPr>
          <p:cNvSpPr/>
          <p:nvPr/>
        </p:nvSpPr>
        <p:spPr>
          <a:xfrm>
            <a:off x="2500696" y="89940"/>
            <a:ext cx="11804753" cy="1309092"/>
          </a:xfrm>
          <a:prstGeom prst="rect">
            <a:avLst/>
          </a:prstGeom>
          <a:solidFill>
            <a:srgbClr val="348E90"/>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IN" sz="7000" dirty="0">
                <a:latin typeface="Inter" panose="020B0604020202020204" charset="0"/>
                <a:cs typeface="Inter" panose="020B0604020202020204" charset="0"/>
              </a:rPr>
              <a:t>Risk Analyst Dashboard</a:t>
            </a:r>
            <a:endParaRPr lang="en-IN" sz="7000" b="1" dirty="0">
              <a:solidFill>
                <a:schemeClr val="bg1"/>
              </a:solidFill>
              <a:latin typeface="Inter" panose="020B0604020202020204" charset="0"/>
              <a:cs typeface="Inter" panose="020B0604020202020204" charset="0"/>
            </a:endParaRPr>
          </a:p>
        </p:txBody>
      </p:sp>
      <p:sp>
        <p:nvSpPr>
          <p:cNvPr id="4" name="Rectangle 3">
            <a:extLst>
              <a:ext uri="{FF2B5EF4-FFF2-40B4-BE49-F238E27FC236}">
                <a16:creationId xmlns:a16="http://schemas.microsoft.com/office/drawing/2014/main" id="{4A43DC41-F18B-BE94-5B91-A7458E32D388}"/>
              </a:ext>
            </a:extLst>
          </p:cNvPr>
          <p:cNvSpPr/>
          <p:nvPr/>
        </p:nvSpPr>
        <p:spPr>
          <a:xfrm>
            <a:off x="14570435" y="89940"/>
            <a:ext cx="3424956" cy="1309092"/>
          </a:xfrm>
          <a:prstGeom prst="rect">
            <a:avLst/>
          </a:prstGeom>
          <a:solidFill>
            <a:srgbClr val="C5D6CA"/>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2700" dirty="0">
                <a:solidFill>
                  <a:schemeClr val="tx1"/>
                </a:solidFill>
              </a:rPr>
              <a:t>Navigation</a:t>
            </a:r>
            <a:endParaRPr lang="en-IN" sz="2700" dirty="0">
              <a:solidFill>
                <a:schemeClr val="tx1"/>
              </a:solidFill>
            </a:endParaRPr>
          </a:p>
        </p:txBody>
      </p:sp>
      <p:sp>
        <p:nvSpPr>
          <p:cNvPr id="5" name="Rectangle 4">
            <a:extLst>
              <a:ext uri="{FF2B5EF4-FFF2-40B4-BE49-F238E27FC236}">
                <a16:creationId xmlns:a16="http://schemas.microsoft.com/office/drawing/2014/main" id="{47878BE4-4284-B62C-17AC-5A30CEFF3799}"/>
              </a:ext>
            </a:extLst>
          </p:cNvPr>
          <p:cNvSpPr/>
          <p:nvPr/>
        </p:nvSpPr>
        <p:spPr>
          <a:xfrm>
            <a:off x="2368295" y="1485326"/>
            <a:ext cx="4133090" cy="1486950"/>
          </a:xfrm>
          <a:prstGeom prst="rect">
            <a:avLst/>
          </a:prstGeom>
          <a:solidFill>
            <a:srgbClr val="C5D6CA"/>
          </a:solidFill>
          <a:ln>
            <a:solidFill>
              <a:schemeClr val="bg1"/>
            </a:solid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n-IN" sz="2500">
                <a:solidFill>
                  <a:schemeClr val="tx1"/>
                </a:solidFill>
                <a:latin typeface="Inter" panose="020B0604020202020204" charset="0"/>
                <a:cs typeface="Inter" panose="020B0604020202020204" charset="0"/>
              </a:rPr>
              <a:t>High-risk customer count</a:t>
            </a:r>
            <a:endParaRPr lang="en-IN" sz="2500" dirty="0">
              <a:solidFill>
                <a:schemeClr val="tx1"/>
              </a:solidFill>
              <a:latin typeface="Inter" panose="020B0604020202020204" charset="0"/>
              <a:cs typeface="Inter" panose="020B0604020202020204" charset="0"/>
            </a:endParaRPr>
          </a:p>
        </p:txBody>
      </p:sp>
      <p:sp>
        <p:nvSpPr>
          <p:cNvPr id="6" name="Rectangle 5">
            <a:extLst>
              <a:ext uri="{FF2B5EF4-FFF2-40B4-BE49-F238E27FC236}">
                <a16:creationId xmlns:a16="http://schemas.microsoft.com/office/drawing/2014/main" id="{222B1137-013D-63AA-D65D-A80BCA2E865C}"/>
              </a:ext>
            </a:extLst>
          </p:cNvPr>
          <p:cNvSpPr/>
          <p:nvPr/>
        </p:nvSpPr>
        <p:spPr>
          <a:xfrm>
            <a:off x="150875" y="1614344"/>
            <a:ext cx="2084831" cy="7781116"/>
          </a:xfrm>
          <a:prstGeom prst="rect">
            <a:avLst/>
          </a:prstGeom>
          <a:solidFill>
            <a:srgbClr val="C5D6CA"/>
          </a:solidFill>
        </p:spPr>
        <p:style>
          <a:lnRef idx="0">
            <a:schemeClr val="accent1"/>
          </a:lnRef>
          <a:fillRef idx="3">
            <a:schemeClr val="accent1"/>
          </a:fillRef>
          <a:effectRef idx="3">
            <a:schemeClr val="accent1"/>
          </a:effectRef>
          <a:fontRef idx="minor">
            <a:schemeClr val="lt1"/>
          </a:fontRef>
        </p:style>
        <p:txBody>
          <a:bodyPr rtlCol="0" anchor="ctr"/>
          <a:lstStyle/>
          <a:p>
            <a:pPr marL="342900" indent="-342900">
              <a:buFont typeface="Arial" panose="020B0604020202020204" pitchFamily="34" charset="0"/>
              <a:buChar char="•"/>
            </a:pPr>
            <a:r>
              <a:rPr lang="en-IN" sz="2500" dirty="0">
                <a:solidFill>
                  <a:schemeClr val="tx1"/>
                </a:solidFill>
                <a:latin typeface="Inter" panose="020B0604020202020204" charset="0"/>
                <a:cs typeface="Inter" panose="020B0604020202020204" charset="0"/>
              </a:rPr>
              <a:t>Credit status</a:t>
            </a:r>
          </a:p>
          <a:p>
            <a:pPr marL="342900" indent="-342900">
              <a:buFont typeface="Arial" panose="020B0604020202020204" pitchFamily="34" charset="0"/>
              <a:buChar char="•"/>
            </a:pPr>
            <a:r>
              <a:rPr lang="en-IN" sz="2500" dirty="0">
                <a:solidFill>
                  <a:schemeClr val="tx1"/>
                </a:solidFill>
                <a:latin typeface="Inter" panose="020B0604020202020204" charset="0"/>
                <a:cs typeface="Inter" panose="020B0604020202020204" charset="0"/>
              </a:rPr>
              <a:t>Loan type</a:t>
            </a:r>
          </a:p>
          <a:p>
            <a:pPr marL="342900" indent="-342900">
              <a:buFont typeface="Arial" panose="020B0604020202020204" pitchFamily="34" charset="0"/>
              <a:buChar char="•"/>
            </a:pPr>
            <a:r>
              <a:rPr lang="en-IN" sz="2500" dirty="0">
                <a:solidFill>
                  <a:schemeClr val="tx1"/>
                </a:solidFill>
                <a:latin typeface="Inter" panose="020B0604020202020204" charset="0"/>
                <a:cs typeface="Inter" panose="020B0604020202020204" charset="0"/>
              </a:rPr>
              <a:t>Default flag</a:t>
            </a:r>
          </a:p>
          <a:p>
            <a:pPr marL="342900" indent="-342900">
              <a:buFont typeface="Arial" panose="020B0604020202020204" pitchFamily="34" charset="0"/>
              <a:buChar char="•"/>
            </a:pPr>
            <a:r>
              <a:rPr lang="en-IN" sz="2500" dirty="0">
                <a:solidFill>
                  <a:schemeClr val="tx1"/>
                </a:solidFill>
                <a:latin typeface="Inter" panose="020B0604020202020204" charset="0"/>
                <a:cs typeface="Inter" panose="020B0604020202020204" charset="0"/>
              </a:rPr>
              <a:t>Credit range</a:t>
            </a:r>
          </a:p>
        </p:txBody>
      </p:sp>
      <p:sp>
        <p:nvSpPr>
          <p:cNvPr id="7" name="Rectangle 6">
            <a:extLst>
              <a:ext uri="{FF2B5EF4-FFF2-40B4-BE49-F238E27FC236}">
                <a16:creationId xmlns:a16="http://schemas.microsoft.com/office/drawing/2014/main" id="{7290ADEB-1361-47F4-6976-0ACAE74C2CC0}"/>
              </a:ext>
            </a:extLst>
          </p:cNvPr>
          <p:cNvSpPr/>
          <p:nvPr/>
        </p:nvSpPr>
        <p:spPr>
          <a:xfrm>
            <a:off x="2368295" y="3149958"/>
            <a:ext cx="4133090" cy="3145686"/>
          </a:xfrm>
          <a:prstGeom prst="rect">
            <a:avLst/>
          </a:prstGeom>
          <a:solidFill>
            <a:srgbClr val="C5D6CA"/>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IN" sz="2500" dirty="0">
                <a:solidFill>
                  <a:schemeClr val="tx1"/>
                </a:solidFill>
                <a:latin typeface="Inter" panose="020B0604020202020204" charset="0"/>
                <a:cs typeface="Inter" panose="020B0604020202020204" charset="0"/>
              </a:rPr>
              <a:t>Income vs Credit Risk</a:t>
            </a:r>
          </a:p>
          <a:p>
            <a:pPr algn="ctr"/>
            <a:r>
              <a:rPr lang="en-IN" sz="2500" dirty="0">
                <a:solidFill>
                  <a:schemeClr val="tx1"/>
                </a:solidFill>
                <a:latin typeface="Inter" panose="020B0604020202020204" charset="0"/>
                <a:cs typeface="Inter" panose="020B0604020202020204" charset="0"/>
              </a:rPr>
              <a:t>(Scatter Plot)</a:t>
            </a:r>
          </a:p>
        </p:txBody>
      </p:sp>
      <p:sp>
        <p:nvSpPr>
          <p:cNvPr id="8" name="Rectangle 7">
            <a:extLst>
              <a:ext uri="{FF2B5EF4-FFF2-40B4-BE49-F238E27FC236}">
                <a16:creationId xmlns:a16="http://schemas.microsoft.com/office/drawing/2014/main" id="{BAE05A33-C32B-1340-4573-A0CB022B48C8}"/>
              </a:ext>
            </a:extLst>
          </p:cNvPr>
          <p:cNvSpPr/>
          <p:nvPr/>
        </p:nvSpPr>
        <p:spPr>
          <a:xfrm>
            <a:off x="2386582" y="6427632"/>
            <a:ext cx="4133090" cy="2967828"/>
          </a:xfrm>
          <a:prstGeom prst="rect">
            <a:avLst/>
          </a:prstGeom>
          <a:solidFill>
            <a:srgbClr val="C5D6CA"/>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IN" sz="2500" dirty="0">
                <a:solidFill>
                  <a:schemeClr val="tx1"/>
                </a:solidFill>
                <a:latin typeface="Inter" panose="020B0604020202020204" charset="0"/>
                <a:cs typeface="Inter" panose="020B0604020202020204" charset="0"/>
              </a:rPr>
              <a:t>Payment delay frequency</a:t>
            </a:r>
          </a:p>
          <a:p>
            <a:pPr algn="ctr"/>
            <a:r>
              <a:rPr lang="en-IN" sz="2500" dirty="0">
                <a:solidFill>
                  <a:schemeClr val="tx1"/>
                </a:solidFill>
                <a:latin typeface="Inter" panose="020B0604020202020204" charset="0"/>
                <a:cs typeface="Inter" panose="020B0604020202020204" charset="0"/>
              </a:rPr>
              <a:t>(Histogram)</a:t>
            </a:r>
          </a:p>
        </p:txBody>
      </p:sp>
      <p:sp>
        <p:nvSpPr>
          <p:cNvPr id="10" name="Rectangle 9">
            <a:extLst>
              <a:ext uri="{FF2B5EF4-FFF2-40B4-BE49-F238E27FC236}">
                <a16:creationId xmlns:a16="http://schemas.microsoft.com/office/drawing/2014/main" id="{842820BC-564E-2FA2-598A-BE2968A2751D}"/>
              </a:ext>
            </a:extLst>
          </p:cNvPr>
          <p:cNvSpPr/>
          <p:nvPr/>
        </p:nvSpPr>
        <p:spPr>
          <a:xfrm>
            <a:off x="12961277" y="3149958"/>
            <a:ext cx="5033774" cy="3141414"/>
          </a:xfrm>
          <a:prstGeom prst="rect">
            <a:avLst/>
          </a:prstGeom>
          <a:solidFill>
            <a:srgbClr val="C5D6CA"/>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IN" sz="2500" dirty="0">
                <a:solidFill>
                  <a:schemeClr val="tx1"/>
                </a:solidFill>
                <a:latin typeface="Inter" panose="020B0604020202020204" charset="0"/>
                <a:cs typeface="Inter" panose="020B0604020202020204" charset="0"/>
              </a:rPr>
              <a:t>Default by loan type</a:t>
            </a:r>
          </a:p>
          <a:p>
            <a:pPr algn="ctr"/>
            <a:r>
              <a:rPr lang="en-IN" sz="2500" dirty="0">
                <a:solidFill>
                  <a:schemeClr val="tx1"/>
                </a:solidFill>
                <a:latin typeface="Inter" panose="020B0604020202020204" charset="0"/>
                <a:cs typeface="Inter" panose="020B0604020202020204" charset="0"/>
              </a:rPr>
              <a:t>(Stacked Bar)</a:t>
            </a:r>
          </a:p>
        </p:txBody>
      </p:sp>
      <p:sp>
        <p:nvSpPr>
          <p:cNvPr id="13" name="Rectangle 12">
            <a:extLst>
              <a:ext uri="{FF2B5EF4-FFF2-40B4-BE49-F238E27FC236}">
                <a16:creationId xmlns:a16="http://schemas.microsoft.com/office/drawing/2014/main" id="{B74CBB02-74C6-E96F-D263-BCF588FA4022}"/>
              </a:ext>
            </a:extLst>
          </p:cNvPr>
          <p:cNvSpPr/>
          <p:nvPr/>
        </p:nvSpPr>
        <p:spPr>
          <a:xfrm>
            <a:off x="6633974" y="3145686"/>
            <a:ext cx="6185573" cy="3145686"/>
          </a:xfrm>
          <a:prstGeom prst="rect">
            <a:avLst/>
          </a:prstGeom>
          <a:solidFill>
            <a:srgbClr val="C5D6CA"/>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IN" sz="2500" dirty="0">
                <a:solidFill>
                  <a:schemeClr val="tx1"/>
                </a:solidFill>
                <a:latin typeface="Inter" panose="020B0604020202020204" charset="0"/>
                <a:cs typeface="Inter" panose="020B0604020202020204" charset="0"/>
              </a:rPr>
              <a:t>Credit amount distribution</a:t>
            </a:r>
          </a:p>
          <a:p>
            <a:pPr algn="ctr"/>
            <a:r>
              <a:rPr lang="en-IN" sz="2500" dirty="0">
                <a:solidFill>
                  <a:schemeClr val="tx1"/>
                </a:solidFill>
                <a:latin typeface="Inter" panose="020B0604020202020204" charset="0"/>
                <a:cs typeface="Inter" panose="020B0604020202020204" charset="0"/>
              </a:rPr>
              <a:t>(Box Plot)</a:t>
            </a:r>
          </a:p>
        </p:txBody>
      </p:sp>
      <p:sp>
        <p:nvSpPr>
          <p:cNvPr id="14" name="Rectangle 13">
            <a:extLst>
              <a:ext uri="{FF2B5EF4-FFF2-40B4-BE49-F238E27FC236}">
                <a16:creationId xmlns:a16="http://schemas.microsoft.com/office/drawing/2014/main" id="{0172548E-FEAA-AA31-7706-1470A26CAF18}"/>
              </a:ext>
            </a:extLst>
          </p:cNvPr>
          <p:cNvSpPr/>
          <p:nvPr/>
        </p:nvSpPr>
        <p:spPr>
          <a:xfrm>
            <a:off x="6670547" y="6386934"/>
            <a:ext cx="11324503" cy="3022242"/>
          </a:xfrm>
          <a:prstGeom prst="rect">
            <a:avLst/>
          </a:prstGeom>
          <a:solidFill>
            <a:srgbClr val="C5D6CA"/>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IN" sz="2500" dirty="0">
                <a:solidFill>
                  <a:schemeClr val="tx1"/>
                </a:solidFill>
                <a:latin typeface="Inter" panose="020B0604020202020204" charset="0"/>
                <a:cs typeface="Inter" panose="020B0604020202020204" charset="0"/>
              </a:rPr>
              <a:t>Credit type exposure</a:t>
            </a:r>
          </a:p>
          <a:p>
            <a:pPr algn="ctr"/>
            <a:r>
              <a:rPr lang="en-IN" sz="2500" dirty="0">
                <a:solidFill>
                  <a:schemeClr val="tx1"/>
                </a:solidFill>
                <a:latin typeface="Inter" panose="020B0604020202020204" charset="0"/>
                <a:cs typeface="Inter" panose="020B0604020202020204" charset="0"/>
              </a:rPr>
              <a:t>(Tree Map)</a:t>
            </a:r>
          </a:p>
        </p:txBody>
      </p:sp>
      <p:pic>
        <p:nvPicPr>
          <p:cNvPr id="16" name="Picture 15" descr="A green square with white outline&#10;&#10;AI-generated content may be incorrect.">
            <a:extLst>
              <a:ext uri="{FF2B5EF4-FFF2-40B4-BE49-F238E27FC236}">
                <a16:creationId xmlns:a16="http://schemas.microsoft.com/office/drawing/2014/main" id="{8200B984-19F9-3F9E-CBDB-FDDC58680B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3775" y="305252"/>
            <a:ext cx="1399029" cy="878469"/>
          </a:xfrm>
          <a:prstGeom prst="rect">
            <a:avLst/>
          </a:prstGeom>
        </p:spPr>
      </p:pic>
      <p:sp>
        <p:nvSpPr>
          <p:cNvPr id="11" name="Rectangle 10">
            <a:extLst>
              <a:ext uri="{FF2B5EF4-FFF2-40B4-BE49-F238E27FC236}">
                <a16:creationId xmlns:a16="http://schemas.microsoft.com/office/drawing/2014/main" id="{9FBE36EC-2FA6-5999-D542-985E12593BC6}"/>
              </a:ext>
            </a:extLst>
          </p:cNvPr>
          <p:cNvSpPr/>
          <p:nvPr/>
        </p:nvSpPr>
        <p:spPr>
          <a:xfrm>
            <a:off x="6687310" y="1485326"/>
            <a:ext cx="3523490" cy="1486950"/>
          </a:xfrm>
          <a:prstGeom prst="rect">
            <a:avLst/>
          </a:prstGeom>
          <a:solidFill>
            <a:srgbClr val="C5D6CA"/>
          </a:solidFill>
          <a:ln>
            <a:solidFill>
              <a:schemeClr val="bg1"/>
            </a:solid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n-IN" sz="2500">
                <a:solidFill>
                  <a:schemeClr val="tx1"/>
                </a:solidFill>
                <a:latin typeface="Inter" panose="020B0604020202020204" charset="0"/>
                <a:cs typeface="Inter" panose="020B0604020202020204" charset="0"/>
              </a:rPr>
              <a:t>Average debt ratio</a:t>
            </a:r>
            <a:endParaRPr lang="en-IN" sz="2500" dirty="0">
              <a:solidFill>
                <a:schemeClr val="tx1"/>
              </a:solidFill>
              <a:latin typeface="Inter" panose="020B0604020202020204" charset="0"/>
              <a:cs typeface="Inter" panose="020B0604020202020204" charset="0"/>
            </a:endParaRPr>
          </a:p>
        </p:txBody>
      </p:sp>
      <p:sp>
        <p:nvSpPr>
          <p:cNvPr id="12" name="Rectangle 11">
            <a:extLst>
              <a:ext uri="{FF2B5EF4-FFF2-40B4-BE49-F238E27FC236}">
                <a16:creationId xmlns:a16="http://schemas.microsoft.com/office/drawing/2014/main" id="{F0B7BA57-12A2-4FFF-1450-D5E8D62FA6B6}"/>
              </a:ext>
            </a:extLst>
          </p:cNvPr>
          <p:cNvSpPr/>
          <p:nvPr/>
        </p:nvSpPr>
        <p:spPr>
          <a:xfrm>
            <a:off x="10363200" y="1485326"/>
            <a:ext cx="3523490" cy="1486950"/>
          </a:xfrm>
          <a:prstGeom prst="rect">
            <a:avLst/>
          </a:prstGeom>
          <a:solidFill>
            <a:srgbClr val="C5D6CA"/>
          </a:solidFill>
          <a:ln>
            <a:solidFill>
              <a:schemeClr val="bg1"/>
            </a:solid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n-IN" sz="2500">
                <a:solidFill>
                  <a:schemeClr val="tx1"/>
                </a:solidFill>
                <a:latin typeface="Inter" panose="020B0604020202020204" charset="0"/>
                <a:cs typeface="Inter" panose="020B0604020202020204" charset="0"/>
              </a:rPr>
              <a:t>Delayed payment percentage</a:t>
            </a:r>
            <a:endParaRPr lang="en-IN" sz="2500" dirty="0">
              <a:solidFill>
                <a:schemeClr val="tx1"/>
              </a:solidFill>
              <a:latin typeface="Inter" panose="020B0604020202020204" charset="0"/>
              <a:cs typeface="Inter" panose="020B0604020202020204" charset="0"/>
            </a:endParaRPr>
          </a:p>
        </p:txBody>
      </p:sp>
      <p:sp>
        <p:nvSpPr>
          <p:cNvPr id="15" name="Rectangle 14">
            <a:extLst>
              <a:ext uri="{FF2B5EF4-FFF2-40B4-BE49-F238E27FC236}">
                <a16:creationId xmlns:a16="http://schemas.microsoft.com/office/drawing/2014/main" id="{28249AC0-845E-C68A-2AA8-8D573B90C219}"/>
              </a:ext>
            </a:extLst>
          </p:cNvPr>
          <p:cNvSpPr/>
          <p:nvPr/>
        </p:nvSpPr>
        <p:spPr>
          <a:xfrm>
            <a:off x="14020800" y="1485326"/>
            <a:ext cx="3974250" cy="1486950"/>
          </a:xfrm>
          <a:prstGeom prst="rect">
            <a:avLst/>
          </a:prstGeom>
          <a:solidFill>
            <a:srgbClr val="C5D6CA"/>
          </a:solidFill>
          <a:ln>
            <a:solidFill>
              <a:schemeClr val="bg1"/>
            </a:solid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n-IN" sz="2500">
                <a:solidFill>
                  <a:schemeClr val="tx1"/>
                </a:solidFill>
                <a:latin typeface="Inter" panose="020B0604020202020204" charset="0"/>
                <a:cs typeface="Inter" panose="020B0604020202020204" charset="0"/>
              </a:rPr>
              <a:t>Active credit exposure</a:t>
            </a:r>
            <a:endParaRPr lang="en-IN" sz="2500" dirty="0">
              <a:solidFill>
                <a:schemeClr val="tx1"/>
              </a:solidFill>
              <a:latin typeface="Inter" panose="020B0604020202020204" charset="0"/>
              <a:cs typeface="Inter" panose="020B0604020202020204" charset="0"/>
            </a:endParaRPr>
          </a:p>
        </p:txBody>
      </p:sp>
    </p:spTree>
    <p:extLst>
      <p:ext uri="{BB962C8B-B14F-4D97-AF65-F5344CB8AC3E}">
        <p14:creationId xmlns:p14="http://schemas.microsoft.com/office/powerpoint/2010/main" val="225029041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F1EB27-2FC0-40E6-1C23-8AC28BC8A953}"/>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7B5E367-441F-7DCD-EE80-AD2F61AE9134}"/>
              </a:ext>
            </a:extLst>
          </p:cNvPr>
          <p:cNvSpPr/>
          <p:nvPr/>
        </p:nvSpPr>
        <p:spPr>
          <a:xfrm>
            <a:off x="150878" y="89940"/>
            <a:ext cx="2084831" cy="1309092"/>
          </a:xfrm>
          <a:prstGeom prst="rect">
            <a:avLst/>
          </a:prstGeom>
          <a:solidFill>
            <a:srgbClr val="C5D6CA"/>
          </a:solidFill>
        </p:spPr>
        <p:style>
          <a:lnRef idx="0">
            <a:schemeClr val="accent1"/>
          </a:lnRef>
          <a:fillRef idx="3">
            <a:schemeClr val="accent1"/>
          </a:fillRef>
          <a:effectRef idx="3">
            <a:schemeClr val="accent1"/>
          </a:effectRef>
          <a:fontRef idx="minor">
            <a:schemeClr val="lt1"/>
          </a:fontRef>
        </p:style>
        <p:txBody>
          <a:bodyPr rtlCol="0" anchor="ctr"/>
          <a:lstStyle/>
          <a:p>
            <a:pPr algn="ctr"/>
            <a:endParaRPr lang="en-IN" sz="2700"/>
          </a:p>
        </p:txBody>
      </p:sp>
      <p:sp>
        <p:nvSpPr>
          <p:cNvPr id="3" name="Rectangle 2">
            <a:extLst>
              <a:ext uri="{FF2B5EF4-FFF2-40B4-BE49-F238E27FC236}">
                <a16:creationId xmlns:a16="http://schemas.microsoft.com/office/drawing/2014/main" id="{5A2DF386-ED2F-10A5-4A9B-46301E064B8E}"/>
              </a:ext>
            </a:extLst>
          </p:cNvPr>
          <p:cNvSpPr/>
          <p:nvPr/>
        </p:nvSpPr>
        <p:spPr>
          <a:xfrm>
            <a:off x="2500696" y="89940"/>
            <a:ext cx="11804753" cy="1309092"/>
          </a:xfrm>
          <a:prstGeom prst="rect">
            <a:avLst/>
          </a:prstGeom>
          <a:solidFill>
            <a:srgbClr val="348E90"/>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IN" sz="7000" dirty="0">
                <a:latin typeface="Inter" panose="020B0604020202020204" charset="0"/>
                <a:cs typeface="Inter" panose="020B0604020202020204" charset="0"/>
              </a:rPr>
              <a:t>Loan Manager Dashboard</a:t>
            </a:r>
            <a:endParaRPr lang="en-IN" sz="7000" b="1" dirty="0">
              <a:solidFill>
                <a:schemeClr val="bg1"/>
              </a:solidFill>
              <a:latin typeface="Inter" panose="020B0604020202020204" charset="0"/>
              <a:cs typeface="Inter" panose="020B0604020202020204" charset="0"/>
            </a:endParaRPr>
          </a:p>
        </p:txBody>
      </p:sp>
      <p:sp>
        <p:nvSpPr>
          <p:cNvPr id="4" name="Rectangle 3">
            <a:extLst>
              <a:ext uri="{FF2B5EF4-FFF2-40B4-BE49-F238E27FC236}">
                <a16:creationId xmlns:a16="http://schemas.microsoft.com/office/drawing/2014/main" id="{26BA1701-A416-393C-F40B-3385096CD30D}"/>
              </a:ext>
            </a:extLst>
          </p:cNvPr>
          <p:cNvSpPr/>
          <p:nvPr/>
        </p:nvSpPr>
        <p:spPr>
          <a:xfrm>
            <a:off x="14570435" y="89940"/>
            <a:ext cx="3424956" cy="1309092"/>
          </a:xfrm>
          <a:prstGeom prst="rect">
            <a:avLst/>
          </a:prstGeom>
          <a:solidFill>
            <a:srgbClr val="C5D6CA"/>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2700" dirty="0">
                <a:solidFill>
                  <a:schemeClr val="tx1"/>
                </a:solidFill>
              </a:rPr>
              <a:t>Navigation</a:t>
            </a:r>
            <a:endParaRPr lang="en-IN" sz="2700" dirty="0">
              <a:solidFill>
                <a:schemeClr val="tx1"/>
              </a:solidFill>
            </a:endParaRPr>
          </a:p>
        </p:txBody>
      </p:sp>
      <p:sp>
        <p:nvSpPr>
          <p:cNvPr id="6" name="Rectangle 5">
            <a:extLst>
              <a:ext uri="{FF2B5EF4-FFF2-40B4-BE49-F238E27FC236}">
                <a16:creationId xmlns:a16="http://schemas.microsoft.com/office/drawing/2014/main" id="{C5378534-6854-5C2B-6961-232605C8A36C}"/>
              </a:ext>
            </a:extLst>
          </p:cNvPr>
          <p:cNvSpPr/>
          <p:nvPr/>
        </p:nvSpPr>
        <p:spPr>
          <a:xfrm>
            <a:off x="150875" y="1614344"/>
            <a:ext cx="2084831" cy="7781116"/>
          </a:xfrm>
          <a:prstGeom prst="rect">
            <a:avLst/>
          </a:prstGeom>
          <a:solidFill>
            <a:srgbClr val="C5D6CA"/>
          </a:solidFill>
        </p:spPr>
        <p:style>
          <a:lnRef idx="0">
            <a:schemeClr val="accent1"/>
          </a:lnRef>
          <a:fillRef idx="3">
            <a:schemeClr val="accent1"/>
          </a:fillRef>
          <a:effectRef idx="3">
            <a:schemeClr val="accent1"/>
          </a:effectRef>
          <a:fontRef idx="minor">
            <a:schemeClr val="lt1"/>
          </a:fontRef>
        </p:style>
        <p:txBody>
          <a:bodyPr rtlCol="0" anchor="ctr"/>
          <a:lstStyle/>
          <a:p>
            <a:pPr marL="342900" indent="-342900">
              <a:buFont typeface="Arial" panose="020B0604020202020204" pitchFamily="34" charset="0"/>
              <a:buChar char="•"/>
            </a:pPr>
            <a:r>
              <a:rPr lang="en-IN" sz="2500" dirty="0">
                <a:solidFill>
                  <a:schemeClr val="tx1"/>
                </a:solidFill>
                <a:latin typeface="Inter" panose="020B0604020202020204" charset="0"/>
                <a:cs typeface="Inter" panose="020B0604020202020204" charset="0"/>
              </a:rPr>
              <a:t>Application status</a:t>
            </a:r>
          </a:p>
          <a:p>
            <a:pPr marL="342900" indent="-342900">
              <a:buFont typeface="Arial" panose="020B0604020202020204" pitchFamily="34" charset="0"/>
              <a:buChar char="•"/>
            </a:pPr>
            <a:r>
              <a:rPr lang="en-IN" sz="2500" dirty="0">
                <a:solidFill>
                  <a:schemeClr val="tx1"/>
                </a:solidFill>
                <a:latin typeface="Inter" panose="020B0604020202020204" charset="0"/>
                <a:cs typeface="Inter" panose="020B0604020202020204" charset="0"/>
              </a:rPr>
              <a:t>Customer segment</a:t>
            </a:r>
          </a:p>
          <a:p>
            <a:pPr marL="342900" indent="-342900">
              <a:buFont typeface="Arial" panose="020B0604020202020204" pitchFamily="34" charset="0"/>
              <a:buChar char="•"/>
            </a:pPr>
            <a:r>
              <a:rPr lang="en-IN" sz="2500" dirty="0">
                <a:solidFill>
                  <a:schemeClr val="tx1"/>
                </a:solidFill>
                <a:latin typeface="Inter" panose="020B0604020202020204" charset="0"/>
                <a:cs typeface="Inter" panose="020B0604020202020204" charset="0"/>
              </a:rPr>
              <a:t>Income category</a:t>
            </a:r>
          </a:p>
          <a:p>
            <a:pPr marL="342900" indent="-342900">
              <a:buFont typeface="Arial" panose="020B0604020202020204" pitchFamily="34" charset="0"/>
              <a:buChar char="•"/>
            </a:pPr>
            <a:r>
              <a:rPr lang="en-IN" sz="2500" dirty="0">
                <a:solidFill>
                  <a:schemeClr val="tx1"/>
                </a:solidFill>
                <a:latin typeface="Inter" panose="020B0604020202020204" charset="0"/>
                <a:cs typeface="Inter" panose="020B0604020202020204" charset="0"/>
              </a:rPr>
              <a:t>Occupation</a:t>
            </a:r>
          </a:p>
        </p:txBody>
      </p:sp>
      <p:sp>
        <p:nvSpPr>
          <p:cNvPr id="7" name="Rectangle 6">
            <a:extLst>
              <a:ext uri="{FF2B5EF4-FFF2-40B4-BE49-F238E27FC236}">
                <a16:creationId xmlns:a16="http://schemas.microsoft.com/office/drawing/2014/main" id="{7AEA6DCE-D193-4FA6-0918-5C48437DA089}"/>
              </a:ext>
            </a:extLst>
          </p:cNvPr>
          <p:cNvSpPr/>
          <p:nvPr/>
        </p:nvSpPr>
        <p:spPr>
          <a:xfrm>
            <a:off x="2368295" y="3149958"/>
            <a:ext cx="4133090" cy="3145686"/>
          </a:xfrm>
          <a:prstGeom prst="rect">
            <a:avLst/>
          </a:prstGeom>
          <a:solidFill>
            <a:srgbClr val="C5D6CA"/>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IN" sz="2500" dirty="0">
                <a:solidFill>
                  <a:schemeClr val="tx1"/>
                </a:solidFill>
                <a:latin typeface="Inter" panose="020B0604020202020204" charset="0"/>
                <a:cs typeface="Inter" panose="020B0604020202020204" charset="0"/>
              </a:rPr>
              <a:t>Loan approval stages</a:t>
            </a:r>
          </a:p>
          <a:p>
            <a:pPr algn="ctr"/>
            <a:r>
              <a:rPr lang="en-IN" sz="2500" dirty="0">
                <a:solidFill>
                  <a:schemeClr val="tx1"/>
                </a:solidFill>
                <a:latin typeface="Inter" panose="020B0604020202020204" charset="0"/>
                <a:cs typeface="Inter" panose="020B0604020202020204" charset="0"/>
              </a:rPr>
              <a:t>(Funnel Chart)</a:t>
            </a:r>
          </a:p>
        </p:txBody>
      </p:sp>
      <p:sp>
        <p:nvSpPr>
          <p:cNvPr id="8" name="Rectangle 7">
            <a:extLst>
              <a:ext uri="{FF2B5EF4-FFF2-40B4-BE49-F238E27FC236}">
                <a16:creationId xmlns:a16="http://schemas.microsoft.com/office/drawing/2014/main" id="{2240D74C-C409-F407-E78B-8814DD9E1DA9}"/>
              </a:ext>
            </a:extLst>
          </p:cNvPr>
          <p:cNvSpPr/>
          <p:nvPr/>
        </p:nvSpPr>
        <p:spPr>
          <a:xfrm>
            <a:off x="2386582" y="6427632"/>
            <a:ext cx="4133090" cy="2967828"/>
          </a:xfrm>
          <a:prstGeom prst="rect">
            <a:avLst/>
          </a:prstGeom>
          <a:solidFill>
            <a:srgbClr val="C5D6CA"/>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IN" sz="2500" dirty="0">
                <a:solidFill>
                  <a:schemeClr val="tx1"/>
                </a:solidFill>
                <a:latin typeface="Inter" panose="020B0604020202020204" charset="0"/>
                <a:cs typeface="Inter" panose="020B0604020202020204" charset="0"/>
              </a:rPr>
              <a:t>Loan trends</a:t>
            </a:r>
          </a:p>
          <a:p>
            <a:pPr algn="ctr"/>
            <a:r>
              <a:rPr lang="en-IN" sz="2500" dirty="0">
                <a:solidFill>
                  <a:schemeClr val="tx1"/>
                </a:solidFill>
                <a:latin typeface="Inter" panose="020B0604020202020204" charset="0"/>
                <a:cs typeface="Inter" panose="020B0604020202020204" charset="0"/>
              </a:rPr>
              <a:t>(Area Chart)</a:t>
            </a:r>
          </a:p>
        </p:txBody>
      </p:sp>
      <p:sp>
        <p:nvSpPr>
          <p:cNvPr id="10" name="Rectangle 9">
            <a:extLst>
              <a:ext uri="{FF2B5EF4-FFF2-40B4-BE49-F238E27FC236}">
                <a16:creationId xmlns:a16="http://schemas.microsoft.com/office/drawing/2014/main" id="{D0E40B84-AFFD-E07F-F34B-9ECF24A97637}"/>
              </a:ext>
            </a:extLst>
          </p:cNvPr>
          <p:cNvSpPr/>
          <p:nvPr/>
        </p:nvSpPr>
        <p:spPr>
          <a:xfrm>
            <a:off x="12961277" y="3149958"/>
            <a:ext cx="5033774" cy="3141414"/>
          </a:xfrm>
          <a:prstGeom prst="rect">
            <a:avLst/>
          </a:prstGeom>
          <a:solidFill>
            <a:srgbClr val="C5D6CA"/>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IN" sz="2500" dirty="0">
                <a:solidFill>
                  <a:schemeClr val="tx1"/>
                </a:solidFill>
                <a:latin typeface="Inter" panose="020B0604020202020204" charset="0"/>
                <a:cs typeface="Inter" panose="020B0604020202020204" charset="0"/>
              </a:rPr>
              <a:t>Approved vs rejected loans</a:t>
            </a:r>
          </a:p>
          <a:p>
            <a:pPr algn="ctr"/>
            <a:r>
              <a:rPr lang="en-IN" sz="2500" dirty="0">
                <a:solidFill>
                  <a:schemeClr val="tx1"/>
                </a:solidFill>
                <a:latin typeface="Inter" panose="020B0604020202020204" charset="0"/>
                <a:cs typeface="Inter" panose="020B0604020202020204" charset="0"/>
              </a:rPr>
              <a:t>(Clustered Bar)</a:t>
            </a:r>
          </a:p>
        </p:txBody>
      </p:sp>
      <p:sp>
        <p:nvSpPr>
          <p:cNvPr id="13" name="Rectangle 12">
            <a:extLst>
              <a:ext uri="{FF2B5EF4-FFF2-40B4-BE49-F238E27FC236}">
                <a16:creationId xmlns:a16="http://schemas.microsoft.com/office/drawing/2014/main" id="{5870DEA3-C9B4-C6EE-6B56-2B53D1D531C7}"/>
              </a:ext>
            </a:extLst>
          </p:cNvPr>
          <p:cNvSpPr/>
          <p:nvPr/>
        </p:nvSpPr>
        <p:spPr>
          <a:xfrm>
            <a:off x="6633974" y="3145686"/>
            <a:ext cx="6185573" cy="3145686"/>
          </a:xfrm>
          <a:prstGeom prst="rect">
            <a:avLst/>
          </a:prstGeom>
          <a:solidFill>
            <a:srgbClr val="C5D6CA"/>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IN" sz="2500" dirty="0">
                <a:solidFill>
                  <a:schemeClr val="tx1"/>
                </a:solidFill>
                <a:latin typeface="Inter" panose="020B0604020202020204" charset="0"/>
                <a:cs typeface="Inter" panose="020B0604020202020204" charset="0"/>
              </a:rPr>
              <a:t>Portfolio risk level</a:t>
            </a:r>
          </a:p>
          <a:p>
            <a:pPr algn="ctr"/>
            <a:r>
              <a:rPr lang="en-IN" sz="2500" dirty="0">
                <a:solidFill>
                  <a:schemeClr val="tx1"/>
                </a:solidFill>
                <a:latin typeface="Inter" panose="020B0604020202020204" charset="0"/>
                <a:cs typeface="Inter" panose="020B0604020202020204" charset="0"/>
              </a:rPr>
              <a:t>(Gauge Chart)</a:t>
            </a:r>
          </a:p>
        </p:txBody>
      </p:sp>
      <p:sp>
        <p:nvSpPr>
          <p:cNvPr id="14" name="Rectangle 13">
            <a:extLst>
              <a:ext uri="{FF2B5EF4-FFF2-40B4-BE49-F238E27FC236}">
                <a16:creationId xmlns:a16="http://schemas.microsoft.com/office/drawing/2014/main" id="{555085FC-DC5C-FB1C-5DCF-41129EB98EBD}"/>
              </a:ext>
            </a:extLst>
          </p:cNvPr>
          <p:cNvSpPr/>
          <p:nvPr/>
        </p:nvSpPr>
        <p:spPr>
          <a:xfrm>
            <a:off x="6670547" y="6386934"/>
            <a:ext cx="11324503" cy="3022242"/>
          </a:xfrm>
          <a:prstGeom prst="rect">
            <a:avLst/>
          </a:prstGeom>
          <a:solidFill>
            <a:srgbClr val="C5D6CA"/>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IN" sz="2500" dirty="0">
                <a:solidFill>
                  <a:schemeClr val="tx1"/>
                </a:solidFill>
                <a:latin typeface="Inter" panose="020B0604020202020204" charset="0"/>
                <a:cs typeface="Inter" panose="020B0604020202020204" charset="0"/>
              </a:rPr>
              <a:t>Credit type exposure</a:t>
            </a:r>
          </a:p>
          <a:p>
            <a:pPr algn="ctr"/>
            <a:r>
              <a:rPr lang="en-IN" sz="2500" dirty="0">
                <a:solidFill>
                  <a:schemeClr val="tx1"/>
                </a:solidFill>
                <a:latin typeface="Inter" panose="020B0604020202020204" charset="0"/>
                <a:cs typeface="Inter" panose="020B0604020202020204" charset="0"/>
              </a:rPr>
              <a:t>(Tree Map)</a:t>
            </a:r>
          </a:p>
        </p:txBody>
      </p:sp>
      <p:pic>
        <p:nvPicPr>
          <p:cNvPr id="16" name="Picture 15" descr="A green square with white outline&#10;&#10;AI-generated content may be incorrect.">
            <a:extLst>
              <a:ext uri="{FF2B5EF4-FFF2-40B4-BE49-F238E27FC236}">
                <a16:creationId xmlns:a16="http://schemas.microsoft.com/office/drawing/2014/main" id="{8FF1B8DC-1EB1-E4FA-F008-6AE402F3E79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3775" y="305252"/>
            <a:ext cx="1399029" cy="878469"/>
          </a:xfrm>
          <a:prstGeom prst="rect">
            <a:avLst/>
          </a:prstGeom>
        </p:spPr>
      </p:pic>
      <p:sp>
        <p:nvSpPr>
          <p:cNvPr id="9" name="Rectangle 8">
            <a:extLst>
              <a:ext uri="{FF2B5EF4-FFF2-40B4-BE49-F238E27FC236}">
                <a16:creationId xmlns:a16="http://schemas.microsoft.com/office/drawing/2014/main" id="{4F6472CD-7806-630A-BD6D-55B17C334E29}"/>
              </a:ext>
            </a:extLst>
          </p:cNvPr>
          <p:cNvSpPr/>
          <p:nvPr/>
        </p:nvSpPr>
        <p:spPr>
          <a:xfrm>
            <a:off x="2368295" y="1485326"/>
            <a:ext cx="4133090" cy="1486950"/>
          </a:xfrm>
          <a:prstGeom prst="rect">
            <a:avLst/>
          </a:prstGeom>
          <a:solidFill>
            <a:srgbClr val="C5D6CA"/>
          </a:solidFill>
          <a:ln>
            <a:solidFill>
              <a:schemeClr val="bg1"/>
            </a:solid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n-IN" sz="2500">
                <a:solidFill>
                  <a:schemeClr val="tx1"/>
                </a:solidFill>
                <a:latin typeface="Inter" panose="020B0604020202020204" charset="0"/>
                <a:cs typeface="Inter" panose="020B0604020202020204" charset="0"/>
              </a:rPr>
              <a:t>Loan approval count</a:t>
            </a:r>
            <a:endParaRPr lang="en-IN" sz="2500" dirty="0">
              <a:solidFill>
                <a:schemeClr val="tx1"/>
              </a:solidFill>
              <a:latin typeface="Inter" panose="020B0604020202020204" charset="0"/>
              <a:cs typeface="Inter" panose="020B0604020202020204" charset="0"/>
            </a:endParaRPr>
          </a:p>
        </p:txBody>
      </p:sp>
      <p:sp>
        <p:nvSpPr>
          <p:cNvPr id="11" name="Rectangle 10">
            <a:extLst>
              <a:ext uri="{FF2B5EF4-FFF2-40B4-BE49-F238E27FC236}">
                <a16:creationId xmlns:a16="http://schemas.microsoft.com/office/drawing/2014/main" id="{C187F74C-A71C-7AFD-D31D-4975501D3D08}"/>
              </a:ext>
            </a:extLst>
          </p:cNvPr>
          <p:cNvSpPr/>
          <p:nvPr/>
        </p:nvSpPr>
        <p:spPr>
          <a:xfrm>
            <a:off x="6687310" y="1485326"/>
            <a:ext cx="3523490" cy="1486950"/>
          </a:xfrm>
          <a:prstGeom prst="rect">
            <a:avLst/>
          </a:prstGeom>
          <a:solidFill>
            <a:srgbClr val="C5D6CA"/>
          </a:solidFill>
          <a:ln>
            <a:solidFill>
              <a:schemeClr val="bg1"/>
            </a:solid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n-IN" sz="2500">
                <a:solidFill>
                  <a:schemeClr val="tx1"/>
                </a:solidFill>
                <a:latin typeface="Inter" panose="020B0604020202020204" charset="0"/>
                <a:cs typeface="Inter" panose="020B0604020202020204" charset="0"/>
              </a:rPr>
              <a:t>Rejected applications</a:t>
            </a:r>
            <a:endParaRPr lang="en-IN" sz="2500" dirty="0">
              <a:solidFill>
                <a:schemeClr val="tx1"/>
              </a:solidFill>
              <a:latin typeface="Inter" panose="020B0604020202020204" charset="0"/>
              <a:cs typeface="Inter" panose="020B0604020202020204" charset="0"/>
            </a:endParaRPr>
          </a:p>
        </p:txBody>
      </p:sp>
      <p:sp>
        <p:nvSpPr>
          <p:cNvPr id="12" name="Rectangle 11">
            <a:extLst>
              <a:ext uri="{FF2B5EF4-FFF2-40B4-BE49-F238E27FC236}">
                <a16:creationId xmlns:a16="http://schemas.microsoft.com/office/drawing/2014/main" id="{0B4A61A8-2039-0E4A-E542-A7819C715532}"/>
              </a:ext>
            </a:extLst>
          </p:cNvPr>
          <p:cNvSpPr/>
          <p:nvPr/>
        </p:nvSpPr>
        <p:spPr>
          <a:xfrm>
            <a:off x="10363200" y="1485326"/>
            <a:ext cx="3523490" cy="1486950"/>
          </a:xfrm>
          <a:prstGeom prst="rect">
            <a:avLst/>
          </a:prstGeom>
          <a:solidFill>
            <a:srgbClr val="C5D6CA"/>
          </a:solidFill>
          <a:ln>
            <a:solidFill>
              <a:schemeClr val="bg1"/>
            </a:solid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n-IN" sz="2500">
                <a:solidFill>
                  <a:schemeClr val="tx1"/>
                </a:solidFill>
                <a:latin typeface="Inter" panose="020B0604020202020204" charset="0"/>
                <a:cs typeface="Inter" panose="020B0604020202020204" charset="0"/>
              </a:rPr>
              <a:t>Average approved amount</a:t>
            </a:r>
            <a:endParaRPr lang="en-IN" sz="2500" dirty="0">
              <a:solidFill>
                <a:schemeClr val="tx1"/>
              </a:solidFill>
              <a:latin typeface="Inter" panose="020B0604020202020204" charset="0"/>
              <a:cs typeface="Inter" panose="020B0604020202020204" charset="0"/>
            </a:endParaRPr>
          </a:p>
        </p:txBody>
      </p:sp>
      <p:sp>
        <p:nvSpPr>
          <p:cNvPr id="15" name="Rectangle 14">
            <a:extLst>
              <a:ext uri="{FF2B5EF4-FFF2-40B4-BE49-F238E27FC236}">
                <a16:creationId xmlns:a16="http://schemas.microsoft.com/office/drawing/2014/main" id="{A2976517-7B9D-90D5-96EA-0FBF566F86AF}"/>
              </a:ext>
            </a:extLst>
          </p:cNvPr>
          <p:cNvSpPr/>
          <p:nvPr/>
        </p:nvSpPr>
        <p:spPr>
          <a:xfrm>
            <a:off x="14020800" y="1485326"/>
            <a:ext cx="3974250" cy="1486950"/>
          </a:xfrm>
          <a:prstGeom prst="rect">
            <a:avLst/>
          </a:prstGeom>
          <a:solidFill>
            <a:srgbClr val="C5D6CA"/>
          </a:solidFill>
          <a:ln>
            <a:solidFill>
              <a:schemeClr val="bg1"/>
            </a:solid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n-IN" sz="2500">
                <a:solidFill>
                  <a:schemeClr val="tx1"/>
                </a:solidFill>
                <a:latin typeface="Inter" panose="020B0604020202020204" charset="0"/>
                <a:cs typeface="Inter" panose="020B0604020202020204" charset="0"/>
              </a:rPr>
              <a:t>Risk category distribution</a:t>
            </a:r>
            <a:endParaRPr lang="en-IN" sz="2500" dirty="0">
              <a:solidFill>
                <a:schemeClr val="tx1"/>
              </a:solidFill>
              <a:latin typeface="Inter" panose="020B0604020202020204" charset="0"/>
              <a:cs typeface="Inter" panose="020B0604020202020204" charset="0"/>
            </a:endParaRPr>
          </a:p>
        </p:txBody>
      </p:sp>
    </p:spTree>
    <p:extLst>
      <p:ext uri="{BB962C8B-B14F-4D97-AF65-F5344CB8AC3E}">
        <p14:creationId xmlns:p14="http://schemas.microsoft.com/office/powerpoint/2010/main" val="305656985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C5D6CA"/>
        </a:solidFill>
        <a:effectLst/>
      </p:bgPr>
    </p:bg>
    <p:spTree>
      <p:nvGrpSpPr>
        <p:cNvPr id="1" name="">
          <a:extLst>
            <a:ext uri="{FF2B5EF4-FFF2-40B4-BE49-F238E27FC236}">
              <a16:creationId xmlns:a16="http://schemas.microsoft.com/office/drawing/2014/main" id="{97B74DC3-D0DB-D60E-07E8-718073D04FFB}"/>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A4DF5A4E-998F-FB36-C692-A4A742897ACC}"/>
              </a:ext>
            </a:extLst>
          </p:cNvPr>
          <p:cNvGrpSpPr/>
          <p:nvPr/>
        </p:nvGrpSpPr>
        <p:grpSpPr>
          <a:xfrm>
            <a:off x="0" y="9497082"/>
            <a:ext cx="18292543" cy="787203"/>
            <a:chOff x="0" y="0"/>
            <a:chExt cx="24390058" cy="1049604"/>
          </a:xfrm>
        </p:grpSpPr>
        <p:sp>
          <p:nvSpPr>
            <p:cNvPr id="3" name="Freeform 3">
              <a:extLst>
                <a:ext uri="{FF2B5EF4-FFF2-40B4-BE49-F238E27FC236}">
                  <a16:creationId xmlns:a16="http://schemas.microsoft.com/office/drawing/2014/main" id="{FFB56827-B458-26F5-4B1D-B4540767DFFD}"/>
                </a:ext>
              </a:extLst>
            </p:cNvPr>
            <p:cNvSpPr/>
            <p:nvPr/>
          </p:nvSpPr>
          <p:spPr>
            <a:xfrm>
              <a:off x="0" y="0"/>
              <a:ext cx="24390096" cy="1049655"/>
            </a:xfrm>
            <a:custGeom>
              <a:avLst/>
              <a:gdLst/>
              <a:ahLst/>
              <a:cxnLst/>
              <a:rect l="l" t="t" r="r" b="b"/>
              <a:pathLst>
                <a:path w="24390096" h="1049655">
                  <a:moveTo>
                    <a:pt x="0" y="0"/>
                  </a:moveTo>
                  <a:lnTo>
                    <a:pt x="24390096" y="0"/>
                  </a:lnTo>
                  <a:lnTo>
                    <a:pt x="24390096" y="1049655"/>
                  </a:lnTo>
                  <a:lnTo>
                    <a:pt x="0" y="1049655"/>
                  </a:lnTo>
                  <a:close/>
                </a:path>
              </a:pathLst>
            </a:custGeom>
            <a:solidFill>
              <a:srgbClr val="348E90"/>
            </a:solidFill>
          </p:spPr>
          <p:txBody>
            <a:bodyPr/>
            <a:lstStyle/>
            <a:p>
              <a:endParaRPr lang="en-IN"/>
            </a:p>
          </p:txBody>
        </p:sp>
      </p:grpSp>
      <p:sp>
        <p:nvSpPr>
          <p:cNvPr id="4" name="Rectangle 3">
            <a:extLst>
              <a:ext uri="{FF2B5EF4-FFF2-40B4-BE49-F238E27FC236}">
                <a16:creationId xmlns:a16="http://schemas.microsoft.com/office/drawing/2014/main" id="{F0634AC7-EA90-FCA9-4017-C2EB5457E2CF}"/>
              </a:ext>
            </a:extLst>
          </p:cNvPr>
          <p:cNvSpPr/>
          <p:nvPr/>
        </p:nvSpPr>
        <p:spPr>
          <a:xfrm>
            <a:off x="15544800" y="0"/>
            <a:ext cx="1143000" cy="1823056"/>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A8938479-A89E-263C-A863-1024986913CE}"/>
              </a:ext>
            </a:extLst>
          </p:cNvPr>
          <p:cNvSpPr txBox="1"/>
          <p:nvPr/>
        </p:nvSpPr>
        <p:spPr>
          <a:xfrm>
            <a:off x="4610100" y="4635668"/>
            <a:ext cx="9067800" cy="1015663"/>
          </a:xfrm>
          <a:prstGeom prst="rect">
            <a:avLst/>
          </a:prstGeom>
          <a:noFill/>
        </p:spPr>
        <p:txBody>
          <a:bodyPr wrap="square">
            <a:spAutoFit/>
          </a:bodyPr>
          <a:lstStyle/>
          <a:p>
            <a:r>
              <a:rPr lang="en-US" sz="6000" b="1" dirty="0">
                <a:latin typeface="Inter" panose="020B0604020202020204" charset="0"/>
                <a:cs typeface="Inter" panose="020B0604020202020204" charset="0"/>
              </a:rPr>
              <a:t>E</a:t>
            </a:r>
            <a:r>
              <a:rPr lang="en-IN" sz="6000" b="1" dirty="0">
                <a:latin typeface="Inter" panose="020B0604020202020204" charset="0"/>
                <a:cs typeface="Inter" panose="020B0604020202020204" charset="0"/>
              </a:rPr>
              <a:t>xploratory Data Analysis</a:t>
            </a:r>
          </a:p>
        </p:txBody>
      </p:sp>
    </p:spTree>
    <p:extLst>
      <p:ext uri="{BB962C8B-B14F-4D97-AF65-F5344CB8AC3E}">
        <p14:creationId xmlns:p14="http://schemas.microsoft.com/office/powerpoint/2010/main" val="327356095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C5D6CA"/>
        </a:solidFill>
        <a:effectLst/>
      </p:bgPr>
    </p:bg>
    <p:spTree>
      <p:nvGrpSpPr>
        <p:cNvPr id="1" name="">
          <a:extLst>
            <a:ext uri="{FF2B5EF4-FFF2-40B4-BE49-F238E27FC236}">
              <a16:creationId xmlns:a16="http://schemas.microsoft.com/office/drawing/2014/main" id="{F5486B67-583F-1063-C71E-44D8F6AB2139}"/>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424AE8C1-1EDD-86F9-6F1F-0BD841D02835}"/>
              </a:ext>
            </a:extLst>
          </p:cNvPr>
          <p:cNvGrpSpPr/>
          <p:nvPr/>
        </p:nvGrpSpPr>
        <p:grpSpPr>
          <a:xfrm>
            <a:off x="0" y="9497082"/>
            <a:ext cx="18292543" cy="787203"/>
            <a:chOff x="0" y="0"/>
            <a:chExt cx="24390058" cy="1049604"/>
          </a:xfrm>
        </p:grpSpPr>
        <p:sp>
          <p:nvSpPr>
            <p:cNvPr id="3" name="Freeform 3">
              <a:extLst>
                <a:ext uri="{FF2B5EF4-FFF2-40B4-BE49-F238E27FC236}">
                  <a16:creationId xmlns:a16="http://schemas.microsoft.com/office/drawing/2014/main" id="{2BFC1270-6272-0275-1D5E-E7090D4D6BF6}"/>
                </a:ext>
              </a:extLst>
            </p:cNvPr>
            <p:cNvSpPr/>
            <p:nvPr/>
          </p:nvSpPr>
          <p:spPr>
            <a:xfrm>
              <a:off x="0" y="0"/>
              <a:ext cx="24390096" cy="1049655"/>
            </a:xfrm>
            <a:custGeom>
              <a:avLst/>
              <a:gdLst/>
              <a:ahLst/>
              <a:cxnLst/>
              <a:rect l="l" t="t" r="r" b="b"/>
              <a:pathLst>
                <a:path w="24390096" h="1049655">
                  <a:moveTo>
                    <a:pt x="0" y="0"/>
                  </a:moveTo>
                  <a:lnTo>
                    <a:pt x="24390096" y="0"/>
                  </a:lnTo>
                  <a:lnTo>
                    <a:pt x="24390096" y="1049655"/>
                  </a:lnTo>
                  <a:lnTo>
                    <a:pt x="0" y="1049655"/>
                  </a:lnTo>
                  <a:close/>
                </a:path>
              </a:pathLst>
            </a:custGeom>
            <a:solidFill>
              <a:srgbClr val="348E90"/>
            </a:solidFill>
          </p:spPr>
          <p:txBody>
            <a:bodyPr/>
            <a:lstStyle/>
            <a:p>
              <a:endParaRPr lang="en-IN"/>
            </a:p>
          </p:txBody>
        </p:sp>
      </p:grpSp>
      <p:sp>
        <p:nvSpPr>
          <p:cNvPr id="4" name="Rectangle 3">
            <a:extLst>
              <a:ext uri="{FF2B5EF4-FFF2-40B4-BE49-F238E27FC236}">
                <a16:creationId xmlns:a16="http://schemas.microsoft.com/office/drawing/2014/main" id="{6E326E75-255C-42C1-FCC1-C91FA94D006A}"/>
              </a:ext>
            </a:extLst>
          </p:cNvPr>
          <p:cNvSpPr/>
          <p:nvPr/>
        </p:nvSpPr>
        <p:spPr>
          <a:xfrm>
            <a:off x="15544800" y="0"/>
            <a:ext cx="1143000" cy="1823056"/>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E32C045F-B75D-8186-844D-526FDEE6F2BC}"/>
              </a:ext>
            </a:extLst>
          </p:cNvPr>
          <p:cNvSpPr txBox="1"/>
          <p:nvPr/>
        </p:nvSpPr>
        <p:spPr>
          <a:xfrm>
            <a:off x="6543675" y="4635668"/>
            <a:ext cx="5200650" cy="1015663"/>
          </a:xfrm>
          <a:prstGeom prst="rect">
            <a:avLst/>
          </a:prstGeom>
          <a:noFill/>
        </p:spPr>
        <p:txBody>
          <a:bodyPr wrap="square">
            <a:spAutoFit/>
          </a:bodyPr>
          <a:lstStyle/>
          <a:p>
            <a:r>
              <a:rPr lang="en-US" sz="6000" b="1" dirty="0">
                <a:latin typeface="Inter" panose="020B0604020202020204" charset="0"/>
                <a:cs typeface="Inter" panose="020B0604020202020204" charset="0"/>
              </a:rPr>
              <a:t>High level KPI</a:t>
            </a:r>
            <a:endParaRPr lang="en-IN" sz="6000" b="1" dirty="0">
              <a:latin typeface="Inter" panose="020B0604020202020204" charset="0"/>
              <a:cs typeface="Inter" panose="020B0604020202020204" charset="0"/>
            </a:endParaRPr>
          </a:p>
        </p:txBody>
      </p:sp>
    </p:spTree>
    <p:extLst>
      <p:ext uri="{BB962C8B-B14F-4D97-AF65-F5344CB8AC3E}">
        <p14:creationId xmlns:p14="http://schemas.microsoft.com/office/powerpoint/2010/main" val="124329110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C5D6CA"/>
        </a:solidFill>
        <a:effectLst/>
      </p:bgPr>
    </p:bg>
    <p:spTree>
      <p:nvGrpSpPr>
        <p:cNvPr id="1" name="">
          <a:extLst>
            <a:ext uri="{FF2B5EF4-FFF2-40B4-BE49-F238E27FC236}">
              <a16:creationId xmlns:a16="http://schemas.microsoft.com/office/drawing/2014/main" id="{4D5DCB5D-0EDE-A59C-EDCE-8FA7BB51EB69}"/>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19D43E73-1A97-AD17-8CCC-28BB25C0BFC9}"/>
              </a:ext>
            </a:extLst>
          </p:cNvPr>
          <p:cNvGrpSpPr/>
          <p:nvPr/>
        </p:nvGrpSpPr>
        <p:grpSpPr>
          <a:xfrm>
            <a:off x="0" y="9497082"/>
            <a:ext cx="18292543" cy="787203"/>
            <a:chOff x="0" y="0"/>
            <a:chExt cx="24390058" cy="1049604"/>
          </a:xfrm>
        </p:grpSpPr>
        <p:sp>
          <p:nvSpPr>
            <p:cNvPr id="3" name="Freeform 3">
              <a:extLst>
                <a:ext uri="{FF2B5EF4-FFF2-40B4-BE49-F238E27FC236}">
                  <a16:creationId xmlns:a16="http://schemas.microsoft.com/office/drawing/2014/main" id="{23FE6DDF-B731-2385-962B-E27EA8421979}"/>
                </a:ext>
              </a:extLst>
            </p:cNvPr>
            <p:cNvSpPr/>
            <p:nvPr/>
          </p:nvSpPr>
          <p:spPr>
            <a:xfrm>
              <a:off x="0" y="0"/>
              <a:ext cx="24390096" cy="1049655"/>
            </a:xfrm>
            <a:custGeom>
              <a:avLst/>
              <a:gdLst/>
              <a:ahLst/>
              <a:cxnLst/>
              <a:rect l="l" t="t" r="r" b="b"/>
              <a:pathLst>
                <a:path w="24390096" h="1049655">
                  <a:moveTo>
                    <a:pt x="0" y="0"/>
                  </a:moveTo>
                  <a:lnTo>
                    <a:pt x="24390096" y="0"/>
                  </a:lnTo>
                  <a:lnTo>
                    <a:pt x="24390096" y="1049655"/>
                  </a:lnTo>
                  <a:lnTo>
                    <a:pt x="0" y="1049655"/>
                  </a:lnTo>
                  <a:close/>
                </a:path>
              </a:pathLst>
            </a:custGeom>
            <a:solidFill>
              <a:srgbClr val="348E90"/>
            </a:solidFill>
          </p:spPr>
          <p:txBody>
            <a:bodyPr/>
            <a:lstStyle/>
            <a:p>
              <a:endParaRPr lang="en-IN"/>
            </a:p>
          </p:txBody>
        </p:sp>
      </p:grpSp>
      <p:sp>
        <p:nvSpPr>
          <p:cNvPr id="4" name="Rectangle 3">
            <a:extLst>
              <a:ext uri="{FF2B5EF4-FFF2-40B4-BE49-F238E27FC236}">
                <a16:creationId xmlns:a16="http://schemas.microsoft.com/office/drawing/2014/main" id="{E2FAA358-D858-ECD5-4E74-5BD4E9F1A168}"/>
              </a:ext>
            </a:extLst>
          </p:cNvPr>
          <p:cNvSpPr/>
          <p:nvPr/>
        </p:nvSpPr>
        <p:spPr>
          <a:xfrm>
            <a:off x="15544800" y="0"/>
            <a:ext cx="1143000" cy="1823056"/>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461DA719-9AD6-6F53-A7BA-22B3E16D89B4}"/>
              </a:ext>
            </a:extLst>
          </p:cNvPr>
          <p:cNvSpPr txBox="1"/>
          <p:nvPr/>
        </p:nvSpPr>
        <p:spPr>
          <a:xfrm>
            <a:off x="6681787" y="1064215"/>
            <a:ext cx="4924425" cy="707886"/>
          </a:xfrm>
          <a:prstGeom prst="rect">
            <a:avLst/>
          </a:prstGeom>
          <a:noFill/>
        </p:spPr>
        <p:txBody>
          <a:bodyPr wrap="square">
            <a:spAutoFit/>
          </a:bodyPr>
          <a:lstStyle/>
          <a:p>
            <a:r>
              <a:rPr lang="en-US" sz="4000" b="1" dirty="0">
                <a:latin typeface="Inter" panose="020B0604020202020204" charset="0"/>
                <a:cs typeface="Inter" panose="020B0604020202020204" charset="0"/>
              </a:rPr>
              <a:t>P</a:t>
            </a:r>
            <a:r>
              <a:rPr lang="en-IN" sz="4000" b="1" dirty="0">
                <a:latin typeface="Inter" panose="020B0604020202020204" charset="0"/>
                <a:cs typeface="Inter" panose="020B0604020202020204" charset="0"/>
              </a:rPr>
              <a:t>ortfolio &amp; Customer</a:t>
            </a:r>
          </a:p>
        </p:txBody>
      </p:sp>
      <p:graphicFrame>
        <p:nvGraphicFramePr>
          <p:cNvPr id="6" name="Table 5">
            <a:extLst>
              <a:ext uri="{FF2B5EF4-FFF2-40B4-BE49-F238E27FC236}">
                <a16:creationId xmlns:a16="http://schemas.microsoft.com/office/drawing/2014/main" id="{6C328F8C-2305-FEB0-B149-FE87C44767C8}"/>
              </a:ext>
            </a:extLst>
          </p:cNvPr>
          <p:cNvGraphicFramePr>
            <a:graphicFrameLocks noGrp="1"/>
          </p:cNvGraphicFramePr>
          <p:nvPr>
            <p:extLst>
              <p:ext uri="{D42A27DB-BD31-4B8C-83A1-F6EECF244321}">
                <p14:modId xmlns:p14="http://schemas.microsoft.com/office/powerpoint/2010/main" val="2608878341"/>
              </p:ext>
            </p:extLst>
          </p:nvPr>
        </p:nvGraphicFramePr>
        <p:xfrm>
          <a:off x="1676400" y="2120092"/>
          <a:ext cx="7467600" cy="6452408"/>
        </p:xfrm>
        <a:graphic>
          <a:graphicData uri="http://schemas.openxmlformats.org/drawingml/2006/table">
            <a:tbl>
              <a:tblPr firstRow="1" bandRow="1">
                <a:tableStyleId>{5C22544A-7EE6-4342-B048-85BDC9FD1C3A}</a:tableStyleId>
              </a:tblPr>
              <a:tblGrid>
                <a:gridCol w="3733800">
                  <a:extLst>
                    <a:ext uri="{9D8B030D-6E8A-4147-A177-3AD203B41FA5}">
                      <a16:colId xmlns:a16="http://schemas.microsoft.com/office/drawing/2014/main" val="60828127"/>
                    </a:ext>
                  </a:extLst>
                </a:gridCol>
                <a:gridCol w="3733800">
                  <a:extLst>
                    <a:ext uri="{9D8B030D-6E8A-4147-A177-3AD203B41FA5}">
                      <a16:colId xmlns:a16="http://schemas.microsoft.com/office/drawing/2014/main" val="3509672948"/>
                    </a:ext>
                  </a:extLst>
                </a:gridCol>
              </a:tblGrid>
              <a:tr h="1007024">
                <a:tc>
                  <a:txBody>
                    <a:bodyPr/>
                    <a:lstStyle/>
                    <a:p>
                      <a:pPr algn="ctr"/>
                      <a:r>
                        <a:rPr lang="en-US" sz="2100" dirty="0">
                          <a:solidFill>
                            <a:schemeClr val="tx1"/>
                          </a:solidFill>
                          <a:latin typeface="Inter" panose="020B0604020202020204" charset="0"/>
                          <a:cs typeface="Inter" panose="020B0604020202020204" charset="0"/>
                        </a:rPr>
                        <a:t>KPI Cards</a:t>
                      </a:r>
                      <a:endParaRPr lang="en-IN" sz="2100"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sz="2100" dirty="0">
                          <a:solidFill>
                            <a:schemeClr val="tx1"/>
                          </a:solidFill>
                          <a:latin typeface="Inter" panose="020B0604020202020204" charset="0"/>
                          <a:cs typeface="Inter" panose="020B0604020202020204" charset="0"/>
                        </a:rPr>
                        <a:t>Values</a:t>
                      </a:r>
                      <a:endParaRPr lang="en-IN" sz="2100"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2078074201"/>
                  </a:ext>
                </a:extLst>
              </a:tr>
              <a:tr h="907564">
                <a:tc>
                  <a:txBody>
                    <a:bodyPr/>
                    <a:lstStyle/>
                    <a:p>
                      <a:pPr algn="ctr"/>
                      <a:r>
                        <a:rPr lang="en-US" dirty="0">
                          <a:solidFill>
                            <a:schemeClr val="tx1"/>
                          </a:solidFill>
                          <a:latin typeface="Inter" panose="020B0604020202020204" charset="0"/>
                          <a:cs typeface="Inter" panose="020B0604020202020204" charset="0"/>
                        </a:rPr>
                        <a:t>Total Customer</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307K</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2167288804"/>
                  </a:ext>
                </a:extLst>
              </a:tr>
              <a:tr h="907564">
                <a:tc>
                  <a:txBody>
                    <a:bodyPr/>
                    <a:lstStyle/>
                    <a:p>
                      <a:pPr algn="ctr"/>
                      <a:r>
                        <a:rPr lang="en-US" dirty="0">
                          <a:solidFill>
                            <a:schemeClr val="tx1"/>
                          </a:solidFill>
                          <a:latin typeface="Inter" panose="020B0604020202020204" charset="0"/>
                          <a:cs typeface="Inter" panose="020B0604020202020204" charset="0"/>
                        </a:rPr>
                        <a:t>Default Customers</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25K</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407618187"/>
                  </a:ext>
                </a:extLst>
              </a:tr>
              <a:tr h="907564">
                <a:tc>
                  <a:txBody>
                    <a:bodyPr/>
                    <a:lstStyle/>
                    <a:p>
                      <a:pPr algn="ctr"/>
                      <a:r>
                        <a:rPr lang="en-US" dirty="0">
                          <a:solidFill>
                            <a:schemeClr val="tx1"/>
                          </a:solidFill>
                          <a:latin typeface="Inter" panose="020B0604020202020204" charset="0"/>
                          <a:cs typeface="Inter" panose="020B0604020202020204" charset="0"/>
                        </a:rPr>
                        <a:t>Default Rate</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8.07%</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883365364"/>
                  </a:ext>
                </a:extLst>
              </a:tr>
              <a:tr h="907564">
                <a:tc>
                  <a:txBody>
                    <a:bodyPr/>
                    <a:lstStyle/>
                    <a:p>
                      <a:pPr algn="ctr"/>
                      <a:r>
                        <a:rPr lang="en-US" dirty="0">
                          <a:solidFill>
                            <a:schemeClr val="tx1"/>
                          </a:solidFill>
                          <a:latin typeface="Inter" panose="020B0604020202020204" charset="0"/>
                          <a:cs typeface="Inter" panose="020B0604020202020204" charset="0"/>
                        </a:rPr>
                        <a:t>Average Income</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169K</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4153070572"/>
                  </a:ext>
                </a:extLst>
              </a:tr>
              <a:tr h="907564">
                <a:tc>
                  <a:txBody>
                    <a:bodyPr/>
                    <a:lstStyle/>
                    <a:p>
                      <a:pPr algn="ctr"/>
                      <a:r>
                        <a:rPr lang="en-US" dirty="0">
                          <a:solidFill>
                            <a:schemeClr val="tx1"/>
                          </a:solidFill>
                          <a:latin typeface="Inter" panose="020B0604020202020204" charset="0"/>
                          <a:cs typeface="Inter" panose="020B0604020202020204" charset="0"/>
                        </a:rPr>
                        <a:t>Average Credit</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599K</a:t>
                      </a:r>
                      <a:endParaRPr lang="en-IN" b="1" dirty="0">
                        <a:solidFill>
                          <a:srgbClr val="C00000"/>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3167888736"/>
                  </a:ext>
                </a:extLst>
              </a:tr>
              <a:tr h="907564">
                <a:tc>
                  <a:txBody>
                    <a:bodyPr/>
                    <a:lstStyle/>
                    <a:p>
                      <a:pPr algn="ctr"/>
                      <a:r>
                        <a:rPr lang="en-US" dirty="0">
                          <a:solidFill>
                            <a:schemeClr val="tx1"/>
                          </a:solidFill>
                          <a:latin typeface="Inter" panose="020B0604020202020204" charset="0"/>
                          <a:cs typeface="Inter" panose="020B0604020202020204" charset="0"/>
                        </a:rPr>
                        <a:t>Average Age</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43.9 Years</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164317339"/>
                  </a:ext>
                </a:extLst>
              </a:tr>
            </a:tbl>
          </a:graphicData>
        </a:graphic>
      </p:graphicFrame>
      <p:sp>
        <p:nvSpPr>
          <p:cNvPr id="7" name="Rectangle: Rounded Corners 6">
            <a:extLst>
              <a:ext uri="{FF2B5EF4-FFF2-40B4-BE49-F238E27FC236}">
                <a16:creationId xmlns:a16="http://schemas.microsoft.com/office/drawing/2014/main" id="{D5C13245-0361-6F1B-4033-ADB6D061A733}"/>
              </a:ext>
            </a:extLst>
          </p:cNvPr>
          <p:cNvSpPr/>
          <p:nvPr/>
        </p:nvSpPr>
        <p:spPr>
          <a:xfrm>
            <a:off x="9753600" y="2120092"/>
            <a:ext cx="6934200" cy="6452408"/>
          </a:xfrm>
          <a:prstGeom prst="roundRect">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buNone/>
            </a:pPr>
            <a:r>
              <a:rPr lang="en-IN" sz="2500" b="1" dirty="0">
                <a:solidFill>
                  <a:schemeClr val="bg1"/>
                </a:solidFill>
                <a:latin typeface="Inter" panose="020B0604020202020204" charset="0"/>
                <a:cs typeface="Inter" panose="020B0604020202020204" charset="0"/>
              </a:rPr>
              <a:t>Key Insight</a:t>
            </a:r>
          </a:p>
          <a:p>
            <a:pPr marL="285750" indent="-285750">
              <a:buFont typeface="Arial" panose="020B0604020202020204" pitchFamily="34" charset="0"/>
              <a:buChar char="•"/>
            </a:pPr>
            <a:r>
              <a:rPr lang="en-IN" dirty="0">
                <a:solidFill>
                  <a:schemeClr val="bg1"/>
                </a:solidFill>
                <a:latin typeface="Inter" panose="020B0604020202020204" charset="0"/>
                <a:cs typeface="Inter" panose="020B0604020202020204" charset="0"/>
              </a:rPr>
              <a:t>The portfolio contains </a:t>
            </a:r>
            <a:r>
              <a:rPr lang="en-IN" b="1" dirty="0">
                <a:solidFill>
                  <a:schemeClr val="bg1"/>
                </a:solidFill>
                <a:latin typeface="Inter" panose="020B0604020202020204" charset="0"/>
                <a:cs typeface="Inter" panose="020B0604020202020204" charset="0"/>
              </a:rPr>
              <a:t>307K borrowers</a:t>
            </a:r>
            <a:r>
              <a:rPr lang="en-IN" dirty="0">
                <a:solidFill>
                  <a:schemeClr val="bg1"/>
                </a:solidFill>
                <a:latin typeface="Inter" panose="020B0604020202020204" charset="0"/>
                <a:cs typeface="Inter" panose="020B0604020202020204" charset="0"/>
              </a:rPr>
              <a:t>, of which </a:t>
            </a:r>
            <a:r>
              <a:rPr lang="en-IN" b="1" dirty="0">
                <a:solidFill>
                  <a:schemeClr val="bg1"/>
                </a:solidFill>
                <a:latin typeface="Inter" panose="020B0604020202020204" charset="0"/>
                <a:cs typeface="Inter" panose="020B0604020202020204" charset="0"/>
              </a:rPr>
              <a:t>8.07% eventually defaulted</a:t>
            </a:r>
            <a:r>
              <a:rPr lang="en-IN" dirty="0">
                <a:solidFill>
                  <a:schemeClr val="bg1"/>
                </a:solidFill>
                <a:latin typeface="Inter" panose="020B0604020202020204" charset="0"/>
                <a:cs typeface="Inter" panose="020B0604020202020204" charset="0"/>
              </a:rPr>
              <a:t>. </a:t>
            </a:r>
          </a:p>
          <a:p>
            <a:pPr marL="285750" indent="-285750">
              <a:buFont typeface="Arial" panose="020B0604020202020204" pitchFamily="34" charset="0"/>
              <a:buChar char="•"/>
            </a:pPr>
            <a:r>
              <a:rPr lang="en-IN" dirty="0">
                <a:solidFill>
                  <a:schemeClr val="bg1"/>
                </a:solidFill>
                <a:latin typeface="Inter" panose="020B0604020202020204" charset="0"/>
                <a:cs typeface="Inter" panose="020B0604020202020204" charset="0"/>
              </a:rPr>
              <a:t>Customers borrow approximately </a:t>
            </a:r>
            <a:r>
              <a:rPr lang="en-IN" b="1" dirty="0">
                <a:solidFill>
                  <a:schemeClr val="bg1"/>
                </a:solidFill>
                <a:latin typeface="Inter" panose="020B0604020202020204" charset="0"/>
                <a:cs typeface="Inter" panose="020B0604020202020204" charset="0"/>
              </a:rPr>
              <a:t>3.5x their annual income</a:t>
            </a:r>
            <a:r>
              <a:rPr lang="en-IN" dirty="0">
                <a:solidFill>
                  <a:schemeClr val="bg1"/>
                </a:solidFill>
                <a:latin typeface="Inter" panose="020B0604020202020204" charset="0"/>
                <a:cs typeface="Inter" panose="020B0604020202020204" charset="0"/>
              </a:rPr>
              <a:t> on average (599K credit vs 169K income). </a:t>
            </a:r>
          </a:p>
          <a:p>
            <a:pPr marL="285750" indent="-285750">
              <a:buFont typeface="Arial" panose="020B0604020202020204" pitchFamily="34" charset="0"/>
              <a:buChar char="•"/>
            </a:pPr>
            <a:r>
              <a:rPr lang="en-IN" dirty="0">
                <a:solidFill>
                  <a:schemeClr val="bg1"/>
                </a:solidFill>
                <a:latin typeface="Inter" panose="020B0604020202020204" charset="0"/>
                <a:cs typeface="Inter" panose="020B0604020202020204" charset="0"/>
              </a:rPr>
              <a:t>The typical borrower is a </a:t>
            </a:r>
            <a:r>
              <a:rPr lang="en-IN" b="1" dirty="0">
                <a:solidFill>
                  <a:schemeClr val="bg1"/>
                </a:solidFill>
                <a:latin typeface="Inter" panose="020B0604020202020204" charset="0"/>
                <a:cs typeface="Inter" panose="020B0604020202020204" charset="0"/>
              </a:rPr>
              <a:t>middle-aged customer (~44 years old)</a:t>
            </a:r>
            <a:r>
              <a:rPr lang="en-IN" dirty="0">
                <a:solidFill>
                  <a:schemeClr val="bg1"/>
                </a:solidFill>
                <a:latin typeface="Inter" panose="020B0604020202020204" charset="0"/>
                <a:cs typeface="Inter" panose="020B0604020202020204" charset="0"/>
              </a:rPr>
              <a:t>, indicating a mature lending portfolio rather than a youth-focused one. </a:t>
            </a:r>
          </a:p>
          <a:p>
            <a:pPr marL="285750" indent="-285750">
              <a:buFont typeface="Arial" panose="020B0604020202020204" pitchFamily="34" charset="0"/>
              <a:buChar char="•"/>
            </a:pPr>
            <a:r>
              <a:rPr lang="en-IN" dirty="0">
                <a:solidFill>
                  <a:schemeClr val="bg1"/>
                </a:solidFill>
                <a:latin typeface="Inter" panose="020B0604020202020204" charset="0"/>
                <a:cs typeface="Inter" panose="020B0604020202020204" charset="0"/>
              </a:rPr>
              <a:t>Despite relatively large loan exposure, the overall default rate remains below 10%. </a:t>
            </a:r>
          </a:p>
        </p:txBody>
      </p:sp>
    </p:spTree>
    <p:extLst>
      <p:ext uri="{BB962C8B-B14F-4D97-AF65-F5344CB8AC3E}">
        <p14:creationId xmlns:p14="http://schemas.microsoft.com/office/powerpoint/2010/main" val="420877192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C5D6CA"/>
        </a:solidFill>
        <a:effectLst/>
      </p:bgPr>
    </p:bg>
    <p:spTree>
      <p:nvGrpSpPr>
        <p:cNvPr id="1" name="">
          <a:extLst>
            <a:ext uri="{FF2B5EF4-FFF2-40B4-BE49-F238E27FC236}">
              <a16:creationId xmlns:a16="http://schemas.microsoft.com/office/drawing/2014/main" id="{1B544FE6-F4F7-D805-43CC-6D1D430F4586}"/>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48A63AA0-184B-DF68-7B28-2C4D7A16F96E}"/>
              </a:ext>
            </a:extLst>
          </p:cNvPr>
          <p:cNvGrpSpPr/>
          <p:nvPr/>
        </p:nvGrpSpPr>
        <p:grpSpPr>
          <a:xfrm>
            <a:off x="0" y="9497082"/>
            <a:ext cx="18292543" cy="787203"/>
            <a:chOff x="0" y="0"/>
            <a:chExt cx="24390058" cy="1049604"/>
          </a:xfrm>
        </p:grpSpPr>
        <p:sp>
          <p:nvSpPr>
            <p:cNvPr id="3" name="Freeform 3">
              <a:extLst>
                <a:ext uri="{FF2B5EF4-FFF2-40B4-BE49-F238E27FC236}">
                  <a16:creationId xmlns:a16="http://schemas.microsoft.com/office/drawing/2014/main" id="{C30C1AE4-6284-2A29-ECBC-C1CE48205DAB}"/>
                </a:ext>
              </a:extLst>
            </p:cNvPr>
            <p:cNvSpPr/>
            <p:nvPr/>
          </p:nvSpPr>
          <p:spPr>
            <a:xfrm>
              <a:off x="0" y="0"/>
              <a:ext cx="24390096" cy="1049655"/>
            </a:xfrm>
            <a:custGeom>
              <a:avLst/>
              <a:gdLst/>
              <a:ahLst/>
              <a:cxnLst/>
              <a:rect l="l" t="t" r="r" b="b"/>
              <a:pathLst>
                <a:path w="24390096" h="1049655">
                  <a:moveTo>
                    <a:pt x="0" y="0"/>
                  </a:moveTo>
                  <a:lnTo>
                    <a:pt x="24390096" y="0"/>
                  </a:lnTo>
                  <a:lnTo>
                    <a:pt x="24390096" y="1049655"/>
                  </a:lnTo>
                  <a:lnTo>
                    <a:pt x="0" y="1049655"/>
                  </a:lnTo>
                  <a:close/>
                </a:path>
              </a:pathLst>
            </a:custGeom>
            <a:solidFill>
              <a:srgbClr val="348E90"/>
            </a:solidFill>
          </p:spPr>
          <p:txBody>
            <a:bodyPr/>
            <a:lstStyle/>
            <a:p>
              <a:endParaRPr lang="en-IN"/>
            </a:p>
          </p:txBody>
        </p:sp>
      </p:grpSp>
      <p:sp>
        <p:nvSpPr>
          <p:cNvPr id="4" name="Rectangle 3">
            <a:extLst>
              <a:ext uri="{FF2B5EF4-FFF2-40B4-BE49-F238E27FC236}">
                <a16:creationId xmlns:a16="http://schemas.microsoft.com/office/drawing/2014/main" id="{63656FFA-87F5-0768-3D28-62DCB3D0572C}"/>
              </a:ext>
            </a:extLst>
          </p:cNvPr>
          <p:cNvSpPr/>
          <p:nvPr/>
        </p:nvSpPr>
        <p:spPr>
          <a:xfrm>
            <a:off x="15544800" y="0"/>
            <a:ext cx="1143000" cy="1823056"/>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01BA5F41-F9F4-8BFC-03AC-E73F4AEC91D3}"/>
              </a:ext>
            </a:extLst>
          </p:cNvPr>
          <p:cNvSpPr txBox="1"/>
          <p:nvPr/>
        </p:nvSpPr>
        <p:spPr>
          <a:xfrm>
            <a:off x="6681787" y="1064215"/>
            <a:ext cx="4924425" cy="707886"/>
          </a:xfrm>
          <a:prstGeom prst="rect">
            <a:avLst/>
          </a:prstGeom>
          <a:noFill/>
        </p:spPr>
        <p:txBody>
          <a:bodyPr wrap="square">
            <a:spAutoFit/>
          </a:bodyPr>
          <a:lstStyle/>
          <a:p>
            <a:r>
              <a:rPr lang="en-US" sz="4000" b="1" dirty="0">
                <a:latin typeface="Inter" panose="020B0604020202020204" charset="0"/>
                <a:cs typeface="Inter" panose="020B0604020202020204" charset="0"/>
              </a:rPr>
              <a:t>Credit Risk Profiles</a:t>
            </a:r>
            <a:endParaRPr lang="en-IN" sz="4000" b="1" dirty="0">
              <a:latin typeface="Inter" panose="020B0604020202020204" charset="0"/>
              <a:cs typeface="Inter" panose="020B0604020202020204" charset="0"/>
            </a:endParaRPr>
          </a:p>
        </p:txBody>
      </p:sp>
      <p:graphicFrame>
        <p:nvGraphicFramePr>
          <p:cNvPr id="6" name="Table 5">
            <a:extLst>
              <a:ext uri="{FF2B5EF4-FFF2-40B4-BE49-F238E27FC236}">
                <a16:creationId xmlns:a16="http://schemas.microsoft.com/office/drawing/2014/main" id="{7144C352-5549-A8C0-D4FC-78BDBE020F01}"/>
              </a:ext>
            </a:extLst>
          </p:cNvPr>
          <p:cNvGraphicFramePr>
            <a:graphicFrameLocks noGrp="1"/>
          </p:cNvGraphicFramePr>
          <p:nvPr>
            <p:extLst>
              <p:ext uri="{D42A27DB-BD31-4B8C-83A1-F6EECF244321}">
                <p14:modId xmlns:p14="http://schemas.microsoft.com/office/powerpoint/2010/main" val="3893030631"/>
              </p:ext>
            </p:extLst>
          </p:nvPr>
        </p:nvGraphicFramePr>
        <p:xfrm>
          <a:off x="1676400" y="2120092"/>
          <a:ext cx="7467600" cy="6604809"/>
        </p:xfrm>
        <a:graphic>
          <a:graphicData uri="http://schemas.openxmlformats.org/drawingml/2006/table">
            <a:tbl>
              <a:tblPr firstRow="1" bandRow="1">
                <a:tableStyleId>{5C22544A-7EE6-4342-B048-85BDC9FD1C3A}</a:tableStyleId>
              </a:tblPr>
              <a:tblGrid>
                <a:gridCol w="3733800">
                  <a:extLst>
                    <a:ext uri="{9D8B030D-6E8A-4147-A177-3AD203B41FA5}">
                      <a16:colId xmlns:a16="http://schemas.microsoft.com/office/drawing/2014/main" val="60828127"/>
                    </a:ext>
                  </a:extLst>
                </a:gridCol>
                <a:gridCol w="3733800">
                  <a:extLst>
                    <a:ext uri="{9D8B030D-6E8A-4147-A177-3AD203B41FA5}">
                      <a16:colId xmlns:a16="http://schemas.microsoft.com/office/drawing/2014/main" val="3509672948"/>
                    </a:ext>
                  </a:extLst>
                </a:gridCol>
              </a:tblGrid>
              <a:tr h="1199529">
                <a:tc>
                  <a:txBody>
                    <a:bodyPr/>
                    <a:lstStyle/>
                    <a:p>
                      <a:pPr algn="ctr"/>
                      <a:r>
                        <a:rPr lang="en-US" sz="2100" dirty="0">
                          <a:solidFill>
                            <a:schemeClr val="tx1"/>
                          </a:solidFill>
                          <a:latin typeface="Inter" panose="020B0604020202020204" charset="0"/>
                          <a:cs typeface="Inter" panose="020B0604020202020204" charset="0"/>
                        </a:rPr>
                        <a:t>KPI Cards</a:t>
                      </a:r>
                      <a:endParaRPr lang="en-IN" sz="2100"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sz="2100" dirty="0">
                          <a:solidFill>
                            <a:schemeClr val="tx1"/>
                          </a:solidFill>
                          <a:latin typeface="Inter" panose="020B0604020202020204" charset="0"/>
                          <a:cs typeface="Inter" panose="020B0604020202020204" charset="0"/>
                        </a:rPr>
                        <a:t>Values</a:t>
                      </a:r>
                      <a:endParaRPr lang="en-IN" sz="2100"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2078074201"/>
                  </a:ext>
                </a:extLst>
              </a:tr>
              <a:tr h="1081056">
                <a:tc>
                  <a:txBody>
                    <a:bodyPr/>
                    <a:lstStyle/>
                    <a:p>
                      <a:pPr algn="ctr"/>
                      <a:r>
                        <a:rPr lang="en-US" dirty="0">
                          <a:solidFill>
                            <a:schemeClr val="tx1"/>
                          </a:solidFill>
                          <a:latin typeface="Inter" panose="020B0604020202020204" charset="0"/>
                          <a:cs typeface="Inter" panose="020B0604020202020204" charset="0"/>
                        </a:rPr>
                        <a:t>Average EXT Score </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0.51</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2167288804"/>
                  </a:ext>
                </a:extLst>
              </a:tr>
              <a:tr h="1081056">
                <a:tc>
                  <a:txBody>
                    <a:bodyPr/>
                    <a:lstStyle/>
                    <a:p>
                      <a:pPr algn="ctr"/>
                      <a:r>
                        <a:rPr lang="en-US" dirty="0">
                          <a:solidFill>
                            <a:schemeClr val="tx1"/>
                          </a:solidFill>
                          <a:latin typeface="Inter" panose="020B0604020202020204" charset="0"/>
                          <a:cs typeface="Inter" panose="020B0604020202020204" charset="0"/>
                        </a:rPr>
                        <a:t>Median Ext Score</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0.53</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407618187"/>
                  </a:ext>
                </a:extLst>
              </a:tr>
              <a:tr h="1081056">
                <a:tc>
                  <a:txBody>
                    <a:bodyPr/>
                    <a:lstStyle/>
                    <a:p>
                      <a:pPr algn="ctr"/>
                      <a:r>
                        <a:rPr lang="en-US" dirty="0">
                          <a:solidFill>
                            <a:schemeClr val="tx1"/>
                          </a:solidFill>
                          <a:latin typeface="Inter" panose="020B0604020202020204" charset="0"/>
                          <a:cs typeface="Inter" panose="020B0604020202020204" charset="0"/>
                        </a:rPr>
                        <a:t>Active Credit</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36.47%</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883365364"/>
                  </a:ext>
                </a:extLst>
              </a:tr>
              <a:tr h="1081056">
                <a:tc>
                  <a:txBody>
                    <a:bodyPr/>
                    <a:lstStyle/>
                    <a:p>
                      <a:pPr algn="ctr"/>
                      <a:r>
                        <a:rPr lang="en-US" dirty="0">
                          <a:solidFill>
                            <a:schemeClr val="tx1"/>
                          </a:solidFill>
                          <a:latin typeface="Inter" panose="020B0604020202020204" charset="0"/>
                          <a:cs typeface="Inter" panose="020B0604020202020204" charset="0"/>
                        </a:rPr>
                        <a:t>Average Debt</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117K</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4153070572"/>
                  </a:ext>
                </a:extLst>
              </a:tr>
              <a:tr h="1081056">
                <a:tc>
                  <a:txBody>
                    <a:bodyPr/>
                    <a:lstStyle/>
                    <a:p>
                      <a:pPr algn="ctr"/>
                      <a:r>
                        <a:rPr lang="en-US" dirty="0">
                          <a:solidFill>
                            <a:schemeClr val="tx1"/>
                          </a:solidFill>
                          <a:latin typeface="Inter" panose="020B0604020202020204" charset="0"/>
                          <a:cs typeface="Inter" panose="020B0604020202020204" charset="0"/>
                        </a:rPr>
                        <a:t>Average Overdue</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1K</a:t>
                      </a:r>
                      <a:endParaRPr lang="en-IN" b="1" dirty="0">
                        <a:solidFill>
                          <a:srgbClr val="C00000"/>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3167888736"/>
                  </a:ext>
                </a:extLst>
              </a:tr>
            </a:tbl>
          </a:graphicData>
        </a:graphic>
      </p:graphicFrame>
      <p:sp>
        <p:nvSpPr>
          <p:cNvPr id="7" name="Rectangle: Rounded Corners 6">
            <a:extLst>
              <a:ext uri="{FF2B5EF4-FFF2-40B4-BE49-F238E27FC236}">
                <a16:creationId xmlns:a16="http://schemas.microsoft.com/office/drawing/2014/main" id="{0BE8C63E-688D-3D49-63A7-59D61D7280C1}"/>
              </a:ext>
            </a:extLst>
          </p:cNvPr>
          <p:cNvSpPr/>
          <p:nvPr/>
        </p:nvSpPr>
        <p:spPr>
          <a:xfrm>
            <a:off x="9753600" y="2120092"/>
            <a:ext cx="6934200" cy="6604808"/>
          </a:xfrm>
          <a:prstGeom prst="roundRect">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buNone/>
            </a:pPr>
            <a:r>
              <a:rPr lang="en-IN" sz="2500" b="1" dirty="0">
                <a:solidFill>
                  <a:schemeClr val="bg1"/>
                </a:solidFill>
                <a:latin typeface="Inter" panose="020B0604020202020204" charset="0"/>
                <a:cs typeface="Inter" panose="020B0604020202020204" charset="0"/>
              </a:rPr>
              <a:t>Key Insight</a:t>
            </a:r>
          </a:p>
          <a:p>
            <a:pPr marL="285750" indent="-285750">
              <a:buFont typeface="Arial" panose="020B0604020202020204" pitchFamily="34" charset="0"/>
              <a:buChar char="•"/>
            </a:pPr>
            <a:r>
              <a:rPr lang="en-IN" dirty="0">
                <a:latin typeface="Inter" panose="020B0604020202020204" charset="0"/>
                <a:cs typeface="Inter" panose="020B0604020202020204" charset="0"/>
              </a:rPr>
              <a:t>Customers exhibit </a:t>
            </a:r>
            <a:r>
              <a:rPr lang="en-IN" b="1" dirty="0">
                <a:latin typeface="Inter" panose="020B0604020202020204" charset="0"/>
                <a:cs typeface="Inter" panose="020B0604020202020204" charset="0"/>
              </a:rPr>
              <a:t>moderate creditworthiness</a:t>
            </a:r>
            <a:r>
              <a:rPr lang="en-IN" dirty="0">
                <a:latin typeface="Inter" panose="020B0604020202020204" charset="0"/>
                <a:cs typeface="Inter" panose="020B0604020202020204" charset="0"/>
              </a:rPr>
              <a:t>, with external risk scores centred around </a:t>
            </a:r>
            <a:r>
              <a:rPr lang="en-IN" b="1" dirty="0">
                <a:latin typeface="Inter" panose="020B0604020202020204" charset="0"/>
                <a:cs typeface="Inter" panose="020B0604020202020204" charset="0"/>
              </a:rPr>
              <a:t>0.5</a:t>
            </a:r>
            <a:r>
              <a:rPr lang="en-IN" dirty="0">
                <a:latin typeface="Inter" panose="020B0604020202020204" charset="0"/>
                <a:cs typeface="Inter" panose="020B0604020202020204" charset="0"/>
              </a:rPr>
              <a:t>.</a:t>
            </a:r>
          </a:p>
          <a:p>
            <a:pPr marL="285750" indent="-285750">
              <a:buFont typeface="Arial" panose="020B0604020202020204" pitchFamily="34" charset="0"/>
              <a:buChar char="•"/>
            </a:pPr>
            <a:r>
              <a:rPr lang="en-IN" dirty="0">
                <a:latin typeface="Inter" panose="020B0604020202020204" charset="0"/>
                <a:cs typeface="Inter" panose="020B0604020202020204" charset="0"/>
              </a:rPr>
              <a:t> Nearly </a:t>
            </a:r>
            <a:r>
              <a:rPr lang="en-IN" b="1" dirty="0">
                <a:latin typeface="Inter" panose="020B0604020202020204" charset="0"/>
                <a:cs typeface="Inter" panose="020B0604020202020204" charset="0"/>
              </a:rPr>
              <a:t>37% of bureau records are active credits</a:t>
            </a:r>
            <a:r>
              <a:rPr lang="en-IN" dirty="0">
                <a:latin typeface="Inter" panose="020B0604020202020204" charset="0"/>
                <a:cs typeface="Inter" panose="020B0604020202020204" charset="0"/>
              </a:rPr>
              <a:t>, showing many customers maintain ongoing borrowing relationships.</a:t>
            </a:r>
          </a:p>
          <a:p>
            <a:pPr marL="285750" indent="-285750">
              <a:buFont typeface="Arial" panose="020B0604020202020204" pitchFamily="34" charset="0"/>
              <a:buChar char="•"/>
            </a:pPr>
            <a:r>
              <a:rPr lang="en-IN" dirty="0">
                <a:latin typeface="Inter" panose="020B0604020202020204" charset="0"/>
                <a:cs typeface="Inter" panose="020B0604020202020204" charset="0"/>
              </a:rPr>
              <a:t> Average outstanding debt (</a:t>
            </a:r>
            <a:r>
              <a:rPr lang="en-IN" b="1" dirty="0">
                <a:latin typeface="Inter" panose="020B0604020202020204" charset="0"/>
                <a:cs typeface="Inter" panose="020B0604020202020204" charset="0"/>
              </a:rPr>
              <a:t>117K</a:t>
            </a:r>
            <a:r>
              <a:rPr lang="en-IN" dirty="0">
                <a:latin typeface="Inter" panose="020B0604020202020204" charset="0"/>
                <a:cs typeface="Inter" panose="020B0604020202020204" charset="0"/>
              </a:rPr>
              <a:t>) is substantially lower than average application credit (</a:t>
            </a:r>
            <a:r>
              <a:rPr lang="en-IN" b="1" dirty="0">
                <a:latin typeface="Inter" panose="020B0604020202020204" charset="0"/>
                <a:cs typeface="Inter" panose="020B0604020202020204" charset="0"/>
              </a:rPr>
              <a:t>599K</a:t>
            </a:r>
            <a:r>
              <a:rPr lang="en-IN" dirty="0">
                <a:latin typeface="Inter" panose="020B0604020202020204" charset="0"/>
                <a:cs typeface="Inter" panose="020B0604020202020204" charset="0"/>
              </a:rPr>
              <a:t>), suggesting manageable leverage levels. </a:t>
            </a:r>
          </a:p>
          <a:p>
            <a:pPr marL="285750" indent="-285750">
              <a:buFont typeface="Arial" panose="020B0604020202020204" pitchFamily="34" charset="0"/>
              <a:buChar char="•"/>
            </a:pPr>
            <a:r>
              <a:rPr lang="en-IN" dirty="0">
                <a:latin typeface="Inter" panose="020B0604020202020204" charset="0"/>
                <a:cs typeface="Inter" panose="020B0604020202020204" charset="0"/>
              </a:rPr>
              <a:t>Overdue exposure is relatively low, indicating overall portfolio stability.</a:t>
            </a:r>
            <a:endParaRPr lang="en-IN" dirty="0">
              <a:solidFill>
                <a:schemeClr val="bg1"/>
              </a:solidFill>
              <a:latin typeface="Inter" panose="020B0604020202020204" charset="0"/>
              <a:cs typeface="Inter" panose="020B0604020202020204" charset="0"/>
            </a:endParaRPr>
          </a:p>
        </p:txBody>
      </p:sp>
    </p:spTree>
    <p:extLst>
      <p:ext uri="{BB962C8B-B14F-4D97-AF65-F5344CB8AC3E}">
        <p14:creationId xmlns:p14="http://schemas.microsoft.com/office/powerpoint/2010/main" val="353548619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C5D6CA"/>
        </a:solidFill>
        <a:effectLst/>
      </p:bgPr>
    </p:bg>
    <p:spTree>
      <p:nvGrpSpPr>
        <p:cNvPr id="1" name="">
          <a:extLst>
            <a:ext uri="{FF2B5EF4-FFF2-40B4-BE49-F238E27FC236}">
              <a16:creationId xmlns:a16="http://schemas.microsoft.com/office/drawing/2014/main" id="{FBD7F64A-EF6E-CBDC-A2D3-C758CAEE6772}"/>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955BBFBD-D838-64B8-8622-1EEAAA58E774}"/>
              </a:ext>
            </a:extLst>
          </p:cNvPr>
          <p:cNvGrpSpPr/>
          <p:nvPr/>
        </p:nvGrpSpPr>
        <p:grpSpPr>
          <a:xfrm>
            <a:off x="0" y="9497082"/>
            <a:ext cx="18292543" cy="787203"/>
            <a:chOff x="0" y="0"/>
            <a:chExt cx="24390058" cy="1049604"/>
          </a:xfrm>
        </p:grpSpPr>
        <p:sp>
          <p:nvSpPr>
            <p:cNvPr id="3" name="Freeform 3">
              <a:extLst>
                <a:ext uri="{FF2B5EF4-FFF2-40B4-BE49-F238E27FC236}">
                  <a16:creationId xmlns:a16="http://schemas.microsoft.com/office/drawing/2014/main" id="{94A8ED89-07FA-4F25-C7AE-92AF5B35A007}"/>
                </a:ext>
              </a:extLst>
            </p:cNvPr>
            <p:cNvSpPr/>
            <p:nvPr/>
          </p:nvSpPr>
          <p:spPr>
            <a:xfrm>
              <a:off x="0" y="0"/>
              <a:ext cx="24390096" cy="1049655"/>
            </a:xfrm>
            <a:custGeom>
              <a:avLst/>
              <a:gdLst/>
              <a:ahLst/>
              <a:cxnLst/>
              <a:rect l="l" t="t" r="r" b="b"/>
              <a:pathLst>
                <a:path w="24390096" h="1049655">
                  <a:moveTo>
                    <a:pt x="0" y="0"/>
                  </a:moveTo>
                  <a:lnTo>
                    <a:pt x="24390096" y="0"/>
                  </a:lnTo>
                  <a:lnTo>
                    <a:pt x="24390096" y="1049655"/>
                  </a:lnTo>
                  <a:lnTo>
                    <a:pt x="0" y="1049655"/>
                  </a:lnTo>
                  <a:close/>
                </a:path>
              </a:pathLst>
            </a:custGeom>
            <a:solidFill>
              <a:srgbClr val="348E90"/>
            </a:solidFill>
          </p:spPr>
          <p:txBody>
            <a:bodyPr/>
            <a:lstStyle/>
            <a:p>
              <a:endParaRPr lang="en-IN"/>
            </a:p>
          </p:txBody>
        </p:sp>
      </p:grpSp>
      <p:sp>
        <p:nvSpPr>
          <p:cNvPr id="4" name="Rectangle 3">
            <a:extLst>
              <a:ext uri="{FF2B5EF4-FFF2-40B4-BE49-F238E27FC236}">
                <a16:creationId xmlns:a16="http://schemas.microsoft.com/office/drawing/2014/main" id="{8AB2FC4B-1244-128B-5CAF-40C283C7C2A7}"/>
              </a:ext>
            </a:extLst>
          </p:cNvPr>
          <p:cNvSpPr/>
          <p:nvPr/>
        </p:nvSpPr>
        <p:spPr>
          <a:xfrm>
            <a:off x="15544800" y="0"/>
            <a:ext cx="1143000" cy="1823056"/>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E5A64F6B-6FA3-FB5B-C026-78F3ECE603C4}"/>
              </a:ext>
            </a:extLst>
          </p:cNvPr>
          <p:cNvSpPr txBox="1"/>
          <p:nvPr/>
        </p:nvSpPr>
        <p:spPr>
          <a:xfrm>
            <a:off x="6769893" y="1081189"/>
            <a:ext cx="4748213" cy="707886"/>
          </a:xfrm>
          <a:prstGeom prst="rect">
            <a:avLst/>
          </a:prstGeom>
          <a:noFill/>
        </p:spPr>
        <p:txBody>
          <a:bodyPr wrap="square">
            <a:spAutoFit/>
          </a:bodyPr>
          <a:lstStyle/>
          <a:p>
            <a:r>
              <a:rPr lang="en-US" sz="4000" b="1" dirty="0">
                <a:latin typeface="Inter" panose="020B0604020202020204" charset="0"/>
                <a:cs typeface="Inter" panose="020B0604020202020204" charset="0"/>
              </a:rPr>
              <a:t>Lending Operations</a:t>
            </a:r>
            <a:endParaRPr lang="en-IN" sz="4000" b="1" dirty="0">
              <a:latin typeface="Inter" panose="020B0604020202020204" charset="0"/>
              <a:cs typeface="Inter" panose="020B0604020202020204" charset="0"/>
            </a:endParaRPr>
          </a:p>
        </p:txBody>
      </p:sp>
      <p:graphicFrame>
        <p:nvGraphicFramePr>
          <p:cNvPr id="6" name="Table 5">
            <a:extLst>
              <a:ext uri="{FF2B5EF4-FFF2-40B4-BE49-F238E27FC236}">
                <a16:creationId xmlns:a16="http://schemas.microsoft.com/office/drawing/2014/main" id="{D845DFDB-5567-4B69-BCEE-793E0A0CED33}"/>
              </a:ext>
            </a:extLst>
          </p:cNvPr>
          <p:cNvGraphicFramePr>
            <a:graphicFrameLocks noGrp="1"/>
          </p:cNvGraphicFramePr>
          <p:nvPr>
            <p:extLst>
              <p:ext uri="{D42A27DB-BD31-4B8C-83A1-F6EECF244321}">
                <p14:modId xmlns:p14="http://schemas.microsoft.com/office/powerpoint/2010/main" val="3308069533"/>
              </p:ext>
            </p:extLst>
          </p:nvPr>
        </p:nvGraphicFramePr>
        <p:xfrm>
          <a:off x="1676400" y="2120092"/>
          <a:ext cx="7467600" cy="6604809"/>
        </p:xfrm>
        <a:graphic>
          <a:graphicData uri="http://schemas.openxmlformats.org/drawingml/2006/table">
            <a:tbl>
              <a:tblPr firstRow="1" bandRow="1">
                <a:tableStyleId>{5C22544A-7EE6-4342-B048-85BDC9FD1C3A}</a:tableStyleId>
              </a:tblPr>
              <a:tblGrid>
                <a:gridCol w="3733800">
                  <a:extLst>
                    <a:ext uri="{9D8B030D-6E8A-4147-A177-3AD203B41FA5}">
                      <a16:colId xmlns:a16="http://schemas.microsoft.com/office/drawing/2014/main" val="60828127"/>
                    </a:ext>
                  </a:extLst>
                </a:gridCol>
                <a:gridCol w="3733800">
                  <a:extLst>
                    <a:ext uri="{9D8B030D-6E8A-4147-A177-3AD203B41FA5}">
                      <a16:colId xmlns:a16="http://schemas.microsoft.com/office/drawing/2014/main" val="3509672948"/>
                    </a:ext>
                  </a:extLst>
                </a:gridCol>
              </a:tblGrid>
              <a:tr h="1199529">
                <a:tc>
                  <a:txBody>
                    <a:bodyPr/>
                    <a:lstStyle/>
                    <a:p>
                      <a:pPr algn="ctr"/>
                      <a:r>
                        <a:rPr lang="en-US" sz="2100" dirty="0">
                          <a:solidFill>
                            <a:schemeClr val="tx1"/>
                          </a:solidFill>
                          <a:latin typeface="Inter" panose="020B0604020202020204" charset="0"/>
                          <a:cs typeface="Inter" panose="020B0604020202020204" charset="0"/>
                        </a:rPr>
                        <a:t>KPI Cards</a:t>
                      </a:r>
                      <a:endParaRPr lang="en-IN" sz="2100"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sz="2100" dirty="0">
                          <a:solidFill>
                            <a:schemeClr val="tx1"/>
                          </a:solidFill>
                          <a:latin typeface="Inter" panose="020B0604020202020204" charset="0"/>
                          <a:cs typeface="Inter" panose="020B0604020202020204" charset="0"/>
                        </a:rPr>
                        <a:t>Values</a:t>
                      </a:r>
                      <a:endParaRPr lang="en-IN" sz="2100"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2078074201"/>
                  </a:ext>
                </a:extLst>
              </a:tr>
              <a:tr h="1081056">
                <a:tc>
                  <a:txBody>
                    <a:bodyPr/>
                    <a:lstStyle/>
                    <a:p>
                      <a:pPr algn="ctr"/>
                      <a:r>
                        <a:rPr lang="en-US" dirty="0">
                          <a:solidFill>
                            <a:schemeClr val="tx1"/>
                          </a:solidFill>
                          <a:latin typeface="Inter" panose="020B0604020202020204" charset="0"/>
                          <a:cs typeface="Inter" panose="020B0604020202020204" charset="0"/>
                        </a:rPr>
                        <a:t>Total Applications</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2M</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2167288804"/>
                  </a:ext>
                </a:extLst>
              </a:tr>
              <a:tr h="1081056">
                <a:tc>
                  <a:txBody>
                    <a:bodyPr/>
                    <a:lstStyle/>
                    <a:p>
                      <a:pPr algn="ctr"/>
                      <a:r>
                        <a:rPr lang="en-US" dirty="0">
                          <a:solidFill>
                            <a:schemeClr val="tx1"/>
                          </a:solidFill>
                          <a:latin typeface="Inter" panose="020B0604020202020204" charset="0"/>
                          <a:cs typeface="Inter" panose="020B0604020202020204" charset="0"/>
                        </a:rPr>
                        <a:t>Approval Rate</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62.09%</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407618187"/>
                  </a:ext>
                </a:extLst>
              </a:tr>
              <a:tr h="1081056">
                <a:tc>
                  <a:txBody>
                    <a:bodyPr/>
                    <a:lstStyle/>
                    <a:p>
                      <a:pPr algn="ctr"/>
                      <a:r>
                        <a:rPr lang="en-US" dirty="0">
                          <a:solidFill>
                            <a:schemeClr val="tx1"/>
                          </a:solidFill>
                          <a:latin typeface="Inter" panose="020B0604020202020204" charset="0"/>
                          <a:cs typeface="Inter" panose="020B0604020202020204" charset="0"/>
                        </a:rPr>
                        <a:t>Refusal Rate</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17.41%</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883365364"/>
                  </a:ext>
                </a:extLst>
              </a:tr>
              <a:tr h="1081056">
                <a:tc>
                  <a:txBody>
                    <a:bodyPr/>
                    <a:lstStyle/>
                    <a:p>
                      <a:pPr algn="ctr"/>
                      <a:r>
                        <a:rPr lang="en-US" dirty="0">
                          <a:solidFill>
                            <a:schemeClr val="tx1"/>
                          </a:solidFill>
                          <a:latin typeface="Inter" panose="020B0604020202020204" charset="0"/>
                          <a:cs typeface="Inter" panose="020B0604020202020204" charset="0"/>
                        </a:rPr>
                        <a:t>Cancellation Rate</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18.92%</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4153070572"/>
                  </a:ext>
                </a:extLst>
              </a:tr>
              <a:tr h="1081056">
                <a:tc>
                  <a:txBody>
                    <a:bodyPr/>
                    <a:lstStyle/>
                    <a:p>
                      <a:pPr algn="ctr"/>
                      <a:r>
                        <a:rPr lang="en-US" dirty="0">
                          <a:solidFill>
                            <a:schemeClr val="tx1"/>
                          </a:solidFill>
                          <a:latin typeface="Inter" panose="020B0604020202020204" charset="0"/>
                          <a:cs typeface="Inter" panose="020B0604020202020204" charset="0"/>
                        </a:rPr>
                        <a:t>Avg Approval Amount</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203K</a:t>
                      </a:r>
                      <a:endParaRPr lang="en-IN" b="1" dirty="0">
                        <a:solidFill>
                          <a:srgbClr val="C00000"/>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3167888736"/>
                  </a:ext>
                </a:extLst>
              </a:tr>
            </a:tbl>
          </a:graphicData>
        </a:graphic>
      </p:graphicFrame>
      <p:sp>
        <p:nvSpPr>
          <p:cNvPr id="7" name="Rectangle: Rounded Corners 6">
            <a:extLst>
              <a:ext uri="{FF2B5EF4-FFF2-40B4-BE49-F238E27FC236}">
                <a16:creationId xmlns:a16="http://schemas.microsoft.com/office/drawing/2014/main" id="{1A34AB80-BDEA-3F7B-516C-3C572A6AA654}"/>
              </a:ext>
            </a:extLst>
          </p:cNvPr>
          <p:cNvSpPr/>
          <p:nvPr/>
        </p:nvSpPr>
        <p:spPr>
          <a:xfrm>
            <a:off x="9753600" y="2120092"/>
            <a:ext cx="6934200" cy="6604808"/>
          </a:xfrm>
          <a:prstGeom prst="roundRect">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buNone/>
            </a:pPr>
            <a:r>
              <a:rPr lang="en-IN" sz="2500" b="1" dirty="0">
                <a:solidFill>
                  <a:schemeClr val="bg1"/>
                </a:solidFill>
                <a:latin typeface="Inter" panose="020B0604020202020204" charset="0"/>
                <a:cs typeface="Inter" panose="020B0604020202020204" charset="0"/>
              </a:rPr>
              <a:t>Key Insight</a:t>
            </a:r>
          </a:p>
          <a:p>
            <a:pPr marL="285750" indent="-285750">
              <a:buFont typeface="Arial" panose="020B0604020202020204" pitchFamily="34" charset="0"/>
              <a:buChar char="•"/>
            </a:pPr>
            <a:r>
              <a:rPr lang="en-IN" dirty="0">
                <a:latin typeface="Inter" panose="020B0604020202020204" charset="0"/>
                <a:cs typeface="Inter" panose="020B0604020202020204" charset="0"/>
              </a:rPr>
              <a:t>The institution approves approximately </a:t>
            </a:r>
            <a:r>
              <a:rPr lang="en-IN" b="1" dirty="0">
                <a:latin typeface="Inter" panose="020B0604020202020204" charset="0"/>
                <a:cs typeface="Inter" panose="020B0604020202020204" charset="0"/>
              </a:rPr>
              <a:t>6 out of every 10 applications</a:t>
            </a:r>
            <a:r>
              <a:rPr lang="en-IN" dirty="0">
                <a:latin typeface="Inter" panose="020B0604020202020204" charset="0"/>
                <a:cs typeface="Inter" panose="020B0604020202020204" charset="0"/>
              </a:rPr>
              <a:t>. </a:t>
            </a:r>
          </a:p>
          <a:p>
            <a:pPr marL="285750" indent="-285750">
              <a:buFont typeface="Arial" panose="020B0604020202020204" pitchFamily="34" charset="0"/>
              <a:buChar char="•"/>
            </a:pPr>
            <a:r>
              <a:rPr lang="en-IN" dirty="0">
                <a:latin typeface="Inter" panose="020B0604020202020204" charset="0"/>
                <a:cs typeface="Inter" panose="020B0604020202020204" charset="0"/>
              </a:rPr>
              <a:t>Nearly </a:t>
            </a:r>
            <a:r>
              <a:rPr lang="en-IN" b="1" dirty="0">
                <a:latin typeface="Inter" panose="020B0604020202020204" charset="0"/>
                <a:cs typeface="Inter" panose="020B0604020202020204" charset="0"/>
              </a:rPr>
              <a:t>one-fifth of applications are cancelled</a:t>
            </a:r>
            <a:r>
              <a:rPr lang="en-IN" dirty="0">
                <a:latin typeface="Inter" panose="020B0604020202020204" charset="0"/>
                <a:cs typeface="Inter" panose="020B0604020202020204" charset="0"/>
              </a:rPr>
              <a:t>, highlighting significant applicant drop-off after submission. </a:t>
            </a:r>
          </a:p>
          <a:p>
            <a:pPr marL="285750" indent="-285750">
              <a:buFont typeface="Arial" panose="020B0604020202020204" pitchFamily="34" charset="0"/>
              <a:buChar char="•"/>
            </a:pPr>
            <a:r>
              <a:rPr lang="en-IN" dirty="0">
                <a:latin typeface="Inter" panose="020B0604020202020204" charset="0"/>
                <a:cs typeface="Inter" panose="020B0604020202020204" charset="0"/>
              </a:rPr>
              <a:t>Approved loans average </a:t>
            </a:r>
            <a:r>
              <a:rPr lang="en-IN" b="1" dirty="0">
                <a:latin typeface="Inter" panose="020B0604020202020204" charset="0"/>
                <a:cs typeface="Inter" panose="020B0604020202020204" charset="0"/>
              </a:rPr>
              <a:t>203K</a:t>
            </a:r>
            <a:r>
              <a:rPr lang="en-IN" dirty="0">
                <a:latin typeface="Inter" panose="020B0604020202020204" charset="0"/>
                <a:cs typeface="Inter" panose="020B0604020202020204" charset="0"/>
              </a:rPr>
              <a:t>, indicating the bank concentrates approvals within moderate credit amounts. </a:t>
            </a:r>
          </a:p>
          <a:p>
            <a:pPr marL="285750" indent="-285750">
              <a:buFont typeface="Arial" panose="020B0604020202020204" pitchFamily="34" charset="0"/>
              <a:buChar char="•"/>
            </a:pPr>
            <a:r>
              <a:rPr lang="en-IN" dirty="0">
                <a:latin typeface="Inter" panose="020B0604020202020204" charset="0"/>
                <a:cs typeface="Inter" panose="020B0604020202020204" charset="0"/>
              </a:rPr>
              <a:t>Approval volume substantially exceeds refusal volume, demonstrating an expansion-oriented lending strategy.</a:t>
            </a:r>
            <a:endParaRPr lang="en-IN" dirty="0">
              <a:solidFill>
                <a:schemeClr val="bg1"/>
              </a:solidFill>
              <a:latin typeface="Inter" panose="020B0604020202020204" charset="0"/>
              <a:cs typeface="Inter" panose="020B0604020202020204" charset="0"/>
            </a:endParaRPr>
          </a:p>
        </p:txBody>
      </p:sp>
    </p:spTree>
    <p:extLst>
      <p:ext uri="{BB962C8B-B14F-4D97-AF65-F5344CB8AC3E}">
        <p14:creationId xmlns:p14="http://schemas.microsoft.com/office/powerpoint/2010/main" val="119484306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C5D6CA"/>
        </a:solidFill>
        <a:effectLst/>
      </p:bgPr>
    </p:bg>
    <p:spTree>
      <p:nvGrpSpPr>
        <p:cNvPr id="1" name="">
          <a:extLst>
            <a:ext uri="{FF2B5EF4-FFF2-40B4-BE49-F238E27FC236}">
              <a16:creationId xmlns:a16="http://schemas.microsoft.com/office/drawing/2014/main" id="{4B2FEC47-14DF-395B-69BB-74C969680E72}"/>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A0302D0A-BCA6-7BF9-66A7-5539B3B22301}"/>
              </a:ext>
            </a:extLst>
          </p:cNvPr>
          <p:cNvGrpSpPr/>
          <p:nvPr/>
        </p:nvGrpSpPr>
        <p:grpSpPr>
          <a:xfrm>
            <a:off x="0" y="9497082"/>
            <a:ext cx="18292543" cy="787203"/>
            <a:chOff x="0" y="0"/>
            <a:chExt cx="24390058" cy="1049604"/>
          </a:xfrm>
        </p:grpSpPr>
        <p:sp>
          <p:nvSpPr>
            <p:cNvPr id="3" name="Freeform 3">
              <a:extLst>
                <a:ext uri="{FF2B5EF4-FFF2-40B4-BE49-F238E27FC236}">
                  <a16:creationId xmlns:a16="http://schemas.microsoft.com/office/drawing/2014/main" id="{C89E71F3-B34E-D31D-93A8-42A70EABD7C5}"/>
                </a:ext>
              </a:extLst>
            </p:cNvPr>
            <p:cNvSpPr/>
            <p:nvPr/>
          </p:nvSpPr>
          <p:spPr>
            <a:xfrm>
              <a:off x="0" y="0"/>
              <a:ext cx="24390096" cy="1049655"/>
            </a:xfrm>
            <a:custGeom>
              <a:avLst/>
              <a:gdLst/>
              <a:ahLst/>
              <a:cxnLst/>
              <a:rect l="l" t="t" r="r" b="b"/>
              <a:pathLst>
                <a:path w="24390096" h="1049655">
                  <a:moveTo>
                    <a:pt x="0" y="0"/>
                  </a:moveTo>
                  <a:lnTo>
                    <a:pt x="24390096" y="0"/>
                  </a:lnTo>
                  <a:lnTo>
                    <a:pt x="24390096" y="1049655"/>
                  </a:lnTo>
                  <a:lnTo>
                    <a:pt x="0" y="1049655"/>
                  </a:lnTo>
                  <a:close/>
                </a:path>
              </a:pathLst>
            </a:custGeom>
            <a:solidFill>
              <a:srgbClr val="348E90"/>
            </a:solidFill>
          </p:spPr>
          <p:txBody>
            <a:bodyPr/>
            <a:lstStyle/>
            <a:p>
              <a:endParaRPr lang="en-IN"/>
            </a:p>
          </p:txBody>
        </p:sp>
      </p:grpSp>
      <p:sp>
        <p:nvSpPr>
          <p:cNvPr id="4" name="Rectangle 3">
            <a:extLst>
              <a:ext uri="{FF2B5EF4-FFF2-40B4-BE49-F238E27FC236}">
                <a16:creationId xmlns:a16="http://schemas.microsoft.com/office/drawing/2014/main" id="{20E958A2-5BD7-8E7E-2A99-65E38A26A1DB}"/>
              </a:ext>
            </a:extLst>
          </p:cNvPr>
          <p:cNvSpPr/>
          <p:nvPr/>
        </p:nvSpPr>
        <p:spPr>
          <a:xfrm>
            <a:off x="15544800" y="0"/>
            <a:ext cx="1143000" cy="1823056"/>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14256585-0115-B177-5BCE-744DB4B7D168}"/>
              </a:ext>
            </a:extLst>
          </p:cNvPr>
          <p:cNvSpPr txBox="1"/>
          <p:nvPr/>
        </p:nvSpPr>
        <p:spPr>
          <a:xfrm>
            <a:off x="6775846" y="911528"/>
            <a:ext cx="5955507" cy="707886"/>
          </a:xfrm>
          <a:prstGeom prst="rect">
            <a:avLst/>
          </a:prstGeom>
          <a:noFill/>
        </p:spPr>
        <p:txBody>
          <a:bodyPr wrap="square">
            <a:spAutoFit/>
          </a:bodyPr>
          <a:lstStyle/>
          <a:p>
            <a:r>
              <a:rPr lang="en-US" sz="4000" b="1" dirty="0">
                <a:latin typeface="Inter" panose="020B0604020202020204" charset="0"/>
                <a:cs typeface="Inter" panose="020B0604020202020204" charset="0"/>
              </a:rPr>
              <a:t>Repayment Performance</a:t>
            </a:r>
            <a:endParaRPr lang="en-IN" sz="4000" b="1" dirty="0">
              <a:latin typeface="Inter" panose="020B0604020202020204" charset="0"/>
              <a:cs typeface="Inter" panose="020B0604020202020204" charset="0"/>
            </a:endParaRPr>
          </a:p>
        </p:txBody>
      </p:sp>
      <p:graphicFrame>
        <p:nvGraphicFramePr>
          <p:cNvPr id="6" name="Table 5">
            <a:extLst>
              <a:ext uri="{FF2B5EF4-FFF2-40B4-BE49-F238E27FC236}">
                <a16:creationId xmlns:a16="http://schemas.microsoft.com/office/drawing/2014/main" id="{5AFA013E-86C8-B8C2-6C83-4FA3A0DBCB17}"/>
              </a:ext>
            </a:extLst>
          </p:cNvPr>
          <p:cNvGraphicFramePr>
            <a:graphicFrameLocks noGrp="1"/>
          </p:cNvGraphicFramePr>
          <p:nvPr>
            <p:extLst>
              <p:ext uri="{D42A27DB-BD31-4B8C-83A1-F6EECF244321}">
                <p14:modId xmlns:p14="http://schemas.microsoft.com/office/powerpoint/2010/main" val="3908173463"/>
              </p:ext>
            </p:extLst>
          </p:nvPr>
        </p:nvGraphicFramePr>
        <p:xfrm>
          <a:off x="1676400" y="2120092"/>
          <a:ext cx="7467600" cy="6604809"/>
        </p:xfrm>
        <a:graphic>
          <a:graphicData uri="http://schemas.openxmlformats.org/drawingml/2006/table">
            <a:tbl>
              <a:tblPr firstRow="1" bandRow="1">
                <a:tableStyleId>{5C22544A-7EE6-4342-B048-85BDC9FD1C3A}</a:tableStyleId>
              </a:tblPr>
              <a:tblGrid>
                <a:gridCol w="3733800">
                  <a:extLst>
                    <a:ext uri="{9D8B030D-6E8A-4147-A177-3AD203B41FA5}">
                      <a16:colId xmlns:a16="http://schemas.microsoft.com/office/drawing/2014/main" val="60828127"/>
                    </a:ext>
                  </a:extLst>
                </a:gridCol>
                <a:gridCol w="3733800">
                  <a:extLst>
                    <a:ext uri="{9D8B030D-6E8A-4147-A177-3AD203B41FA5}">
                      <a16:colId xmlns:a16="http://schemas.microsoft.com/office/drawing/2014/main" val="3509672948"/>
                    </a:ext>
                  </a:extLst>
                </a:gridCol>
              </a:tblGrid>
              <a:tr h="1434289">
                <a:tc>
                  <a:txBody>
                    <a:bodyPr/>
                    <a:lstStyle/>
                    <a:p>
                      <a:pPr algn="ctr"/>
                      <a:r>
                        <a:rPr lang="en-US" sz="2100" dirty="0">
                          <a:solidFill>
                            <a:schemeClr val="tx1"/>
                          </a:solidFill>
                          <a:latin typeface="Inter" panose="020B0604020202020204" charset="0"/>
                          <a:cs typeface="Inter" panose="020B0604020202020204" charset="0"/>
                        </a:rPr>
                        <a:t>KPI Cards</a:t>
                      </a:r>
                      <a:endParaRPr lang="en-IN" sz="2100"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sz="2100" dirty="0">
                          <a:solidFill>
                            <a:schemeClr val="tx1"/>
                          </a:solidFill>
                          <a:latin typeface="Inter" panose="020B0604020202020204" charset="0"/>
                          <a:cs typeface="Inter" panose="020B0604020202020204" charset="0"/>
                        </a:rPr>
                        <a:t>Values</a:t>
                      </a:r>
                      <a:endParaRPr lang="en-IN" sz="2100"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2078074201"/>
                  </a:ext>
                </a:extLst>
              </a:tr>
              <a:tr h="1292630">
                <a:tc>
                  <a:txBody>
                    <a:bodyPr/>
                    <a:lstStyle/>
                    <a:p>
                      <a:pPr algn="ctr"/>
                      <a:r>
                        <a:rPr lang="en-US" dirty="0">
                          <a:solidFill>
                            <a:schemeClr val="tx1"/>
                          </a:solidFill>
                          <a:latin typeface="Inter" panose="020B0604020202020204" charset="0"/>
                          <a:cs typeface="Inter" panose="020B0604020202020204" charset="0"/>
                        </a:rPr>
                        <a:t>Payment Coverage Ratio</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1.01</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2167288804"/>
                  </a:ext>
                </a:extLst>
              </a:tr>
              <a:tr h="1292630">
                <a:tc>
                  <a:txBody>
                    <a:bodyPr/>
                    <a:lstStyle/>
                    <a:p>
                      <a:pPr algn="ctr"/>
                      <a:r>
                        <a:rPr lang="en-US" dirty="0">
                          <a:solidFill>
                            <a:schemeClr val="tx1"/>
                          </a:solidFill>
                          <a:latin typeface="Inter" panose="020B0604020202020204" charset="0"/>
                          <a:cs typeface="Inter" panose="020B0604020202020204" charset="0"/>
                        </a:rPr>
                        <a:t>POS DPD Rate</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2.69%</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407618187"/>
                  </a:ext>
                </a:extLst>
              </a:tr>
              <a:tr h="1292630">
                <a:tc>
                  <a:txBody>
                    <a:bodyPr/>
                    <a:lstStyle/>
                    <a:p>
                      <a:pPr algn="ctr"/>
                      <a:r>
                        <a:rPr lang="en-US" dirty="0">
                          <a:solidFill>
                            <a:schemeClr val="tx1"/>
                          </a:solidFill>
                          <a:latin typeface="Inter" panose="020B0604020202020204" charset="0"/>
                          <a:cs typeface="Inter" panose="020B0604020202020204" charset="0"/>
                        </a:rPr>
                        <a:t>Credit Card DPD Rate</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3.99%</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883365364"/>
                  </a:ext>
                </a:extLst>
              </a:tr>
              <a:tr h="1292630">
                <a:tc>
                  <a:txBody>
                    <a:bodyPr/>
                    <a:lstStyle/>
                    <a:p>
                      <a:pPr algn="ctr"/>
                      <a:r>
                        <a:rPr lang="en-US" dirty="0">
                          <a:solidFill>
                            <a:schemeClr val="tx1"/>
                          </a:solidFill>
                          <a:latin typeface="Inter" panose="020B0604020202020204" charset="0"/>
                          <a:cs typeface="Inter" panose="020B0604020202020204" charset="0"/>
                        </a:rPr>
                        <a:t>Median Remaining Installments</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tc>
                  <a:txBody>
                    <a:bodyPr/>
                    <a:lstStyle/>
                    <a:p>
                      <a:pPr algn="ctr"/>
                      <a:r>
                        <a:rPr lang="en-US" dirty="0">
                          <a:solidFill>
                            <a:schemeClr val="tx1"/>
                          </a:solidFill>
                          <a:latin typeface="Inter" panose="020B0604020202020204" charset="0"/>
                          <a:cs typeface="Inter" panose="020B0604020202020204" charset="0"/>
                        </a:rPr>
                        <a:t>7</a:t>
                      </a:r>
                      <a:endParaRPr lang="en-IN" dirty="0">
                        <a:solidFill>
                          <a:schemeClr val="tx1"/>
                        </a:solidFill>
                        <a:latin typeface="Inter" panose="020B0604020202020204" charset="0"/>
                        <a:cs typeface="Inter"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D6CA"/>
                    </a:solidFill>
                  </a:tcPr>
                </a:tc>
                <a:extLst>
                  <a:ext uri="{0D108BD9-81ED-4DB2-BD59-A6C34878D82A}">
                    <a16:rowId xmlns:a16="http://schemas.microsoft.com/office/drawing/2014/main" val="4153070572"/>
                  </a:ext>
                </a:extLst>
              </a:tr>
            </a:tbl>
          </a:graphicData>
        </a:graphic>
      </p:graphicFrame>
      <p:sp>
        <p:nvSpPr>
          <p:cNvPr id="7" name="Rectangle: Rounded Corners 6">
            <a:extLst>
              <a:ext uri="{FF2B5EF4-FFF2-40B4-BE49-F238E27FC236}">
                <a16:creationId xmlns:a16="http://schemas.microsoft.com/office/drawing/2014/main" id="{DF51C625-6688-5157-7CA5-07AE5432DD13}"/>
              </a:ext>
            </a:extLst>
          </p:cNvPr>
          <p:cNvSpPr/>
          <p:nvPr/>
        </p:nvSpPr>
        <p:spPr>
          <a:xfrm>
            <a:off x="9753600" y="2120092"/>
            <a:ext cx="6934200" cy="6604808"/>
          </a:xfrm>
          <a:prstGeom prst="roundRect">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buNone/>
            </a:pPr>
            <a:r>
              <a:rPr lang="en-IN" sz="2500" b="1" dirty="0">
                <a:solidFill>
                  <a:schemeClr val="bg1"/>
                </a:solidFill>
                <a:latin typeface="Inter" panose="020B0604020202020204" charset="0"/>
                <a:cs typeface="Inter" panose="020B0604020202020204" charset="0"/>
              </a:rPr>
              <a:t>Key Insight</a:t>
            </a:r>
          </a:p>
          <a:p>
            <a:pPr marL="285750" indent="-285750">
              <a:buFont typeface="Arial" panose="020B0604020202020204" pitchFamily="34" charset="0"/>
              <a:buChar char="•"/>
            </a:pPr>
            <a:r>
              <a:rPr lang="en-IN" dirty="0">
                <a:latin typeface="Inter" panose="020B0604020202020204" charset="0"/>
                <a:cs typeface="Inter" panose="020B0604020202020204" charset="0"/>
              </a:rPr>
              <a:t>Customers generally repay obligations successfully, as total payments slightly exceed scheduled installments (</a:t>
            </a:r>
            <a:r>
              <a:rPr lang="en-IN" b="1" dirty="0">
                <a:latin typeface="Inter" panose="020B0604020202020204" charset="0"/>
                <a:cs typeface="Inter" panose="020B0604020202020204" charset="0"/>
              </a:rPr>
              <a:t>coverage ratio &gt; 1</a:t>
            </a:r>
            <a:r>
              <a:rPr lang="en-IN" dirty="0">
                <a:latin typeface="Inter" panose="020B0604020202020204" charset="0"/>
                <a:cs typeface="Inter" panose="020B0604020202020204" charset="0"/>
              </a:rPr>
              <a:t>). </a:t>
            </a:r>
          </a:p>
          <a:p>
            <a:pPr marL="285750" indent="-285750">
              <a:buFont typeface="Arial" panose="020B0604020202020204" pitchFamily="34" charset="0"/>
              <a:buChar char="•"/>
            </a:pPr>
            <a:r>
              <a:rPr lang="en-IN" dirty="0">
                <a:latin typeface="Inter" panose="020B0604020202020204" charset="0"/>
                <a:cs typeface="Inter" panose="020B0604020202020204" charset="0"/>
              </a:rPr>
              <a:t>Delinquency rates remain below </a:t>
            </a:r>
            <a:r>
              <a:rPr lang="en-IN" b="1" dirty="0">
                <a:latin typeface="Inter" panose="020B0604020202020204" charset="0"/>
                <a:cs typeface="Inter" panose="020B0604020202020204" charset="0"/>
              </a:rPr>
              <a:t>4%</a:t>
            </a:r>
            <a:r>
              <a:rPr lang="en-IN" dirty="0">
                <a:latin typeface="Inter" panose="020B0604020202020204" charset="0"/>
                <a:cs typeface="Inter" panose="020B0604020202020204" charset="0"/>
              </a:rPr>
              <a:t> across POS and credit card products. </a:t>
            </a:r>
          </a:p>
          <a:p>
            <a:pPr marL="285750" indent="-285750">
              <a:buFont typeface="Arial" panose="020B0604020202020204" pitchFamily="34" charset="0"/>
              <a:buChar char="•"/>
            </a:pPr>
            <a:r>
              <a:rPr lang="en-IN" dirty="0">
                <a:latin typeface="Inter" panose="020B0604020202020204" charset="0"/>
                <a:cs typeface="Inter" panose="020B0604020202020204" charset="0"/>
              </a:rPr>
              <a:t>Most active installment contracts have only </a:t>
            </a:r>
            <a:r>
              <a:rPr lang="en-IN" b="1" dirty="0">
                <a:latin typeface="Inter" panose="020B0604020202020204" charset="0"/>
                <a:cs typeface="Inter" panose="020B0604020202020204" charset="0"/>
              </a:rPr>
              <a:t>7 payments remaining</a:t>
            </a:r>
            <a:r>
              <a:rPr lang="en-IN" dirty="0">
                <a:latin typeface="Inter" panose="020B0604020202020204" charset="0"/>
                <a:cs typeface="Inter" panose="020B0604020202020204" charset="0"/>
              </a:rPr>
              <a:t>, indicating portfolios are relatively mature.</a:t>
            </a:r>
          </a:p>
          <a:p>
            <a:pPr marL="285750" indent="-285750">
              <a:buFont typeface="Arial" panose="020B0604020202020204" pitchFamily="34" charset="0"/>
              <a:buChar char="•"/>
            </a:pPr>
            <a:r>
              <a:rPr lang="en-IN" dirty="0">
                <a:latin typeface="Inter" panose="020B0604020202020204" charset="0"/>
                <a:cs typeface="Inter" panose="020B0604020202020204" charset="0"/>
              </a:rPr>
              <a:t> Repayment behaviour appears significantly healthier than the final default rate alone would suggest.</a:t>
            </a:r>
            <a:endParaRPr lang="en-IN" dirty="0">
              <a:solidFill>
                <a:schemeClr val="bg1"/>
              </a:solidFill>
              <a:latin typeface="Inter" panose="020B0604020202020204" charset="0"/>
              <a:cs typeface="Inter" panose="020B0604020202020204" charset="0"/>
            </a:endParaRPr>
          </a:p>
        </p:txBody>
      </p:sp>
    </p:spTree>
    <p:extLst>
      <p:ext uri="{BB962C8B-B14F-4D97-AF65-F5344CB8AC3E}">
        <p14:creationId xmlns:p14="http://schemas.microsoft.com/office/powerpoint/2010/main" val="24061320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C5D6CA"/>
        </a:solidFill>
        <a:effectLst/>
      </p:bgPr>
    </p:bg>
    <p:spTree>
      <p:nvGrpSpPr>
        <p:cNvPr id="1" name="">
          <a:extLst>
            <a:ext uri="{FF2B5EF4-FFF2-40B4-BE49-F238E27FC236}">
              <a16:creationId xmlns:a16="http://schemas.microsoft.com/office/drawing/2014/main" id="{1DE49C26-6CF0-255E-A2D4-C7CC069FA58F}"/>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2F1A7ABC-1565-EC71-FDF3-781558F71054}"/>
              </a:ext>
            </a:extLst>
          </p:cNvPr>
          <p:cNvGrpSpPr/>
          <p:nvPr/>
        </p:nvGrpSpPr>
        <p:grpSpPr>
          <a:xfrm>
            <a:off x="0" y="9497082"/>
            <a:ext cx="18292543" cy="787203"/>
            <a:chOff x="0" y="0"/>
            <a:chExt cx="24390058" cy="1049604"/>
          </a:xfrm>
        </p:grpSpPr>
        <p:sp>
          <p:nvSpPr>
            <p:cNvPr id="3" name="Freeform 3">
              <a:extLst>
                <a:ext uri="{FF2B5EF4-FFF2-40B4-BE49-F238E27FC236}">
                  <a16:creationId xmlns:a16="http://schemas.microsoft.com/office/drawing/2014/main" id="{749B5C91-63F1-A1B9-681D-EA3EAF255B01}"/>
                </a:ext>
              </a:extLst>
            </p:cNvPr>
            <p:cNvSpPr/>
            <p:nvPr/>
          </p:nvSpPr>
          <p:spPr>
            <a:xfrm>
              <a:off x="0" y="0"/>
              <a:ext cx="24390096" cy="1049655"/>
            </a:xfrm>
            <a:custGeom>
              <a:avLst/>
              <a:gdLst/>
              <a:ahLst/>
              <a:cxnLst/>
              <a:rect l="l" t="t" r="r" b="b"/>
              <a:pathLst>
                <a:path w="24390096" h="1049655">
                  <a:moveTo>
                    <a:pt x="0" y="0"/>
                  </a:moveTo>
                  <a:lnTo>
                    <a:pt x="24390096" y="0"/>
                  </a:lnTo>
                  <a:lnTo>
                    <a:pt x="24390096" y="1049655"/>
                  </a:lnTo>
                  <a:lnTo>
                    <a:pt x="0" y="1049655"/>
                  </a:lnTo>
                  <a:close/>
                </a:path>
              </a:pathLst>
            </a:custGeom>
            <a:solidFill>
              <a:srgbClr val="348E90"/>
            </a:solidFill>
          </p:spPr>
          <p:txBody>
            <a:bodyPr/>
            <a:lstStyle/>
            <a:p>
              <a:endParaRPr lang="en-IN"/>
            </a:p>
          </p:txBody>
        </p:sp>
      </p:grpSp>
      <p:sp>
        <p:nvSpPr>
          <p:cNvPr id="4" name="Rectangle 3">
            <a:extLst>
              <a:ext uri="{FF2B5EF4-FFF2-40B4-BE49-F238E27FC236}">
                <a16:creationId xmlns:a16="http://schemas.microsoft.com/office/drawing/2014/main" id="{C2EBF5DB-C5CC-2829-957F-282AF43DE2D3}"/>
              </a:ext>
            </a:extLst>
          </p:cNvPr>
          <p:cNvSpPr/>
          <p:nvPr/>
        </p:nvSpPr>
        <p:spPr>
          <a:xfrm>
            <a:off x="15544800" y="0"/>
            <a:ext cx="1143000" cy="1823056"/>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C528C4DA-0D54-C2E4-6471-DD3DDA6DC477}"/>
              </a:ext>
            </a:extLst>
          </p:cNvPr>
          <p:cNvSpPr txBox="1"/>
          <p:nvPr/>
        </p:nvSpPr>
        <p:spPr>
          <a:xfrm>
            <a:off x="5619750" y="1315224"/>
            <a:ext cx="7048500" cy="1015663"/>
          </a:xfrm>
          <a:prstGeom prst="rect">
            <a:avLst/>
          </a:prstGeom>
          <a:noFill/>
        </p:spPr>
        <p:txBody>
          <a:bodyPr wrap="square">
            <a:spAutoFit/>
          </a:bodyPr>
          <a:lstStyle/>
          <a:p>
            <a:r>
              <a:rPr lang="en-US" sz="6000" b="1" dirty="0">
                <a:latin typeface="Inter" panose="020B0604020202020204" charset="0"/>
                <a:cs typeface="Inter" panose="020B0604020202020204" charset="0"/>
              </a:rPr>
              <a:t>Executive Summary</a:t>
            </a:r>
            <a:endParaRPr lang="en-IN" sz="6000" b="1" dirty="0">
              <a:latin typeface="Inter" panose="020B0604020202020204" charset="0"/>
              <a:cs typeface="Inter" panose="020B0604020202020204" charset="0"/>
            </a:endParaRPr>
          </a:p>
        </p:txBody>
      </p:sp>
      <p:sp>
        <p:nvSpPr>
          <p:cNvPr id="8" name="Rectangle 7">
            <a:extLst>
              <a:ext uri="{FF2B5EF4-FFF2-40B4-BE49-F238E27FC236}">
                <a16:creationId xmlns:a16="http://schemas.microsoft.com/office/drawing/2014/main" id="{5DD9AA96-C8A2-056E-E483-2948AF164C3F}"/>
              </a:ext>
            </a:extLst>
          </p:cNvPr>
          <p:cNvSpPr/>
          <p:nvPr/>
        </p:nvSpPr>
        <p:spPr>
          <a:xfrm>
            <a:off x="1143000" y="2781300"/>
            <a:ext cx="15544800" cy="4419600"/>
          </a:xfrm>
          <a:prstGeom prst="rect">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889000" indent="-285750">
              <a:lnSpc>
                <a:spcPct val="200000"/>
              </a:lnSpc>
              <a:buFont typeface="Arial" panose="020B0604020202020204" pitchFamily="34" charset="0"/>
              <a:buChar char="•"/>
            </a:pPr>
            <a:r>
              <a:rPr lang="en-IN" dirty="0">
                <a:latin typeface="Inter" panose="020B0604020202020204" charset="0"/>
                <a:cs typeface="Inter" panose="020B0604020202020204" charset="0"/>
              </a:rPr>
              <a:t>The bank manages a </a:t>
            </a:r>
            <a:r>
              <a:rPr lang="en-IN" b="1" dirty="0">
                <a:latin typeface="Inter" panose="020B0604020202020204" charset="0"/>
                <a:cs typeface="Inter" panose="020B0604020202020204" charset="0"/>
              </a:rPr>
              <a:t>large portfolio of 307K customers</a:t>
            </a:r>
            <a:r>
              <a:rPr lang="en-IN" dirty="0">
                <a:latin typeface="Inter" panose="020B0604020202020204" charset="0"/>
                <a:cs typeface="Inter" panose="020B0604020202020204" charset="0"/>
              </a:rPr>
              <a:t> with a </a:t>
            </a:r>
            <a:r>
              <a:rPr lang="en-IN" b="1" dirty="0">
                <a:latin typeface="Inter" panose="020B0604020202020204" charset="0"/>
                <a:cs typeface="Inter" panose="020B0604020202020204" charset="0"/>
              </a:rPr>
              <a:t>moderate default rate of 8.07%</a:t>
            </a:r>
            <a:r>
              <a:rPr lang="en-IN" dirty="0">
                <a:latin typeface="Inter" panose="020B0604020202020204" charset="0"/>
                <a:cs typeface="Inter" panose="020B0604020202020204" charset="0"/>
              </a:rPr>
              <a:t>. </a:t>
            </a:r>
          </a:p>
          <a:p>
            <a:pPr marL="889000" indent="-285750">
              <a:lnSpc>
                <a:spcPct val="200000"/>
              </a:lnSpc>
              <a:buFont typeface="Arial" panose="020B0604020202020204" pitchFamily="34" charset="0"/>
              <a:buChar char="•"/>
            </a:pPr>
            <a:r>
              <a:rPr lang="en-IN" dirty="0">
                <a:latin typeface="Inter" panose="020B0604020202020204" charset="0"/>
                <a:cs typeface="Inter" panose="020B0604020202020204" charset="0"/>
              </a:rPr>
              <a:t>Borrowers are predominantly </a:t>
            </a:r>
            <a:r>
              <a:rPr lang="en-IN" b="1" dirty="0">
                <a:latin typeface="Inter" panose="020B0604020202020204" charset="0"/>
                <a:cs typeface="Inter" panose="020B0604020202020204" charset="0"/>
              </a:rPr>
              <a:t>middle-aged customers with average annual income of 169K</a:t>
            </a:r>
            <a:r>
              <a:rPr lang="en-IN" dirty="0">
                <a:latin typeface="Inter" panose="020B0604020202020204" charset="0"/>
                <a:cs typeface="Inter" panose="020B0604020202020204" charset="0"/>
              </a:rPr>
              <a:t>. </a:t>
            </a:r>
          </a:p>
          <a:p>
            <a:pPr marL="889000" indent="-285750">
              <a:lnSpc>
                <a:spcPct val="200000"/>
              </a:lnSpc>
              <a:buFont typeface="Arial" panose="020B0604020202020204" pitchFamily="34" charset="0"/>
              <a:buChar char="•"/>
            </a:pPr>
            <a:r>
              <a:rPr lang="en-IN" dirty="0">
                <a:latin typeface="Inter" panose="020B0604020202020204" charset="0"/>
                <a:cs typeface="Inter" panose="020B0604020202020204" charset="0"/>
              </a:rPr>
              <a:t>Credit risk indicators show </a:t>
            </a:r>
            <a:r>
              <a:rPr lang="en-IN" b="1" dirty="0">
                <a:latin typeface="Inter" panose="020B0604020202020204" charset="0"/>
                <a:cs typeface="Inter" panose="020B0604020202020204" charset="0"/>
              </a:rPr>
              <a:t>average external scores around 0.5 and low overdue balances</a:t>
            </a:r>
            <a:r>
              <a:rPr lang="en-IN" dirty="0">
                <a:latin typeface="Inter" panose="020B0604020202020204" charset="0"/>
                <a:cs typeface="Inter" panose="020B0604020202020204" charset="0"/>
              </a:rPr>
              <a:t>, suggesting generally acceptable borrower quality. </a:t>
            </a:r>
          </a:p>
          <a:p>
            <a:pPr marL="889000" indent="-285750">
              <a:lnSpc>
                <a:spcPct val="200000"/>
              </a:lnSpc>
              <a:buFont typeface="Arial" panose="020B0604020202020204" pitchFamily="34" charset="0"/>
              <a:buChar char="•"/>
            </a:pPr>
            <a:r>
              <a:rPr lang="en-IN" dirty="0">
                <a:latin typeface="Inter" panose="020B0604020202020204" charset="0"/>
                <a:cs typeface="Inter" panose="020B0604020202020204" charset="0"/>
              </a:rPr>
              <a:t>Lending operations maintain a </a:t>
            </a:r>
            <a:r>
              <a:rPr lang="en-IN" b="1" dirty="0">
                <a:latin typeface="Inter" panose="020B0604020202020204" charset="0"/>
                <a:cs typeface="Inter" panose="020B0604020202020204" charset="0"/>
              </a:rPr>
              <a:t>62% approval rate</a:t>
            </a:r>
            <a:r>
              <a:rPr lang="en-IN" dirty="0">
                <a:latin typeface="Inter" panose="020B0604020202020204" charset="0"/>
                <a:cs typeface="Inter" panose="020B0604020202020204" charset="0"/>
              </a:rPr>
              <a:t>, while approved loan amounts average </a:t>
            </a:r>
            <a:r>
              <a:rPr lang="en-IN" b="1" dirty="0">
                <a:latin typeface="Inter" panose="020B0604020202020204" charset="0"/>
                <a:cs typeface="Inter" panose="020B0604020202020204" charset="0"/>
              </a:rPr>
              <a:t>203K</a:t>
            </a:r>
            <a:r>
              <a:rPr lang="en-IN" dirty="0">
                <a:latin typeface="Inter" panose="020B0604020202020204" charset="0"/>
                <a:cs typeface="Inter" panose="020B0604020202020204" charset="0"/>
              </a:rPr>
              <a:t>. </a:t>
            </a:r>
          </a:p>
          <a:p>
            <a:pPr marL="889000" indent="-285750">
              <a:lnSpc>
                <a:spcPct val="200000"/>
              </a:lnSpc>
              <a:buFont typeface="Arial" panose="020B0604020202020204" pitchFamily="34" charset="0"/>
              <a:buChar char="•"/>
            </a:pPr>
            <a:r>
              <a:rPr lang="en-IN" dirty="0">
                <a:latin typeface="Inter" panose="020B0604020202020204" charset="0"/>
                <a:cs typeface="Inter" panose="020B0604020202020204" charset="0"/>
              </a:rPr>
              <a:t>Repayment performance is strong, with payment coverage above 100% and delinquency levels below 4%, supporting overall portfolio stability.</a:t>
            </a:r>
          </a:p>
        </p:txBody>
      </p:sp>
    </p:spTree>
    <p:extLst>
      <p:ext uri="{BB962C8B-B14F-4D97-AF65-F5344CB8AC3E}">
        <p14:creationId xmlns:p14="http://schemas.microsoft.com/office/powerpoint/2010/main" val="53208878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C5D6CA"/>
        </a:solidFill>
        <a:effectLst/>
      </p:bgPr>
    </p:bg>
    <p:spTree>
      <p:nvGrpSpPr>
        <p:cNvPr id="1" name="">
          <a:extLst>
            <a:ext uri="{FF2B5EF4-FFF2-40B4-BE49-F238E27FC236}">
              <a16:creationId xmlns:a16="http://schemas.microsoft.com/office/drawing/2014/main" id="{65E1DEE2-06C2-06D8-66DD-2BB98E641675}"/>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E0E797E2-BDFA-D95F-113A-69F1DAA47E0C}"/>
              </a:ext>
            </a:extLst>
          </p:cNvPr>
          <p:cNvGrpSpPr/>
          <p:nvPr/>
        </p:nvGrpSpPr>
        <p:grpSpPr>
          <a:xfrm>
            <a:off x="0" y="9497082"/>
            <a:ext cx="18292543" cy="787203"/>
            <a:chOff x="0" y="0"/>
            <a:chExt cx="24390058" cy="1049604"/>
          </a:xfrm>
        </p:grpSpPr>
        <p:sp>
          <p:nvSpPr>
            <p:cNvPr id="3" name="Freeform 3">
              <a:extLst>
                <a:ext uri="{FF2B5EF4-FFF2-40B4-BE49-F238E27FC236}">
                  <a16:creationId xmlns:a16="http://schemas.microsoft.com/office/drawing/2014/main" id="{0A2CE05F-0163-5245-2489-D93F9526CF23}"/>
                </a:ext>
              </a:extLst>
            </p:cNvPr>
            <p:cNvSpPr/>
            <p:nvPr/>
          </p:nvSpPr>
          <p:spPr>
            <a:xfrm>
              <a:off x="0" y="0"/>
              <a:ext cx="24390096" cy="1049655"/>
            </a:xfrm>
            <a:custGeom>
              <a:avLst/>
              <a:gdLst/>
              <a:ahLst/>
              <a:cxnLst/>
              <a:rect l="l" t="t" r="r" b="b"/>
              <a:pathLst>
                <a:path w="24390096" h="1049655">
                  <a:moveTo>
                    <a:pt x="0" y="0"/>
                  </a:moveTo>
                  <a:lnTo>
                    <a:pt x="24390096" y="0"/>
                  </a:lnTo>
                  <a:lnTo>
                    <a:pt x="24390096" y="1049655"/>
                  </a:lnTo>
                  <a:lnTo>
                    <a:pt x="0" y="1049655"/>
                  </a:lnTo>
                  <a:close/>
                </a:path>
              </a:pathLst>
            </a:custGeom>
            <a:solidFill>
              <a:srgbClr val="348E90"/>
            </a:solidFill>
          </p:spPr>
          <p:txBody>
            <a:bodyPr/>
            <a:lstStyle/>
            <a:p>
              <a:endParaRPr lang="en-IN"/>
            </a:p>
          </p:txBody>
        </p:sp>
      </p:grpSp>
      <p:sp>
        <p:nvSpPr>
          <p:cNvPr id="4" name="Rectangle 3">
            <a:extLst>
              <a:ext uri="{FF2B5EF4-FFF2-40B4-BE49-F238E27FC236}">
                <a16:creationId xmlns:a16="http://schemas.microsoft.com/office/drawing/2014/main" id="{35765C0C-7B2B-3E38-BBAE-A45988F40DFE}"/>
              </a:ext>
            </a:extLst>
          </p:cNvPr>
          <p:cNvSpPr/>
          <p:nvPr/>
        </p:nvSpPr>
        <p:spPr>
          <a:xfrm>
            <a:off x="15544800" y="0"/>
            <a:ext cx="1143000" cy="1823056"/>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2AFC67C7-E936-FE17-0EB9-65D8D4E31F0B}"/>
              </a:ext>
            </a:extLst>
          </p:cNvPr>
          <p:cNvSpPr txBox="1"/>
          <p:nvPr/>
        </p:nvSpPr>
        <p:spPr>
          <a:xfrm>
            <a:off x="2971800" y="4635668"/>
            <a:ext cx="9677400" cy="1015663"/>
          </a:xfrm>
          <a:prstGeom prst="rect">
            <a:avLst/>
          </a:prstGeom>
          <a:noFill/>
        </p:spPr>
        <p:txBody>
          <a:bodyPr wrap="square">
            <a:spAutoFit/>
          </a:bodyPr>
          <a:lstStyle/>
          <a:p>
            <a:r>
              <a:rPr lang="en-US" sz="6000" b="1" dirty="0">
                <a:latin typeface="Inter" panose="020B0604020202020204" charset="0"/>
                <a:cs typeface="Inter" panose="020B0604020202020204" charset="0"/>
              </a:rPr>
              <a:t>Demographic Risk Analysis</a:t>
            </a:r>
            <a:endParaRPr lang="en-IN" sz="6000" b="1" dirty="0">
              <a:latin typeface="Inter" panose="020B0604020202020204" charset="0"/>
              <a:cs typeface="Inter" panose="020B0604020202020204" charset="0"/>
            </a:endParaRPr>
          </a:p>
        </p:txBody>
      </p:sp>
    </p:spTree>
    <p:extLst>
      <p:ext uri="{BB962C8B-B14F-4D97-AF65-F5344CB8AC3E}">
        <p14:creationId xmlns:p14="http://schemas.microsoft.com/office/powerpoint/2010/main" val="331480778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C5D6CA"/>
        </a:solidFill>
        <a:effectLst/>
      </p:bgPr>
    </p:bg>
    <p:spTree>
      <p:nvGrpSpPr>
        <p:cNvPr id="1" name="">
          <a:extLst>
            <a:ext uri="{FF2B5EF4-FFF2-40B4-BE49-F238E27FC236}">
              <a16:creationId xmlns:a16="http://schemas.microsoft.com/office/drawing/2014/main" id="{65D684C2-D794-93AF-3FA4-676F1A7F3732}"/>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C2F5FA64-12B8-EF47-70C3-36F185F6CCBF}"/>
              </a:ext>
            </a:extLst>
          </p:cNvPr>
          <p:cNvGrpSpPr/>
          <p:nvPr/>
        </p:nvGrpSpPr>
        <p:grpSpPr>
          <a:xfrm>
            <a:off x="0" y="9497082"/>
            <a:ext cx="18292543" cy="787203"/>
            <a:chOff x="0" y="0"/>
            <a:chExt cx="24390058" cy="1049604"/>
          </a:xfrm>
        </p:grpSpPr>
        <p:sp>
          <p:nvSpPr>
            <p:cNvPr id="3" name="Freeform 3">
              <a:extLst>
                <a:ext uri="{FF2B5EF4-FFF2-40B4-BE49-F238E27FC236}">
                  <a16:creationId xmlns:a16="http://schemas.microsoft.com/office/drawing/2014/main" id="{7361903F-8C3D-DEC4-0465-D6A3A017E007}"/>
                </a:ext>
              </a:extLst>
            </p:cNvPr>
            <p:cNvSpPr/>
            <p:nvPr/>
          </p:nvSpPr>
          <p:spPr>
            <a:xfrm>
              <a:off x="0" y="0"/>
              <a:ext cx="24390096" cy="1049655"/>
            </a:xfrm>
            <a:custGeom>
              <a:avLst/>
              <a:gdLst/>
              <a:ahLst/>
              <a:cxnLst/>
              <a:rect l="l" t="t" r="r" b="b"/>
              <a:pathLst>
                <a:path w="24390096" h="1049655">
                  <a:moveTo>
                    <a:pt x="0" y="0"/>
                  </a:moveTo>
                  <a:lnTo>
                    <a:pt x="24390096" y="0"/>
                  </a:lnTo>
                  <a:lnTo>
                    <a:pt x="24390096" y="1049655"/>
                  </a:lnTo>
                  <a:lnTo>
                    <a:pt x="0" y="1049655"/>
                  </a:lnTo>
                  <a:close/>
                </a:path>
              </a:pathLst>
            </a:custGeom>
            <a:solidFill>
              <a:srgbClr val="348E90"/>
            </a:solidFill>
          </p:spPr>
          <p:txBody>
            <a:bodyPr/>
            <a:lstStyle/>
            <a:p>
              <a:endParaRPr lang="en-IN"/>
            </a:p>
          </p:txBody>
        </p:sp>
      </p:grpSp>
      <p:sp>
        <p:nvSpPr>
          <p:cNvPr id="4" name="Rectangle 3">
            <a:extLst>
              <a:ext uri="{FF2B5EF4-FFF2-40B4-BE49-F238E27FC236}">
                <a16:creationId xmlns:a16="http://schemas.microsoft.com/office/drawing/2014/main" id="{31650E6A-F510-8A2E-3E5A-66B2EB7FCBB4}"/>
              </a:ext>
            </a:extLst>
          </p:cNvPr>
          <p:cNvSpPr/>
          <p:nvPr/>
        </p:nvSpPr>
        <p:spPr>
          <a:xfrm>
            <a:off x="15544800" y="0"/>
            <a:ext cx="1143000" cy="1823056"/>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89554DBB-7F29-4231-84AA-205B6495C37B}"/>
              </a:ext>
            </a:extLst>
          </p:cNvPr>
          <p:cNvSpPr txBox="1"/>
          <p:nvPr/>
        </p:nvSpPr>
        <p:spPr>
          <a:xfrm>
            <a:off x="6000750" y="911528"/>
            <a:ext cx="6419850" cy="1015663"/>
          </a:xfrm>
          <a:prstGeom prst="rect">
            <a:avLst/>
          </a:prstGeom>
          <a:noFill/>
        </p:spPr>
        <p:txBody>
          <a:bodyPr wrap="square">
            <a:spAutoFit/>
          </a:bodyPr>
          <a:lstStyle/>
          <a:p>
            <a:r>
              <a:rPr lang="en-US" sz="6000" b="1" dirty="0">
                <a:latin typeface="Inter" panose="020B0604020202020204" charset="0"/>
                <a:cs typeface="Inter" panose="020B0604020202020204" charset="0"/>
              </a:rPr>
              <a:t>Target Distribution</a:t>
            </a:r>
            <a:endParaRPr lang="en-IN" sz="6000" b="1" dirty="0">
              <a:latin typeface="Inter" panose="020B0604020202020204" charset="0"/>
              <a:cs typeface="Inter" panose="020B0604020202020204" charset="0"/>
            </a:endParaRPr>
          </a:p>
        </p:txBody>
      </p:sp>
      <p:sp>
        <p:nvSpPr>
          <p:cNvPr id="8" name="Rectangle: Rounded Corners 7">
            <a:extLst>
              <a:ext uri="{FF2B5EF4-FFF2-40B4-BE49-F238E27FC236}">
                <a16:creationId xmlns:a16="http://schemas.microsoft.com/office/drawing/2014/main" id="{39DCFC19-FF61-B293-DC1B-251F54DDA75F}"/>
              </a:ext>
            </a:extLst>
          </p:cNvPr>
          <p:cNvSpPr/>
          <p:nvPr/>
        </p:nvSpPr>
        <p:spPr>
          <a:xfrm>
            <a:off x="1600200" y="8061060"/>
            <a:ext cx="15087600" cy="1357791"/>
          </a:xfrm>
          <a:prstGeom prst="roundRect">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buNone/>
            </a:pPr>
            <a:r>
              <a:rPr lang="en-IN" sz="2500" b="1" dirty="0">
                <a:solidFill>
                  <a:schemeClr val="bg1"/>
                </a:solidFill>
                <a:latin typeface="Inter" panose="020B0604020202020204" charset="0"/>
                <a:cs typeface="Inter" panose="020B0604020202020204" charset="0"/>
              </a:rPr>
              <a:t>Key Insight:</a:t>
            </a:r>
          </a:p>
          <a:p>
            <a:pPr marL="457200" indent="-457200">
              <a:buFont typeface="Arial" panose="020B0604020202020204" pitchFamily="34" charset="0"/>
              <a:buChar char="•"/>
            </a:pPr>
            <a:r>
              <a:rPr lang="en-IN" dirty="0">
                <a:latin typeface="Inter" panose="020B0604020202020204" charset="0"/>
                <a:cs typeface="Inter" panose="020B0604020202020204" charset="0"/>
              </a:rPr>
              <a:t>Portfolio is highly imbalanced </a:t>
            </a:r>
          </a:p>
          <a:p>
            <a:pPr marL="457200" indent="-457200">
              <a:buFont typeface="Arial" panose="020B0604020202020204" pitchFamily="34" charset="0"/>
              <a:buChar char="•"/>
            </a:pPr>
            <a:r>
              <a:rPr lang="en-IN" dirty="0">
                <a:latin typeface="Inter" panose="020B0604020202020204" charset="0"/>
                <a:cs typeface="Inter" panose="020B0604020202020204" charset="0"/>
              </a:rPr>
              <a:t>Only ~8% customers default </a:t>
            </a:r>
          </a:p>
          <a:p>
            <a:pPr marL="457200" indent="-457200">
              <a:buFont typeface="Arial" panose="020B0604020202020204" pitchFamily="34" charset="0"/>
              <a:buChar char="•"/>
            </a:pPr>
            <a:r>
              <a:rPr lang="en-IN" dirty="0">
                <a:latin typeface="Inter" panose="020B0604020202020204" charset="0"/>
                <a:cs typeface="Inter" panose="020B0604020202020204" charset="0"/>
              </a:rPr>
              <a:t>Most customers are good borrowers</a:t>
            </a:r>
            <a:endParaRPr lang="en-IN" b="1" dirty="0">
              <a:solidFill>
                <a:schemeClr val="bg1"/>
              </a:solidFill>
              <a:latin typeface="Inter" panose="020B0604020202020204" charset="0"/>
              <a:cs typeface="Inter" panose="020B0604020202020204" charset="0"/>
            </a:endParaRPr>
          </a:p>
        </p:txBody>
      </p:sp>
      <p:pic>
        <p:nvPicPr>
          <p:cNvPr id="10" name="Picture 9">
            <a:extLst>
              <a:ext uri="{FF2B5EF4-FFF2-40B4-BE49-F238E27FC236}">
                <a16:creationId xmlns:a16="http://schemas.microsoft.com/office/drawing/2014/main" id="{06314CD8-BAAD-B702-FDD3-7653950CB0D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600200" y="2324101"/>
            <a:ext cx="14401799" cy="5074162"/>
          </a:xfrm>
          <a:prstGeom prst="rect">
            <a:avLst/>
          </a:prstGeom>
        </p:spPr>
      </p:pic>
    </p:spTree>
    <p:extLst>
      <p:ext uri="{BB962C8B-B14F-4D97-AF65-F5344CB8AC3E}">
        <p14:creationId xmlns:p14="http://schemas.microsoft.com/office/powerpoint/2010/main" val="235749965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C5D6CA"/>
        </a:solidFill>
        <a:effectLst/>
      </p:bgPr>
    </p:bg>
    <p:spTree>
      <p:nvGrpSpPr>
        <p:cNvPr id="1" name="">
          <a:extLst>
            <a:ext uri="{FF2B5EF4-FFF2-40B4-BE49-F238E27FC236}">
              <a16:creationId xmlns:a16="http://schemas.microsoft.com/office/drawing/2014/main" id="{6BF4E3A4-957D-12B1-5E71-6DD372BDF76A}"/>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02A91A63-BD08-B7FD-35D7-C7754FD21818}"/>
              </a:ext>
            </a:extLst>
          </p:cNvPr>
          <p:cNvGrpSpPr/>
          <p:nvPr/>
        </p:nvGrpSpPr>
        <p:grpSpPr>
          <a:xfrm>
            <a:off x="0" y="9497082"/>
            <a:ext cx="18292543" cy="787203"/>
            <a:chOff x="0" y="0"/>
            <a:chExt cx="24390058" cy="1049604"/>
          </a:xfrm>
        </p:grpSpPr>
        <p:sp>
          <p:nvSpPr>
            <p:cNvPr id="3" name="Freeform 3">
              <a:extLst>
                <a:ext uri="{FF2B5EF4-FFF2-40B4-BE49-F238E27FC236}">
                  <a16:creationId xmlns:a16="http://schemas.microsoft.com/office/drawing/2014/main" id="{D99814C6-8129-63D6-8927-8343CF172074}"/>
                </a:ext>
              </a:extLst>
            </p:cNvPr>
            <p:cNvSpPr/>
            <p:nvPr/>
          </p:nvSpPr>
          <p:spPr>
            <a:xfrm>
              <a:off x="0" y="0"/>
              <a:ext cx="24390096" cy="1049655"/>
            </a:xfrm>
            <a:custGeom>
              <a:avLst/>
              <a:gdLst/>
              <a:ahLst/>
              <a:cxnLst/>
              <a:rect l="l" t="t" r="r" b="b"/>
              <a:pathLst>
                <a:path w="24390096" h="1049655">
                  <a:moveTo>
                    <a:pt x="0" y="0"/>
                  </a:moveTo>
                  <a:lnTo>
                    <a:pt x="24390096" y="0"/>
                  </a:lnTo>
                  <a:lnTo>
                    <a:pt x="24390096" y="1049655"/>
                  </a:lnTo>
                  <a:lnTo>
                    <a:pt x="0" y="1049655"/>
                  </a:lnTo>
                  <a:close/>
                </a:path>
              </a:pathLst>
            </a:custGeom>
            <a:solidFill>
              <a:srgbClr val="348E90"/>
            </a:solidFill>
          </p:spPr>
          <p:txBody>
            <a:bodyPr/>
            <a:lstStyle/>
            <a:p>
              <a:endParaRPr lang="en-IN"/>
            </a:p>
          </p:txBody>
        </p:sp>
      </p:grpSp>
      <p:sp>
        <p:nvSpPr>
          <p:cNvPr id="4" name="Rectangle 3">
            <a:extLst>
              <a:ext uri="{FF2B5EF4-FFF2-40B4-BE49-F238E27FC236}">
                <a16:creationId xmlns:a16="http://schemas.microsoft.com/office/drawing/2014/main" id="{C57FFE80-FE96-9C09-E091-CAF7890D92DF}"/>
              </a:ext>
            </a:extLst>
          </p:cNvPr>
          <p:cNvSpPr/>
          <p:nvPr/>
        </p:nvSpPr>
        <p:spPr>
          <a:xfrm>
            <a:off x="15544800" y="0"/>
            <a:ext cx="1143000" cy="1823056"/>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E09A9A19-1A33-3FFC-2A95-2E053955E901}"/>
              </a:ext>
            </a:extLst>
          </p:cNvPr>
          <p:cNvSpPr txBox="1"/>
          <p:nvPr/>
        </p:nvSpPr>
        <p:spPr>
          <a:xfrm>
            <a:off x="4191000" y="574115"/>
            <a:ext cx="9448800" cy="1015663"/>
          </a:xfrm>
          <a:prstGeom prst="rect">
            <a:avLst/>
          </a:prstGeom>
          <a:noFill/>
        </p:spPr>
        <p:txBody>
          <a:bodyPr wrap="square">
            <a:spAutoFit/>
          </a:bodyPr>
          <a:lstStyle/>
          <a:p>
            <a:r>
              <a:rPr lang="en-US" sz="6000" b="1" dirty="0">
                <a:latin typeface="Inter" panose="020B0604020202020204" charset="0"/>
                <a:cs typeface="Inter" panose="020B0604020202020204" charset="0"/>
              </a:rPr>
              <a:t>Default Rate by Age Group</a:t>
            </a:r>
            <a:endParaRPr lang="en-IN" sz="6000" b="1" dirty="0">
              <a:latin typeface="Inter" panose="020B0604020202020204" charset="0"/>
              <a:cs typeface="Inter" panose="020B0604020202020204" charset="0"/>
            </a:endParaRPr>
          </a:p>
        </p:txBody>
      </p:sp>
      <p:sp>
        <p:nvSpPr>
          <p:cNvPr id="8" name="Rectangle: Rounded Corners 7">
            <a:extLst>
              <a:ext uri="{FF2B5EF4-FFF2-40B4-BE49-F238E27FC236}">
                <a16:creationId xmlns:a16="http://schemas.microsoft.com/office/drawing/2014/main" id="{EE138E99-AAE0-26EA-0055-429D3CBC4494}"/>
              </a:ext>
            </a:extLst>
          </p:cNvPr>
          <p:cNvSpPr/>
          <p:nvPr/>
        </p:nvSpPr>
        <p:spPr>
          <a:xfrm>
            <a:off x="10379612" y="2324100"/>
            <a:ext cx="6324600" cy="3429586"/>
          </a:xfrm>
          <a:prstGeom prst="roundRect">
            <a:avLst>
              <a:gd name="adj" fmla="val 10104"/>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buNone/>
            </a:pPr>
            <a:r>
              <a:rPr lang="en-IN" sz="2500" b="1" dirty="0">
                <a:solidFill>
                  <a:schemeClr val="bg1"/>
                </a:solidFill>
                <a:latin typeface="Inter" panose="020B0604020202020204" charset="0"/>
                <a:cs typeface="Inter" panose="020B0604020202020204" charset="0"/>
              </a:rPr>
              <a:t>Key Insight:</a:t>
            </a:r>
          </a:p>
          <a:p>
            <a:pPr marL="285750" indent="-285750">
              <a:buFont typeface="Arial" panose="020B0604020202020204" pitchFamily="34" charset="0"/>
              <a:buChar char="•"/>
            </a:pPr>
            <a:r>
              <a:rPr lang="en-IN" b="1" dirty="0">
                <a:latin typeface="Inter" panose="020B0604020202020204" charset="0"/>
                <a:cs typeface="Inter" panose="020B0604020202020204" charset="0"/>
              </a:rPr>
              <a:t>Default risk decreases consistently with age.</a:t>
            </a:r>
            <a:r>
              <a:rPr lang="en-IN" dirty="0">
                <a:latin typeface="Inter" panose="020B0604020202020204" charset="0"/>
                <a:cs typeface="Inter" panose="020B0604020202020204" charset="0"/>
              </a:rPr>
              <a:t> </a:t>
            </a:r>
          </a:p>
          <a:p>
            <a:pPr marL="534988" indent="-285750">
              <a:buFont typeface="Arial" panose="020B0604020202020204" pitchFamily="34" charset="0"/>
              <a:buChar char="•"/>
            </a:pPr>
            <a:r>
              <a:rPr lang="en-IN" dirty="0">
                <a:latin typeface="Inter" panose="020B0604020202020204" charset="0"/>
                <a:cs typeface="Inter" panose="020B0604020202020204" charset="0"/>
              </a:rPr>
              <a:t>Applicants aged </a:t>
            </a:r>
            <a:r>
              <a:rPr lang="en-IN" b="1" dirty="0">
                <a:latin typeface="Inter" panose="020B0604020202020204" charset="0"/>
                <a:cs typeface="Inter" panose="020B0604020202020204" charset="0"/>
              </a:rPr>
              <a:t>20–30</a:t>
            </a:r>
            <a:r>
              <a:rPr lang="en-IN" dirty="0">
                <a:latin typeface="Inter" panose="020B0604020202020204" charset="0"/>
                <a:cs typeface="Inter" panose="020B0604020202020204" charset="0"/>
              </a:rPr>
              <a:t> have the highest default rate (</a:t>
            </a:r>
            <a:r>
              <a:rPr lang="en-IN" b="1" dirty="0">
                <a:latin typeface="Inter" panose="020B0604020202020204" charset="0"/>
                <a:cs typeface="Inter" panose="020B0604020202020204" charset="0"/>
              </a:rPr>
              <a:t>~11.4%</a:t>
            </a:r>
            <a:r>
              <a:rPr lang="en-IN" dirty="0">
                <a:latin typeface="Inter" panose="020B0604020202020204" charset="0"/>
                <a:cs typeface="Inter" panose="020B0604020202020204" charset="0"/>
              </a:rPr>
              <a:t>). </a:t>
            </a:r>
          </a:p>
          <a:p>
            <a:pPr marL="534988" indent="-285750">
              <a:buFont typeface="Arial" panose="020B0604020202020204" pitchFamily="34" charset="0"/>
              <a:buChar char="•"/>
            </a:pPr>
            <a:r>
              <a:rPr lang="en-IN" dirty="0">
                <a:latin typeface="Inter" panose="020B0604020202020204" charset="0"/>
                <a:cs typeface="Inter" panose="020B0604020202020204" charset="0"/>
              </a:rPr>
              <a:t>Applicants aged </a:t>
            </a:r>
            <a:r>
              <a:rPr lang="en-IN" b="1" dirty="0">
                <a:latin typeface="Inter" panose="020B0604020202020204" charset="0"/>
                <a:cs typeface="Inter" panose="020B0604020202020204" charset="0"/>
              </a:rPr>
              <a:t>60–70</a:t>
            </a:r>
            <a:r>
              <a:rPr lang="en-IN" dirty="0">
                <a:latin typeface="Inter" panose="020B0604020202020204" charset="0"/>
                <a:cs typeface="Inter" panose="020B0604020202020204" charset="0"/>
              </a:rPr>
              <a:t> have the lowest default rate (</a:t>
            </a:r>
            <a:r>
              <a:rPr lang="en-IN" b="1" dirty="0">
                <a:latin typeface="Inter" panose="020B0604020202020204" charset="0"/>
                <a:cs typeface="Inter" panose="020B0604020202020204" charset="0"/>
              </a:rPr>
              <a:t>~4.9%</a:t>
            </a:r>
            <a:r>
              <a:rPr lang="en-IN" dirty="0">
                <a:latin typeface="Inter" panose="020B0604020202020204" charset="0"/>
                <a:cs typeface="Inter" panose="020B0604020202020204" charset="0"/>
              </a:rPr>
              <a:t>). </a:t>
            </a:r>
          </a:p>
          <a:p>
            <a:pPr marL="285750" indent="-285750">
              <a:buFont typeface="Arial" panose="020B0604020202020204" pitchFamily="34" charset="0"/>
              <a:buChar char="•"/>
            </a:pPr>
            <a:r>
              <a:rPr lang="en-IN" b="1" dirty="0">
                <a:latin typeface="Inter" panose="020B0604020202020204" charset="0"/>
                <a:cs typeface="Inter" panose="020B0604020202020204" charset="0"/>
              </a:rPr>
              <a:t>Young borrowers are more than twice as likely to default as older borrowers.</a:t>
            </a:r>
            <a:r>
              <a:rPr lang="en-IN" dirty="0">
                <a:latin typeface="Inter" panose="020B0604020202020204" charset="0"/>
                <a:cs typeface="Inter" panose="020B0604020202020204" charset="0"/>
              </a:rPr>
              <a:t> </a:t>
            </a:r>
          </a:p>
          <a:p>
            <a:pPr marL="534988" indent="-285750">
              <a:buFont typeface="Arial" panose="020B0604020202020204" pitchFamily="34" charset="0"/>
              <a:buChar char="•"/>
            </a:pPr>
            <a:r>
              <a:rPr lang="en-IN" dirty="0">
                <a:latin typeface="Inter" panose="020B0604020202020204" charset="0"/>
                <a:cs typeface="Inter" panose="020B0604020202020204" charset="0"/>
              </a:rPr>
              <a:t>Default rate falls from </a:t>
            </a:r>
            <a:r>
              <a:rPr lang="en-IN" b="1" dirty="0">
                <a:latin typeface="Inter" panose="020B0604020202020204" charset="0"/>
                <a:cs typeface="Inter" panose="020B0604020202020204" charset="0"/>
              </a:rPr>
              <a:t>~11.4%</a:t>
            </a:r>
            <a:r>
              <a:rPr lang="en-IN" dirty="0">
                <a:latin typeface="Inter" panose="020B0604020202020204" charset="0"/>
                <a:cs typeface="Inter" panose="020B0604020202020204" charset="0"/>
              </a:rPr>
              <a:t> (20–30) to </a:t>
            </a:r>
            <a:r>
              <a:rPr lang="en-IN" b="1" dirty="0">
                <a:latin typeface="Inter" panose="020B0604020202020204" charset="0"/>
                <a:cs typeface="Inter" panose="020B0604020202020204" charset="0"/>
              </a:rPr>
              <a:t>~4.9%</a:t>
            </a:r>
            <a:r>
              <a:rPr lang="en-IN" dirty="0">
                <a:latin typeface="Inter" panose="020B0604020202020204" charset="0"/>
                <a:cs typeface="Inter" panose="020B0604020202020204" charset="0"/>
              </a:rPr>
              <a:t> (60–70), a reduction of over </a:t>
            </a:r>
            <a:r>
              <a:rPr lang="en-IN" b="1" dirty="0">
                <a:latin typeface="Inter" panose="020B0604020202020204" charset="0"/>
                <a:cs typeface="Inter" panose="020B0604020202020204" charset="0"/>
              </a:rPr>
              <a:t>50%</a:t>
            </a:r>
            <a:r>
              <a:rPr lang="en-IN" dirty="0">
                <a:latin typeface="Inter" panose="020B0604020202020204" charset="0"/>
                <a:cs typeface="Inter" panose="020B0604020202020204" charset="0"/>
              </a:rPr>
              <a:t>. </a:t>
            </a:r>
          </a:p>
          <a:p>
            <a:pPr marL="285750" indent="-285750">
              <a:buFont typeface="Arial" panose="020B0604020202020204" pitchFamily="34" charset="0"/>
              <a:buChar char="•"/>
            </a:pPr>
            <a:r>
              <a:rPr lang="en-IN" b="1" dirty="0">
                <a:latin typeface="Inter" panose="020B0604020202020204" charset="0"/>
                <a:cs typeface="Inter" panose="020B0604020202020204" charset="0"/>
              </a:rPr>
              <a:t>Age appears to be a strong predictor of credit risk.</a:t>
            </a:r>
            <a:r>
              <a:rPr lang="en-IN" dirty="0">
                <a:latin typeface="Inter" panose="020B0604020202020204" charset="0"/>
                <a:cs typeface="Inter" panose="020B0604020202020204" charset="0"/>
              </a:rPr>
              <a:t> </a:t>
            </a:r>
          </a:p>
        </p:txBody>
      </p:sp>
      <p:pic>
        <p:nvPicPr>
          <p:cNvPr id="12" name="Picture 11">
            <a:extLst>
              <a:ext uri="{FF2B5EF4-FFF2-40B4-BE49-F238E27FC236}">
                <a16:creationId xmlns:a16="http://schemas.microsoft.com/office/drawing/2014/main" id="{0794050D-5984-C394-1A0C-7E9AA0BB4B7A}"/>
              </a:ext>
            </a:extLst>
          </p:cNvPr>
          <p:cNvPicPr>
            <a:picLocks noChangeAspect="1"/>
          </p:cNvPicPr>
          <p:nvPr/>
        </p:nvPicPr>
        <p:blipFill>
          <a:blip r:embed="rId2" cstate="print">
            <a:extLst>
              <a:ext uri="{28A0092B-C50C-407E-A947-70E740481C1C}">
                <a14:useLocalDpi xmlns:a14="http://schemas.microsoft.com/office/drawing/2010/main" val="0"/>
              </a:ext>
            </a:extLst>
          </a:blip>
          <a:srcRect t="5306"/>
          <a:stretch>
            <a:fillRect/>
          </a:stretch>
        </p:blipFill>
        <p:spPr>
          <a:xfrm>
            <a:off x="838200" y="2324100"/>
            <a:ext cx="9448800" cy="6934200"/>
          </a:xfrm>
          <a:prstGeom prst="rect">
            <a:avLst/>
          </a:prstGeom>
        </p:spPr>
      </p:pic>
      <p:sp>
        <p:nvSpPr>
          <p:cNvPr id="15" name="Rectangle: Rounded Corners 14">
            <a:extLst>
              <a:ext uri="{FF2B5EF4-FFF2-40B4-BE49-F238E27FC236}">
                <a16:creationId xmlns:a16="http://schemas.microsoft.com/office/drawing/2014/main" id="{3C9A56F7-93CB-2227-11BB-1F2E0A75419A}"/>
              </a:ext>
            </a:extLst>
          </p:cNvPr>
          <p:cNvSpPr/>
          <p:nvPr/>
        </p:nvSpPr>
        <p:spPr>
          <a:xfrm>
            <a:off x="10379612" y="5807612"/>
            <a:ext cx="6324600" cy="2520624"/>
          </a:xfrm>
          <a:prstGeom prst="roundRect">
            <a:avLst>
              <a:gd name="adj" fmla="val 11086"/>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2500" b="1" dirty="0">
                <a:solidFill>
                  <a:schemeClr val="bg1"/>
                </a:solidFill>
                <a:latin typeface="Inter" panose="020B0604020202020204" charset="0"/>
                <a:cs typeface="Inter" panose="020B0604020202020204" charset="0"/>
              </a:rPr>
              <a:t>Business Insight:</a:t>
            </a:r>
            <a:endParaRPr lang="en-IN" sz="2500" dirty="0">
              <a:latin typeface="Inter" panose="020B0604020202020204" charset="0"/>
              <a:cs typeface="Inter" panose="020B0604020202020204" charset="0"/>
            </a:endParaRPr>
          </a:p>
          <a:p>
            <a:r>
              <a:rPr lang="en-IN" dirty="0">
                <a:latin typeface="Inter" panose="020B0604020202020204" charset="0"/>
                <a:cs typeface="Inter" panose="020B0604020202020204" charset="0"/>
              </a:rPr>
              <a:t>Default rates show a clear negative relationship with age. Younger applicants (20–30 years) exhibit the highest default risk, while older applicants (60–70 years) have the lowest default rates. This suggests that age is a significant factor in credit repayment behaviour and may be an important predictor in the default risk model.</a:t>
            </a:r>
          </a:p>
        </p:txBody>
      </p:sp>
    </p:spTree>
    <p:extLst>
      <p:ext uri="{BB962C8B-B14F-4D97-AF65-F5344CB8AC3E}">
        <p14:creationId xmlns:p14="http://schemas.microsoft.com/office/powerpoint/2010/main" val="196125664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C5D6CA"/>
        </a:solidFill>
        <a:effectLst/>
      </p:bgPr>
    </p:bg>
    <p:spTree>
      <p:nvGrpSpPr>
        <p:cNvPr id="1" name="">
          <a:extLst>
            <a:ext uri="{FF2B5EF4-FFF2-40B4-BE49-F238E27FC236}">
              <a16:creationId xmlns:a16="http://schemas.microsoft.com/office/drawing/2014/main" id="{AAD70143-D832-D636-CEE3-5AF6546B7827}"/>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02A1A725-0FCA-5FB1-2C29-B8628CA54E75}"/>
              </a:ext>
            </a:extLst>
          </p:cNvPr>
          <p:cNvGrpSpPr/>
          <p:nvPr/>
        </p:nvGrpSpPr>
        <p:grpSpPr>
          <a:xfrm>
            <a:off x="0" y="9497082"/>
            <a:ext cx="18292543" cy="787203"/>
            <a:chOff x="0" y="0"/>
            <a:chExt cx="24390058" cy="1049604"/>
          </a:xfrm>
        </p:grpSpPr>
        <p:sp>
          <p:nvSpPr>
            <p:cNvPr id="3" name="Freeform 3">
              <a:extLst>
                <a:ext uri="{FF2B5EF4-FFF2-40B4-BE49-F238E27FC236}">
                  <a16:creationId xmlns:a16="http://schemas.microsoft.com/office/drawing/2014/main" id="{97C61A7C-37AF-D771-180D-3CCA349E9745}"/>
                </a:ext>
              </a:extLst>
            </p:cNvPr>
            <p:cNvSpPr/>
            <p:nvPr/>
          </p:nvSpPr>
          <p:spPr>
            <a:xfrm>
              <a:off x="0" y="0"/>
              <a:ext cx="24390096" cy="1049655"/>
            </a:xfrm>
            <a:custGeom>
              <a:avLst/>
              <a:gdLst/>
              <a:ahLst/>
              <a:cxnLst/>
              <a:rect l="l" t="t" r="r" b="b"/>
              <a:pathLst>
                <a:path w="24390096" h="1049655">
                  <a:moveTo>
                    <a:pt x="0" y="0"/>
                  </a:moveTo>
                  <a:lnTo>
                    <a:pt x="24390096" y="0"/>
                  </a:lnTo>
                  <a:lnTo>
                    <a:pt x="24390096" y="1049655"/>
                  </a:lnTo>
                  <a:lnTo>
                    <a:pt x="0" y="1049655"/>
                  </a:lnTo>
                  <a:close/>
                </a:path>
              </a:pathLst>
            </a:custGeom>
            <a:solidFill>
              <a:srgbClr val="348E90"/>
            </a:solidFill>
          </p:spPr>
          <p:txBody>
            <a:bodyPr/>
            <a:lstStyle/>
            <a:p>
              <a:endParaRPr lang="en-IN"/>
            </a:p>
          </p:txBody>
        </p:sp>
      </p:grpSp>
      <p:sp>
        <p:nvSpPr>
          <p:cNvPr id="4" name="Rectangle 3">
            <a:extLst>
              <a:ext uri="{FF2B5EF4-FFF2-40B4-BE49-F238E27FC236}">
                <a16:creationId xmlns:a16="http://schemas.microsoft.com/office/drawing/2014/main" id="{79CA383B-6BA0-30B6-CB94-12CF8E1202F2}"/>
              </a:ext>
            </a:extLst>
          </p:cNvPr>
          <p:cNvSpPr/>
          <p:nvPr/>
        </p:nvSpPr>
        <p:spPr>
          <a:xfrm>
            <a:off x="15544800" y="0"/>
            <a:ext cx="1143000" cy="1823056"/>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4D0A07FA-EAF6-9F43-CC04-2E5A754BE613}"/>
              </a:ext>
            </a:extLst>
          </p:cNvPr>
          <p:cNvSpPr txBox="1"/>
          <p:nvPr/>
        </p:nvSpPr>
        <p:spPr>
          <a:xfrm>
            <a:off x="3314700" y="574115"/>
            <a:ext cx="11201400" cy="1015663"/>
          </a:xfrm>
          <a:prstGeom prst="rect">
            <a:avLst/>
          </a:prstGeom>
          <a:noFill/>
        </p:spPr>
        <p:txBody>
          <a:bodyPr wrap="square">
            <a:spAutoFit/>
          </a:bodyPr>
          <a:lstStyle/>
          <a:p>
            <a:r>
              <a:rPr lang="en-US" sz="6000" b="1" dirty="0">
                <a:latin typeface="Inter" panose="020B0604020202020204" charset="0"/>
                <a:cs typeface="Inter" panose="020B0604020202020204" charset="0"/>
              </a:rPr>
              <a:t>Default Rate by Education Level</a:t>
            </a:r>
            <a:endParaRPr lang="en-IN" sz="6000" b="1" dirty="0">
              <a:latin typeface="Inter" panose="020B0604020202020204" charset="0"/>
              <a:cs typeface="Inter" panose="020B0604020202020204" charset="0"/>
            </a:endParaRPr>
          </a:p>
        </p:txBody>
      </p:sp>
      <p:sp>
        <p:nvSpPr>
          <p:cNvPr id="8" name="Rectangle: Rounded Corners 7">
            <a:extLst>
              <a:ext uri="{FF2B5EF4-FFF2-40B4-BE49-F238E27FC236}">
                <a16:creationId xmlns:a16="http://schemas.microsoft.com/office/drawing/2014/main" id="{270567F7-A362-8343-C652-9B7F683F3BB2}"/>
              </a:ext>
            </a:extLst>
          </p:cNvPr>
          <p:cNvSpPr/>
          <p:nvPr/>
        </p:nvSpPr>
        <p:spPr>
          <a:xfrm>
            <a:off x="12725400" y="1943100"/>
            <a:ext cx="4267200" cy="3691261"/>
          </a:xfrm>
          <a:prstGeom prst="roundRect">
            <a:avLst>
              <a:gd name="adj" fmla="val 8016"/>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buNone/>
            </a:pPr>
            <a:r>
              <a:rPr lang="en-IN" sz="2500" b="1" dirty="0">
                <a:solidFill>
                  <a:schemeClr val="bg1"/>
                </a:solidFill>
                <a:latin typeface="Inter" panose="020B0604020202020204" charset="0"/>
                <a:cs typeface="Inter" panose="020B0604020202020204" charset="0"/>
              </a:rPr>
              <a:t>Key Insight:</a:t>
            </a:r>
          </a:p>
          <a:p>
            <a:pPr marL="285750" indent="-285750">
              <a:buFont typeface="Arial" panose="020B0604020202020204" pitchFamily="34" charset="0"/>
              <a:buChar char="•"/>
            </a:pPr>
            <a:r>
              <a:rPr lang="en-IN" dirty="0">
                <a:latin typeface="Inter" panose="020B0604020202020204" charset="0"/>
                <a:cs typeface="Inter" panose="020B0604020202020204" charset="0"/>
              </a:rPr>
              <a:t>Default rates decline significantly as education level increases, from </a:t>
            </a:r>
            <a:r>
              <a:rPr lang="en-IN" b="1" dirty="0">
                <a:latin typeface="Inter" panose="020B0604020202020204" charset="0"/>
                <a:cs typeface="Inter" panose="020B0604020202020204" charset="0"/>
              </a:rPr>
              <a:t>~11% for Lower Secondary</a:t>
            </a:r>
            <a:r>
              <a:rPr lang="en-IN" dirty="0">
                <a:latin typeface="Inter" panose="020B0604020202020204" charset="0"/>
                <a:cs typeface="Inter" panose="020B0604020202020204" charset="0"/>
              </a:rPr>
              <a:t> education to </a:t>
            </a:r>
            <a:r>
              <a:rPr lang="en-IN" b="1" dirty="0">
                <a:latin typeface="Inter" panose="020B0604020202020204" charset="0"/>
                <a:cs typeface="Inter" panose="020B0604020202020204" charset="0"/>
              </a:rPr>
              <a:t>~2% for Academic Degree</a:t>
            </a:r>
            <a:r>
              <a:rPr lang="en-IN" dirty="0">
                <a:latin typeface="Inter" panose="020B0604020202020204" charset="0"/>
                <a:cs typeface="Inter" panose="020B0604020202020204" charset="0"/>
              </a:rPr>
              <a:t> holders. </a:t>
            </a:r>
          </a:p>
          <a:p>
            <a:pPr marL="285750" indent="-285750">
              <a:buFont typeface="Arial" panose="020B0604020202020204" pitchFamily="34" charset="0"/>
              <a:buChar char="•"/>
            </a:pPr>
            <a:r>
              <a:rPr lang="en-IN" dirty="0">
                <a:latin typeface="Inter" panose="020B0604020202020204" charset="0"/>
                <a:cs typeface="Inter" panose="020B0604020202020204" charset="0"/>
              </a:rPr>
              <a:t>Applicants with </a:t>
            </a:r>
            <a:r>
              <a:rPr lang="en-IN" b="1" dirty="0">
                <a:latin typeface="Inter" panose="020B0604020202020204" charset="0"/>
                <a:cs typeface="Inter" panose="020B0604020202020204" charset="0"/>
              </a:rPr>
              <a:t>Higher Education</a:t>
            </a:r>
            <a:r>
              <a:rPr lang="en-IN" dirty="0">
                <a:latin typeface="Inter" panose="020B0604020202020204" charset="0"/>
                <a:cs typeface="Inter" panose="020B0604020202020204" charset="0"/>
              </a:rPr>
              <a:t> and </a:t>
            </a:r>
            <a:r>
              <a:rPr lang="en-IN" b="1" dirty="0">
                <a:latin typeface="Inter" panose="020B0604020202020204" charset="0"/>
                <a:cs typeface="Inter" panose="020B0604020202020204" charset="0"/>
              </a:rPr>
              <a:t>Academic Degrees</a:t>
            </a:r>
            <a:r>
              <a:rPr lang="en-IN" dirty="0">
                <a:latin typeface="Inter" panose="020B0604020202020204" charset="0"/>
                <a:cs typeface="Inter" panose="020B0604020202020204" charset="0"/>
              </a:rPr>
              <a:t> exhibit substantially lower default risk than those with secondary-level education.</a:t>
            </a:r>
          </a:p>
        </p:txBody>
      </p:sp>
      <p:sp>
        <p:nvSpPr>
          <p:cNvPr id="9" name="Rectangle: Rounded Corners 8">
            <a:extLst>
              <a:ext uri="{FF2B5EF4-FFF2-40B4-BE49-F238E27FC236}">
                <a16:creationId xmlns:a16="http://schemas.microsoft.com/office/drawing/2014/main" id="{F32666D0-2573-E09B-FE30-118573735DFA}"/>
              </a:ext>
            </a:extLst>
          </p:cNvPr>
          <p:cNvSpPr/>
          <p:nvPr/>
        </p:nvSpPr>
        <p:spPr>
          <a:xfrm>
            <a:off x="12725400" y="5677808"/>
            <a:ext cx="4267200" cy="3339123"/>
          </a:xfrm>
          <a:prstGeom prst="roundRect">
            <a:avLst>
              <a:gd name="adj" fmla="val 7974"/>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buNone/>
            </a:pPr>
            <a:r>
              <a:rPr lang="en-IN" sz="2800" dirty="0">
                <a:latin typeface="Inter" panose="020B0604020202020204" charset="0"/>
                <a:cs typeface="Inter" panose="020B0604020202020204" charset="0"/>
              </a:rPr>
              <a:t>Business interpretation:</a:t>
            </a:r>
            <a:endParaRPr lang="en-IN" sz="2500" dirty="0">
              <a:latin typeface="Inter" panose="020B0604020202020204" charset="0"/>
              <a:cs typeface="Inter" panose="020B0604020202020204" charset="0"/>
            </a:endParaRPr>
          </a:p>
          <a:p>
            <a:r>
              <a:rPr lang="en-IN" b="1" dirty="0">
                <a:latin typeface="Inter" panose="020B0604020202020204" charset="0"/>
                <a:cs typeface="Inter" panose="020B0604020202020204" charset="0"/>
              </a:rPr>
              <a:t>Education level is a strong credit risk indicator.</a:t>
            </a:r>
            <a:r>
              <a:rPr lang="en-IN" dirty="0">
                <a:latin typeface="Inter" panose="020B0604020202020204" charset="0"/>
                <a:cs typeface="Inter" panose="020B0604020202020204" charset="0"/>
              </a:rPr>
              <a:t> </a:t>
            </a:r>
          </a:p>
          <a:p>
            <a:r>
              <a:rPr lang="en-IN" dirty="0">
                <a:latin typeface="Inter" panose="020B0604020202020204" charset="0"/>
                <a:cs typeface="Inter" panose="020B0604020202020204" charset="0"/>
              </a:rPr>
              <a:t>Applicants with advanced education demonstrate better repayment behaviour and can be considered lower-risk borrowers, whereas customers with lower educational attainment may require stricter underwriting and monitoring. </a:t>
            </a:r>
          </a:p>
        </p:txBody>
      </p:sp>
      <p:pic>
        <p:nvPicPr>
          <p:cNvPr id="10" name="Picture 9">
            <a:extLst>
              <a:ext uri="{FF2B5EF4-FFF2-40B4-BE49-F238E27FC236}">
                <a16:creationId xmlns:a16="http://schemas.microsoft.com/office/drawing/2014/main" id="{27D2BFDC-537B-2A05-A5CC-374F513DA14A}"/>
              </a:ext>
            </a:extLst>
          </p:cNvPr>
          <p:cNvPicPr>
            <a:picLocks noChangeAspect="1"/>
          </p:cNvPicPr>
          <p:nvPr/>
        </p:nvPicPr>
        <p:blipFill>
          <a:blip r:embed="rId2" cstate="print">
            <a:extLst>
              <a:ext uri="{28A0092B-C50C-407E-A947-70E740481C1C}">
                <a14:useLocalDpi xmlns:a14="http://schemas.microsoft.com/office/drawing/2010/main" val="0"/>
              </a:ext>
            </a:extLst>
          </a:blip>
          <a:srcRect t="5595"/>
          <a:stretch>
            <a:fillRect/>
          </a:stretch>
        </p:blipFill>
        <p:spPr>
          <a:xfrm>
            <a:off x="1066800" y="1849432"/>
            <a:ext cx="11658600" cy="7332667"/>
          </a:xfrm>
          <a:prstGeom prst="rect">
            <a:avLst/>
          </a:prstGeom>
        </p:spPr>
      </p:pic>
    </p:spTree>
    <p:extLst>
      <p:ext uri="{BB962C8B-B14F-4D97-AF65-F5344CB8AC3E}">
        <p14:creationId xmlns:p14="http://schemas.microsoft.com/office/powerpoint/2010/main" val="306275771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C5D6CA"/>
        </a:solidFill>
        <a:effectLst/>
      </p:bgPr>
    </p:bg>
    <p:spTree>
      <p:nvGrpSpPr>
        <p:cNvPr id="1" name="">
          <a:extLst>
            <a:ext uri="{FF2B5EF4-FFF2-40B4-BE49-F238E27FC236}">
              <a16:creationId xmlns:a16="http://schemas.microsoft.com/office/drawing/2014/main" id="{3952F964-F44C-C794-34B7-BB69848B2F38}"/>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A6CBA2ED-32DC-D1FB-CF78-23505EF865D1}"/>
              </a:ext>
            </a:extLst>
          </p:cNvPr>
          <p:cNvGrpSpPr/>
          <p:nvPr/>
        </p:nvGrpSpPr>
        <p:grpSpPr>
          <a:xfrm>
            <a:off x="0" y="9497082"/>
            <a:ext cx="18292543" cy="787203"/>
            <a:chOff x="0" y="0"/>
            <a:chExt cx="24390058" cy="1049604"/>
          </a:xfrm>
        </p:grpSpPr>
        <p:sp>
          <p:nvSpPr>
            <p:cNvPr id="3" name="Freeform 3">
              <a:extLst>
                <a:ext uri="{FF2B5EF4-FFF2-40B4-BE49-F238E27FC236}">
                  <a16:creationId xmlns:a16="http://schemas.microsoft.com/office/drawing/2014/main" id="{3FCF03E3-5969-03B8-86B6-94A9687EB8FB}"/>
                </a:ext>
              </a:extLst>
            </p:cNvPr>
            <p:cNvSpPr/>
            <p:nvPr/>
          </p:nvSpPr>
          <p:spPr>
            <a:xfrm>
              <a:off x="0" y="0"/>
              <a:ext cx="24390096" cy="1049655"/>
            </a:xfrm>
            <a:custGeom>
              <a:avLst/>
              <a:gdLst/>
              <a:ahLst/>
              <a:cxnLst/>
              <a:rect l="l" t="t" r="r" b="b"/>
              <a:pathLst>
                <a:path w="24390096" h="1049655">
                  <a:moveTo>
                    <a:pt x="0" y="0"/>
                  </a:moveTo>
                  <a:lnTo>
                    <a:pt x="24390096" y="0"/>
                  </a:lnTo>
                  <a:lnTo>
                    <a:pt x="24390096" y="1049655"/>
                  </a:lnTo>
                  <a:lnTo>
                    <a:pt x="0" y="1049655"/>
                  </a:lnTo>
                  <a:close/>
                </a:path>
              </a:pathLst>
            </a:custGeom>
            <a:solidFill>
              <a:srgbClr val="348E90"/>
            </a:solidFill>
          </p:spPr>
          <p:txBody>
            <a:bodyPr/>
            <a:lstStyle/>
            <a:p>
              <a:endParaRPr lang="en-IN"/>
            </a:p>
          </p:txBody>
        </p:sp>
      </p:grpSp>
      <p:sp>
        <p:nvSpPr>
          <p:cNvPr id="4" name="Rectangle 3">
            <a:extLst>
              <a:ext uri="{FF2B5EF4-FFF2-40B4-BE49-F238E27FC236}">
                <a16:creationId xmlns:a16="http://schemas.microsoft.com/office/drawing/2014/main" id="{092AFEC6-598F-1FEB-D277-E95FB575771D}"/>
              </a:ext>
            </a:extLst>
          </p:cNvPr>
          <p:cNvSpPr/>
          <p:nvPr/>
        </p:nvSpPr>
        <p:spPr>
          <a:xfrm>
            <a:off x="15544800" y="0"/>
            <a:ext cx="1143000" cy="1823056"/>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75423900-8154-EAF4-3BFA-C3E4CC3DBEC3}"/>
              </a:ext>
            </a:extLst>
          </p:cNvPr>
          <p:cNvSpPr txBox="1"/>
          <p:nvPr/>
        </p:nvSpPr>
        <p:spPr>
          <a:xfrm>
            <a:off x="3886200" y="574116"/>
            <a:ext cx="10515600" cy="1015663"/>
          </a:xfrm>
          <a:prstGeom prst="rect">
            <a:avLst/>
          </a:prstGeom>
          <a:noFill/>
        </p:spPr>
        <p:txBody>
          <a:bodyPr wrap="square">
            <a:spAutoFit/>
          </a:bodyPr>
          <a:lstStyle/>
          <a:p>
            <a:r>
              <a:rPr lang="en-US" sz="6000" b="1" dirty="0">
                <a:latin typeface="Inter" panose="020B0604020202020204" charset="0"/>
                <a:cs typeface="Inter" panose="020B0604020202020204" charset="0"/>
              </a:rPr>
              <a:t>Default Rate by Occupation</a:t>
            </a:r>
            <a:endParaRPr lang="en-IN" sz="6000" b="1" dirty="0">
              <a:latin typeface="Inter" panose="020B0604020202020204" charset="0"/>
              <a:cs typeface="Inter" panose="020B0604020202020204" charset="0"/>
            </a:endParaRPr>
          </a:p>
        </p:txBody>
      </p:sp>
      <p:sp>
        <p:nvSpPr>
          <p:cNvPr id="8" name="Rectangle: Rounded Corners 7">
            <a:extLst>
              <a:ext uri="{FF2B5EF4-FFF2-40B4-BE49-F238E27FC236}">
                <a16:creationId xmlns:a16="http://schemas.microsoft.com/office/drawing/2014/main" id="{DE7DC1CF-9F2A-3EC1-F669-61AA714DD7A8}"/>
              </a:ext>
            </a:extLst>
          </p:cNvPr>
          <p:cNvSpPr/>
          <p:nvPr/>
        </p:nvSpPr>
        <p:spPr>
          <a:xfrm>
            <a:off x="1600200" y="7731362"/>
            <a:ext cx="7543800" cy="1687489"/>
          </a:xfrm>
          <a:prstGeom prst="roundRect">
            <a:avLst>
              <a:gd name="adj" fmla="val 7880"/>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buNone/>
            </a:pPr>
            <a:r>
              <a:rPr lang="en-IN" sz="2500" b="1" dirty="0">
                <a:solidFill>
                  <a:schemeClr val="bg1"/>
                </a:solidFill>
                <a:latin typeface="Inter" panose="020B0604020202020204" charset="0"/>
                <a:cs typeface="Inter" panose="020B0604020202020204" charset="0"/>
              </a:rPr>
              <a:t>Key Insight:</a:t>
            </a:r>
          </a:p>
          <a:p>
            <a:r>
              <a:rPr lang="en-IN" b="1" dirty="0">
                <a:latin typeface="Inter" panose="020B0604020202020204" charset="0"/>
                <a:cs typeface="Inter" panose="020B0604020202020204" charset="0"/>
              </a:rPr>
              <a:t>Occupation has a strong impact on default risk.</a:t>
            </a:r>
          </a:p>
          <a:p>
            <a:r>
              <a:rPr lang="en-IN" dirty="0">
                <a:latin typeface="Inter" panose="020B0604020202020204" charset="0"/>
                <a:cs typeface="Inter" panose="020B0604020202020204" charset="0"/>
              </a:rPr>
              <a:t> Low-skill labourers show the highest default rates (~17%), while accountants, managers, and high-skill technical staff exhibit the lowest risk (~5–6%).</a:t>
            </a:r>
          </a:p>
        </p:txBody>
      </p:sp>
      <p:sp>
        <p:nvSpPr>
          <p:cNvPr id="9" name="Rectangle: Rounded Corners 8">
            <a:extLst>
              <a:ext uri="{FF2B5EF4-FFF2-40B4-BE49-F238E27FC236}">
                <a16:creationId xmlns:a16="http://schemas.microsoft.com/office/drawing/2014/main" id="{972D52FA-23DA-B193-45CD-635B0F3404A4}"/>
              </a:ext>
            </a:extLst>
          </p:cNvPr>
          <p:cNvSpPr/>
          <p:nvPr/>
        </p:nvSpPr>
        <p:spPr>
          <a:xfrm>
            <a:off x="9296400" y="7731363"/>
            <a:ext cx="7391400" cy="1687488"/>
          </a:xfrm>
          <a:prstGeom prst="roundRect">
            <a:avLst>
              <a:gd name="adj" fmla="val 6415"/>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buNone/>
            </a:pPr>
            <a:r>
              <a:rPr lang="en-IN" sz="2800" dirty="0"/>
              <a:t>Business interpretation:</a:t>
            </a:r>
            <a:endParaRPr lang="en-IN" sz="2500" dirty="0">
              <a:latin typeface="Inter" panose="020B0604020202020204" charset="0"/>
              <a:cs typeface="Inter" panose="020B0604020202020204" charset="0"/>
            </a:endParaRPr>
          </a:p>
          <a:p>
            <a:r>
              <a:rPr lang="en-IN" b="1" dirty="0"/>
              <a:t>Job stability and skill level appear closely linked to repayment behaviour.</a:t>
            </a:r>
            <a:r>
              <a:rPr lang="en-IN" dirty="0"/>
              <a:t> </a:t>
            </a:r>
          </a:p>
          <a:p>
            <a:r>
              <a:rPr lang="en-IN" dirty="0"/>
              <a:t>Manual and lower-skilled occupations represent higher-risk borrower segments and may require stricter credit assessment, whereas professional and skilled occupations generally demonstrate stronger creditworthiness.</a:t>
            </a:r>
            <a:endParaRPr lang="en-IN" dirty="0">
              <a:latin typeface="Inter" panose="020B0604020202020204" charset="0"/>
              <a:cs typeface="Inter" panose="020B0604020202020204" charset="0"/>
            </a:endParaRPr>
          </a:p>
        </p:txBody>
      </p:sp>
      <p:pic>
        <p:nvPicPr>
          <p:cNvPr id="10" name="Picture 9">
            <a:extLst>
              <a:ext uri="{FF2B5EF4-FFF2-40B4-BE49-F238E27FC236}">
                <a16:creationId xmlns:a16="http://schemas.microsoft.com/office/drawing/2014/main" id="{19FC2707-F5E4-0366-8CEC-519D607FB084}"/>
              </a:ext>
            </a:extLst>
          </p:cNvPr>
          <p:cNvPicPr>
            <a:picLocks noChangeAspect="1"/>
          </p:cNvPicPr>
          <p:nvPr/>
        </p:nvPicPr>
        <p:blipFill>
          <a:blip r:embed="rId2" cstate="print">
            <a:extLst>
              <a:ext uri="{28A0092B-C50C-407E-A947-70E740481C1C}">
                <a14:useLocalDpi xmlns:a14="http://schemas.microsoft.com/office/drawing/2010/main" val="0"/>
              </a:ext>
            </a:extLst>
          </a:blip>
          <a:srcRect t="5595"/>
          <a:stretch>
            <a:fillRect/>
          </a:stretch>
        </p:blipFill>
        <p:spPr>
          <a:xfrm>
            <a:off x="1371600" y="1901287"/>
            <a:ext cx="15316200" cy="5833013"/>
          </a:xfrm>
          <a:prstGeom prst="rect">
            <a:avLst/>
          </a:prstGeom>
        </p:spPr>
      </p:pic>
    </p:spTree>
    <p:extLst>
      <p:ext uri="{BB962C8B-B14F-4D97-AF65-F5344CB8AC3E}">
        <p14:creationId xmlns:p14="http://schemas.microsoft.com/office/powerpoint/2010/main" val="222157245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C5D6CA"/>
        </a:solidFill>
        <a:effectLst/>
      </p:bgPr>
    </p:bg>
    <p:spTree>
      <p:nvGrpSpPr>
        <p:cNvPr id="1" name="">
          <a:extLst>
            <a:ext uri="{FF2B5EF4-FFF2-40B4-BE49-F238E27FC236}">
              <a16:creationId xmlns:a16="http://schemas.microsoft.com/office/drawing/2014/main" id="{3F08BAD0-0254-2439-D76D-4FAEAA3EA7DF}"/>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C3E49EE2-8FA1-26BB-B511-956F454DF8C7}"/>
              </a:ext>
            </a:extLst>
          </p:cNvPr>
          <p:cNvGrpSpPr/>
          <p:nvPr/>
        </p:nvGrpSpPr>
        <p:grpSpPr>
          <a:xfrm>
            <a:off x="0" y="9497082"/>
            <a:ext cx="18292543" cy="787203"/>
            <a:chOff x="0" y="0"/>
            <a:chExt cx="24390058" cy="1049604"/>
          </a:xfrm>
        </p:grpSpPr>
        <p:sp>
          <p:nvSpPr>
            <p:cNvPr id="3" name="Freeform 3">
              <a:extLst>
                <a:ext uri="{FF2B5EF4-FFF2-40B4-BE49-F238E27FC236}">
                  <a16:creationId xmlns:a16="http://schemas.microsoft.com/office/drawing/2014/main" id="{5F2E08A8-4BA7-3173-E934-951B63071710}"/>
                </a:ext>
              </a:extLst>
            </p:cNvPr>
            <p:cNvSpPr/>
            <p:nvPr/>
          </p:nvSpPr>
          <p:spPr>
            <a:xfrm>
              <a:off x="0" y="0"/>
              <a:ext cx="24390096" cy="1049655"/>
            </a:xfrm>
            <a:custGeom>
              <a:avLst/>
              <a:gdLst/>
              <a:ahLst/>
              <a:cxnLst/>
              <a:rect l="l" t="t" r="r" b="b"/>
              <a:pathLst>
                <a:path w="24390096" h="1049655">
                  <a:moveTo>
                    <a:pt x="0" y="0"/>
                  </a:moveTo>
                  <a:lnTo>
                    <a:pt x="24390096" y="0"/>
                  </a:lnTo>
                  <a:lnTo>
                    <a:pt x="24390096" y="1049655"/>
                  </a:lnTo>
                  <a:lnTo>
                    <a:pt x="0" y="1049655"/>
                  </a:lnTo>
                  <a:close/>
                </a:path>
              </a:pathLst>
            </a:custGeom>
            <a:solidFill>
              <a:srgbClr val="348E90"/>
            </a:solidFill>
          </p:spPr>
          <p:txBody>
            <a:bodyPr/>
            <a:lstStyle/>
            <a:p>
              <a:endParaRPr lang="en-IN"/>
            </a:p>
          </p:txBody>
        </p:sp>
      </p:grpSp>
      <p:sp>
        <p:nvSpPr>
          <p:cNvPr id="4" name="Rectangle 3">
            <a:extLst>
              <a:ext uri="{FF2B5EF4-FFF2-40B4-BE49-F238E27FC236}">
                <a16:creationId xmlns:a16="http://schemas.microsoft.com/office/drawing/2014/main" id="{247351BF-65F0-0861-25EF-A62F8C0D09EE}"/>
              </a:ext>
            </a:extLst>
          </p:cNvPr>
          <p:cNvSpPr/>
          <p:nvPr/>
        </p:nvSpPr>
        <p:spPr>
          <a:xfrm>
            <a:off x="15544800" y="0"/>
            <a:ext cx="1143000" cy="1823056"/>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2DF3FE33-558E-17A0-C080-EA52B46ACDEB}"/>
              </a:ext>
            </a:extLst>
          </p:cNvPr>
          <p:cNvSpPr txBox="1"/>
          <p:nvPr/>
        </p:nvSpPr>
        <p:spPr>
          <a:xfrm>
            <a:off x="6705600" y="557585"/>
            <a:ext cx="5311345" cy="707886"/>
          </a:xfrm>
          <a:prstGeom prst="rect">
            <a:avLst/>
          </a:prstGeom>
          <a:noFill/>
        </p:spPr>
        <p:txBody>
          <a:bodyPr wrap="square">
            <a:spAutoFit/>
          </a:bodyPr>
          <a:lstStyle/>
          <a:p>
            <a:r>
              <a:rPr lang="en-US" sz="4000" b="1" dirty="0">
                <a:latin typeface="Inter" panose="020B0604020202020204" charset="0"/>
                <a:cs typeface="Inter" panose="020B0604020202020204" charset="0"/>
              </a:rPr>
              <a:t>Housing Type Analysis</a:t>
            </a:r>
            <a:endParaRPr lang="en-IN" sz="4000" b="1" dirty="0">
              <a:latin typeface="Inter" panose="020B0604020202020204" charset="0"/>
              <a:cs typeface="Inter" panose="020B0604020202020204" charset="0"/>
            </a:endParaRPr>
          </a:p>
        </p:txBody>
      </p:sp>
      <p:sp>
        <p:nvSpPr>
          <p:cNvPr id="9" name="Rectangle: Rounded Corners 8">
            <a:extLst>
              <a:ext uri="{FF2B5EF4-FFF2-40B4-BE49-F238E27FC236}">
                <a16:creationId xmlns:a16="http://schemas.microsoft.com/office/drawing/2014/main" id="{AE2DE357-B322-2178-15A1-835F797116F6}"/>
              </a:ext>
            </a:extLst>
          </p:cNvPr>
          <p:cNvSpPr/>
          <p:nvPr/>
        </p:nvSpPr>
        <p:spPr>
          <a:xfrm>
            <a:off x="1295400" y="8039099"/>
            <a:ext cx="15392400" cy="1266189"/>
          </a:xfrm>
          <a:prstGeom prst="roundRect">
            <a:avLst>
              <a:gd name="adj" fmla="val 8016"/>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buNone/>
            </a:pPr>
            <a:r>
              <a:rPr lang="en-IN" sz="2500" b="1" dirty="0">
                <a:solidFill>
                  <a:schemeClr val="bg1"/>
                </a:solidFill>
                <a:latin typeface="Inter" panose="020B0604020202020204" charset="0"/>
                <a:cs typeface="Inter" panose="020B0604020202020204" charset="0"/>
              </a:rPr>
              <a:t>Key Insight:</a:t>
            </a:r>
          </a:p>
          <a:p>
            <a:pPr marL="285750" indent="-285750">
              <a:buFont typeface="Arial" panose="020B0604020202020204" pitchFamily="34" charset="0"/>
              <a:buChar char="•"/>
            </a:pPr>
            <a:r>
              <a:rPr lang="en-IN" dirty="0"/>
              <a:t>Applicants living in </a:t>
            </a:r>
            <a:r>
              <a:rPr lang="en-IN" b="1" dirty="0"/>
              <a:t>rented apartments</a:t>
            </a:r>
            <a:r>
              <a:rPr lang="en-IN" dirty="0"/>
              <a:t> and </a:t>
            </a:r>
            <a:r>
              <a:rPr lang="en-IN" b="1" dirty="0"/>
              <a:t>with parents</a:t>
            </a:r>
            <a:r>
              <a:rPr lang="en-IN" dirty="0"/>
              <a:t> exhibit the highest default rates (~12%). </a:t>
            </a:r>
          </a:p>
          <a:p>
            <a:pPr marL="285750" indent="-285750">
              <a:buFont typeface="Arial" panose="020B0604020202020204" pitchFamily="34" charset="0"/>
              <a:buChar char="•"/>
            </a:pPr>
            <a:r>
              <a:rPr lang="en-IN" dirty="0"/>
              <a:t>Applicants living in </a:t>
            </a:r>
            <a:r>
              <a:rPr lang="en-IN" b="1" dirty="0"/>
              <a:t>office apartments</a:t>
            </a:r>
            <a:r>
              <a:rPr lang="en-IN" dirty="0"/>
              <a:t> and </a:t>
            </a:r>
            <a:r>
              <a:rPr lang="en-IN" b="1" dirty="0"/>
              <a:t>owned houses/apartments</a:t>
            </a:r>
            <a:r>
              <a:rPr lang="en-IN" dirty="0"/>
              <a:t> show comparatively lower default rates (~6–8%).</a:t>
            </a:r>
            <a:endParaRPr lang="en-IN" dirty="0">
              <a:latin typeface="Inter" panose="020B0604020202020204" charset="0"/>
              <a:cs typeface="Inter" panose="020B0604020202020204" charset="0"/>
            </a:endParaRPr>
          </a:p>
        </p:txBody>
      </p:sp>
      <p:pic>
        <p:nvPicPr>
          <p:cNvPr id="7" name="Picture 6">
            <a:extLst>
              <a:ext uri="{FF2B5EF4-FFF2-40B4-BE49-F238E27FC236}">
                <a16:creationId xmlns:a16="http://schemas.microsoft.com/office/drawing/2014/main" id="{3828B729-6F20-BBC4-F6DA-EE36B7DD569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95400" y="1728592"/>
            <a:ext cx="15071124" cy="6009068"/>
          </a:xfrm>
          <a:prstGeom prst="rect">
            <a:avLst/>
          </a:prstGeom>
        </p:spPr>
      </p:pic>
    </p:spTree>
    <p:extLst>
      <p:ext uri="{BB962C8B-B14F-4D97-AF65-F5344CB8AC3E}">
        <p14:creationId xmlns:p14="http://schemas.microsoft.com/office/powerpoint/2010/main" val="127039193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C5D6CA"/>
        </a:solidFill>
        <a:effectLst/>
      </p:bgPr>
    </p:bg>
    <p:spTree>
      <p:nvGrpSpPr>
        <p:cNvPr id="1" name="">
          <a:extLst>
            <a:ext uri="{FF2B5EF4-FFF2-40B4-BE49-F238E27FC236}">
              <a16:creationId xmlns:a16="http://schemas.microsoft.com/office/drawing/2014/main" id="{4E7E2845-DC2F-01CC-F9CF-1FEB27635A69}"/>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A5FC8093-4C3C-6BED-E712-A21D80598E78}"/>
              </a:ext>
            </a:extLst>
          </p:cNvPr>
          <p:cNvGrpSpPr/>
          <p:nvPr/>
        </p:nvGrpSpPr>
        <p:grpSpPr>
          <a:xfrm>
            <a:off x="0" y="9497082"/>
            <a:ext cx="18292543" cy="787203"/>
            <a:chOff x="0" y="0"/>
            <a:chExt cx="24390058" cy="1049604"/>
          </a:xfrm>
        </p:grpSpPr>
        <p:sp>
          <p:nvSpPr>
            <p:cNvPr id="3" name="Freeform 3">
              <a:extLst>
                <a:ext uri="{FF2B5EF4-FFF2-40B4-BE49-F238E27FC236}">
                  <a16:creationId xmlns:a16="http://schemas.microsoft.com/office/drawing/2014/main" id="{5D2E1AE2-9F71-54DD-38E1-4A7D70D68198}"/>
                </a:ext>
              </a:extLst>
            </p:cNvPr>
            <p:cNvSpPr/>
            <p:nvPr/>
          </p:nvSpPr>
          <p:spPr>
            <a:xfrm>
              <a:off x="0" y="0"/>
              <a:ext cx="24390096" cy="1049655"/>
            </a:xfrm>
            <a:custGeom>
              <a:avLst/>
              <a:gdLst/>
              <a:ahLst/>
              <a:cxnLst/>
              <a:rect l="l" t="t" r="r" b="b"/>
              <a:pathLst>
                <a:path w="24390096" h="1049655">
                  <a:moveTo>
                    <a:pt x="0" y="0"/>
                  </a:moveTo>
                  <a:lnTo>
                    <a:pt x="24390096" y="0"/>
                  </a:lnTo>
                  <a:lnTo>
                    <a:pt x="24390096" y="1049655"/>
                  </a:lnTo>
                  <a:lnTo>
                    <a:pt x="0" y="1049655"/>
                  </a:lnTo>
                  <a:close/>
                </a:path>
              </a:pathLst>
            </a:custGeom>
            <a:solidFill>
              <a:srgbClr val="348E90"/>
            </a:solidFill>
          </p:spPr>
          <p:txBody>
            <a:bodyPr/>
            <a:lstStyle/>
            <a:p>
              <a:endParaRPr lang="en-IN"/>
            </a:p>
          </p:txBody>
        </p:sp>
      </p:grpSp>
      <p:sp>
        <p:nvSpPr>
          <p:cNvPr id="4" name="Rectangle 3">
            <a:extLst>
              <a:ext uri="{FF2B5EF4-FFF2-40B4-BE49-F238E27FC236}">
                <a16:creationId xmlns:a16="http://schemas.microsoft.com/office/drawing/2014/main" id="{B34E1163-EC96-F81E-18C2-69953D2E9545}"/>
              </a:ext>
            </a:extLst>
          </p:cNvPr>
          <p:cNvSpPr/>
          <p:nvPr/>
        </p:nvSpPr>
        <p:spPr>
          <a:xfrm>
            <a:off x="15544800" y="0"/>
            <a:ext cx="1143000" cy="1823056"/>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5931AB07-5BBC-86A3-7DFC-EDEB9C420215}"/>
              </a:ext>
            </a:extLst>
          </p:cNvPr>
          <p:cNvSpPr txBox="1"/>
          <p:nvPr/>
        </p:nvSpPr>
        <p:spPr>
          <a:xfrm>
            <a:off x="6705600" y="557585"/>
            <a:ext cx="5737655" cy="707886"/>
          </a:xfrm>
          <a:prstGeom prst="rect">
            <a:avLst/>
          </a:prstGeom>
          <a:noFill/>
        </p:spPr>
        <p:txBody>
          <a:bodyPr wrap="square">
            <a:spAutoFit/>
          </a:bodyPr>
          <a:lstStyle/>
          <a:p>
            <a:r>
              <a:rPr lang="en-US" sz="4000" b="1" dirty="0">
                <a:latin typeface="Inter" panose="020B0604020202020204" charset="0"/>
                <a:cs typeface="Inter" panose="020B0604020202020204" charset="0"/>
              </a:rPr>
              <a:t>Income Type vs Default</a:t>
            </a:r>
            <a:endParaRPr lang="en-IN" sz="4000" b="1" dirty="0">
              <a:latin typeface="Inter" panose="020B0604020202020204" charset="0"/>
              <a:cs typeface="Inter" panose="020B0604020202020204" charset="0"/>
            </a:endParaRPr>
          </a:p>
        </p:txBody>
      </p:sp>
      <p:sp>
        <p:nvSpPr>
          <p:cNvPr id="9" name="Rectangle: Rounded Corners 8">
            <a:extLst>
              <a:ext uri="{FF2B5EF4-FFF2-40B4-BE49-F238E27FC236}">
                <a16:creationId xmlns:a16="http://schemas.microsoft.com/office/drawing/2014/main" id="{8B3EEE9A-26AB-F091-FF8F-C49488F14FAE}"/>
              </a:ext>
            </a:extLst>
          </p:cNvPr>
          <p:cNvSpPr/>
          <p:nvPr/>
        </p:nvSpPr>
        <p:spPr>
          <a:xfrm>
            <a:off x="12443256" y="3467100"/>
            <a:ext cx="4244544" cy="3200400"/>
          </a:xfrm>
          <a:prstGeom prst="roundRect">
            <a:avLst>
              <a:gd name="adj" fmla="val 8016"/>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buNone/>
            </a:pPr>
            <a:r>
              <a:rPr lang="en-IN" sz="2500" b="1" dirty="0">
                <a:solidFill>
                  <a:schemeClr val="bg1"/>
                </a:solidFill>
                <a:latin typeface="Inter" panose="020B0604020202020204" charset="0"/>
                <a:cs typeface="Inter" panose="020B0604020202020204" charset="0"/>
              </a:rPr>
              <a:t>Key Insight:</a:t>
            </a:r>
          </a:p>
          <a:p>
            <a:pPr marL="285750" indent="-285750">
              <a:buFont typeface="Arial" panose="020B0604020202020204" pitchFamily="34" charset="0"/>
              <a:buChar char="•"/>
            </a:pPr>
            <a:r>
              <a:rPr lang="en-IN" b="1" dirty="0"/>
              <a:t>Working applicants have the highest default rate among major income groups (~9.6%).</a:t>
            </a:r>
          </a:p>
          <a:p>
            <a:pPr marL="285750" indent="-285750">
              <a:buFont typeface="Arial" panose="020B0604020202020204" pitchFamily="34" charset="0"/>
              <a:buChar char="•"/>
            </a:pPr>
            <a:r>
              <a:rPr lang="en-IN" dirty="0"/>
              <a:t> </a:t>
            </a:r>
            <a:r>
              <a:rPr lang="en-IN" b="1" dirty="0"/>
              <a:t>Pensioners and State Servants show the lowest default rates (~5–6%).</a:t>
            </a:r>
          </a:p>
          <a:p>
            <a:pPr marL="285750" indent="-285750">
              <a:buFont typeface="Arial" panose="020B0604020202020204" pitchFamily="34" charset="0"/>
              <a:buChar char="•"/>
            </a:pPr>
            <a:r>
              <a:rPr lang="en-IN" dirty="0"/>
              <a:t> Stable income sources such as pensions and government employment appear associated with better repayment behavior.</a:t>
            </a:r>
            <a:endParaRPr lang="en-IN" dirty="0">
              <a:latin typeface="Inter" panose="020B0604020202020204" charset="0"/>
              <a:cs typeface="Inter" panose="020B0604020202020204" charset="0"/>
            </a:endParaRPr>
          </a:p>
        </p:txBody>
      </p:sp>
      <p:sp>
        <p:nvSpPr>
          <p:cNvPr id="10" name="TextBox 9">
            <a:extLst>
              <a:ext uri="{FF2B5EF4-FFF2-40B4-BE49-F238E27FC236}">
                <a16:creationId xmlns:a16="http://schemas.microsoft.com/office/drawing/2014/main" id="{35B55B92-1082-5EFF-AE4A-BBD144171730}"/>
              </a:ext>
            </a:extLst>
          </p:cNvPr>
          <p:cNvSpPr txBox="1"/>
          <p:nvPr/>
        </p:nvSpPr>
        <p:spPr>
          <a:xfrm>
            <a:off x="1295401" y="8658872"/>
            <a:ext cx="16676358" cy="707886"/>
          </a:xfrm>
          <a:prstGeom prst="rect">
            <a:avLst/>
          </a:prstGeom>
          <a:noFill/>
        </p:spPr>
        <p:txBody>
          <a:bodyPr wrap="square" rtlCol="0">
            <a:spAutoFit/>
          </a:bodyPr>
          <a:lstStyle/>
          <a:p>
            <a:r>
              <a:rPr lang="en-US" sz="2000" b="1" dirty="0">
                <a:latin typeface="Inter" panose="020B0604020202020204" charset="0"/>
                <a:cs typeface="Inter" panose="020B0604020202020204" charset="0"/>
              </a:rPr>
              <a:t> Note:</a:t>
            </a:r>
            <a:r>
              <a:rPr lang="en-IN" sz="2000" b="1" dirty="0">
                <a:latin typeface="Inter" panose="020B0604020202020204" charset="0"/>
                <a:cs typeface="Inter" panose="020B0604020202020204" charset="0"/>
              </a:rPr>
              <a:t>"The 'Other' category exhibits the highest default rate; however, it contains only 55 applicants and therefore should not be interpreted as a reliable risk segment."</a:t>
            </a:r>
            <a:r>
              <a:rPr lang="en-US" sz="2000" b="1" dirty="0">
                <a:latin typeface="Inter" panose="020B0604020202020204" charset="0"/>
                <a:cs typeface="Inter" panose="020B0604020202020204" charset="0"/>
              </a:rPr>
              <a:t> </a:t>
            </a:r>
            <a:endParaRPr lang="en-IN" sz="2000" b="1" dirty="0">
              <a:latin typeface="Inter" panose="020B0604020202020204" charset="0"/>
              <a:cs typeface="Inter" panose="020B0604020202020204" charset="0"/>
            </a:endParaRPr>
          </a:p>
        </p:txBody>
      </p:sp>
      <p:pic>
        <p:nvPicPr>
          <p:cNvPr id="12" name="Picture 11">
            <a:extLst>
              <a:ext uri="{FF2B5EF4-FFF2-40B4-BE49-F238E27FC236}">
                <a16:creationId xmlns:a16="http://schemas.microsoft.com/office/drawing/2014/main" id="{2B5E6535-A1A9-B081-A9C9-580D5101140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95400" y="1823056"/>
            <a:ext cx="11147855" cy="6278231"/>
          </a:xfrm>
          <a:prstGeom prst="rect">
            <a:avLst/>
          </a:prstGeom>
        </p:spPr>
      </p:pic>
    </p:spTree>
    <p:extLst>
      <p:ext uri="{BB962C8B-B14F-4D97-AF65-F5344CB8AC3E}">
        <p14:creationId xmlns:p14="http://schemas.microsoft.com/office/powerpoint/2010/main" val="242810991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C5D6CA"/>
        </a:solidFill>
        <a:effectLst/>
      </p:bgPr>
    </p:bg>
    <p:spTree>
      <p:nvGrpSpPr>
        <p:cNvPr id="1" name="">
          <a:extLst>
            <a:ext uri="{FF2B5EF4-FFF2-40B4-BE49-F238E27FC236}">
              <a16:creationId xmlns:a16="http://schemas.microsoft.com/office/drawing/2014/main" id="{2D69D564-E8B2-04C1-BFA4-AC499FC6B984}"/>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FDBCC0A9-C2C4-6E9B-CE06-BD330405F27A}"/>
              </a:ext>
            </a:extLst>
          </p:cNvPr>
          <p:cNvGrpSpPr/>
          <p:nvPr/>
        </p:nvGrpSpPr>
        <p:grpSpPr>
          <a:xfrm>
            <a:off x="0" y="9497082"/>
            <a:ext cx="18292543" cy="787203"/>
            <a:chOff x="0" y="0"/>
            <a:chExt cx="24390058" cy="1049604"/>
          </a:xfrm>
        </p:grpSpPr>
        <p:sp>
          <p:nvSpPr>
            <p:cNvPr id="3" name="Freeform 3">
              <a:extLst>
                <a:ext uri="{FF2B5EF4-FFF2-40B4-BE49-F238E27FC236}">
                  <a16:creationId xmlns:a16="http://schemas.microsoft.com/office/drawing/2014/main" id="{D4E1B777-D0FF-9B04-9496-7F3C2BDB5322}"/>
                </a:ext>
              </a:extLst>
            </p:cNvPr>
            <p:cNvSpPr/>
            <p:nvPr/>
          </p:nvSpPr>
          <p:spPr>
            <a:xfrm>
              <a:off x="0" y="0"/>
              <a:ext cx="24390096" cy="1049655"/>
            </a:xfrm>
            <a:custGeom>
              <a:avLst/>
              <a:gdLst/>
              <a:ahLst/>
              <a:cxnLst/>
              <a:rect l="l" t="t" r="r" b="b"/>
              <a:pathLst>
                <a:path w="24390096" h="1049655">
                  <a:moveTo>
                    <a:pt x="0" y="0"/>
                  </a:moveTo>
                  <a:lnTo>
                    <a:pt x="24390096" y="0"/>
                  </a:lnTo>
                  <a:lnTo>
                    <a:pt x="24390096" y="1049655"/>
                  </a:lnTo>
                  <a:lnTo>
                    <a:pt x="0" y="1049655"/>
                  </a:lnTo>
                  <a:close/>
                </a:path>
              </a:pathLst>
            </a:custGeom>
            <a:solidFill>
              <a:srgbClr val="348E90"/>
            </a:solidFill>
          </p:spPr>
          <p:txBody>
            <a:bodyPr/>
            <a:lstStyle/>
            <a:p>
              <a:endParaRPr lang="en-IN"/>
            </a:p>
          </p:txBody>
        </p:sp>
      </p:grpSp>
      <p:sp>
        <p:nvSpPr>
          <p:cNvPr id="4" name="Rectangle 3">
            <a:extLst>
              <a:ext uri="{FF2B5EF4-FFF2-40B4-BE49-F238E27FC236}">
                <a16:creationId xmlns:a16="http://schemas.microsoft.com/office/drawing/2014/main" id="{E6BA1C47-B5A2-DA48-54D9-34F6C1E58D16}"/>
              </a:ext>
            </a:extLst>
          </p:cNvPr>
          <p:cNvSpPr/>
          <p:nvPr/>
        </p:nvSpPr>
        <p:spPr>
          <a:xfrm>
            <a:off x="15544800" y="0"/>
            <a:ext cx="1143000" cy="1823056"/>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6BF7BAB2-EE8C-D79D-B0FD-E474D32AAA22}"/>
              </a:ext>
            </a:extLst>
          </p:cNvPr>
          <p:cNvSpPr txBox="1"/>
          <p:nvPr/>
        </p:nvSpPr>
        <p:spPr>
          <a:xfrm>
            <a:off x="3276600" y="403696"/>
            <a:ext cx="11277600" cy="1015663"/>
          </a:xfrm>
          <a:prstGeom prst="rect">
            <a:avLst/>
          </a:prstGeom>
          <a:noFill/>
        </p:spPr>
        <p:txBody>
          <a:bodyPr wrap="square">
            <a:spAutoFit/>
          </a:bodyPr>
          <a:lstStyle/>
          <a:p>
            <a:r>
              <a:rPr lang="en-US" sz="6000" b="1" dirty="0">
                <a:latin typeface="Inter" panose="020B0604020202020204" charset="0"/>
                <a:cs typeface="Inter" panose="020B0604020202020204" charset="0"/>
              </a:rPr>
              <a:t>Top 10 High-Risk Organizations</a:t>
            </a:r>
            <a:endParaRPr lang="en-IN" sz="6000" b="1" dirty="0">
              <a:latin typeface="Inter" panose="020B0604020202020204" charset="0"/>
              <a:cs typeface="Inter" panose="020B0604020202020204" charset="0"/>
            </a:endParaRPr>
          </a:p>
        </p:txBody>
      </p:sp>
      <p:pic>
        <p:nvPicPr>
          <p:cNvPr id="11" name="Picture 10">
            <a:extLst>
              <a:ext uri="{FF2B5EF4-FFF2-40B4-BE49-F238E27FC236}">
                <a16:creationId xmlns:a16="http://schemas.microsoft.com/office/drawing/2014/main" id="{8604B5F5-379C-AB09-98F2-31761A72400D}"/>
              </a:ext>
            </a:extLst>
          </p:cNvPr>
          <p:cNvPicPr>
            <a:picLocks noChangeAspect="1"/>
          </p:cNvPicPr>
          <p:nvPr/>
        </p:nvPicPr>
        <p:blipFill>
          <a:blip r:embed="rId2"/>
          <a:stretch>
            <a:fillRect/>
          </a:stretch>
        </p:blipFill>
        <p:spPr>
          <a:xfrm>
            <a:off x="533400" y="1823056"/>
            <a:ext cx="11506200" cy="7674025"/>
          </a:xfrm>
          <a:prstGeom prst="rect">
            <a:avLst/>
          </a:prstGeom>
        </p:spPr>
      </p:pic>
      <p:sp>
        <p:nvSpPr>
          <p:cNvPr id="13" name="Rectangle: Rounded Corners 12">
            <a:extLst>
              <a:ext uri="{FF2B5EF4-FFF2-40B4-BE49-F238E27FC236}">
                <a16:creationId xmlns:a16="http://schemas.microsoft.com/office/drawing/2014/main" id="{8AB69586-27F7-5C85-DAF5-207DF4EAE167}"/>
              </a:ext>
            </a:extLst>
          </p:cNvPr>
          <p:cNvSpPr/>
          <p:nvPr/>
        </p:nvSpPr>
        <p:spPr>
          <a:xfrm>
            <a:off x="12039600" y="1943100"/>
            <a:ext cx="5486400" cy="3320445"/>
          </a:xfrm>
          <a:prstGeom prst="roundRect">
            <a:avLst>
              <a:gd name="adj" fmla="val 8016"/>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buNone/>
            </a:pPr>
            <a:r>
              <a:rPr lang="en-IN" sz="2500" b="1" dirty="0">
                <a:solidFill>
                  <a:schemeClr val="bg1"/>
                </a:solidFill>
                <a:latin typeface="Inter" panose="020B0604020202020204" charset="0"/>
                <a:cs typeface="Inter" panose="020B0604020202020204" charset="0"/>
              </a:rPr>
              <a:t>Key Insight:</a:t>
            </a:r>
          </a:p>
          <a:p>
            <a:pPr marL="285750" indent="-285750">
              <a:buFont typeface="Arial" panose="020B0604020202020204" pitchFamily="34" charset="0"/>
              <a:buChar char="•"/>
            </a:pPr>
            <a:r>
              <a:rPr lang="en-IN" b="1" dirty="0">
                <a:latin typeface="Inter" panose="020B0604020202020204" charset="0"/>
                <a:cs typeface="Inter" panose="020B0604020202020204" charset="0"/>
              </a:rPr>
              <a:t>Transport: Type 3</a:t>
            </a:r>
            <a:r>
              <a:rPr lang="en-IN" dirty="0">
                <a:latin typeface="Inter" panose="020B0604020202020204" charset="0"/>
                <a:cs typeface="Inter" panose="020B0604020202020204" charset="0"/>
              </a:rPr>
              <a:t> exhibits the highest default rate (</a:t>
            </a:r>
            <a:r>
              <a:rPr lang="en-IN" b="1" dirty="0">
                <a:latin typeface="Inter" panose="020B0604020202020204" charset="0"/>
                <a:cs typeface="Inter" panose="020B0604020202020204" charset="0"/>
              </a:rPr>
              <a:t>~15.8%</a:t>
            </a:r>
            <a:r>
              <a:rPr lang="en-IN" dirty="0">
                <a:latin typeface="Inter" panose="020B0604020202020204" charset="0"/>
                <a:cs typeface="Inter" panose="020B0604020202020204" charset="0"/>
              </a:rPr>
              <a:t>), significantly above all other organization types.</a:t>
            </a:r>
          </a:p>
          <a:p>
            <a:pPr marL="285750" indent="-285750">
              <a:buFont typeface="Arial" panose="020B0604020202020204" pitchFamily="34" charset="0"/>
              <a:buChar char="•"/>
            </a:pPr>
            <a:r>
              <a:rPr lang="en-IN" dirty="0">
                <a:latin typeface="Inter" panose="020B0604020202020204" charset="0"/>
                <a:cs typeface="Inter" panose="020B0604020202020204" charset="0"/>
              </a:rPr>
              <a:t> </a:t>
            </a:r>
            <a:r>
              <a:rPr lang="en-IN" b="1" dirty="0">
                <a:latin typeface="Inter" panose="020B0604020202020204" charset="0"/>
                <a:cs typeface="Inter" panose="020B0604020202020204" charset="0"/>
              </a:rPr>
              <a:t>Restaurant, Construction, and Industrial sectors</a:t>
            </a:r>
            <a:r>
              <a:rPr lang="en-IN" dirty="0">
                <a:latin typeface="Inter" panose="020B0604020202020204" charset="0"/>
                <a:cs typeface="Inter" panose="020B0604020202020204" charset="0"/>
              </a:rPr>
              <a:t> show consistently elevated default rates (</a:t>
            </a:r>
            <a:r>
              <a:rPr lang="en-IN" b="1" dirty="0">
                <a:latin typeface="Inter" panose="020B0604020202020204" charset="0"/>
                <a:cs typeface="Inter" panose="020B0604020202020204" charset="0"/>
              </a:rPr>
              <a:t>~11–12%</a:t>
            </a:r>
            <a:r>
              <a:rPr lang="en-IN" dirty="0">
                <a:latin typeface="Inter" panose="020B0604020202020204" charset="0"/>
                <a:cs typeface="Inter" panose="020B0604020202020204" charset="0"/>
              </a:rPr>
              <a:t>). </a:t>
            </a:r>
          </a:p>
          <a:p>
            <a:pPr marL="285750" indent="-285750">
              <a:buFont typeface="Arial" panose="020B0604020202020204" pitchFamily="34" charset="0"/>
              <a:buChar char="•"/>
            </a:pPr>
            <a:r>
              <a:rPr lang="en-IN" b="1" dirty="0">
                <a:latin typeface="Inter" panose="020B0604020202020204" charset="0"/>
                <a:cs typeface="Inter" panose="020B0604020202020204" charset="0"/>
              </a:rPr>
              <a:t>Self-employed</a:t>
            </a:r>
            <a:r>
              <a:rPr lang="en-IN" dirty="0">
                <a:latin typeface="Inter" panose="020B0604020202020204" charset="0"/>
                <a:cs typeface="Inter" panose="020B0604020202020204" charset="0"/>
              </a:rPr>
              <a:t> applicants also demonstrate relatively high default risk (</a:t>
            </a:r>
            <a:r>
              <a:rPr lang="en-IN" b="1" dirty="0">
                <a:latin typeface="Inter" panose="020B0604020202020204" charset="0"/>
                <a:cs typeface="Inter" panose="020B0604020202020204" charset="0"/>
              </a:rPr>
              <a:t>~10.2%</a:t>
            </a:r>
            <a:r>
              <a:rPr lang="en-IN" dirty="0">
                <a:latin typeface="Inter" panose="020B0604020202020204" charset="0"/>
                <a:cs typeface="Inter" panose="020B0604020202020204" charset="0"/>
              </a:rPr>
              <a:t>) despite representing a large customer segment.</a:t>
            </a:r>
          </a:p>
        </p:txBody>
      </p:sp>
      <p:sp>
        <p:nvSpPr>
          <p:cNvPr id="14" name="Rectangle: Rounded Corners 13">
            <a:extLst>
              <a:ext uri="{FF2B5EF4-FFF2-40B4-BE49-F238E27FC236}">
                <a16:creationId xmlns:a16="http://schemas.microsoft.com/office/drawing/2014/main" id="{50B02FE2-2D06-6DE0-9D25-5ADAB2D2AF83}"/>
              </a:ext>
            </a:extLst>
          </p:cNvPr>
          <p:cNvSpPr/>
          <p:nvPr/>
        </p:nvSpPr>
        <p:spPr>
          <a:xfrm>
            <a:off x="12039600" y="5383589"/>
            <a:ext cx="5486400" cy="3874712"/>
          </a:xfrm>
          <a:prstGeom prst="roundRect">
            <a:avLst>
              <a:gd name="adj" fmla="val 7974"/>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buNone/>
            </a:pPr>
            <a:r>
              <a:rPr lang="en-IN" sz="2800" dirty="0">
                <a:latin typeface="Inter" panose="020B0604020202020204" charset="0"/>
                <a:cs typeface="Inter" panose="020B0604020202020204" charset="0"/>
              </a:rPr>
              <a:t>Business interpretation:</a:t>
            </a:r>
            <a:endParaRPr lang="en-IN" sz="2500" dirty="0">
              <a:latin typeface="Inter" panose="020B0604020202020204" charset="0"/>
              <a:cs typeface="Inter" panose="020B0604020202020204" charset="0"/>
            </a:endParaRPr>
          </a:p>
          <a:p>
            <a:pPr marL="285750" indent="-285750">
              <a:buFont typeface="Arial" panose="020B0604020202020204" pitchFamily="34" charset="0"/>
              <a:buChar char="•"/>
            </a:pPr>
            <a:r>
              <a:rPr lang="en-IN" dirty="0">
                <a:latin typeface="Inter" panose="020B0604020202020204" charset="0"/>
                <a:cs typeface="Inter" panose="020B0604020202020204" charset="0"/>
              </a:rPr>
              <a:t>Borrowers employed in </a:t>
            </a:r>
            <a:r>
              <a:rPr lang="en-IN" b="1" dirty="0">
                <a:latin typeface="Inter" panose="020B0604020202020204" charset="0"/>
                <a:cs typeface="Inter" panose="020B0604020202020204" charset="0"/>
              </a:rPr>
              <a:t>transportation, construction, restaurant, and industrial sectors</a:t>
            </a:r>
            <a:r>
              <a:rPr lang="en-IN" dirty="0">
                <a:latin typeface="Inter" panose="020B0604020202020204" charset="0"/>
                <a:cs typeface="Inter" panose="020B0604020202020204" charset="0"/>
              </a:rPr>
              <a:t> may face less stable income patterns, contributing to higher repayment risk. </a:t>
            </a:r>
          </a:p>
          <a:p>
            <a:pPr marL="285750" indent="-285750">
              <a:buFont typeface="Arial" panose="020B0604020202020204" pitchFamily="34" charset="0"/>
              <a:buChar char="•"/>
            </a:pPr>
            <a:r>
              <a:rPr lang="en-IN" dirty="0">
                <a:latin typeface="Inter" panose="020B0604020202020204" charset="0"/>
                <a:cs typeface="Inter" panose="020B0604020202020204" charset="0"/>
              </a:rPr>
              <a:t>The elevated risk among </a:t>
            </a:r>
            <a:r>
              <a:rPr lang="en-IN" b="1" dirty="0">
                <a:latin typeface="Inter" panose="020B0604020202020204" charset="0"/>
                <a:cs typeface="Inter" panose="020B0604020202020204" charset="0"/>
              </a:rPr>
              <a:t>self-employed customers</a:t>
            </a:r>
            <a:r>
              <a:rPr lang="en-IN" dirty="0">
                <a:latin typeface="Inter" panose="020B0604020202020204" charset="0"/>
                <a:cs typeface="Inter" panose="020B0604020202020204" charset="0"/>
              </a:rPr>
              <a:t> suggests the need for additional income verification and stricter credit assessment. </a:t>
            </a:r>
          </a:p>
          <a:p>
            <a:pPr marL="285750" indent="-285750">
              <a:buFont typeface="Arial" panose="020B0604020202020204" pitchFamily="34" charset="0"/>
              <a:buChar char="•"/>
            </a:pPr>
            <a:r>
              <a:rPr lang="en-IN" dirty="0">
                <a:latin typeface="Inter" panose="020B0604020202020204" charset="0"/>
                <a:cs typeface="Inter" panose="020B0604020202020204" charset="0"/>
              </a:rPr>
              <a:t>Organization type appears to be a valuable feature for segmenting applicants by credit risk and refining lending strategies. </a:t>
            </a:r>
          </a:p>
        </p:txBody>
      </p:sp>
    </p:spTree>
    <p:extLst>
      <p:ext uri="{BB962C8B-B14F-4D97-AF65-F5344CB8AC3E}">
        <p14:creationId xmlns:p14="http://schemas.microsoft.com/office/powerpoint/2010/main" val="347545376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C5D6CA"/>
        </a:solidFill>
        <a:effectLst/>
      </p:bgPr>
    </p:bg>
    <p:spTree>
      <p:nvGrpSpPr>
        <p:cNvPr id="1" name="">
          <a:extLst>
            <a:ext uri="{FF2B5EF4-FFF2-40B4-BE49-F238E27FC236}">
              <a16:creationId xmlns:a16="http://schemas.microsoft.com/office/drawing/2014/main" id="{0FD32EB2-96D0-F725-C968-A568CDC71E90}"/>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F0EFD9DB-D0A2-9126-09C7-E1F6F79E678E}"/>
              </a:ext>
            </a:extLst>
          </p:cNvPr>
          <p:cNvGrpSpPr/>
          <p:nvPr/>
        </p:nvGrpSpPr>
        <p:grpSpPr>
          <a:xfrm>
            <a:off x="0" y="9497082"/>
            <a:ext cx="18292543" cy="787203"/>
            <a:chOff x="0" y="0"/>
            <a:chExt cx="24390058" cy="1049604"/>
          </a:xfrm>
        </p:grpSpPr>
        <p:sp>
          <p:nvSpPr>
            <p:cNvPr id="3" name="Freeform 3">
              <a:extLst>
                <a:ext uri="{FF2B5EF4-FFF2-40B4-BE49-F238E27FC236}">
                  <a16:creationId xmlns:a16="http://schemas.microsoft.com/office/drawing/2014/main" id="{0ECB4DED-4004-C3DB-F758-BD099E6B2347}"/>
                </a:ext>
              </a:extLst>
            </p:cNvPr>
            <p:cNvSpPr/>
            <p:nvPr/>
          </p:nvSpPr>
          <p:spPr>
            <a:xfrm>
              <a:off x="0" y="0"/>
              <a:ext cx="24390096" cy="1049655"/>
            </a:xfrm>
            <a:custGeom>
              <a:avLst/>
              <a:gdLst/>
              <a:ahLst/>
              <a:cxnLst/>
              <a:rect l="l" t="t" r="r" b="b"/>
              <a:pathLst>
                <a:path w="24390096" h="1049655">
                  <a:moveTo>
                    <a:pt x="0" y="0"/>
                  </a:moveTo>
                  <a:lnTo>
                    <a:pt x="24390096" y="0"/>
                  </a:lnTo>
                  <a:lnTo>
                    <a:pt x="24390096" y="1049655"/>
                  </a:lnTo>
                  <a:lnTo>
                    <a:pt x="0" y="1049655"/>
                  </a:lnTo>
                  <a:close/>
                </a:path>
              </a:pathLst>
            </a:custGeom>
            <a:solidFill>
              <a:srgbClr val="348E90"/>
            </a:solidFill>
          </p:spPr>
          <p:txBody>
            <a:bodyPr/>
            <a:lstStyle/>
            <a:p>
              <a:endParaRPr lang="en-IN"/>
            </a:p>
          </p:txBody>
        </p:sp>
      </p:grpSp>
      <p:sp>
        <p:nvSpPr>
          <p:cNvPr id="4" name="Rectangle 3">
            <a:extLst>
              <a:ext uri="{FF2B5EF4-FFF2-40B4-BE49-F238E27FC236}">
                <a16:creationId xmlns:a16="http://schemas.microsoft.com/office/drawing/2014/main" id="{93924FA7-03EC-B012-C39A-BF3CF1CF8BDE}"/>
              </a:ext>
            </a:extLst>
          </p:cNvPr>
          <p:cNvSpPr/>
          <p:nvPr/>
        </p:nvSpPr>
        <p:spPr>
          <a:xfrm>
            <a:off x="15544800" y="0"/>
            <a:ext cx="1143000" cy="1823056"/>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4A410DAC-A901-08F2-E142-CFBC153D6153}"/>
              </a:ext>
            </a:extLst>
          </p:cNvPr>
          <p:cNvSpPr txBox="1"/>
          <p:nvPr/>
        </p:nvSpPr>
        <p:spPr>
          <a:xfrm>
            <a:off x="5067300" y="403696"/>
            <a:ext cx="8153400" cy="1015663"/>
          </a:xfrm>
          <a:prstGeom prst="rect">
            <a:avLst/>
          </a:prstGeom>
          <a:noFill/>
        </p:spPr>
        <p:txBody>
          <a:bodyPr wrap="square">
            <a:spAutoFit/>
          </a:bodyPr>
          <a:lstStyle/>
          <a:p>
            <a:r>
              <a:rPr lang="en-US" sz="6000" b="1" dirty="0">
                <a:latin typeface="Inter" panose="020B0604020202020204" charset="0"/>
                <a:cs typeface="Inter" panose="020B0604020202020204" charset="0"/>
              </a:rPr>
              <a:t>Default Rate by Family</a:t>
            </a:r>
            <a:endParaRPr lang="en-IN" sz="6000" b="1" dirty="0">
              <a:latin typeface="Inter" panose="020B0604020202020204" charset="0"/>
              <a:cs typeface="Inter" panose="020B0604020202020204" charset="0"/>
            </a:endParaRPr>
          </a:p>
        </p:txBody>
      </p:sp>
      <p:pic>
        <p:nvPicPr>
          <p:cNvPr id="7" name="Picture 6">
            <a:extLst>
              <a:ext uri="{FF2B5EF4-FFF2-40B4-BE49-F238E27FC236}">
                <a16:creationId xmlns:a16="http://schemas.microsoft.com/office/drawing/2014/main" id="{67A33469-5CE2-09D1-C1BB-02A0CD7E44D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55232" y="2019300"/>
            <a:ext cx="16577536" cy="7477782"/>
          </a:xfrm>
          <a:prstGeom prst="rect">
            <a:avLst/>
          </a:prstGeom>
        </p:spPr>
      </p:pic>
    </p:spTree>
    <p:extLst>
      <p:ext uri="{BB962C8B-B14F-4D97-AF65-F5344CB8AC3E}">
        <p14:creationId xmlns:p14="http://schemas.microsoft.com/office/powerpoint/2010/main" val="264651821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C5D6CA"/>
        </a:solidFill>
        <a:effectLst/>
      </p:bgPr>
    </p:bg>
    <p:spTree>
      <p:nvGrpSpPr>
        <p:cNvPr id="1" name=""/>
        <p:cNvGrpSpPr/>
        <p:nvPr/>
      </p:nvGrpSpPr>
      <p:grpSpPr>
        <a:xfrm>
          <a:off x="0" y="0"/>
          <a:ext cx="0" cy="0"/>
          <a:chOff x="0" y="0"/>
          <a:chExt cx="0" cy="0"/>
        </a:xfrm>
      </p:grpSpPr>
      <p:grpSp>
        <p:nvGrpSpPr>
          <p:cNvPr id="2" name="Group 2"/>
          <p:cNvGrpSpPr/>
          <p:nvPr/>
        </p:nvGrpSpPr>
        <p:grpSpPr>
          <a:xfrm>
            <a:off x="0" y="9497082"/>
            <a:ext cx="18292543" cy="787203"/>
            <a:chOff x="0" y="0"/>
            <a:chExt cx="24390058" cy="1049604"/>
          </a:xfrm>
        </p:grpSpPr>
        <p:sp>
          <p:nvSpPr>
            <p:cNvPr id="3" name="Freeform 3"/>
            <p:cNvSpPr/>
            <p:nvPr/>
          </p:nvSpPr>
          <p:spPr>
            <a:xfrm>
              <a:off x="0" y="0"/>
              <a:ext cx="24390096" cy="1049655"/>
            </a:xfrm>
            <a:custGeom>
              <a:avLst/>
              <a:gdLst/>
              <a:ahLst/>
              <a:cxnLst/>
              <a:rect l="l" t="t" r="r" b="b"/>
              <a:pathLst>
                <a:path w="24390096" h="1049655">
                  <a:moveTo>
                    <a:pt x="0" y="0"/>
                  </a:moveTo>
                  <a:lnTo>
                    <a:pt x="24390096" y="0"/>
                  </a:lnTo>
                  <a:lnTo>
                    <a:pt x="24390096" y="1049655"/>
                  </a:lnTo>
                  <a:lnTo>
                    <a:pt x="0" y="1049655"/>
                  </a:lnTo>
                  <a:close/>
                </a:path>
              </a:pathLst>
            </a:custGeom>
            <a:solidFill>
              <a:srgbClr val="348E90"/>
            </a:solidFill>
          </p:spPr>
          <p:txBody>
            <a:bodyPr/>
            <a:lstStyle/>
            <a:p>
              <a:endParaRPr lang="en-IN"/>
            </a:p>
          </p:txBody>
        </p:sp>
      </p:grpSp>
      <p:sp>
        <p:nvSpPr>
          <p:cNvPr id="4" name="Rectangle 3">
            <a:extLst>
              <a:ext uri="{FF2B5EF4-FFF2-40B4-BE49-F238E27FC236}">
                <a16:creationId xmlns:a16="http://schemas.microsoft.com/office/drawing/2014/main" id="{2745389E-6A91-5EFB-D041-E46EDB840D0F}"/>
              </a:ext>
            </a:extLst>
          </p:cNvPr>
          <p:cNvSpPr/>
          <p:nvPr/>
        </p:nvSpPr>
        <p:spPr>
          <a:xfrm>
            <a:off x="15544800" y="0"/>
            <a:ext cx="1143000" cy="1823056"/>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IN"/>
          </a:p>
        </p:txBody>
      </p:sp>
      <p:sp>
        <p:nvSpPr>
          <p:cNvPr id="8" name="Rectangle: Rounded Corners 7">
            <a:extLst>
              <a:ext uri="{FF2B5EF4-FFF2-40B4-BE49-F238E27FC236}">
                <a16:creationId xmlns:a16="http://schemas.microsoft.com/office/drawing/2014/main" id="{85DD831C-8A1B-46C7-EC43-193F6D86EC81}"/>
              </a:ext>
            </a:extLst>
          </p:cNvPr>
          <p:cNvSpPr/>
          <p:nvPr/>
        </p:nvSpPr>
        <p:spPr>
          <a:xfrm>
            <a:off x="1219200" y="2112939"/>
            <a:ext cx="14325600" cy="4554561"/>
          </a:xfrm>
          <a:prstGeom prst="roundRect">
            <a:avLst>
              <a:gd name="adj" fmla="val 7880"/>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buNone/>
            </a:pPr>
            <a:r>
              <a:rPr lang="en-IN" sz="2500" b="1" dirty="0">
                <a:solidFill>
                  <a:schemeClr val="bg1"/>
                </a:solidFill>
                <a:latin typeface="Inter" panose="020B0604020202020204" charset="0"/>
                <a:cs typeface="Inter" panose="020B0604020202020204" charset="0"/>
              </a:rPr>
              <a:t>Key Insight:</a:t>
            </a:r>
          </a:p>
          <a:p>
            <a:pPr>
              <a:buNone/>
            </a:pPr>
            <a:endParaRPr lang="en-IN" sz="900" b="1" dirty="0">
              <a:solidFill>
                <a:schemeClr val="bg1"/>
              </a:solidFill>
              <a:latin typeface="Inter" panose="020B0604020202020204" charset="0"/>
              <a:cs typeface="Inter" panose="020B0604020202020204" charset="0"/>
            </a:endParaRPr>
          </a:p>
          <a:p>
            <a:r>
              <a:rPr lang="en-IN" sz="2500" b="1" dirty="0">
                <a:latin typeface="Inter" panose="020B0604020202020204" charset="0"/>
                <a:cs typeface="Inter" panose="020B0604020202020204" charset="0"/>
              </a:rPr>
              <a:t>Family Size</a:t>
            </a:r>
          </a:p>
          <a:p>
            <a:pPr marL="285750" indent="-285750">
              <a:buFont typeface="Arial" panose="020B0604020202020204" pitchFamily="34" charset="0"/>
              <a:buChar char="•"/>
            </a:pPr>
            <a:r>
              <a:rPr lang="en-IN" dirty="0">
                <a:latin typeface="Inter" panose="020B0604020202020204" charset="0"/>
                <a:cs typeface="Inter" panose="020B0604020202020204" charset="0"/>
              </a:rPr>
              <a:t>Default risk increases with family size, rising from ~7.9% for 1–2 members to ~12.4% for households with 7+ members. </a:t>
            </a:r>
          </a:p>
          <a:p>
            <a:pPr marL="285750" indent="-285750">
              <a:buFont typeface="Arial" panose="020B0604020202020204" pitchFamily="34" charset="0"/>
              <a:buChar char="•"/>
            </a:pPr>
            <a:r>
              <a:rPr lang="en-IN" dirty="0">
                <a:latin typeface="Inter" panose="020B0604020202020204" charset="0"/>
                <a:cs typeface="Inter" panose="020B0604020202020204" charset="0"/>
              </a:rPr>
              <a:t>Larger households appear to face greater financial pressure, resulting in higher credit risk. </a:t>
            </a:r>
          </a:p>
          <a:p>
            <a:endParaRPr lang="en-IN" sz="900" dirty="0">
              <a:latin typeface="Inter" panose="020B0604020202020204" charset="0"/>
              <a:cs typeface="Inter" panose="020B0604020202020204" charset="0"/>
            </a:endParaRPr>
          </a:p>
          <a:p>
            <a:r>
              <a:rPr lang="en-IN" sz="2500" b="1" dirty="0">
                <a:latin typeface="Inter" panose="020B0604020202020204" charset="0"/>
                <a:cs typeface="Inter" panose="020B0604020202020204" charset="0"/>
              </a:rPr>
              <a:t>Family Status</a:t>
            </a:r>
          </a:p>
          <a:p>
            <a:pPr marL="285750" indent="-285750">
              <a:buFont typeface="Arial" panose="020B0604020202020204" pitchFamily="34" charset="0"/>
              <a:buChar char="•"/>
            </a:pPr>
            <a:r>
              <a:rPr lang="en-IN" dirty="0">
                <a:latin typeface="Inter" panose="020B0604020202020204" charset="0"/>
                <a:cs typeface="Inter" panose="020B0604020202020204" charset="0"/>
              </a:rPr>
              <a:t>Widowed and married applicants show the lowest default rates (~5.8% and ~7.5%). </a:t>
            </a:r>
          </a:p>
          <a:p>
            <a:pPr marL="285750" indent="-285750">
              <a:buFont typeface="Arial" panose="020B0604020202020204" pitchFamily="34" charset="0"/>
              <a:buChar char="•"/>
            </a:pPr>
            <a:r>
              <a:rPr lang="en-IN" dirty="0">
                <a:latin typeface="Inter" panose="020B0604020202020204" charset="0"/>
                <a:cs typeface="Inter" panose="020B0604020202020204" charset="0"/>
              </a:rPr>
              <a:t>Single/not married and civil marriage applicants exhibit the highest default rates (~10%). </a:t>
            </a:r>
          </a:p>
          <a:p>
            <a:pPr marL="285750" indent="-285750">
              <a:buFont typeface="Arial" panose="020B0604020202020204" pitchFamily="34" charset="0"/>
              <a:buChar char="•"/>
            </a:pPr>
            <a:r>
              <a:rPr lang="en-IN" dirty="0">
                <a:latin typeface="Inter" panose="020B0604020202020204" charset="0"/>
                <a:cs typeface="Inter" panose="020B0604020202020204" charset="0"/>
              </a:rPr>
              <a:t>This suggests household stability may be associated with stronger repayment behaviour.</a:t>
            </a:r>
          </a:p>
        </p:txBody>
      </p:sp>
      <p:sp>
        <p:nvSpPr>
          <p:cNvPr id="9" name="Rectangle: Rounded Corners 8">
            <a:extLst>
              <a:ext uri="{FF2B5EF4-FFF2-40B4-BE49-F238E27FC236}">
                <a16:creationId xmlns:a16="http://schemas.microsoft.com/office/drawing/2014/main" id="{4C394E78-16BB-B727-D6D5-E4FEE0107367}"/>
              </a:ext>
            </a:extLst>
          </p:cNvPr>
          <p:cNvSpPr/>
          <p:nvPr/>
        </p:nvSpPr>
        <p:spPr>
          <a:xfrm>
            <a:off x="1219200" y="6896100"/>
            <a:ext cx="14325600" cy="2209800"/>
          </a:xfrm>
          <a:prstGeom prst="roundRect">
            <a:avLst>
              <a:gd name="adj" fmla="val 6415"/>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buNone/>
            </a:pPr>
            <a:r>
              <a:rPr lang="en-IN" sz="2800" dirty="0">
                <a:latin typeface="Inter" panose="020B0604020202020204" charset="0"/>
                <a:cs typeface="Inter" panose="020B0604020202020204" charset="0"/>
              </a:rPr>
              <a:t>Business interpretation:</a:t>
            </a:r>
            <a:endParaRPr lang="en-IN" sz="2500" dirty="0">
              <a:latin typeface="Inter" panose="020B0604020202020204" charset="0"/>
              <a:cs typeface="Inter" panose="020B0604020202020204" charset="0"/>
            </a:endParaRPr>
          </a:p>
          <a:p>
            <a:pPr marL="285750" indent="-285750">
              <a:buFont typeface="Arial" panose="020B0604020202020204" pitchFamily="34" charset="0"/>
              <a:buChar char="•"/>
            </a:pPr>
            <a:r>
              <a:rPr lang="en-IN" b="1" dirty="0">
                <a:latin typeface="Inter" panose="020B0604020202020204" charset="0"/>
                <a:cs typeface="Inter" panose="020B0604020202020204" charset="0"/>
              </a:rPr>
              <a:t>Household composition is an important risk factor.</a:t>
            </a:r>
            <a:r>
              <a:rPr lang="en-IN" dirty="0">
                <a:latin typeface="Inter" panose="020B0604020202020204" charset="0"/>
                <a:cs typeface="Inter" panose="020B0604020202020204" charset="0"/>
              </a:rPr>
              <a:t> Larger families and unmarried applicants demonstrate higher default propensity and may warrant closer credit assessment. </a:t>
            </a:r>
          </a:p>
          <a:p>
            <a:pPr marL="285750" indent="-285750">
              <a:buFont typeface="Arial" panose="020B0604020202020204" pitchFamily="34" charset="0"/>
              <a:buChar char="•"/>
            </a:pPr>
            <a:r>
              <a:rPr lang="en-IN" dirty="0">
                <a:latin typeface="Inter" panose="020B0604020202020204" charset="0"/>
                <a:cs typeface="Inter" panose="020B0604020202020204" charset="0"/>
              </a:rPr>
              <a:t>Conversely, married and widowed customers generally represent lower-risk borrower segments with better repayment performance.</a:t>
            </a:r>
          </a:p>
        </p:txBody>
      </p:sp>
      <p:sp>
        <p:nvSpPr>
          <p:cNvPr id="6" name="TextBox 5">
            <a:extLst>
              <a:ext uri="{FF2B5EF4-FFF2-40B4-BE49-F238E27FC236}">
                <a16:creationId xmlns:a16="http://schemas.microsoft.com/office/drawing/2014/main" id="{D4BFB786-0309-BAD3-CB16-7B01253D4202}"/>
              </a:ext>
            </a:extLst>
          </p:cNvPr>
          <p:cNvSpPr txBox="1"/>
          <p:nvPr/>
        </p:nvSpPr>
        <p:spPr>
          <a:xfrm>
            <a:off x="6743700" y="783709"/>
            <a:ext cx="4800600" cy="1015663"/>
          </a:xfrm>
          <a:prstGeom prst="rect">
            <a:avLst/>
          </a:prstGeom>
          <a:noFill/>
        </p:spPr>
        <p:txBody>
          <a:bodyPr wrap="square">
            <a:spAutoFit/>
          </a:bodyPr>
          <a:lstStyle/>
          <a:p>
            <a:r>
              <a:rPr lang="en-US" sz="6000" b="1" dirty="0">
                <a:latin typeface="Inter" panose="020B0604020202020204" charset="0"/>
                <a:cs typeface="Inter" panose="020B0604020202020204" charset="0"/>
              </a:rPr>
              <a:t>Interpretation</a:t>
            </a:r>
            <a:endParaRPr lang="en-IN" sz="6000" b="1" dirty="0">
              <a:latin typeface="Inter" panose="020B0604020202020204" charset="0"/>
              <a:cs typeface="Inter" panose="020B0604020202020204" charset="0"/>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C5D6CA"/>
        </a:solidFill>
        <a:effectLst/>
      </p:bgPr>
    </p:bg>
    <p:spTree>
      <p:nvGrpSpPr>
        <p:cNvPr id="1" name="">
          <a:extLst>
            <a:ext uri="{FF2B5EF4-FFF2-40B4-BE49-F238E27FC236}">
              <a16:creationId xmlns:a16="http://schemas.microsoft.com/office/drawing/2014/main" id="{8D081E47-2B66-65F2-81A5-FB892649BFD0}"/>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5079F465-65A2-495C-7959-AD87400E88E0}"/>
              </a:ext>
            </a:extLst>
          </p:cNvPr>
          <p:cNvGrpSpPr/>
          <p:nvPr/>
        </p:nvGrpSpPr>
        <p:grpSpPr>
          <a:xfrm>
            <a:off x="0" y="9497082"/>
            <a:ext cx="18292543" cy="787203"/>
            <a:chOff x="0" y="0"/>
            <a:chExt cx="24390058" cy="1049604"/>
          </a:xfrm>
        </p:grpSpPr>
        <p:sp>
          <p:nvSpPr>
            <p:cNvPr id="3" name="Freeform 3">
              <a:extLst>
                <a:ext uri="{FF2B5EF4-FFF2-40B4-BE49-F238E27FC236}">
                  <a16:creationId xmlns:a16="http://schemas.microsoft.com/office/drawing/2014/main" id="{14481E04-0B2B-1981-AC88-D7116B418B19}"/>
                </a:ext>
              </a:extLst>
            </p:cNvPr>
            <p:cNvSpPr/>
            <p:nvPr/>
          </p:nvSpPr>
          <p:spPr>
            <a:xfrm>
              <a:off x="0" y="0"/>
              <a:ext cx="24390096" cy="1049655"/>
            </a:xfrm>
            <a:custGeom>
              <a:avLst/>
              <a:gdLst/>
              <a:ahLst/>
              <a:cxnLst/>
              <a:rect l="l" t="t" r="r" b="b"/>
              <a:pathLst>
                <a:path w="24390096" h="1049655">
                  <a:moveTo>
                    <a:pt x="0" y="0"/>
                  </a:moveTo>
                  <a:lnTo>
                    <a:pt x="24390096" y="0"/>
                  </a:lnTo>
                  <a:lnTo>
                    <a:pt x="24390096" y="1049655"/>
                  </a:lnTo>
                  <a:lnTo>
                    <a:pt x="0" y="1049655"/>
                  </a:lnTo>
                  <a:close/>
                </a:path>
              </a:pathLst>
            </a:custGeom>
            <a:solidFill>
              <a:srgbClr val="348E90"/>
            </a:solidFill>
          </p:spPr>
          <p:txBody>
            <a:bodyPr/>
            <a:lstStyle/>
            <a:p>
              <a:endParaRPr lang="en-IN"/>
            </a:p>
          </p:txBody>
        </p:sp>
      </p:grpSp>
      <p:sp>
        <p:nvSpPr>
          <p:cNvPr id="4" name="Rectangle 3">
            <a:extLst>
              <a:ext uri="{FF2B5EF4-FFF2-40B4-BE49-F238E27FC236}">
                <a16:creationId xmlns:a16="http://schemas.microsoft.com/office/drawing/2014/main" id="{26F22E53-14A7-3B5C-05B7-619F00F61EC4}"/>
              </a:ext>
            </a:extLst>
          </p:cNvPr>
          <p:cNvSpPr/>
          <p:nvPr/>
        </p:nvSpPr>
        <p:spPr>
          <a:xfrm>
            <a:off x="15544800" y="0"/>
            <a:ext cx="1143000" cy="1823056"/>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6F09601C-F83E-171C-D4B3-F1D33A8FE33D}"/>
              </a:ext>
            </a:extLst>
          </p:cNvPr>
          <p:cNvSpPr txBox="1"/>
          <p:nvPr/>
        </p:nvSpPr>
        <p:spPr>
          <a:xfrm>
            <a:off x="3223055" y="557585"/>
            <a:ext cx="14585091" cy="707886"/>
          </a:xfrm>
          <a:prstGeom prst="rect">
            <a:avLst/>
          </a:prstGeom>
          <a:noFill/>
        </p:spPr>
        <p:txBody>
          <a:bodyPr wrap="square">
            <a:spAutoFit/>
          </a:bodyPr>
          <a:lstStyle/>
          <a:p>
            <a:r>
              <a:rPr lang="en-US" sz="4000" b="1" dirty="0">
                <a:latin typeface="Inter" panose="020B0604020202020204" charset="0"/>
                <a:cs typeface="Inter" panose="020B0604020202020204" charset="0"/>
              </a:rPr>
              <a:t>Impact of Applicant Accompaniment on Default Risk</a:t>
            </a:r>
            <a:endParaRPr lang="en-IN" sz="4000" b="1" dirty="0">
              <a:latin typeface="Inter" panose="020B0604020202020204" charset="0"/>
              <a:cs typeface="Inter" panose="020B0604020202020204" charset="0"/>
            </a:endParaRPr>
          </a:p>
        </p:txBody>
      </p:sp>
      <p:pic>
        <p:nvPicPr>
          <p:cNvPr id="8" name="Picture 7">
            <a:extLst>
              <a:ext uri="{FF2B5EF4-FFF2-40B4-BE49-F238E27FC236}">
                <a16:creationId xmlns:a16="http://schemas.microsoft.com/office/drawing/2014/main" id="{D2F55EAC-B067-DE77-EB24-B809BE1422B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8200" y="1823056"/>
            <a:ext cx="11430000" cy="7674026"/>
          </a:xfrm>
          <a:prstGeom prst="rect">
            <a:avLst/>
          </a:prstGeom>
        </p:spPr>
      </p:pic>
      <p:sp>
        <p:nvSpPr>
          <p:cNvPr id="9" name="Rectangle: Rounded Corners 8">
            <a:extLst>
              <a:ext uri="{FF2B5EF4-FFF2-40B4-BE49-F238E27FC236}">
                <a16:creationId xmlns:a16="http://schemas.microsoft.com/office/drawing/2014/main" id="{BD8A372F-AE20-84AB-B5D5-36841ADB8059}"/>
              </a:ext>
            </a:extLst>
          </p:cNvPr>
          <p:cNvSpPr/>
          <p:nvPr/>
        </p:nvSpPr>
        <p:spPr>
          <a:xfrm>
            <a:off x="12268200" y="2878831"/>
            <a:ext cx="4724400" cy="2514599"/>
          </a:xfrm>
          <a:prstGeom prst="roundRect">
            <a:avLst>
              <a:gd name="adj" fmla="val 8016"/>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buNone/>
            </a:pPr>
            <a:r>
              <a:rPr lang="en-IN" sz="2500" b="1" dirty="0">
                <a:solidFill>
                  <a:schemeClr val="bg1"/>
                </a:solidFill>
                <a:latin typeface="Inter" panose="020B0604020202020204" charset="0"/>
                <a:cs typeface="Inter" panose="020B0604020202020204" charset="0"/>
              </a:rPr>
              <a:t>Key Insight:</a:t>
            </a:r>
          </a:p>
          <a:p>
            <a:pPr marL="285750" indent="-285750">
              <a:buFont typeface="Arial" panose="020B0604020202020204" pitchFamily="34" charset="0"/>
              <a:buChar char="•"/>
            </a:pPr>
            <a:r>
              <a:rPr lang="en-IN" b="1" dirty="0">
                <a:latin typeface="Inter" panose="020B0604020202020204" charset="0"/>
                <a:cs typeface="Inter" panose="020B0604020202020204" charset="0"/>
              </a:rPr>
              <a:t>Unaccompanied applicants</a:t>
            </a:r>
            <a:r>
              <a:rPr lang="en-IN" dirty="0">
                <a:latin typeface="Inter" panose="020B0604020202020204" charset="0"/>
                <a:cs typeface="Inter" panose="020B0604020202020204" charset="0"/>
              </a:rPr>
              <a:t> show higher default rates than those accompanied by family, spouse/partner, or children.</a:t>
            </a:r>
          </a:p>
          <a:p>
            <a:pPr marL="285750" indent="-285750">
              <a:buFont typeface="Arial" panose="020B0604020202020204" pitchFamily="34" charset="0"/>
              <a:buChar char="•"/>
            </a:pPr>
            <a:r>
              <a:rPr lang="en-IN" dirty="0">
                <a:latin typeface="Inter" panose="020B0604020202020204" charset="0"/>
                <a:cs typeface="Inter" panose="020B0604020202020204" charset="0"/>
              </a:rPr>
              <a:t> The </a:t>
            </a:r>
            <a:r>
              <a:rPr lang="en-IN" b="1" dirty="0">
                <a:latin typeface="Inter" panose="020B0604020202020204" charset="0"/>
                <a:cs typeface="Inter" panose="020B0604020202020204" charset="0"/>
              </a:rPr>
              <a:t>Other</a:t>
            </a:r>
            <a:r>
              <a:rPr lang="en-IN" dirty="0">
                <a:latin typeface="Inter" panose="020B0604020202020204" charset="0"/>
                <a:cs typeface="Inter" panose="020B0604020202020204" charset="0"/>
              </a:rPr>
              <a:t> category has the highest default rate but represents a small share of applicants.</a:t>
            </a:r>
          </a:p>
        </p:txBody>
      </p:sp>
      <p:sp>
        <p:nvSpPr>
          <p:cNvPr id="10" name="Rectangle: Rounded Corners 9">
            <a:extLst>
              <a:ext uri="{FF2B5EF4-FFF2-40B4-BE49-F238E27FC236}">
                <a16:creationId xmlns:a16="http://schemas.microsoft.com/office/drawing/2014/main" id="{3BB5066D-46F1-7351-5C1A-715D85A22AD3}"/>
              </a:ext>
            </a:extLst>
          </p:cNvPr>
          <p:cNvSpPr/>
          <p:nvPr/>
        </p:nvSpPr>
        <p:spPr>
          <a:xfrm>
            <a:off x="12268200" y="5846806"/>
            <a:ext cx="4724400" cy="2743524"/>
          </a:xfrm>
          <a:prstGeom prst="roundRect">
            <a:avLst>
              <a:gd name="adj" fmla="val 7974"/>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buNone/>
            </a:pPr>
            <a:r>
              <a:rPr lang="en-IN" sz="2800" dirty="0">
                <a:latin typeface="Inter" panose="020B0604020202020204" charset="0"/>
                <a:cs typeface="Inter" panose="020B0604020202020204" charset="0"/>
              </a:rPr>
              <a:t>Business interpretation:</a:t>
            </a:r>
            <a:endParaRPr lang="en-IN" sz="2500" dirty="0">
              <a:latin typeface="Inter" panose="020B0604020202020204" charset="0"/>
              <a:cs typeface="Inter" panose="020B0604020202020204" charset="0"/>
            </a:endParaRPr>
          </a:p>
          <a:p>
            <a:pPr marL="285750" indent="-285750">
              <a:buFont typeface="Arial" panose="020B0604020202020204" pitchFamily="34" charset="0"/>
              <a:buChar char="•"/>
            </a:pPr>
            <a:r>
              <a:rPr lang="en-IN" dirty="0">
                <a:latin typeface="Inter" panose="020B0604020202020204" charset="0"/>
                <a:cs typeface="Inter" panose="020B0604020202020204" charset="0"/>
              </a:rPr>
              <a:t>Applicants accompanied by </a:t>
            </a:r>
            <a:r>
              <a:rPr lang="en-IN" b="1" dirty="0">
                <a:latin typeface="Inter" panose="020B0604020202020204" charset="0"/>
                <a:cs typeface="Inter" panose="020B0604020202020204" charset="0"/>
              </a:rPr>
              <a:t>family or close relations</a:t>
            </a:r>
            <a:r>
              <a:rPr lang="en-IN" dirty="0">
                <a:latin typeface="Inter" panose="020B0604020202020204" charset="0"/>
                <a:cs typeface="Inter" panose="020B0604020202020204" charset="0"/>
              </a:rPr>
              <a:t> generally demonstrate better repayment behavior.</a:t>
            </a:r>
          </a:p>
          <a:p>
            <a:pPr marL="285750" indent="-285750">
              <a:buFont typeface="Arial" panose="020B0604020202020204" pitchFamily="34" charset="0"/>
              <a:buChar char="•"/>
            </a:pPr>
            <a:r>
              <a:rPr lang="en-IN" dirty="0">
                <a:latin typeface="Inter" panose="020B0604020202020204" charset="0"/>
                <a:cs typeface="Inter" panose="020B0604020202020204" charset="0"/>
              </a:rPr>
              <a:t> Accompaniment type may provide additional signals about applicant stability and credit risk.</a:t>
            </a:r>
          </a:p>
        </p:txBody>
      </p:sp>
    </p:spTree>
    <p:extLst>
      <p:ext uri="{BB962C8B-B14F-4D97-AF65-F5344CB8AC3E}">
        <p14:creationId xmlns:p14="http://schemas.microsoft.com/office/powerpoint/2010/main" val="65420168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C5D6CA"/>
        </a:solidFill>
        <a:effectLst/>
      </p:bgPr>
    </p:bg>
    <p:spTree>
      <p:nvGrpSpPr>
        <p:cNvPr id="1" name="">
          <a:extLst>
            <a:ext uri="{FF2B5EF4-FFF2-40B4-BE49-F238E27FC236}">
              <a16:creationId xmlns:a16="http://schemas.microsoft.com/office/drawing/2014/main" id="{9260BFFF-358D-CA61-65D7-562ED5D00EDE}"/>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07897F7D-431E-EE26-4718-1725E40F1006}"/>
              </a:ext>
            </a:extLst>
          </p:cNvPr>
          <p:cNvGrpSpPr/>
          <p:nvPr/>
        </p:nvGrpSpPr>
        <p:grpSpPr>
          <a:xfrm>
            <a:off x="0" y="9497082"/>
            <a:ext cx="18292543" cy="787203"/>
            <a:chOff x="0" y="0"/>
            <a:chExt cx="24390058" cy="1049604"/>
          </a:xfrm>
        </p:grpSpPr>
        <p:sp>
          <p:nvSpPr>
            <p:cNvPr id="3" name="Freeform 3">
              <a:extLst>
                <a:ext uri="{FF2B5EF4-FFF2-40B4-BE49-F238E27FC236}">
                  <a16:creationId xmlns:a16="http://schemas.microsoft.com/office/drawing/2014/main" id="{0B4D0A38-13EF-1AEE-E343-FF7BF50856AB}"/>
                </a:ext>
              </a:extLst>
            </p:cNvPr>
            <p:cNvSpPr/>
            <p:nvPr/>
          </p:nvSpPr>
          <p:spPr>
            <a:xfrm>
              <a:off x="0" y="0"/>
              <a:ext cx="24390096" cy="1049655"/>
            </a:xfrm>
            <a:custGeom>
              <a:avLst/>
              <a:gdLst/>
              <a:ahLst/>
              <a:cxnLst/>
              <a:rect l="l" t="t" r="r" b="b"/>
              <a:pathLst>
                <a:path w="24390096" h="1049655">
                  <a:moveTo>
                    <a:pt x="0" y="0"/>
                  </a:moveTo>
                  <a:lnTo>
                    <a:pt x="24390096" y="0"/>
                  </a:lnTo>
                  <a:lnTo>
                    <a:pt x="24390096" y="1049655"/>
                  </a:lnTo>
                  <a:lnTo>
                    <a:pt x="0" y="1049655"/>
                  </a:lnTo>
                  <a:close/>
                </a:path>
              </a:pathLst>
            </a:custGeom>
            <a:solidFill>
              <a:srgbClr val="348E90"/>
            </a:solidFill>
          </p:spPr>
          <p:txBody>
            <a:bodyPr/>
            <a:lstStyle/>
            <a:p>
              <a:endParaRPr lang="en-IN"/>
            </a:p>
          </p:txBody>
        </p:sp>
      </p:grpSp>
      <p:sp>
        <p:nvSpPr>
          <p:cNvPr id="4" name="Rectangle 3">
            <a:extLst>
              <a:ext uri="{FF2B5EF4-FFF2-40B4-BE49-F238E27FC236}">
                <a16:creationId xmlns:a16="http://schemas.microsoft.com/office/drawing/2014/main" id="{E6A16E03-EC77-AC44-DB3F-999904B1CF79}"/>
              </a:ext>
            </a:extLst>
          </p:cNvPr>
          <p:cNvSpPr/>
          <p:nvPr/>
        </p:nvSpPr>
        <p:spPr>
          <a:xfrm>
            <a:off x="15544800" y="0"/>
            <a:ext cx="1143000" cy="1823056"/>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IN"/>
          </a:p>
        </p:txBody>
      </p:sp>
      <p:sp>
        <p:nvSpPr>
          <p:cNvPr id="14" name="Rectangle: Rounded Corners 13">
            <a:extLst>
              <a:ext uri="{FF2B5EF4-FFF2-40B4-BE49-F238E27FC236}">
                <a16:creationId xmlns:a16="http://schemas.microsoft.com/office/drawing/2014/main" id="{FB96E54F-DE50-A442-450C-B6BF93E72F37}"/>
              </a:ext>
            </a:extLst>
          </p:cNvPr>
          <p:cNvSpPr/>
          <p:nvPr/>
        </p:nvSpPr>
        <p:spPr>
          <a:xfrm>
            <a:off x="1524001" y="2555789"/>
            <a:ext cx="13639800" cy="3200400"/>
          </a:xfrm>
          <a:prstGeom prst="roundRect">
            <a:avLst>
              <a:gd name="adj" fmla="val 10104"/>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buNone/>
            </a:pPr>
            <a:r>
              <a:rPr lang="en-IN" sz="2500" b="1" dirty="0">
                <a:solidFill>
                  <a:schemeClr val="bg1"/>
                </a:solidFill>
                <a:latin typeface="Inter" panose="020B0604020202020204" charset="0"/>
                <a:cs typeface="Inter" panose="020B0604020202020204" charset="0"/>
              </a:rPr>
              <a:t>Key Findings:</a:t>
            </a:r>
          </a:p>
          <a:p>
            <a:pPr marL="285750" indent="-285750">
              <a:buFont typeface="Arial" panose="020B0604020202020204" pitchFamily="34" charset="0"/>
              <a:buChar char="•"/>
            </a:pPr>
            <a:r>
              <a:rPr lang="en-IN" dirty="0">
                <a:latin typeface="Inter" panose="020B0604020202020204" charset="0"/>
                <a:cs typeface="Inter" panose="020B0604020202020204" charset="0"/>
              </a:rPr>
              <a:t>Younger applicants (20–30 years) exhibit the highest default rates (~11%), while default risk decreases steadily with age. </a:t>
            </a:r>
          </a:p>
          <a:p>
            <a:pPr marL="285750" indent="-285750">
              <a:buFont typeface="Arial" panose="020B0604020202020204" pitchFamily="34" charset="0"/>
              <a:buChar char="•"/>
            </a:pPr>
            <a:r>
              <a:rPr lang="en-IN" dirty="0">
                <a:latin typeface="Inter" panose="020B0604020202020204" charset="0"/>
                <a:cs typeface="Inter" panose="020B0604020202020204" charset="0"/>
              </a:rPr>
              <a:t>Education level shows a strong inverse relationship with default risk; highly educated applicants are significantly less likely to default.</a:t>
            </a:r>
          </a:p>
          <a:p>
            <a:pPr marL="285750" indent="-285750">
              <a:buFont typeface="Arial" panose="020B0604020202020204" pitchFamily="34" charset="0"/>
              <a:buChar char="•"/>
            </a:pPr>
            <a:r>
              <a:rPr lang="en-IN" dirty="0">
                <a:latin typeface="Inter" panose="020B0604020202020204" charset="0"/>
                <a:cs typeface="Inter" panose="020B0604020202020204" charset="0"/>
              </a:rPr>
              <a:t>Occupation and employer type influence repayment behaviour, with </a:t>
            </a:r>
            <a:r>
              <a:rPr lang="en-IN" dirty="0" err="1">
                <a:latin typeface="Inter" panose="020B0604020202020204" charset="0"/>
                <a:cs typeface="Inter" panose="020B0604020202020204" charset="0"/>
              </a:rPr>
              <a:t>labor-intensive</a:t>
            </a:r>
            <a:r>
              <a:rPr lang="en-IN" dirty="0">
                <a:latin typeface="Inter" panose="020B0604020202020204" charset="0"/>
                <a:cs typeface="Inter" panose="020B0604020202020204" charset="0"/>
              </a:rPr>
              <a:t> and transportation-related sectors showing elevated risk. </a:t>
            </a:r>
          </a:p>
          <a:p>
            <a:pPr marL="285750" indent="-285750">
              <a:buFont typeface="Arial" panose="020B0604020202020204" pitchFamily="34" charset="0"/>
              <a:buChar char="•"/>
            </a:pPr>
            <a:r>
              <a:rPr lang="en-IN" dirty="0">
                <a:latin typeface="Inter" panose="020B0604020202020204" charset="0"/>
                <a:cs typeface="Inter" panose="020B0604020202020204" charset="0"/>
              </a:rPr>
              <a:t>Applicants living in rented housing or with parents demonstrate higher default rates than homeowners. </a:t>
            </a:r>
          </a:p>
          <a:p>
            <a:pPr marL="285750" indent="-285750">
              <a:buFont typeface="Arial" panose="020B0604020202020204" pitchFamily="34" charset="0"/>
              <a:buChar char="•"/>
            </a:pPr>
            <a:r>
              <a:rPr lang="en-IN" dirty="0">
                <a:latin typeface="Inter" panose="020B0604020202020204" charset="0"/>
                <a:cs typeface="Inter" panose="020B0604020202020204" charset="0"/>
              </a:rPr>
              <a:t>Larger families and unmarried applicants display higher credit risk compared to married and widowed borrowers.</a:t>
            </a:r>
          </a:p>
        </p:txBody>
      </p:sp>
      <p:sp>
        <p:nvSpPr>
          <p:cNvPr id="5" name="TextBox 4">
            <a:extLst>
              <a:ext uri="{FF2B5EF4-FFF2-40B4-BE49-F238E27FC236}">
                <a16:creationId xmlns:a16="http://schemas.microsoft.com/office/drawing/2014/main" id="{260ECAF4-FBC2-6C36-BA00-DCDB4C3B6D77}"/>
              </a:ext>
            </a:extLst>
          </p:cNvPr>
          <p:cNvSpPr txBox="1"/>
          <p:nvPr/>
        </p:nvSpPr>
        <p:spPr>
          <a:xfrm>
            <a:off x="5010151" y="634743"/>
            <a:ext cx="6667500" cy="707886"/>
          </a:xfrm>
          <a:prstGeom prst="rect">
            <a:avLst/>
          </a:prstGeom>
          <a:noFill/>
        </p:spPr>
        <p:txBody>
          <a:bodyPr wrap="square">
            <a:spAutoFit/>
          </a:bodyPr>
          <a:lstStyle/>
          <a:p>
            <a:r>
              <a:rPr lang="en-US" sz="4000" b="1" dirty="0">
                <a:latin typeface="Inter" panose="020B0604020202020204" charset="0"/>
                <a:cs typeface="Inter" panose="020B0604020202020204" charset="0"/>
              </a:rPr>
              <a:t>Demographic Risk Summary</a:t>
            </a:r>
          </a:p>
        </p:txBody>
      </p:sp>
      <p:sp>
        <p:nvSpPr>
          <p:cNvPr id="7" name="Rectangle: Rounded Corners 6">
            <a:extLst>
              <a:ext uri="{FF2B5EF4-FFF2-40B4-BE49-F238E27FC236}">
                <a16:creationId xmlns:a16="http://schemas.microsoft.com/office/drawing/2014/main" id="{793EE913-C6C0-B37D-E7F4-D3FD64E05220}"/>
              </a:ext>
            </a:extLst>
          </p:cNvPr>
          <p:cNvSpPr/>
          <p:nvPr/>
        </p:nvSpPr>
        <p:spPr>
          <a:xfrm>
            <a:off x="1524001" y="6289590"/>
            <a:ext cx="13639800" cy="2130510"/>
          </a:xfrm>
          <a:prstGeom prst="roundRect">
            <a:avLst>
              <a:gd name="adj" fmla="val 10104"/>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buNone/>
            </a:pPr>
            <a:r>
              <a:rPr lang="en-IN" sz="2500" b="1" dirty="0">
                <a:solidFill>
                  <a:schemeClr val="bg1"/>
                </a:solidFill>
                <a:latin typeface="Inter" panose="020B0604020202020204" charset="0"/>
                <a:cs typeface="Inter" panose="020B0604020202020204" charset="0"/>
              </a:rPr>
              <a:t>Business Implications:</a:t>
            </a:r>
          </a:p>
          <a:p>
            <a:pPr marL="285750" indent="-285750">
              <a:buFont typeface="Arial" panose="020B0604020202020204" pitchFamily="34" charset="0"/>
              <a:buChar char="•"/>
            </a:pPr>
            <a:r>
              <a:rPr lang="en-IN" dirty="0">
                <a:latin typeface="Inter" panose="020B0604020202020204" charset="0"/>
                <a:cs typeface="Inter" panose="020B0604020202020204" charset="0"/>
              </a:rPr>
              <a:t>Age, education, occupation, and family characteristics provide valuable signals for customer risk segmentation.</a:t>
            </a:r>
          </a:p>
          <a:p>
            <a:pPr marL="285750" indent="-285750">
              <a:buFont typeface="Arial" panose="020B0604020202020204" pitchFamily="34" charset="0"/>
              <a:buChar char="•"/>
            </a:pPr>
            <a:r>
              <a:rPr lang="en-IN" dirty="0">
                <a:latin typeface="Inter" panose="020B0604020202020204" charset="0"/>
                <a:cs typeface="Inter" panose="020B0604020202020204" charset="0"/>
              </a:rPr>
              <a:t>Younger and economically unstable customer groups may require enhanced affordability assessments and closer monitoring.</a:t>
            </a:r>
          </a:p>
          <a:p>
            <a:pPr marL="285750" indent="-285750">
              <a:buFont typeface="Arial" panose="020B0604020202020204" pitchFamily="34" charset="0"/>
              <a:buChar char="•"/>
            </a:pPr>
            <a:r>
              <a:rPr lang="en-IN" dirty="0">
                <a:latin typeface="Inter" panose="020B0604020202020204" charset="0"/>
                <a:cs typeface="Inter" panose="020B0604020202020204" charset="0"/>
              </a:rPr>
              <a:t>Demographic attributes can improve underwriting decisions when combined with financial and behavioural indicators..</a:t>
            </a:r>
          </a:p>
        </p:txBody>
      </p:sp>
    </p:spTree>
    <p:extLst>
      <p:ext uri="{BB962C8B-B14F-4D97-AF65-F5344CB8AC3E}">
        <p14:creationId xmlns:p14="http://schemas.microsoft.com/office/powerpoint/2010/main" val="1573270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C5D6CA"/>
        </a:solidFill>
        <a:effectLst/>
      </p:bgPr>
    </p:bg>
    <p:spTree>
      <p:nvGrpSpPr>
        <p:cNvPr id="1" name="">
          <a:extLst>
            <a:ext uri="{FF2B5EF4-FFF2-40B4-BE49-F238E27FC236}">
              <a16:creationId xmlns:a16="http://schemas.microsoft.com/office/drawing/2014/main" id="{644FE150-0252-B6BE-7793-A5E9F9362B78}"/>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6B8495B2-AC16-AF5B-8424-2DFEE521B103}"/>
              </a:ext>
            </a:extLst>
          </p:cNvPr>
          <p:cNvGrpSpPr/>
          <p:nvPr/>
        </p:nvGrpSpPr>
        <p:grpSpPr>
          <a:xfrm>
            <a:off x="0" y="9497082"/>
            <a:ext cx="18292543" cy="787203"/>
            <a:chOff x="0" y="0"/>
            <a:chExt cx="24390058" cy="1049604"/>
          </a:xfrm>
        </p:grpSpPr>
        <p:sp>
          <p:nvSpPr>
            <p:cNvPr id="3" name="Freeform 3">
              <a:extLst>
                <a:ext uri="{FF2B5EF4-FFF2-40B4-BE49-F238E27FC236}">
                  <a16:creationId xmlns:a16="http://schemas.microsoft.com/office/drawing/2014/main" id="{C26D401A-E4CF-6F86-70BC-7BC084753995}"/>
                </a:ext>
              </a:extLst>
            </p:cNvPr>
            <p:cNvSpPr/>
            <p:nvPr/>
          </p:nvSpPr>
          <p:spPr>
            <a:xfrm>
              <a:off x="0" y="0"/>
              <a:ext cx="24390096" cy="1049655"/>
            </a:xfrm>
            <a:custGeom>
              <a:avLst/>
              <a:gdLst/>
              <a:ahLst/>
              <a:cxnLst/>
              <a:rect l="l" t="t" r="r" b="b"/>
              <a:pathLst>
                <a:path w="24390096" h="1049655">
                  <a:moveTo>
                    <a:pt x="0" y="0"/>
                  </a:moveTo>
                  <a:lnTo>
                    <a:pt x="24390096" y="0"/>
                  </a:lnTo>
                  <a:lnTo>
                    <a:pt x="24390096" y="1049655"/>
                  </a:lnTo>
                  <a:lnTo>
                    <a:pt x="0" y="1049655"/>
                  </a:lnTo>
                  <a:close/>
                </a:path>
              </a:pathLst>
            </a:custGeom>
            <a:solidFill>
              <a:srgbClr val="348E90"/>
            </a:solidFill>
          </p:spPr>
          <p:txBody>
            <a:bodyPr/>
            <a:lstStyle/>
            <a:p>
              <a:endParaRPr lang="en-IN"/>
            </a:p>
          </p:txBody>
        </p:sp>
      </p:grpSp>
      <p:sp>
        <p:nvSpPr>
          <p:cNvPr id="4" name="Rectangle 3">
            <a:extLst>
              <a:ext uri="{FF2B5EF4-FFF2-40B4-BE49-F238E27FC236}">
                <a16:creationId xmlns:a16="http://schemas.microsoft.com/office/drawing/2014/main" id="{8C9D0740-1653-DC7E-5D73-FF042B6E997F}"/>
              </a:ext>
            </a:extLst>
          </p:cNvPr>
          <p:cNvSpPr/>
          <p:nvPr/>
        </p:nvSpPr>
        <p:spPr>
          <a:xfrm>
            <a:off x="15544800" y="0"/>
            <a:ext cx="1143000" cy="1823056"/>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C8A306DC-6B4F-D931-AD99-D315E7635AA9}"/>
              </a:ext>
            </a:extLst>
          </p:cNvPr>
          <p:cNvSpPr txBox="1"/>
          <p:nvPr/>
        </p:nvSpPr>
        <p:spPr>
          <a:xfrm>
            <a:off x="5181600" y="4635668"/>
            <a:ext cx="8077200" cy="1015663"/>
          </a:xfrm>
          <a:prstGeom prst="rect">
            <a:avLst/>
          </a:prstGeom>
          <a:noFill/>
        </p:spPr>
        <p:txBody>
          <a:bodyPr wrap="square">
            <a:spAutoFit/>
          </a:bodyPr>
          <a:lstStyle/>
          <a:p>
            <a:r>
              <a:rPr lang="en-US" sz="6000" b="1" dirty="0">
                <a:latin typeface="Inter" panose="020B0604020202020204" charset="0"/>
                <a:cs typeface="Inter" panose="020B0604020202020204" charset="0"/>
              </a:rPr>
              <a:t>Financial Risk Analysis</a:t>
            </a:r>
            <a:endParaRPr lang="en-IN" sz="6000" b="1" dirty="0">
              <a:latin typeface="Inter" panose="020B0604020202020204" charset="0"/>
              <a:cs typeface="Inter" panose="020B0604020202020204" charset="0"/>
            </a:endParaRPr>
          </a:p>
        </p:txBody>
      </p:sp>
    </p:spTree>
    <p:extLst>
      <p:ext uri="{BB962C8B-B14F-4D97-AF65-F5344CB8AC3E}">
        <p14:creationId xmlns:p14="http://schemas.microsoft.com/office/powerpoint/2010/main" val="228655681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C5D6CA"/>
        </a:solidFill>
        <a:effectLst/>
      </p:bgPr>
    </p:bg>
    <p:spTree>
      <p:nvGrpSpPr>
        <p:cNvPr id="1" name="">
          <a:extLst>
            <a:ext uri="{FF2B5EF4-FFF2-40B4-BE49-F238E27FC236}">
              <a16:creationId xmlns:a16="http://schemas.microsoft.com/office/drawing/2014/main" id="{F68A3EF5-C815-42A6-1E54-1017DDA5921A}"/>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D8573BBC-4AFD-527D-FCF6-F3EFF327771B}"/>
              </a:ext>
            </a:extLst>
          </p:cNvPr>
          <p:cNvGrpSpPr/>
          <p:nvPr/>
        </p:nvGrpSpPr>
        <p:grpSpPr>
          <a:xfrm>
            <a:off x="0" y="9497082"/>
            <a:ext cx="18292543" cy="787203"/>
            <a:chOff x="0" y="0"/>
            <a:chExt cx="24390058" cy="1049604"/>
          </a:xfrm>
        </p:grpSpPr>
        <p:sp>
          <p:nvSpPr>
            <p:cNvPr id="3" name="Freeform 3">
              <a:extLst>
                <a:ext uri="{FF2B5EF4-FFF2-40B4-BE49-F238E27FC236}">
                  <a16:creationId xmlns:a16="http://schemas.microsoft.com/office/drawing/2014/main" id="{96AD6507-DC96-B971-A9B3-BD5658D67733}"/>
                </a:ext>
              </a:extLst>
            </p:cNvPr>
            <p:cNvSpPr/>
            <p:nvPr/>
          </p:nvSpPr>
          <p:spPr>
            <a:xfrm>
              <a:off x="0" y="0"/>
              <a:ext cx="24390096" cy="1049655"/>
            </a:xfrm>
            <a:custGeom>
              <a:avLst/>
              <a:gdLst/>
              <a:ahLst/>
              <a:cxnLst/>
              <a:rect l="l" t="t" r="r" b="b"/>
              <a:pathLst>
                <a:path w="24390096" h="1049655">
                  <a:moveTo>
                    <a:pt x="0" y="0"/>
                  </a:moveTo>
                  <a:lnTo>
                    <a:pt x="24390096" y="0"/>
                  </a:lnTo>
                  <a:lnTo>
                    <a:pt x="24390096" y="1049655"/>
                  </a:lnTo>
                  <a:lnTo>
                    <a:pt x="0" y="1049655"/>
                  </a:lnTo>
                  <a:close/>
                </a:path>
              </a:pathLst>
            </a:custGeom>
            <a:solidFill>
              <a:srgbClr val="348E90"/>
            </a:solidFill>
          </p:spPr>
          <p:txBody>
            <a:bodyPr/>
            <a:lstStyle/>
            <a:p>
              <a:endParaRPr lang="en-IN"/>
            </a:p>
          </p:txBody>
        </p:sp>
      </p:grpSp>
      <p:sp>
        <p:nvSpPr>
          <p:cNvPr id="4" name="Rectangle 3">
            <a:extLst>
              <a:ext uri="{FF2B5EF4-FFF2-40B4-BE49-F238E27FC236}">
                <a16:creationId xmlns:a16="http://schemas.microsoft.com/office/drawing/2014/main" id="{ADA26EDB-AE98-3ECC-2E4F-DC3195EBC1AE}"/>
              </a:ext>
            </a:extLst>
          </p:cNvPr>
          <p:cNvSpPr/>
          <p:nvPr/>
        </p:nvSpPr>
        <p:spPr>
          <a:xfrm>
            <a:off x="15544800" y="0"/>
            <a:ext cx="1143000" cy="1823056"/>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9E1F3685-60DF-6CD7-E668-F2C2D315D6EB}"/>
              </a:ext>
            </a:extLst>
          </p:cNvPr>
          <p:cNvSpPr txBox="1"/>
          <p:nvPr/>
        </p:nvSpPr>
        <p:spPr>
          <a:xfrm>
            <a:off x="3886200" y="574116"/>
            <a:ext cx="10515600" cy="1015663"/>
          </a:xfrm>
          <a:prstGeom prst="rect">
            <a:avLst/>
          </a:prstGeom>
          <a:noFill/>
        </p:spPr>
        <p:txBody>
          <a:bodyPr wrap="square">
            <a:spAutoFit/>
          </a:bodyPr>
          <a:lstStyle/>
          <a:p>
            <a:r>
              <a:rPr lang="en-US" sz="6000" b="1" dirty="0">
                <a:latin typeface="Inter" panose="020B0604020202020204" charset="0"/>
                <a:cs typeface="Inter" panose="020B0604020202020204" charset="0"/>
              </a:rPr>
              <a:t>Default Rate by Income Band</a:t>
            </a:r>
            <a:endParaRPr lang="en-IN" sz="6000" b="1" dirty="0">
              <a:latin typeface="Inter" panose="020B0604020202020204" charset="0"/>
              <a:cs typeface="Inter" panose="020B0604020202020204" charset="0"/>
            </a:endParaRPr>
          </a:p>
        </p:txBody>
      </p:sp>
      <p:sp>
        <p:nvSpPr>
          <p:cNvPr id="8" name="Rectangle: Rounded Corners 7">
            <a:extLst>
              <a:ext uri="{FF2B5EF4-FFF2-40B4-BE49-F238E27FC236}">
                <a16:creationId xmlns:a16="http://schemas.microsoft.com/office/drawing/2014/main" id="{2F455075-4128-F64C-CBFC-DC34C24DFA26}"/>
              </a:ext>
            </a:extLst>
          </p:cNvPr>
          <p:cNvSpPr/>
          <p:nvPr/>
        </p:nvSpPr>
        <p:spPr>
          <a:xfrm>
            <a:off x="1600200" y="7731362"/>
            <a:ext cx="8001000" cy="1687489"/>
          </a:xfrm>
          <a:prstGeom prst="roundRect">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buNone/>
            </a:pPr>
            <a:r>
              <a:rPr lang="en-IN" sz="2500" b="1" dirty="0">
                <a:solidFill>
                  <a:schemeClr val="bg1"/>
                </a:solidFill>
                <a:latin typeface="Inter" panose="020B0604020202020204" charset="0"/>
                <a:cs typeface="Inter" panose="020B0604020202020204" charset="0"/>
              </a:rPr>
              <a:t>Key Insight:</a:t>
            </a:r>
          </a:p>
          <a:p>
            <a:r>
              <a:rPr lang="en-IN" b="1" dirty="0"/>
              <a:t>Default risk is highest in the middle-income segment</a:t>
            </a:r>
          </a:p>
          <a:p>
            <a:pPr marL="285750" indent="-285750">
              <a:buFont typeface="Arial" panose="020B0604020202020204" pitchFamily="34" charset="0"/>
              <a:buChar char="•"/>
            </a:pPr>
            <a:r>
              <a:rPr lang="en-IN" dirty="0"/>
              <a:t>The </a:t>
            </a:r>
            <a:r>
              <a:rPr lang="en-IN" b="1" dirty="0"/>
              <a:t>₹135K–148K</a:t>
            </a:r>
            <a:r>
              <a:rPr lang="en-IN" dirty="0"/>
              <a:t> income band has the highest default rate at around </a:t>
            </a:r>
            <a:r>
              <a:rPr lang="en-IN" b="1" dirty="0"/>
              <a:t>9%</a:t>
            </a:r>
            <a:r>
              <a:rPr lang="en-IN" dirty="0"/>
              <a:t>. </a:t>
            </a:r>
          </a:p>
          <a:p>
            <a:pPr marL="285750" indent="-285750">
              <a:buFont typeface="Arial" panose="020B0604020202020204" pitchFamily="34" charset="0"/>
              <a:buChar char="•"/>
            </a:pPr>
            <a:r>
              <a:rPr lang="en-IN" dirty="0"/>
              <a:t>Other nearby bands (</a:t>
            </a:r>
            <a:r>
              <a:rPr lang="en-IN" b="1" dirty="0"/>
              <a:t>₹99K–162K</a:t>
            </a:r>
            <a:r>
              <a:rPr lang="en-IN" dirty="0"/>
              <a:t>) also show elevated default rates (~8.5–8.8%).</a:t>
            </a:r>
          </a:p>
        </p:txBody>
      </p:sp>
      <p:pic>
        <p:nvPicPr>
          <p:cNvPr id="7" name="Picture 6">
            <a:extLst>
              <a:ext uri="{FF2B5EF4-FFF2-40B4-BE49-F238E27FC236}">
                <a16:creationId xmlns:a16="http://schemas.microsoft.com/office/drawing/2014/main" id="{A0D736F3-98D6-48B6-E5FC-793579F5972F}"/>
              </a:ext>
            </a:extLst>
          </p:cNvPr>
          <p:cNvPicPr>
            <a:picLocks noChangeAspect="1"/>
          </p:cNvPicPr>
          <p:nvPr/>
        </p:nvPicPr>
        <p:blipFill>
          <a:blip r:embed="rId2" cstate="print">
            <a:extLst>
              <a:ext uri="{28A0092B-C50C-407E-A947-70E740481C1C}">
                <a14:useLocalDpi xmlns:a14="http://schemas.microsoft.com/office/drawing/2010/main" val="0"/>
              </a:ext>
            </a:extLst>
          </a:blip>
          <a:srcRect t="7486"/>
          <a:stretch>
            <a:fillRect/>
          </a:stretch>
        </p:blipFill>
        <p:spPr>
          <a:xfrm>
            <a:off x="1600200" y="1823056"/>
            <a:ext cx="14630400" cy="5675029"/>
          </a:xfrm>
          <a:prstGeom prst="rect">
            <a:avLst/>
          </a:prstGeom>
        </p:spPr>
      </p:pic>
      <p:sp>
        <p:nvSpPr>
          <p:cNvPr id="9" name="Rectangle: Rounded Corners 8">
            <a:extLst>
              <a:ext uri="{FF2B5EF4-FFF2-40B4-BE49-F238E27FC236}">
                <a16:creationId xmlns:a16="http://schemas.microsoft.com/office/drawing/2014/main" id="{DFCFDAD5-BAA4-D32F-9DA7-8380E0104B8A}"/>
              </a:ext>
            </a:extLst>
          </p:cNvPr>
          <p:cNvSpPr/>
          <p:nvPr/>
        </p:nvSpPr>
        <p:spPr>
          <a:xfrm>
            <a:off x="9753600" y="7731363"/>
            <a:ext cx="6934200" cy="1687488"/>
          </a:xfrm>
          <a:prstGeom prst="roundRect">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buNone/>
            </a:pPr>
            <a:r>
              <a:rPr lang="en-IN" sz="2800" dirty="0"/>
              <a:t>Business interpretation:</a:t>
            </a:r>
            <a:endParaRPr lang="en-IN" sz="2500" dirty="0">
              <a:latin typeface="Inter" panose="020B0604020202020204" charset="0"/>
              <a:cs typeface="Inter" panose="020B0604020202020204" charset="0"/>
            </a:endParaRPr>
          </a:p>
          <a:p>
            <a:r>
              <a:rPr lang="en-IN" dirty="0">
                <a:latin typeface="Inter" panose="020B0604020202020204" charset="0"/>
                <a:cs typeface="Inter" panose="020B0604020202020204" charset="0"/>
              </a:rPr>
              <a:t>Middle-income applicants may be taking on more debt relative to their repayment capacity than lower-income or very high-income groups.</a:t>
            </a:r>
          </a:p>
        </p:txBody>
      </p:sp>
    </p:spTree>
    <p:extLst>
      <p:ext uri="{BB962C8B-B14F-4D97-AF65-F5344CB8AC3E}">
        <p14:creationId xmlns:p14="http://schemas.microsoft.com/office/powerpoint/2010/main" val="46706723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C5D6CA"/>
        </a:solidFill>
        <a:effectLst/>
      </p:bgPr>
    </p:bg>
    <p:spTree>
      <p:nvGrpSpPr>
        <p:cNvPr id="1" name="">
          <a:extLst>
            <a:ext uri="{FF2B5EF4-FFF2-40B4-BE49-F238E27FC236}">
              <a16:creationId xmlns:a16="http://schemas.microsoft.com/office/drawing/2014/main" id="{A67524C6-6D0D-9C26-5E17-A653008965D5}"/>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DCBD635B-D913-2D6A-01F5-B8ED8CB9BF6E}"/>
              </a:ext>
            </a:extLst>
          </p:cNvPr>
          <p:cNvGrpSpPr/>
          <p:nvPr/>
        </p:nvGrpSpPr>
        <p:grpSpPr>
          <a:xfrm>
            <a:off x="0" y="9497082"/>
            <a:ext cx="18292543" cy="787203"/>
            <a:chOff x="0" y="0"/>
            <a:chExt cx="24390058" cy="1049604"/>
          </a:xfrm>
        </p:grpSpPr>
        <p:sp>
          <p:nvSpPr>
            <p:cNvPr id="3" name="Freeform 3">
              <a:extLst>
                <a:ext uri="{FF2B5EF4-FFF2-40B4-BE49-F238E27FC236}">
                  <a16:creationId xmlns:a16="http://schemas.microsoft.com/office/drawing/2014/main" id="{54C43B07-9A05-405E-7795-7ABFEF29C58E}"/>
                </a:ext>
              </a:extLst>
            </p:cNvPr>
            <p:cNvSpPr/>
            <p:nvPr/>
          </p:nvSpPr>
          <p:spPr>
            <a:xfrm>
              <a:off x="0" y="0"/>
              <a:ext cx="24390096" cy="1049655"/>
            </a:xfrm>
            <a:custGeom>
              <a:avLst/>
              <a:gdLst/>
              <a:ahLst/>
              <a:cxnLst/>
              <a:rect l="l" t="t" r="r" b="b"/>
              <a:pathLst>
                <a:path w="24390096" h="1049655">
                  <a:moveTo>
                    <a:pt x="0" y="0"/>
                  </a:moveTo>
                  <a:lnTo>
                    <a:pt x="24390096" y="0"/>
                  </a:lnTo>
                  <a:lnTo>
                    <a:pt x="24390096" y="1049655"/>
                  </a:lnTo>
                  <a:lnTo>
                    <a:pt x="0" y="1049655"/>
                  </a:lnTo>
                  <a:close/>
                </a:path>
              </a:pathLst>
            </a:custGeom>
            <a:solidFill>
              <a:srgbClr val="348E90"/>
            </a:solidFill>
          </p:spPr>
          <p:txBody>
            <a:bodyPr/>
            <a:lstStyle/>
            <a:p>
              <a:endParaRPr lang="en-IN"/>
            </a:p>
          </p:txBody>
        </p:sp>
      </p:grpSp>
      <p:sp>
        <p:nvSpPr>
          <p:cNvPr id="4" name="Rectangle 3">
            <a:extLst>
              <a:ext uri="{FF2B5EF4-FFF2-40B4-BE49-F238E27FC236}">
                <a16:creationId xmlns:a16="http://schemas.microsoft.com/office/drawing/2014/main" id="{CD366BA8-5AD7-7999-6DBC-9B8BDAB420F3}"/>
              </a:ext>
            </a:extLst>
          </p:cNvPr>
          <p:cNvSpPr/>
          <p:nvPr/>
        </p:nvSpPr>
        <p:spPr>
          <a:xfrm>
            <a:off x="15544800" y="0"/>
            <a:ext cx="1143000" cy="1823056"/>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18B36165-30B8-806A-893B-CEA139029F32}"/>
              </a:ext>
            </a:extLst>
          </p:cNvPr>
          <p:cNvSpPr txBox="1"/>
          <p:nvPr/>
        </p:nvSpPr>
        <p:spPr>
          <a:xfrm>
            <a:off x="3886200" y="574116"/>
            <a:ext cx="10515600" cy="1015663"/>
          </a:xfrm>
          <a:prstGeom prst="rect">
            <a:avLst/>
          </a:prstGeom>
          <a:noFill/>
        </p:spPr>
        <p:txBody>
          <a:bodyPr wrap="square">
            <a:spAutoFit/>
          </a:bodyPr>
          <a:lstStyle/>
          <a:p>
            <a:r>
              <a:rPr lang="en-US" sz="6000" b="1" dirty="0">
                <a:latin typeface="Inter" panose="020B0604020202020204" charset="0"/>
                <a:cs typeface="Inter" panose="020B0604020202020204" charset="0"/>
              </a:rPr>
              <a:t>Credit Amount vs Default</a:t>
            </a:r>
            <a:endParaRPr lang="en-IN" sz="6000" b="1" dirty="0">
              <a:latin typeface="Inter" panose="020B0604020202020204" charset="0"/>
              <a:cs typeface="Inter" panose="020B0604020202020204" charset="0"/>
            </a:endParaRPr>
          </a:p>
        </p:txBody>
      </p:sp>
      <p:sp>
        <p:nvSpPr>
          <p:cNvPr id="8" name="Rectangle: Rounded Corners 7">
            <a:extLst>
              <a:ext uri="{FF2B5EF4-FFF2-40B4-BE49-F238E27FC236}">
                <a16:creationId xmlns:a16="http://schemas.microsoft.com/office/drawing/2014/main" id="{B9062CA8-F0F9-A580-99AA-B7897B6356DA}"/>
              </a:ext>
            </a:extLst>
          </p:cNvPr>
          <p:cNvSpPr/>
          <p:nvPr/>
        </p:nvSpPr>
        <p:spPr>
          <a:xfrm>
            <a:off x="1600200" y="8403188"/>
            <a:ext cx="15316200" cy="1015663"/>
          </a:xfrm>
          <a:prstGeom prst="roundRect">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buNone/>
            </a:pPr>
            <a:r>
              <a:rPr lang="en-IN" sz="2500" b="1" dirty="0">
                <a:solidFill>
                  <a:schemeClr val="bg1"/>
                </a:solidFill>
                <a:latin typeface="Inter" panose="020B0604020202020204" charset="0"/>
                <a:cs typeface="Inter" panose="020B0604020202020204" charset="0"/>
              </a:rPr>
              <a:t>Key Insight:</a:t>
            </a:r>
          </a:p>
          <a:p>
            <a:r>
              <a:rPr lang="en-IN" dirty="0">
                <a:latin typeface="Inter" panose="020B0604020202020204" charset="0"/>
                <a:cs typeface="Inter" panose="020B0604020202020204" charset="0"/>
              </a:rPr>
              <a:t>Default risk is highest for mid-sized loans and declines for larger credit amounts.</a:t>
            </a:r>
          </a:p>
        </p:txBody>
      </p:sp>
      <p:pic>
        <p:nvPicPr>
          <p:cNvPr id="10" name="Picture 9">
            <a:extLst>
              <a:ext uri="{FF2B5EF4-FFF2-40B4-BE49-F238E27FC236}">
                <a16:creationId xmlns:a16="http://schemas.microsoft.com/office/drawing/2014/main" id="{88EA4414-D5F3-FC61-8822-1F7FB146DAAE}"/>
              </a:ext>
            </a:extLst>
          </p:cNvPr>
          <p:cNvPicPr>
            <a:picLocks noChangeAspect="1"/>
          </p:cNvPicPr>
          <p:nvPr/>
        </p:nvPicPr>
        <p:blipFill>
          <a:blip r:embed="rId2" cstate="print">
            <a:extLst>
              <a:ext uri="{28A0092B-C50C-407E-A947-70E740481C1C}">
                <a14:useLocalDpi xmlns:a14="http://schemas.microsoft.com/office/drawing/2010/main" val="0"/>
              </a:ext>
            </a:extLst>
          </a:blip>
          <a:srcRect t="5580"/>
          <a:stretch>
            <a:fillRect/>
          </a:stretch>
        </p:blipFill>
        <p:spPr>
          <a:xfrm>
            <a:off x="1143000" y="1901287"/>
            <a:ext cx="15544800" cy="6484435"/>
          </a:xfrm>
          <a:prstGeom prst="rect">
            <a:avLst/>
          </a:prstGeom>
        </p:spPr>
      </p:pic>
    </p:spTree>
    <p:extLst>
      <p:ext uri="{BB962C8B-B14F-4D97-AF65-F5344CB8AC3E}">
        <p14:creationId xmlns:p14="http://schemas.microsoft.com/office/powerpoint/2010/main" val="3009428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C5D6CA"/>
        </a:solidFill>
        <a:effectLst/>
      </p:bgPr>
    </p:bg>
    <p:spTree>
      <p:nvGrpSpPr>
        <p:cNvPr id="1" name="">
          <a:extLst>
            <a:ext uri="{FF2B5EF4-FFF2-40B4-BE49-F238E27FC236}">
              <a16:creationId xmlns:a16="http://schemas.microsoft.com/office/drawing/2014/main" id="{51B77AD2-5647-B1D2-438E-E155C2AF570B}"/>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9C3A4FF3-E125-B3D0-2E4C-50160AAEE3BA}"/>
              </a:ext>
            </a:extLst>
          </p:cNvPr>
          <p:cNvGrpSpPr/>
          <p:nvPr/>
        </p:nvGrpSpPr>
        <p:grpSpPr>
          <a:xfrm>
            <a:off x="0" y="9497082"/>
            <a:ext cx="18292543" cy="787203"/>
            <a:chOff x="0" y="0"/>
            <a:chExt cx="24390058" cy="1049604"/>
          </a:xfrm>
        </p:grpSpPr>
        <p:sp>
          <p:nvSpPr>
            <p:cNvPr id="3" name="Freeform 3">
              <a:extLst>
                <a:ext uri="{FF2B5EF4-FFF2-40B4-BE49-F238E27FC236}">
                  <a16:creationId xmlns:a16="http://schemas.microsoft.com/office/drawing/2014/main" id="{C12A0EBC-6DED-A1BA-1EA2-C431336DD53A}"/>
                </a:ext>
              </a:extLst>
            </p:cNvPr>
            <p:cNvSpPr/>
            <p:nvPr/>
          </p:nvSpPr>
          <p:spPr>
            <a:xfrm>
              <a:off x="0" y="0"/>
              <a:ext cx="24390096" cy="1049655"/>
            </a:xfrm>
            <a:custGeom>
              <a:avLst/>
              <a:gdLst/>
              <a:ahLst/>
              <a:cxnLst/>
              <a:rect l="l" t="t" r="r" b="b"/>
              <a:pathLst>
                <a:path w="24390096" h="1049655">
                  <a:moveTo>
                    <a:pt x="0" y="0"/>
                  </a:moveTo>
                  <a:lnTo>
                    <a:pt x="24390096" y="0"/>
                  </a:lnTo>
                  <a:lnTo>
                    <a:pt x="24390096" y="1049655"/>
                  </a:lnTo>
                  <a:lnTo>
                    <a:pt x="0" y="1049655"/>
                  </a:lnTo>
                  <a:close/>
                </a:path>
              </a:pathLst>
            </a:custGeom>
            <a:solidFill>
              <a:srgbClr val="348E90"/>
            </a:solidFill>
          </p:spPr>
          <p:txBody>
            <a:bodyPr/>
            <a:lstStyle/>
            <a:p>
              <a:endParaRPr lang="en-IN"/>
            </a:p>
          </p:txBody>
        </p:sp>
      </p:grpSp>
      <p:sp>
        <p:nvSpPr>
          <p:cNvPr id="4" name="Rectangle 3">
            <a:extLst>
              <a:ext uri="{FF2B5EF4-FFF2-40B4-BE49-F238E27FC236}">
                <a16:creationId xmlns:a16="http://schemas.microsoft.com/office/drawing/2014/main" id="{C1901D75-2385-4931-9D3A-77A5ED044E54}"/>
              </a:ext>
            </a:extLst>
          </p:cNvPr>
          <p:cNvSpPr/>
          <p:nvPr/>
        </p:nvSpPr>
        <p:spPr>
          <a:xfrm>
            <a:off x="15544800" y="0"/>
            <a:ext cx="1143000" cy="1823056"/>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49BECD23-DF13-3D70-53F2-A62A657BF5FC}"/>
              </a:ext>
            </a:extLst>
          </p:cNvPr>
          <p:cNvSpPr txBox="1"/>
          <p:nvPr/>
        </p:nvSpPr>
        <p:spPr>
          <a:xfrm>
            <a:off x="3200400" y="574116"/>
            <a:ext cx="11201400" cy="1015663"/>
          </a:xfrm>
          <a:prstGeom prst="rect">
            <a:avLst/>
          </a:prstGeom>
          <a:noFill/>
        </p:spPr>
        <p:txBody>
          <a:bodyPr wrap="square">
            <a:spAutoFit/>
          </a:bodyPr>
          <a:lstStyle/>
          <a:p>
            <a:r>
              <a:rPr lang="en-US" sz="6000" b="1" dirty="0">
                <a:latin typeface="Inter" panose="020B0604020202020204" charset="0"/>
                <a:cs typeface="Inter" panose="020B0604020202020204" charset="0"/>
              </a:rPr>
              <a:t>Loan to Income Ratio vs Default</a:t>
            </a:r>
            <a:endParaRPr lang="en-IN" sz="6000" b="1" dirty="0">
              <a:latin typeface="Inter" panose="020B0604020202020204" charset="0"/>
              <a:cs typeface="Inter" panose="020B0604020202020204" charset="0"/>
            </a:endParaRPr>
          </a:p>
        </p:txBody>
      </p:sp>
      <p:sp>
        <p:nvSpPr>
          <p:cNvPr id="8" name="Rectangle: Rounded Corners 7">
            <a:extLst>
              <a:ext uri="{FF2B5EF4-FFF2-40B4-BE49-F238E27FC236}">
                <a16:creationId xmlns:a16="http://schemas.microsoft.com/office/drawing/2014/main" id="{415537A5-3493-81D0-3246-83FAB84E1C9A}"/>
              </a:ext>
            </a:extLst>
          </p:cNvPr>
          <p:cNvSpPr/>
          <p:nvPr/>
        </p:nvSpPr>
        <p:spPr>
          <a:xfrm>
            <a:off x="1447800" y="8403188"/>
            <a:ext cx="15468600" cy="1015663"/>
          </a:xfrm>
          <a:prstGeom prst="roundRect">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buNone/>
            </a:pPr>
            <a:r>
              <a:rPr lang="en-IN" sz="2500" b="1" dirty="0">
                <a:solidFill>
                  <a:schemeClr val="bg1"/>
                </a:solidFill>
                <a:latin typeface="Inter" panose="020B0604020202020204" charset="0"/>
                <a:cs typeface="Inter" panose="020B0604020202020204" charset="0"/>
              </a:rPr>
              <a:t>Key Insight:</a:t>
            </a:r>
          </a:p>
          <a:p>
            <a:r>
              <a:rPr lang="en-IN" dirty="0"/>
              <a:t>Default risk peaks at moderate loan-to-income levels rather than the highest borrowing ratios.</a:t>
            </a:r>
            <a:endParaRPr lang="en-IN" dirty="0">
              <a:latin typeface="Inter" panose="020B0604020202020204" charset="0"/>
              <a:cs typeface="Inter" panose="020B0604020202020204" charset="0"/>
            </a:endParaRPr>
          </a:p>
        </p:txBody>
      </p:sp>
      <p:pic>
        <p:nvPicPr>
          <p:cNvPr id="7" name="Picture 6">
            <a:extLst>
              <a:ext uri="{FF2B5EF4-FFF2-40B4-BE49-F238E27FC236}">
                <a16:creationId xmlns:a16="http://schemas.microsoft.com/office/drawing/2014/main" id="{C8F2583E-70AF-81CF-8449-3AF54A8CA026}"/>
              </a:ext>
            </a:extLst>
          </p:cNvPr>
          <p:cNvPicPr>
            <a:picLocks noChangeAspect="1"/>
          </p:cNvPicPr>
          <p:nvPr/>
        </p:nvPicPr>
        <p:blipFill>
          <a:blip r:embed="rId2" cstate="print">
            <a:extLst>
              <a:ext uri="{28A0092B-C50C-407E-A947-70E740481C1C}">
                <a14:useLocalDpi xmlns:a14="http://schemas.microsoft.com/office/drawing/2010/main" val="0"/>
              </a:ext>
            </a:extLst>
          </a:blip>
          <a:srcRect t="6689"/>
          <a:stretch>
            <a:fillRect/>
          </a:stretch>
        </p:blipFill>
        <p:spPr>
          <a:xfrm>
            <a:off x="1066800" y="2095500"/>
            <a:ext cx="15621000" cy="6229457"/>
          </a:xfrm>
          <a:prstGeom prst="rect">
            <a:avLst/>
          </a:prstGeom>
        </p:spPr>
      </p:pic>
    </p:spTree>
    <p:extLst>
      <p:ext uri="{BB962C8B-B14F-4D97-AF65-F5344CB8AC3E}">
        <p14:creationId xmlns:p14="http://schemas.microsoft.com/office/powerpoint/2010/main" val="310826734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C5D6CA"/>
        </a:solidFill>
        <a:effectLst/>
      </p:bgPr>
    </p:bg>
    <p:spTree>
      <p:nvGrpSpPr>
        <p:cNvPr id="1" name="">
          <a:extLst>
            <a:ext uri="{FF2B5EF4-FFF2-40B4-BE49-F238E27FC236}">
              <a16:creationId xmlns:a16="http://schemas.microsoft.com/office/drawing/2014/main" id="{71369CCA-9E92-8004-EE27-D8C85A95D8EE}"/>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D9A57DD8-AE24-F43D-FA18-22ECF45C12AE}"/>
              </a:ext>
            </a:extLst>
          </p:cNvPr>
          <p:cNvGrpSpPr/>
          <p:nvPr/>
        </p:nvGrpSpPr>
        <p:grpSpPr>
          <a:xfrm>
            <a:off x="0" y="9497082"/>
            <a:ext cx="18292543" cy="787203"/>
            <a:chOff x="0" y="0"/>
            <a:chExt cx="24390058" cy="1049604"/>
          </a:xfrm>
        </p:grpSpPr>
        <p:sp>
          <p:nvSpPr>
            <p:cNvPr id="3" name="Freeform 3">
              <a:extLst>
                <a:ext uri="{FF2B5EF4-FFF2-40B4-BE49-F238E27FC236}">
                  <a16:creationId xmlns:a16="http://schemas.microsoft.com/office/drawing/2014/main" id="{2A8C444A-5FA2-9E69-FD5B-2AD7A00818FC}"/>
                </a:ext>
              </a:extLst>
            </p:cNvPr>
            <p:cNvSpPr/>
            <p:nvPr/>
          </p:nvSpPr>
          <p:spPr>
            <a:xfrm>
              <a:off x="0" y="0"/>
              <a:ext cx="24390096" cy="1049655"/>
            </a:xfrm>
            <a:custGeom>
              <a:avLst/>
              <a:gdLst/>
              <a:ahLst/>
              <a:cxnLst/>
              <a:rect l="l" t="t" r="r" b="b"/>
              <a:pathLst>
                <a:path w="24390096" h="1049655">
                  <a:moveTo>
                    <a:pt x="0" y="0"/>
                  </a:moveTo>
                  <a:lnTo>
                    <a:pt x="24390096" y="0"/>
                  </a:lnTo>
                  <a:lnTo>
                    <a:pt x="24390096" y="1049655"/>
                  </a:lnTo>
                  <a:lnTo>
                    <a:pt x="0" y="1049655"/>
                  </a:lnTo>
                  <a:close/>
                </a:path>
              </a:pathLst>
            </a:custGeom>
            <a:solidFill>
              <a:srgbClr val="348E90"/>
            </a:solidFill>
          </p:spPr>
          <p:txBody>
            <a:bodyPr/>
            <a:lstStyle/>
            <a:p>
              <a:endParaRPr lang="en-IN"/>
            </a:p>
          </p:txBody>
        </p:sp>
      </p:grpSp>
      <p:sp>
        <p:nvSpPr>
          <p:cNvPr id="4" name="Rectangle 3">
            <a:extLst>
              <a:ext uri="{FF2B5EF4-FFF2-40B4-BE49-F238E27FC236}">
                <a16:creationId xmlns:a16="http://schemas.microsoft.com/office/drawing/2014/main" id="{27ABE818-C4DD-8E6D-0E1F-43D355F62393}"/>
              </a:ext>
            </a:extLst>
          </p:cNvPr>
          <p:cNvSpPr/>
          <p:nvPr/>
        </p:nvSpPr>
        <p:spPr>
          <a:xfrm>
            <a:off x="15544800" y="0"/>
            <a:ext cx="1143000" cy="1823056"/>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08409FC2-9835-3085-7A8E-666D3DA741D7}"/>
              </a:ext>
            </a:extLst>
          </p:cNvPr>
          <p:cNvSpPr txBox="1"/>
          <p:nvPr/>
        </p:nvSpPr>
        <p:spPr>
          <a:xfrm>
            <a:off x="3200400" y="574116"/>
            <a:ext cx="11201400" cy="1015663"/>
          </a:xfrm>
          <a:prstGeom prst="rect">
            <a:avLst/>
          </a:prstGeom>
          <a:noFill/>
        </p:spPr>
        <p:txBody>
          <a:bodyPr wrap="square">
            <a:spAutoFit/>
          </a:bodyPr>
          <a:lstStyle/>
          <a:p>
            <a:r>
              <a:rPr lang="en-US" sz="6000" b="1" dirty="0">
                <a:latin typeface="Inter" panose="020B0604020202020204" charset="0"/>
                <a:cs typeface="Inter" panose="020B0604020202020204" charset="0"/>
              </a:rPr>
              <a:t>EMI to Income Ratio vs Default</a:t>
            </a:r>
            <a:endParaRPr lang="en-IN" sz="6000" b="1" dirty="0">
              <a:latin typeface="Inter" panose="020B0604020202020204" charset="0"/>
              <a:cs typeface="Inter" panose="020B0604020202020204" charset="0"/>
            </a:endParaRPr>
          </a:p>
        </p:txBody>
      </p:sp>
      <p:sp>
        <p:nvSpPr>
          <p:cNvPr id="8" name="Rectangle: Rounded Corners 7">
            <a:extLst>
              <a:ext uri="{FF2B5EF4-FFF2-40B4-BE49-F238E27FC236}">
                <a16:creationId xmlns:a16="http://schemas.microsoft.com/office/drawing/2014/main" id="{85E6371D-689C-0022-C49F-B518EE53828C}"/>
              </a:ext>
            </a:extLst>
          </p:cNvPr>
          <p:cNvSpPr/>
          <p:nvPr/>
        </p:nvSpPr>
        <p:spPr>
          <a:xfrm>
            <a:off x="1447800" y="8403188"/>
            <a:ext cx="15468600" cy="1015663"/>
          </a:xfrm>
          <a:prstGeom prst="roundRect">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buNone/>
            </a:pPr>
            <a:r>
              <a:rPr lang="en-IN" sz="2500" b="1" dirty="0">
                <a:solidFill>
                  <a:schemeClr val="bg1"/>
                </a:solidFill>
                <a:latin typeface="Inter" panose="020B0604020202020204" charset="0"/>
                <a:cs typeface="Inter" panose="020B0604020202020204" charset="0"/>
              </a:rPr>
              <a:t>Key Insight:</a:t>
            </a:r>
          </a:p>
          <a:p>
            <a:r>
              <a:rPr lang="en-IN" dirty="0"/>
              <a:t>Higher EMI burden generally corresponds to higher default risk..</a:t>
            </a:r>
            <a:endParaRPr lang="en-IN" dirty="0">
              <a:latin typeface="Inter" panose="020B0604020202020204" charset="0"/>
              <a:cs typeface="Inter" panose="020B0604020202020204" charset="0"/>
            </a:endParaRPr>
          </a:p>
        </p:txBody>
      </p:sp>
      <p:pic>
        <p:nvPicPr>
          <p:cNvPr id="9" name="Picture 8">
            <a:extLst>
              <a:ext uri="{FF2B5EF4-FFF2-40B4-BE49-F238E27FC236}">
                <a16:creationId xmlns:a16="http://schemas.microsoft.com/office/drawing/2014/main" id="{D8E15123-3BB3-D3B5-6754-65DD7A6D2310}"/>
              </a:ext>
            </a:extLst>
          </p:cNvPr>
          <p:cNvPicPr>
            <a:picLocks noChangeAspect="1"/>
          </p:cNvPicPr>
          <p:nvPr/>
        </p:nvPicPr>
        <p:blipFill>
          <a:blip r:embed="rId2" cstate="print">
            <a:extLst>
              <a:ext uri="{28A0092B-C50C-407E-A947-70E740481C1C}">
                <a14:useLocalDpi xmlns:a14="http://schemas.microsoft.com/office/drawing/2010/main" val="0"/>
              </a:ext>
            </a:extLst>
          </a:blip>
          <a:srcRect t="6480"/>
          <a:stretch>
            <a:fillRect/>
          </a:stretch>
        </p:blipFill>
        <p:spPr>
          <a:xfrm>
            <a:off x="1447800" y="2171700"/>
            <a:ext cx="15240000" cy="6153257"/>
          </a:xfrm>
          <a:prstGeom prst="rect">
            <a:avLst/>
          </a:prstGeom>
        </p:spPr>
      </p:pic>
    </p:spTree>
    <p:extLst>
      <p:ext uri="{BB962C8B-B14F-4D97-AF65-F5344CB8AC3E}">
        <p14:creationId xmlns:p14="http://schemas.microsoft.com/office/powerpoint/2010/main" val="393334165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C5D6CA"/>
        </a:solidFill>
        <a:effectLst/>
      </p:bgPr>
    </p:bg>
    <p:spTree>
      <p:nvGrpSpPr>
        <p:cNvPr id="1" name="">
          <a:extLst>
            <a:ext uri="{FF2B5EF4-FFF2-40B4-BE49-F238E27FC236}">
              <a16:creationId xmlns:a16="http://schemas.microsoft.com/office/drawing/2014/main" id="{49D2FC56-EFB3-823A-EDDE-BE4B192A3244}"/>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BAEA2494-1C3C-ECB6-2E9D-E1A5A3F53866}"/>
              </a:ext>
            </a:extLst>
          </p:cNvPr>
          <p:cNvGrpSpPr/>
          <p:nvPr/>
        </p:nvGrpSpPr>
        <p:grpSpPr>
          <a:xfrm>
            <a:off x="0" y="9497082"/>
            <a:ext cx="18292543" cy="787203"/>
            <a:chOff x="0" y="0"/>
            <a:chExt cx="24390058" cy="1049604"/>
          </a:xfrm>
        </p:grpSpPr>
        <p:sp>
          <p:nvSpPr>
            <p:cNvPr id="3" name="Freeform 3">
              <a:extLst>
                <a:ext uri="{FF2B5EF4-FFF2-40B4-BE49-F238E27FC236}">
                  <a16:creationId xmlns:a16="http://schemas.microsoft.com/office/drawing/2014/main" id="{08B15B9E-2F17-A0B4-D895-555A10F1D8AF}"/>
                </a:ext>
              </a:extLst>
            </p:cNvPr>
            <p:cNvSpPr/>
            <p:nvPr/>
          </p:nvSpPr>
          <p:spPr>
            <a:xfrm>
              <a:off x="0" y="0"/>
              <a:ext cx="24390096" cy="1049655"/>
            </a:xfrm>
            <a:custGeom>
              <a:avLst/>
              <a:gdLst/>
              <a:ahLst/>
              <a:cxnLst/>
              <a:rect l="l" t="t" r="r" b="b"/>
              <a:pathLst>
                <a:path w="24390096" h="1049655">
                  <a:moveTo>
                    <a:pt x="0" y="0"/>
                  </a:moveTo>
                  <a:lnTo>
                    <a:pt x="24390096" y="0"/>
                  </a:lnTo>
                  <a:lnTo>
                    <a:pt x="24390096" y="1049655"/>
                  </a:lnTo>
                  <a:lnTo>
                    <a:pt x="0" y="1049655"/>
                  </a:lnTo>
                  <a:close/>
                </a:path>
              </a:pathLst>
            </a:custGeom>
            <a:solidFill>
              <a:srgbClr val="348E90"/>
            </a:solidFill>
          </p:spPr>
          <p:txBody>
            <a:bodyPr/>
            <a:lstStyle/>
            <a:p>
              <a:endParaRPr lang="en-IN"/>
            </a:p>
          </p:txBody>
        </p:sp>
      </p:grpSp>
      <p:sp>
        <p:nvSpPr>
          <p:cNvPr id="4" name="Rectangle 3">
            <a:extLst>
              <a:ext uri="{FF2B5EF4-FFF2-40B4-BE49-F238E27FC236}">
                <a16:creationId xmlns:a16="http://schemas.microsoft.com/office/drawing/2014/main" id="{4C7FE241-25E8-A566-684C-606D32036DF6}"/>
              </a:ext>
            </a:extLst>
          </p:cNvPr>
          <p:cNvSpPr/>
          <p:nvPr/>
        </p:nvSpPr>
        <p:spPr>
          <a:xfrm>
            <a:off x="15544800" y="0"/>
            <a:ext cx="1143000" cy="1823056"/>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IN"/>
          </a:p>
        </p:txBody>
      </p:sp>
      <p:sp>
        <p:nvSpPr>
          <p:cNvPr id="14" name="Rectangle: Rounded Corners 13">
            <a:extLst>
              <a:ext uri="{FF2B5EF4-FFF2-40B4-BE49-F238E27FC236}">
                <a16:creationId xmlns:a16="http://schemas.microsoft.com/office/drawing/2014/main" id="{1B069841-70B1-89DE-DF53-6384DDFB486F}"/>
              </a:ext>
            </a:extLst>
          </p:cNvPr>
          <p:cNvSpPr/>
          <p:nvPr/>
        </p:nvSpPr>
        <p:spPr>
          <a:xfrm>
            <a:off x="1524001" y="2555789"/>
            <a:ext cx="13639800" cy="3200400"/>
          </a:xfrm>
          <a:prstGeom prst="roundRect">
            <a:avLst>
              <a:gd name="adj" fmla="val 10104"/>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buNone/>
            </a:pPr>
            <a:r>
              <a:rPr lang="en-IN" sz="2500" b="1" dirty="0">
                <a:solidFill>
                  <a:schemeClr val="bg1"/>
                </a:solidFill>
                <a:latin typeface="Inter" panose="020B0604020202020204" charset="0"/>
                <a:cs typeface="Inter" panose="020B0604020202020204" charset="0"/>
              </a:rPr>
              <a:t>Key Findings:</a:t>
            </a:r>
          </a:p>
          <a:p>
            <a:pPr marL="285750" indent="-285750">
              <a:buFont typeface="Arial" panose="020B0604020202020204" pitchFamily="34" charset="0"/>
              <a:buChar char="•"/>
            </a:pPr>
            <a:r>
              <a:rPr lang="en-IN" dirty="0">
                <a:latin typeface="Inter" panose="020B0604020202020204" charset="0"/>
                <a:cs typeface="Inter" panose="020B0604020202020204" charset="0"/>
              </a:rPr>
              <a:t>Default risk peaks within middle-income segments rather than the lowest-income groups.</a:t>
            </a:r>
          </a:p>
          <a:p>
            <a:pPr marL="285750" indent="-285750">
              <a:buFont typeface="Arial" panose="020B0604020202020204" pitchFamily="34" charset="0"/>
              <a:buChar char="•"/>
            </a:pPr>
            <a:r>
              <a:rPr lang="en-IN" dirty="0">
                <a:latin typeface="Inter" panose="020B0604020202020204" charset="0"/>
                <a:cs typeface="Inter" panose="020B0604020202020204" charset="0"/>
              </a:rPr>
              <a:t>Mid-sized loans exhibit higher default rates than very small or very large loans.</a:t>
            </a:r>
          </a:p>
          <a:p>
            <a:pPr marL="285750" indent="-285750">
              <a:buFont typeface="Arial" panose="020B0604020202020204" pitchFamily="34" charset="0"/>
              <a:buChar char="•"/>
            </a:pPr>
            <a:r>
              <a:rPr lang="en-IN" dirty="0">
                <a:latin typeface="Inter" panose="020B0604020202020204" charset="0"/>
                <a:cs typeface="Inter" panose="020B0604020202020204" charset="0"/>
              </a:rPr>
              <a:t>Customers with higher EMI burdens generally demonstrate increased repayment risk. </a:t>
            </a:r>
          </a:p>
          <a:p>
            <a:pPr marL="285750" indent="-285750">
              <a:buFont typeface="Arial" panose="020B0604020202020204" pitchFamily="34" charset="0"/>
              <a:buChar char="•"/>
            </a:pPr>
            <a:r>
              <a:rPr lang="en-IN" dirty="0">
                <a:latin typeface="Inter" panose="020B0604020202020204" charset="0"/>
                <a:cs typeface="Inter" panose="020B0604020202020204" charset="0"/>
              </a:rPr>
              <a:t>Loan affordability measures provide meaningful insight into repayment capability.</a:t>
            </a:r>
          </a:p>
          <a:p>
            <a:pPr marL="285750" indent="-285750">
              <a:buFont typeface="Arial" panose="020B0604020202020204" pitchFamily="34" charset="0"/>
              <a:buChar char="•"/>
            </a:pPr>
            <a:r>
              <a:rPr lang="en-IN" dirty="0">
                <a:latin typeface="Inter" panose="020B0604020202020204" charset="0"/>
                <a:cs typeface="Inter" panose="020B0604020202020204" charset="0"/>
              </a:rPr>
              <a:t>Financial stress indicators are more informative than absolute income alone.</a:t>
            </a:r>
          </a:p>
        </p:txBody>
      </p:sp>
      <p:sp>
        <p:nvSpPr>
          <p:cNvPr id="5" name="TextBox 4">
            <a:extLst>
              <a:ext uri="{FF2B5EF4-FFF2-40B4-BE49-F238E27FC236}">
                <a16:creationId xmlns:a16="http://schemas.microsoft.com/office/drawing/2014/main" id="{6A7FB6C3-F654-CE41-5A56-89C4E3F61F7C}"/>
              </a:ext>
            </a:extLst>
          </p:cNvPr>
          <p:cNvSpPr txBox="1"/>
          <p:nvPr/>
        </p:nvSpPr>
        <p:spPr>
          <a:xfrm>
            <a:off x="5010151" y="634743"/>
            <a:ext cx="6667500" cy="707886"/>
          </a:xfrm>
          <a:prstGeom prst="rect">
            <a:avLst/>
          </a:prstGeom>
          <a:noFill/>
        </p:spPr>
        <p:txBody>
          <a:bodyPr wrap="square">
            <a:spAutoFit/>
          </a:bodyPr>
          <a:lstStyle/>
          <a:p>
            <a:r>
              <a:rPr lang="en-US" sz="4000" b="1" dirty="0">
                <a:latin typeface="Inter" panose="020B0604020202020204" charset="0"/>
                <a:cs typeface="Inter" panose="020B0604020202020204" charset="0"/>
              </a:rPr>
              <a:t>Financial Risk Summary</a:t>
            </a:r>
          </a:p>
        </p:txBody>
      </p:sp>
      <p:sp>
        <p:nvSpPr>
          <p:cNvPr id="7" name="Rectangle: Rounded Corners 6">
            <a:extLst>
              <a:ext uri="{FF2B5EF4-FFF2-40B4-BE49-F238E27FC236}">
                <a16:creationId xmlns:a16="http://schemas.microsoft.com/office/drawing/2014/main" id="{3FD9979A-58D5-79EF-0D10-93B195DF388D}"/>
              </a:ext>
            </a:extLst>
          </p:cNvPr>
          <p:cNvSpPr/>
          <p:nvPr/>
        </p:nvSpPr>
        <p:spPr>
          <a:xfrm>
            <a:off x="1524001" y="6289590"/>
            <a:ext cx="13639800" cy="2130510"/>
          </a:xfrm>
          <a:prstGeom prst="roundRect">
            <a:avLst>
              <a:gd name="adj" fmla="val 10104"/>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buNone/>
            </a:pPr>
            <a:r>
              <a:rPr lang="en-IN" sz="2500" b="1" dirty="0">
                <a:solidFill>
                  <a:schemeClr val="bg1"/>
                </a:solidFill>
                <a:latin typeface="Inter" panose="020B0604020202020204" charset="0"/>
                <a:cs typeface="Inter" panose="020B0604020202020204" charset="0"/>
              </a:rPr>
              <a:t>Business Implications:</a:t>
            </a:r>
          </a:p>
          <a:p>
            <a:pPr marL="285750" indent="-285750">
              <a:buFont typeface="Arial" panose="020B0604020202020204" pitchFamily="34" charset="0"/>
              <a:buChar char="•"/>
            </a:pPr>
            <a:r>
              <a:rPr lang="en-IN" dirty="0">
                <a:latin typeface="Inter" panose="020B0604020202020204" charset="0"/>
                <a:cs typeface="Inter" panose="020B0604020202020204" charset="0"/>
              </a:rPr>
              <a:t>Loan approval decisions should emphasize affordability metrics rather than income levels in isolation.</a:t>
            </a:r>
          </a:p>
          <a:p>
            <a:pPr marL="285750" indent="-285750">
              <a:buFont typeface="Arial" panose="020B0604020202020204" pitchFamily="34" charset="0"/>
              <a:buChar char="•"/>
            </a:pPr>
            <a:r>
              <a:rPr lang="en-IN" dirty="0">
                <a:latin typeface="Inter" panose="020B0604020202020204" charset="0"/>
                <a:cs typeface="Inter" panose="020B0604020202020204" charset="0"/>
              </a:rPr>
              <a:t>Customers with elevated repayment burdens should be monitored more closely throughout the loan lifecycle.</a:t>
            </a:r>
          </a:p>
          <a:p>
            <a:pPr marL="285750" indent="-285750">
              <a:buFont typeface="Arial" panose="020B0604020202020204" pitchFamily="34" charset="0"/>
              <a:buChar char="•"/>
            </a:pPr>
            <a:r>
              <a:rPr lang="en-IN" dirty="0">
                <a:latin typeface="Inter" panose="020B0604020202020204" charset="0"/>
                <a:cs typeface="Inter" panose="020B0604020202020204" charset="0"/>
              </a:rPr>
              <a:t>Debt servicing capacity remains a critical determinant of credit performance.</a:t>
            </a:r>
          </a:p>
        </p:txBody>
      </p:sp>
    </p:spTree>
    <p:extLst>
      <p:ext uri="{BB962C8B-B14F-4D97-AF65-F5344CB8AC3E}">
        <p14:creationId xmlns:p14="http://schemas.microsoft.com/office/powerpoint/2010/main" val="292216971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C5D6CA"/>
        </a:solidFill>
        <a:effectLst/>
      </p:bgPr>
    </p:bg>
    <p:spTree>
      <p:nvGrpSpPr>
        <p:cNvPr id="1" name="">
          <a:extLst>
            <a:ext uri="{FF2B5EF4-FFF2-40B4-BE49-F238E27FC236}">
              <a16:creationId xmlns:a16="http://schemas.microsoft.com/office/drawing/2014/main" id="{5116E4DE-9507-9FB9-AD93-4FDE0F090DE0}"/>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8FB312D8-46D4-765D-005F-2E7A31227C1A}"/>
              </a:ext>
            </a:extLst>
          </p:cNvPr>
          <p:cNvGrpSpPr/>
          <p:nvPr/>
        </p:nvGrpSpPr>
        <p:grpSpPr>
          <a:xfrm>
            <a:off x="0" y="9497082"/>
            <a:ext cx="18292543" cy="787203"/>
            <a:chOff x="0" y="0"/>
            <a:chExt cx="24390058" cy="1049604"/>
          </a:xfrm>
        </p:grpSpPr>
        <p:sp>
          <p:nvSpPr>
            <p:cNvPr id="3" name="Freeform 3">
              <a:extLst>
                <a:ext uri="{FF2B5EF4-FFF2-40B4-BE49-F238E27FC236}">
                  <a16:creationId xmlns:a16="http://schemas.microsoft.com/office/drawing/2014/main" id="{39D094B7-7109-9DD1-F28B-2B66A4F54B7B}"/>
                </a:ext>
              </a:extLst>
            </p:cNvPr>
            <p:cNvSpPr/>
            <p:nvPr/>
          </p:nvSpPr>
          <p:spPr>
            <a:xfrm>
              <a:off x="0" y="0"/>
              <a:ext cx="24390096" cy="1049655"/>
            </a:xfrm>
            <a:custGeom>
              <a:avLst/>
              <a:gdLst/>
              <a:ahLst/>
              <a:cxnLst/>
              <a:rect l="l" t="t" r="r" b="b"/>
              <a:pathLst>
                <a:path w="24390096" h="1049655">
                  <a:moveTo>
                    <a:pt x="0" y="0"/>
                  </a:moveTo>
                  <a:lnTo>
                    <a:pt x="24390096" y="0"/>
                  </a:lnTo>
                  <a:lnTo>
                    <a:pt x="24390096" y="1049655"/>
                  </a:lnTo>
                  <a:lnTo>
                    <a:pt x="0" y="1049655"/>
                  </a:lnTo>
                  <a:close/>
                </a:path>
              </a:pathLst>
            </a:custGeom>
            <a:solidFill>
              <a:srgbClr val="348E90"/>
            </a:solidFill>
          </p:spPr>
          <p:txBody>
            <a:bodyPr/>
            <a:lstStyle/>
            <a:p>
              <a:endParaRPr lang="en-IN"/>
            </a:p>
          </p:txBody>
        </p:sp>
      </p:grpSp>
      <p:sp>
        <p:nvSpPr>
          <p:cNvPr id="4" name="Rectangle 3">
            <a:extLst>
              <a:ext uri="{FF2B5EF4-FFF2-40B4-BE49-F238E27FC236}">
                <a16:creationId xmlns:a16="http://schemas.microsoft.com/office/drawing/2014/main" id="{2C89CC93-C35C-A7B7-66F0-E8EFF4436E12}"/>
              </a:ext>
            </a:extLst>
          </p:cNvPr>
          <p:cNvSpPr/>
          <p:nvPr/>
        </p:nvSpPr>
        <p:spPr>
          <a:xfrm>
            <a:off x="15544800" y="0"/>
            <a:ext cx="1143000" cy="1823056"/>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C5384473-9B71-F9C9-95A7-F9945CDD9370}"/>
              </a:ext>
            </a:extLst>
          </p:cNvPr>
          <p:cNvSpPr txBox="1"/>
          <p:nvPr/>
        </p:nvSpPr>
        <p:spPr>
          <a:xfrm>
            <a:off x="3429000" y="4635668"/>
            <a:ext cx="9220200" cy="1015663"/>
          </a:xfrm>
          <a:prstGeom prst="rect">
            <a:avLst/>
          </a:prstGeom>
          <a:noFill/>
        </p:spPr>
        <p:txBody>
          <a:bodyPr wrap="square">
            <a:spAutoFit/>
          </a:bodyPr>
          <a:lstStyle/>
          <a:p>
            <a:r>
              <a:rPr lang="en-US" sz="6000" b="1" dirty="0">
                <a:latin typeface="Inter" panose="020B0604020202020204" charset="0"/>
                <a:cs typeface="Inter" panose="020B0604020202020204" charset="0"/>
              </a:rPr>
              <a:t>Creditworthiness Analysis</a:t>
            </a:r>
            <a:endParaRPr lang="en-IN" sz="6000" b="1" dirty="0">
              <a:latin typeface="Inter" panose="020B0604020202020204" charset="0"/>
              <a:cs typeface="Inter" panose="020B0604020202020204" charset="0"/>
            </a:endParaRPr>
          </a:p>
        </p:txBody>
      </p:sp>
    </p:spTree>
    <p:extLst>
      <p:ext uri="{BB962C8B-B14F-4D97-AF65-F5344CB8AC3E}">
        <p14:creationId xmlns:p14="http://schemas.microsoft.com/office/powerpoint/2010/main" val="374888651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C5D6CA"/>
        </a:solidFill>
        <a:effectLst/>
      </p:bgPr>
    </p:bg>
    <p:spTree>
      <p:nvGrpSpPr>
        <p:cNvPr id="1" name="">
          <a:extLst>
            <a:ext uri="{FF2B5EF4-FFF2-40B4-BE49-F238E27FC236}">
              <a16:creationId xmlns:a16="http://schemas.microsoft.com/office/drawing/2014/main" id="{3A54D1E8-7B0E-3D99-8ADF-B4EA4B75897A}"/>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2DB4E693-A144-AE83-FC5F-C7F993AA4A3D}"/>
              </a:ext>
            </a:extLst>
          </p:cNvPr>
          <p:cNvGrpSpPr/>
          <p:nvPr/>
        </p:nvGrpSpPr>
        <p:grpSpPr>
          <a:xfrm>
            <a:off x="0" y="9497082"/>
            <a:ext cx="18292543" cy="787203"/>
            <a:chOff x="0" y="0"/>
            <a:chExt cx="24390058" cy="1049604"/>
          </a:xfrm>
        </p:grpSpPr>
        <p:sp>
          <p:nvSpPr>
            <p:cNvPr id="3" name="Freeform 3">
              <a:extLst>
                <a:ext uri="{FF2B5EF4-FFF2-40B4-BE49-F238E27FC236}">
                  <a16:creationId xmlns:a16="http://schemas.microsoft.com/office/drawing/2014/main" id="{302D97D7-7781-FC5A-34DF-8F06D3521BC5}"/>
                </a:ext>
              </a:extLst>
            </p:cNvPr>
            <p:cNvSpPr/>
            <p:nvPr/>
          </p:nvSpPr>
          <p:spPr>
            <a:xfrm>
              <a:off x="0" y="0"/>
              <a:ext cx="24390096" cy="1049655"/>
            </a:xfrm>
            <a:custGeom>
              <a:avLst/>
              <a:gdLst/>
              <a:ahLst/>
              <a:cxnLst/>
              <a:rect l="l" t="t" r="r" b="b"/>
              <a:pathLst>
                <a:path w="24390096" h="1049655">
                  <a:moveTo>
                    <a:pt x="0" y="0"/>
                  </a:moveTo>
                  <a:lnTo>
                    <a:pt x="24390096" y="0"/>
                  </a:lnTo>
                  <a:lnTo>
                    <a:pt x="24390096" y="1049655"/>
                  </a:lnTo>
                  <a:lnTo>
                    <a:pt x="0" y="1049655"/>
                  </a:lnTo>
                  <a:close/>
                </a:path>
              </a:pathLst>
            </a:custGeom>
            <a:solidFill>
              <a:srgbClr val="348E90"/>
            </a:solidFill>
          </p:spPr>
          <p:txBody>
            <a:bodyPr/>
            <a:lstStyle/>
            <a:p>
              <a:endParaRPr lang="en-IN"/>
            </a:p>
          </p:txBody>
        </p:sp>
      </p:grpSp>
      <p:sp>
        <p:nvSpPr>
          <p:cNvPr id="4" name="Rectangle 3">
            <a:extLst>
              <a:ext uri="{FF2B5EF4-FFF2-40B4-BE49-F238E27FC236}">
                <a16:creationId xmlns:a16="http://schemas.microsoft.com/office/drawing/2014/main" id="{14942349-5381-89F1-2314-06067389DD36}"/>
              </a:ext>
            </a:extLst>
          </p:cNvPr>
          <p:cNvSpPr/>
          <p:nvPr/>
        </p:nvSpPr>
        <p:spPr>
          <a:xfrm>
            <a:off x="15544800" y="0"/>
            <a:ext cx="1143000" cy="1823056"/>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1FCB459C-D198-3669-E605-FF5581D8F91E}"/>
              </a:ext>
            </a:extLst>
          </p:cNvPr>
          <p:cNvSpPr txBox="1"/>
          <p:nvPr/>
        </p:nvSpPr>
        <p:spPr>
          <a:xfrm>
            <a:off x="3124200" y="911528"/>
            <a:ext cx="12039600" cy="707886"/>
          </a:xfrm>
          <a:prstGeom prst="rect">
            <a:avLst/>
          </a:prstGeom>
          <a:noFill/>
        </p:spPr>
        <p:txBody>
          <a:bodyPr wrap="square">
            <a:spAutoFit/>
          </a:bodyPr>
          <a:lstStyle/>
          <a:p>
            <a:r>
              <a:rPr lang="en-US" sz="4000" b="1" dirty="0">
                <a:latin typeface="Inter" panose="020B0604020202020204" charset="0"/>
                <a:cs typeface="Inter" panose="020B0604020202020204" charset="0"/>
              </a:rPr>
              <a:t>External Credit Scores Strongly Predict Default Risk</a:t>
            </a:r>
          </a:p>
        </p:txBody>
      </p:sp>
      <p:pic>
        <p:nvPicPr>
          <p:cNvPr id="7" name="Picture 6">
            <a:extLst>
              <a:ext uri="{FF2B5EF4-FFF2-40B4-BE49-F238E27FC236}">
                <a16:creationId xmlns:a16="http://schemas.microsoft.com/office/drawing/2014/main" id="{5F703E34-27BA-AC8E-250A-3AB90F812F1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41918" y="2086602"/>
            <a:ext cx="15141146" cy="6943291"/>
          </a:xfrm>
          <a:prstGeom prst="rect">
            <a:avLst/>
          </a:prstGeom>
        </p:spPr>
      </p:pic>
      <p:sp>
        <p:nvSpPr>
          <p:cNvPr id="9" name="Rectangle: Rounded Corners 8">
            <a:extLst>
              <a:ext uri="{FF2B5EF4-FFF2-40B4-BE49-F238E27FC236}">
                <a16:creationId xmlns:a16="http://schemas.microsoft.com/office/drawing/2014/main" id="{CBD07A99-99F4-CB31-C14B-0A83577BA9A5}"/>
              </a:ext>
            </a:extLst>
          </p:cNvPr>
          <p:cNvSpPr/>
          <p:nvPr/>
        </p:nvSpPr>
        <p:spPr>
          <a:xfrm>
            <a:off x="12573000" y="2933700"/>
            <a:ext cx="4436012" cy="2667000"/>
          </a:xfrm>
          <a:prstGeom prst="roundRect">
            <a:avLst>
              <a:gd name="adj" fmla="val 10104"/>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buNone/>
            </a:pPr>
            <a:r>
              <a:rPr lang="en-IN" sz="2500" b="1" dirty="0">
                <a:solidFill>
                  <a:schemeClr val="bg1"/>
                </a:solidFill>
                <a:latin typeface="Inter" panose="020B0604020202020204" charset="0"/>
                <a:cs typeface="Inter" panose="020B0604020202020204" charset="0"/>
              </a:rPr>
              <a:t>Key Insight:</a:t>
            </a:r>
          </a:p>
          <a:p>
            <a:pPr marL="285750" indent="-285750">
              <a:buFont typeface="Arial" panose="020B0604020202020204" pitchFamily="34" charset="0"/>
              <a:buChar char="•"/>
            </a:pPr>
            <a:r>
              <a:rPr lang="en-IN" dirty="0">
                <a:latin typeface="Inter" panose="020B0604020202020204" charset="0"/>
                <a:cs typeface="Inter" panose="020B0604020202020204" charset="0"/>
              </a:rPr>
              <a:t>Default rates decline sharply as the </a:t>
            </a:r>
            <a:r>
              <a:rPr lang="en-IN" b="1" dirty="0">
                <a:latin typeface="Inter" panose="020B0604020202020204" charset="0"/>
                <a:cs typeface="Inter" panose="020B0604020202020204" charset="0"/>
              </a:rPr>
              <a:t>average external score increases</a:t>
            </a:r>
            <a:r>
              <a:rPr lang="en-IN" dirty="0">
                <a:latin typeface="Inter" panose="020B0604020202020204" charset="0"/>
                <a:cs typeface="Inter" panose="020B0604020202020204" charset="0"/>
              </a:rPr>
              <a:t>. </a:t>
            </a:r>
          </a:p>
          <a:p>
            <a:pPr marL="285750" indent="-285750">
              <a:buFont typeface="Arial" panose="020B0604020202020204" pitchFamily="34" charset="0"/>
              <a:buChar char="•"/>
            </a:pPr>
            <a:r>
              <a:rPr lang="en-IN" dirty="0">
                <a:latin typeface="Inter" panose="020B0604020202020204" charset="0"/>
                <a:cs typeface="Inter" panose="020B0604020202020204" charset="0"/>
              </a:rPr>
              <a:t>Applicants in the </a:t>
            </a:r>
            <a:r>
              <a:rPr lang="en-IN" b="1" dirty="0">
                <a:latin typeface="Inter" panose="020B0604020202020204" charset="0"/>
                <a:cs typeface="Inter" panose="020B0604020202020204" charset="0"/>
              </a:rPr>
              <a:t>lowest score band (0.00–0.30)</a:t>
            </a:r>
            <a:r>
              <a:rPr lang="en-IN" dirty="0">
                <a:latin typeface="Inter" panose="020B0604020202020204" charset="0"/>
                <a:cs typeface="Inter" panose="020B0604020202020204" charset="0"/>
              </a:rPr>
              <a:t> have a default rate of approximately </a:t>
            </a:r>
            <a:r>
              <a:rPr lang="en-IN" b="1" dirty="0">
                <a:latin typeface="Inter" panose="020B0604020202020204" charset="0"/>
                <a:cs typeface="Inter" panose="020B0604020202020204" charset="0"/>
              </a:rPr>
              <a:t>23%</a:t>
            </a:r>
            <a:r>
              <a:rPr lang="en-IN" dirty="0">
                <a:latin typeface="Inter" panose="020B0604020202020204" charset="0"/>
                <a:cs typeface="Inter" panose="020B0604020202020204" charset="0"/>
              </a:rPr>
              <a:t>, compared to only </a:t>
            </a:r>
            <a:r>
              <a:rPr lang="en-IN" b="1" dirty="0">
                <a:latin typeface="Inter" panose="020B0604020202020204" charset="0"/>
                <a:cs typeface="Inter" panose="020B0604020202020204" charset="0"/>
              </a:rPr>
              <a:t>~2%</a:t>
            </a:r>
            <a:r>
              <a:rPr lang="en-IN" dirty="0">
                <a:latin typeface="Inter" panose="020B0604020202020204" charset="0"/>
                <a:cs typeface="Inter" panose="020B0604020202020204" charset="0"/>
              </a:rPr>
              <a:t> in the highest score band (</a:t>
            </a:r>
            <a:r>
              <a:rPr lang="en-IN" b="1" dirty="0">
                <a:latin typeface="Inter" panose="020B0604020202020204" charset="0"/>
                <a:cs typeface="Inter" panose="020B0604020202020204" charset="0"/>
              </a:rPr>
              <a:t>0.69–0.88</a:t>
            </a:r>
            <a:r>
              <a:rPr lang="en-IN" dirty="0">
                <a:latin typeface="Inter" panose="020B0604020202020204" charset="0"/>
                <a:cs typeface="Inter" panose="020B0604020202020204" charset="0"/>
              </a:rPr>
              <a:t>).</a:t>
            </a:r>
          </a:p>
        </p:txBody>
      </p:sp>
    </p:spTree>
    <p:extLst>
      <p:ext uri="{BB962C8B-B14F-4D97-AF65-F5344CB8AC3E}">
        <p14:creationId xmlns:p14="http://schemas.microsoft.com/office/powerpoint/2010/main" val="173345990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C5D6CA"/>
        </a:solidFill>
        <a:effectLst/>
      </p:bgPr>
    </p:bg>
    <p:spTree>
      <p:nvGrpSpPr>
        <p:cNvPr id="1" name="">
          <a:extLst>
            <a:ext uri="{FF2B5EF4-FFF2-40B4-BE49-F238E27FC236}">
              <a16:creationId xmlns:a16="http://schemas.microsoft.com/office/drawing/2014/main" id="{441953F0-AC2C-A747-0CE4-B9FA4A4F5F63}"/>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BCF95B24-D79F-D057-1F95-9DCA9CBB7CEE}"/>
              </a:ext>
            </a:extLst>
          </p:cNvPr>
          <p:cNvGrpSpPr/>
          <p:nvPr/>
        </p:nvGrpSpPr>
        <p:grpSpPr>
          <a:xfrm>
            <a:off x="0" y="9497082"/>
            <a:ext cx="18292543" cy="787203"/>
            <a:chOff x="0" y="0"/>
            <a:chExt cx="24390058" cy="1049604"/>
          </a:xfrm>
        </p:grpSpPr>
        <p:sp>
          <p:nvSpPr>
            <p:cNvPr id="3" name="Freeform 3">
              <a:extLst>
                <a:ext uri="{FF2B5EF4-FFF2-40B4-BE49-F238E27FC236}">
                  <a16:creationId xmlns:a16="http://schemas.microsoft.com/office/drawing/2014/main" id="{4AE5377B-6F2A-17EC-5D6E-F75F62B92DDB}"/>
                </a:ext>
              </a:extLst>
            </p:cNvPr>
            <p:cNvSpPr/>
            <p:nvPr/>
          </p:nvSpPr>
          <p:spPr>
            <a:xfrm>
              <a:off x="0" y="0"/>
              <a:ext cx="24390096" cy="1049655"/>
            </a:xfrm>
            <a:custGeom>
              <a:avLst/>
              <a:gdLst/>
              <a:ahLst/>
              <a:cxnLst/>
              <a:rect l="l" t="t" r="r" b="b"/>
              <a:pathLst>
                <a:path w="24390096" h="1049655">
                  <a:moveTo>
                    <a:pt x="0" y="0"/>
                  </a:moveTo>
                  <a:lnTo>
                    <a:pt x="24390096" y="0"/>
                  </a:lnTo>
                  <a:lnTo>
                    <a:pt x="24390096" y="1049655"/>
                  </a:lnTo>
                  <a:lnTo>
                    <a:pt x="0" y="1049655"/>
                  </a:lnTo>
                  <a:close/>
                </a:path>
              </a:pathLst>
            </a:custGeom>
            <a:solidFill>
              <a:srgbClr val="348E90"/>
            </a:solidFill>
          </p:spPr>
          <p:txBody>
            <a:bodyPr/>
            <a:lstStyle/>
            <a:p>
              <a:endParaRPr lang="en-IN"/>
            </a:p>
          </p:txBody>
        </p:sp>
      </p:grpSp>
      <p:sp>
        <p:nvSpPr>
          <p:cNvPr id="4" name="Rectangle 3">
            <a:extLst>
              <a:ext uri="{FF2B5EF4-FFF2-40B4-BE49-F238E27FC236}">
                <a16:creationId xmlns:a16="http://schemas.microsoft.com/office/drawing/2014/main" id="{54C9573B-28D7-1168-4FE4-3F681AF08116}"/>
              </a:ext>
            </a:extLst>
          </p:cNvPr>
          <p:cNvSpPr/>
          <p:nvPr/>
        </p:nvSpPr>
        <p:spPr>
          <a:xfrm>
            <a:off x="15544800" y="0"/>
            <a:ext cx="1143000" cy="1823056"/>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E91AE90C-5896-CF75-977D-684AE52D68C0}"/>
              </a:ext>
            </a:extLst>
          </p:cNvPr>
          <p:cNvSpPr txBox="1"/>
          <p:nvPr/>
        </p:nvSpPr>
        <p:spPr>
          <a:xfrm>
            <a:off x="5802591" y="924914"/>
            <a:ext cx="6019800" cy="707886"/>
          </a:xfrm>
          <a:prstGeom prst="rect">
            <a:avLst/>
          </a:prstGeom>
          <a:noFill/>
        </p:spPr>
        <p:txBody>
          <a:bodyPr wrap="square">
            <a:spAutoFit/>
          </a:bodyPr>
          <a:lstStyle/>
          <a:p>
            <a:r>
              <a:rPr lang="en-US" sz="4000" b="1" dirty="0">
                <a:latin typeface="Inter" panose="020B0604020202020204" charset="0"/>
                <a:cs typeface="Inter" panose="020B0604020202020204" charset="0"/>
              </a:rPr>
              <a:t>Region Rating vs Default</a:t>
            </a:r>
          </a:p>
        </p:txBody>
      </p:sp>
      <p:sp>
        <p:nvSpPr>
          <p:cNvPr id="9" name="Rectangle: Rounded Corners 8">
            <a:extLst>
              <a:ext uri="{FF2B5EF4-FFF2-40B4-BE49-F238E27FC236}">
                <a16:creationId xmlns:a16="http://schemas.microsoft.com/office/drawing/2014/main" id="{FD4F5558-4FB8-B7F1-CDD0-9B8FE910740F}"/>
              </a:ext>
            </a:extLst>
          </p:cNvPr>
          <p:cNvSpPr/>
          <p:nvPr/>
        </p:nvSpPr>
        <p:spPr>
          <a:xfrm>
            <a:off x="1600200" y="8550246"/>
            <a:ext cx="13258800" cy="787241"/>
          </a:xfrm>
          <a:prstGeom prst="roundRect">
            <a:avLst>
              <a:gd name="adj" fmla="val 10104"/>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buNone/>
            </a:pPr>
            <a:r>
              <a:rPr lang="en-IN" sz="2500" b="1" dirty="0">
                <a:solidFill>
                  <a:schemeClr val="bg1"/>
                </a:solidFill>
                <a:latin typeface="Inter" panose="020B0604020202020204" charset="0"/>
                <a:cs typeface="Inter" panose="020B0604020202020204" charset="0"/>
              </a:rPr>
              <a:t>Key Insight:</a:t>
            </a:r>
          </a:p>
          <a:p>
            <a:r>
              <a:rPr lang="en-IN" dirty="0">
                <a:latin typeface="Inter" panose="020B0604020202020204" charset="0"/>
                <a:cs typeface="Inter" panose="020B0604020202020204" charset="0"/>
              </a:rPr>
              <a:t>Higher regional risk ratings are associated with substantially higher default rates.</a:t>
            </a:r>
          </a:p>
        </p:txBody>
      </p:sp>
      <p:pic>
        <p:nvPicPr>
          <p:cNvPr id="8" name="Picture 7">
            <a:extLst>
              <a:ext uri="{FF2B5EF4-FFF2-40B4-BE49-F238E27FC236}">
                <a16:creationId xmlns:a16="http://schemas.microsoft.com/office/drawing/2014/main" id="{50803456-DC31-24C3-A4D0-D01D7375C49D}"/>
              </a:ext>
            </a:extLst>
          </p:cNvPr>
          <p:cNvPicPr>
            <a:picLocks noChangeAspect="1"/>
          </p:cNvPicPr>
          <p:nvPr/>
        </p:nvPicPr>
        <p:blipFill>
          <a:blip r:embed="rId2" cstate="print">
            <a:extLst>
              <a:ext uri="{28A0092B-C50C-407E-A947-70E740481C1C}">
                <a14:useLocalDpi xmlns:a14="http://schemas.microsoft.com/office/drawing/2010/main" val="0"/>
              </a:ext>
            </a:extLst>
          </a:blip>
          <a:srcRect t="6989"/>
          <a:stretch>
            <a:fillRect/>
          </a:stretch>
        </p:blipFill>
        <p:spPr>
          <a:xfrm>
            <a:off x="834097" y="1705754"/>
            <a:ext cx="16619806" cy="6738845"/>
          </a:xfrm>
          <a:prstGeom prst="rect">
            <a:avLst/>
          </a:prstGeom>
        </p:spPr>
      </p:pic>
    </p:spTree>
    <p:extLst>
      <p:ext uri="{BB962C8B-B14F-4D97-AF65-F5344CB8AC3E}">
        <p14:creationId xmlns:p14="http://schemas.microsoft.com/office/powerpoint/2010/main" val="241961532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C5D6CA"/>
        </a:solidFill>
        <a:effectLst/>
      </p:bgPr>
    </p:bg>
    <p:spTree>
      <p:nvGrpSpPr>
        <p:cNvPr id="1" name="">
          <a:extLst>
            <a:ext uri="{FF2B5EF4-FFF2-40B4-BE49-F238E27FC236}">
              <a16:creationId xmlns:a16="http://schemas.microsoft.com/office/drawing/2014/main" id="{98565D5E-40F4-CFE4-8F9F-1D2BB6FE9A02}"/>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9CE70545-5589-7597-587B-C104D076E1C8}"/>
              </a:ext>
            </a:extLst>
          </p:cNvPr>
          <p:cNvGrpSpPr/>
          <p:nvPr/>
        </p:nvGrpSpPr>
        <p:grpSpPr>
          <a:xfrm>
            <a:off x="0" y="9497082"/>
            <a:ext cx="18292543" cy="787203"/>
            <a:chOff x="0" y="0"/>
            <a:chExt cx="24390058" cy="1049604"/>
          </a:xfrm>
        </p:grpSpPr>
        <p:sp>
          <p:nvSpPr>
            <p:cNvPr id="3" name="Freeform 3">
              <a:extLst>
                <a:ext uri="{FF2B5EF4-FFF2-40B4-BE49-F238E27FC236}">
                  <a16:creationId xmlns:a16="http://schemas.microsoft.com/office/drawing/2014/main" id="{D38424CB-07CC-2728-7F58-4D6756B13F88}"/>
                </a:ext>
              </a:extLst>
            </p:cNvPr>
            <p:cNvSpPr/>
            <p:nvPr/>
          </p:nvSpPr>
          <p:spPr>
            <a:xfrm>
              <a:off x="0" y="0"/>
              <a:ext cx="24390096" cy="1049655"/>
            </a:xfrm>
            <a:custGeom>
              <a:avLst/>
              <a:gdLst/>
              <a:ahLst/>
              <a:cxnLst/>
              <a:rect l="l" t="t" r="r" b="b"/>
              <a:pathLst>
                <a:path w="24390096" h="1049655">
                  <a:moveTo>
                    <a:pt x="0" y="0"/>
                  </a:moveTo>
                  <a:lnTo>
                    <a:pt x="24390096" y="0"/>
                  </a:lnTo>
                  <a:lnTo>
                    <a:pt x="24390096" y="1049655"/>
                  </a:lnTo>
                  <a:lnTo>
                    <a:pt x="0" y="1049655"/>
                  </a:lnTo>
                  <a:close/>
                </a:path>
              </a:pathLst>
            </a:custGeom>
            <a:solidFill>
              <a:srgbClr val="348E90"/>
            </a:solidFill>
          </p:spPr>
          <p:txBody>
            <a:bodyPr/>
            <a:lstStyle/>
            <a:p>
              <a:endParaRPr lang="en-IN"/>
            </a:p>
          </p:txBody>
        </p:sp>
      </p:grpSp>
      <p:sp>
        <p:nvSpPr>
          <p:cNvPr id="4" name="Rectangle 3">
            <a:extLst>
              <a:ext uri="{FF2B5EF4-FFF2-40B4-BE49-F238E27FC236}">
                <a16:creationId xmlns:a16="http://schemas.microsoft.com/office/drawing/2014/main" id="{B55D7AF8-EEEE-BFB3-05D8-C49F65E132A9}"/>
              </a:ext>
            </a:extLst>
          </p:cNvPr>
          <p:cNvSpPr/>
          <p:nvPr/>
        </p:nvSpPr>
        <p:spPr>
          <a:xfrm>
            <a:off x="15544800" y="0"/>
            <a:ext cx="1143000" cy="1823056"/>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35D91825-525D-D9F5-2E5A-4C14659C6CC9}"/>
              </a:ext>
            </a:extLst>
          </p:cNvPr>
          <p:cNvSpPr txBox="1"/>
          <p:nvPr/>
        </p:nvSpPr>
        <p:spPr>
          <a:xfrm>
            <a:off x="5181600" y="924914"/>
            <a:ext cx="6640791" cy="707886"/>
          </a:xfrm>
          <a:prstGeom prst="rect">
            <a:avLst/>
          </a:prstGeom>
          <a:noFill/>
        </p:spPr>
        <p:txBody>
          <a:bodyPr wrap="square">
            <a:spAutoFit/>
          </a:bodyPr>
          <a:lstStyle/>
          <a:p>
            <a:r>
              <a:rPr lang="en-US" sz="4000" b="1" dirty="0">
                <a:latin typeface="Inter" panose="020B0604020202020204" charset="0"/>
                <a:cs typeface="Inter" panose="020B0604020202020204" charset="0"/>
              </a:rPr>
              <a:t>Has Building Info vs Default</a:t>
            </a:r>
          </a:p>
        </p:txBody>
      </p:sp>
      <p:sp>
        <p:nvSpPr>
          <p:cNvPr id="9" name="Rectangle: Rounded Corners 8">
            <a:extLst>
              <a:ext uri="{FF2B5EF4-FFF2-40B4-BE49-F238E27FC236}">
                <a16:creationId xmlns:a16="http://schemas.microsoft.com/office/drawing/2014/main" id="{2DFF7FBA-7738-D46C-0FF7-3304D15EE170}"/>
              </a:ext>
            </a:extLst>
          </p:cNvPr>
          <p:cNvSpPr/>
          <p:nvPr/>
        </p:nvSpPr>
        <p:spPr>
          <a:xfrm>
            <a:off x="1600200" y="8550246"/>
            <a:ext cx="13258800" cy="787241"/>
          </a:xfrm>
          <a:prstGeom prst="roundRect">
            <a:avLst>
              <a:gd name="adj" fmla="val 10104"/>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buNone/>
            </a:pPr>
            <a:r>
              <a:rPr lang="en-IN" sz="2500" b="1" dirty="0">
                <a:solidFill>
                  <a:schemeClr val="bg1"/>
                </a:solidFill>
                <a:latin typeface="Inter" panose="020B0604020202020204" charset="0"/>
                <a:cs typeface="Inter" panose="020B0604020202020204" charset="0"/>
              </a:rPr>
              <a:t>Key Insight:</a:t>
            </a:r>
          </a:p>
          <a:p>
            <a:r>
              <a:rPr lang="en-IN" dirty="0"/>
              <a:t>Missing building information is associated with elevated default risk.</a:t>
            </a:r>
            <a:r>
              <a:rPr lang="en-IN" dirty="0">
                <a:latin typeface="Inter" panose="020B0604020202020204" charset="0"/>
                <a:cs typeface="Inter" panose="020B0604020202020204" charset="0"/>
              </a:rPr>
              <a:t>.</a:t>
            </a:r>
          </a:p>
        </p:txBody>
      </p:sp>
      <p:pic>
        <p:nvPicPr>
          <p:cNvPr id="7" name="Picture 6">
            <a:extLst>
              <a:ext uri="{FF2B5EF4-FFF2-40B4-BE49-F238E27FC236}">
                <a16:creationId xmlns:a16="http://schemas.microsoft.com/office/drawing/2014/main" id="{0EEEFE4F-0DB9-226A-5F7F-42369B81D94B}"/>
              </a:ext>
            </a:extLst>
          </p:cNvPr>
          <p:cNvPicPr>
            <a:picLocks noChangeAspect="1"/>
          </p:cNvPicPr>
          <p:nvPr/>
        </p:nvPicPr>
        <p:blipFill>
          <a:blip r:embed="rId2">
            <a:extLst>
              <a:ext uri="{28A0092B-C50C-407E-A947-70E740481C1C}">
                <a14:useLocalDpi xmlns:a14="http://schemas.microsoft.com/office/drawing/2010/main" val="0"/>
              </a:ext>
            </a:extLst>
          </a:blip>
          <a:srcRect t="7501"/>
          <a:stretch>
            <a:fillRect/>
          </a:stretch>
        </p:blipFill>
        <p:spPr>
          <a:xfrm>
            <a:off x="1066800" y="1823056"/>
            <a:ext cx="14173200" cy="6727190"/>
          </a:xfrm>
          <a:prstGeom prst="rect">
            <a:avLst/>
          </a:prstGeom>
        </p:spPr>
      </p:pic>
    </p:spTree>
    <p:extLst>
      <p:ext uri="{BB962C8B-B14F-4D97-AF65-F5344CB8AC3E}">
        <p14:creationId xmlns:p14="http://schemas.microsoft.com/office/powerpoint/2010/main" val="330069320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rgbClr val="C5D6CA"/>
        </a:solidFill>
        <a:effectLst/>
      </p:bgPr>
    </p:bg>
    <p:spTree>
      <p:nvGrpSpPr>
        <p:cNvPr id="1" name="">
          <a:extLst>
            <a:ext uri="{FF2B5EF4-FFF2-40B4-BE49-F238E27FC236}">
              <a16:creationId xmlns:a16="http://schemas.microsoft.com/office/drawing/2014/main" id="{33330399-1BF5-BC4B-3FCA-BE83566A67CA}"/>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D012F022-E784-9B10-C168-C45F258E4AEA}"/>
              </a:ext>
            </a:extLst>
          </p:cNvPr>
          <p:cNvGrpSpPr/>
          <p:nvPr/>
        </p:nvGrpSpPr>
        <p:grpSpPr>
          <a:xfrm>
            <a:off x="0" y="9497082"/>
            <a:ext cx="18292543" cy="787203"/>
            <a:chOff x="0" y="0"/>
            <a:chExt cx="24390058" cy="1049604"/>
          </a:xfrm>
        </p:grpSpPr>
        <p:sp>
          <p:nvSpPr>
            <p:cNvPr id="3" name="Freeform 3">
              <a:extLst>
                <a:ext uri="{FF2B5EF4-FFF2-40B4-BE49-F238E27FC236}">
                  <a16:creationId xmlns:a16="http://schemas.microsoft.com/office/drawing/2014/main" id="{88CE2F17-AFB1-B5D5-27AB-20BAB761254E}"/>
                </a:ext>
              </a:extLst>
            </p:cNvPr>
            <p:cNvSpPr/>
            <p:nvPr/>
          </p:nvSpPr>
          <p:spPr>
            <a:xfrm>
              <a:off x="0" y="0"/>
              <a:ext cx="24390096" cy="1049655"/>
            </a:xfrm>
            <a:custGeom>
              <a:avLst/>
              <a:gdLst/>
              <a:ahLst/>
              <a:cxnLst/>
              <a:rect l="l" t="t" r="r" b="b"/>
              <a:pathLst>
                <a:path w="24390096" h="1049655">
                  <a:moveTo>
                    <a:pt x="0" y="0"/>
                  </a:moveTo>
                  <a:lnTo>
                    <a:pt x="24390096" y="0"/>
                  </a:lnTo>
                  <a:lnTo>
                    <a:pt x="24390096" y="1049655"/>
                  </a:lnTo>
                  <a:lnTo>
                    <a:pt x="0" y="1049655"/>
                  </a:lnTo>
                  <a:close/>
                </a:path>
              </a:pathLst>
            </a:custGeom>
            <a:solidFill>
              <a:srgbClr val="348E90"/>
            </a:solidFill>
          </p:spPr>
          <p:txBody>
            <a:bodyPr/>
            <a:lstStyle/>
            <a:p>
              <a:endParaRPr lang="en-IN"/>
            </a:p>
          </p:txBody>
        </p:sp>
      </p:grpSp>
      <p:sp>
        <p:nvSpPr>
          <p:cNvPr id="4" name="Rectangle 3">
            <a:extLst>
              <a:ext uri="{FF2B5EF4-FFF2-40B4-BE49-F238E27FC236}">
                <a16:creationId xmlns:a16="http://schemas.microsoft.com/office/drawing/2014/main" id="{7C6D0769-AD82-8F08-8788-C489D2963861}"/>
              </a:ext>
            </a:extLst>
          </p:cNvPr>
          <p:cNvSpPr/>
          <p:nvPr/>
        </p:nvSpPr>
        <p:spPr>
          <a:xfrm>
            <a:off x="15544800" y="0"/>
            <a:ext cx="1143000" cy="1823056"/>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IN"/>
          </a:p>
        </p:txBody>
      </p:sp>
      <p:sp>
        <p:nvSpPr>
          <p:cNvPr id="14" name="Rectangle: Rounded Corners 13">
            <a:extLst>
              <a:ext uri="{FF2B5EF4-FFF2-40B4-BE49-F238E27FC236}">
                <a16:creationId xmlns:a16="http://schemas.microsoft.com/office/drawing/2014/main" id="{73178145-BE04-CBA6-11E1-56CA3AC626D7}"/>
              </a:ext>
            </a:extLst>
          </p:cNvPr>
          <p:cNvSpPr/>
          <p:nvPr/>
        </p:nvSpPr>
        <p:spPr>
          <a:xfrm>
            <a:off x="1524001" y="2555789"/>
            <a:ext cx="13639800" cy="3200400"/>
          </a:xfrm>
          <a:prstGeom prst="roundRect">
            <a:avLst>
              <a:gd name="adj" fmla="val 10104"/>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buNone/>
            </a:pPr>
            <a:r>
              <a:rPr lang="en-IN" sz="2500" b="1" dirty="0">
                <a:solidFill>
                  <a:schemeClr val="bg1"/>
                </a:solidFill>
                <a:latin typeface="Inter" panose="020B0604020202020204" charset="0"/>
                <a:cs typeface="Inter" panose="020B0604020202020204" charset="0"/>
              </a:rPr>
              <a:t>Key Findings:</a:t>
            </a:r>
          </a:p>
          <a:p>
            <a:pPr marL="285750" indent="-285750">
              <a:buFont typeface="Arial" panose="020B0604020202020204" pitchFamily="34" charset="0"/>
              <a:buChar char="•"/>
            </a:pPr>
            <a:r>
              <a:rPr lang="en-IN" dirty="0">
                <a:latin typeface="Inter" panose="020B0604020202020204" charset="0"/>
                <a:cs typeface="Inter" panose="020B0604020202020204" charset="0"/>
              </a:rPr>
              <a:t>External credit scores (EXT_SOURCE_MEAN) are the strongest predictor of default behaviour. </a:t>
            </a:r>
          </a:p>
          <a:p>
            <a:pPr marL="285750" indent="-285750">
              <a:buFont typeface="Arial" panose="020B0604020202020204" pitchFamily="34" charset="0"/>
              <a:buChar char="•"/>
            </a:pPr>
            <a:r>
              <a:rPr lang="en-IN" dirty="0">
                <a:latin typeface="Inter" panose="020B0604020202020204" charset="0"/>
                <a:cs typeface="Inter" panose="020B0604020202020204" charset="0"/>
              </a:rPr>
              <a:t>Applicants with low external scores experience default rates exceeding 20%, compared with approximately 2% among high-score applicants. </a:t>
            </a:r>
          </a:p>
          <a:p>
            <a:pPr marL="285750" indent="-285750">
              <a:buFont typeface="Arial" panose="020B0604020202020204" pitchFamily="34" charset="0"/>
              <a:buChar char="•"/>
            </a:pPr>
            <a:r>
              <a:rPr lang="en-IN" dirty="0">
                <a:latin typeface="Inter" panose="020B0604020202020204" charset="0"/>
                <a:cs typeface="Inter" panose="020B0604020202020204" charset="0"/>
              </a:rPr>
              <a:t>Higher regional risk ratings correspond to elevated default rates. </a:t>
            </a:r>
          </a:p>
          <a:p>
            <a:pPr marL="285750" indent="-285750">
              <a:buFont typeface="Arial" panose="020B0604020202020204" pitchFamily="34" charset="0"/>
              <a:buChar char="•"/>
            </a:pPr>
            <a:r>
              <a:rPr lang="en-IN" dirty="0">
                <a:latin typeface="Inter" panose="020B0604020202020204" charset="0"/>
                <a:cs typeface="Inter" panose="020B0604020202020204" charset="0"/>
              </a:rPr>
              <a:t>Missing property/building information is associated with increased credit risk. </a:t>
            </a:r>
          </a:p>
          <a:p>
            <a:pPr marL="285750" indent="-285750">
              <a:buFont typeface="Arial" panose="020B0604020202020204" pitchFamily="34" charset="0"/>
              <a:buChar char="•"/>
            </a:pPr>
            <a:r>
              <a:rPr lang="en-IN" dirty="0">
                <a:latin typeface="Inter" panose="020B0604020202020204" charset="0"/>
                <a:cs typeface="Inter" panose="020B0604020202020204" charset="0"/>
              </a:rPr>
              <a:t>Creditworthiness indicators consistently separate low-risk and high-risk customer segments.</a:t>
            </a:r>
          </a:p>
        </p:txBody>
      </p:sp>
      <p:sp>
        <p:nvSpPr>
          <p:cNvPr id="5" name="TextBox 4">
            <a:extLst>
              <a:ext uri="{FF2B5EF4-FFF2-40B4-BE49-F238E27FC236}">
                <a16:creationId xmlns:a16="http://schemas.microsoft.com/office/drawing/2014/main" id="{F05E15AB-921A-BE6B-1D66-D48040DB99CD}"/>
              </a:ext>
            </a:extLst>
          </p:cNvPr>
          <p:cNvSpPr txBox="1"/>
          <p:nvPr/>
        </p:nvSpPr>
        <p:spPr>
          <a:xfrm>
            <a:off x="4257674" y="908656"/>
            <a:ext cx="9772651" cy="707886"/>
          </a:xfrm>
          <a:prstGeom prst="rect">
            <a:avLst/>
          </a:prstGeom>
          <a:noFill/>
        </p:spPr>
        <p:txBody>
          <a:bodyPr wrap="square">
            <a:spAutoFit/>
          </a:bodyPr>
          <a:lstStyle/>
          <a:p>
            <a:r>
              <a:rPr lang="en-US" sz="4000" b="1" dirty="0">
                <a:latin typeface="Inter" panose="020B0604020202020204" charset="0"/>
                <a:cs typeface="Inter" panose="020B0604020202020204" charset="0"/>
              </a:rPr>
              <a:t>Creditworthiness Analysis – Key Findings</a:t>
            </a:r>
          </a:p>
        </p:txBody>
      </p:sp>
      <p:sp>
        <p:nvSpPr>
          <p:cNvPr id="7" name="Rectangle: Rounded Corners 6">
            <a:extLst>
              <a:ext uri="{FF2B5EF4-FFF2-40B4-BE49-F238E27FC236}">
                <a16:creationId xmlns:a16="http://schemas.microsoft.com/office/drawing/2014/main" id="{ECD30276-60FC-AFE5-7C60-2A2F30BCCC59}"/>
              </a:ext>
            </a:extLst>
          </p:cNvPr>
          <p:cNvSpPr/>
          <p:nvPr/>
        </p:nvSpPr>
        <p:spPr>
          <a:xfrm>
            <a:off x="1524001" y="6289590"/>
            <a:ext cx="13639800" cy="2130510"/>
          </a:xfrm>
          <a:prstGeom prst="roundRect">
            <a:avLst>
              <a:gd name="adj" fmla="val 10104"/>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buNone/>
            </a:pPr>
            <a:r>
              <a:rPr lang="en-IN" sz="2500" b="1" dirty="0">
                <a:solidFill>
                  <a:schemeClr val="bg1"/>
                </a:solidFill>
                <a:latin typeface="Inter" panose="020B0604020202020204" charset="0"/>
                <a:cs typeface="Inter" panose="020B0604020202020204" charset="0"/>
              </a:rPr>
              <a:t>Business Implications:</a:t>
            </a:r>
          </a:p>
          <a:p>
            <a:pPr marL="285750" indent="-285750">
              <a:buFont typeface="Arial" panose="020B0604020202020204" pitchFamily="34" charset="0"/>
              <a:buChar char="•"/>
            </a:pPr>
            <a:r>
              <a:rPr lang="en-IN" dirty="0">
                <a:latin typeface="Inter" panose="020B0604020202020204" charset="0"/>
                <a:cs typeface="Inter" panose="020B0604020202020204" charset="0"/>
              </a:rPr>
              <a:t>External credit scores should remain a primary component of underwriting decisions. </a:t>
            </a:r>
          </a:p>
          <a:p>
            <a:pPr marL="285750" indent="-285750">
              <a:buFont typeface="Arial" panose="020B0604020202020204" pitchFamily="34" charset="0"/>
              <a:buChar char="•"/>
            </a:pPr>
            <a:r>
              <a:rPr lang="en-IN" dirty="0">
                <a:latin typeface="Inter" panose="020B0604020202020204" charset="0"/>
                <a:cs typeface="Inter" panose="020B0604020202020204" charset="0"/>
              </a:rPr>
              <a:t>Geographic and property-related information can enhance risk assessment accuracy. </a:t>
            </a:r>
          </a:p>
          <a:p>
            <a:pPr marL="285750" indent="-285750">
              <a:buFont typeface="Arial" panose="020B0604020202020204" pitchFamily="34" charset="0"/>
              <a:buChar char="•"/>
            </a:pPr>
            <a:r>
              <a:rPr lang="en-IN" dirty="0">
                <a:latin typeface="Inter" panose="020B0604020202020204" charset="0"/>
                <a:cs typeface="Inter" panose="020B0604020202020204" charset="0"/>
              </a:rPr>
              <a:t>Credit scoring variables provide significant predictive power for future default modelling.</a:t>
            </a:r>
          </a:p>
        </p:txBody>
      </p:sp>
    </p:spTree>
    <p:extLst>
      <p:ext uri="{BB962C8B-B14F-4D97-AF65-F5344CB8AC3E}">
        <p14:creationId xmlns:p14="http://schemas.microsoft.com/office/powerpoint/2010/main" val="42210587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rgbClr val="C5D6CA"/>
        </a:solidFill>
        <a:effectLst/>
      </p:bgPr>
    </p:bg>
    <p:spTree>
      <p:nvGrpSpPr>
        <p:cNvPr id="1" name="">
          <a:extLst>
            <a:ext uri="{FF2B5EF4-FFF2-40B4-BE49-F238E27FC236}">
              <a16:creationId xmlns:a16="http://schemas.microsoft.com/office/drawing/2014/main" id="{1C84A553-6782-190F-DA20-84457031B573}"/>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1ECD0A6F-E547-4E49-DC6B-CCD995859DE6}"/>
              </a:ext>
            </a:extLst>
          </p:cNvPr>
          <p:cNvGrpSpPr/>
          <p:nvPr/>
        </p:nvGrpSpPr>
        <p:grpSpPr>
          <a:xfrm>
            <a:off x="0" y="9497082"/>
            <a:ext cx="18292543" cy="787203"/>
            <a:chOff x="0" y="0"/>
            <a:chExt cx="24390058" cy="1049604"/>
          </a:xfrm>
        </p:grpSpPr>
        <p:sp>
          <p:nvSpPr>
            <p:cNvPr id="3" name="Freeform 3">
              <a:extLst>
                <a:ext uri="{FF2B5EF4-FFF2-40B4-BE49-F238E27FC236}">
                  <a16:creationId xmlns:a16="http://schemas.microsoft.com/office/drawing/2014/main" id="{66F57D1B-4E33-A08F-86FC-AA38F469396D}"/>
                </a:ext>
              </a:extLst>
            </p:cNvPr>
            <p:cNvSpPr/>
            <p:nvPr/>
          </p:nvSpPr>
          <p:spPr>
            <a:xfrm>
              <a:off x="0" y="0"/>
              <a:ext cx="24390096" cy="1049655"/>
            </a:xfrm>
            <a:custGeom>
              <a:avLst/>
              <a:gdLst/>
              <a:ahLst/>
              <a:cxnLst/>
              <a:rect l="l" t="t" r="r" b="b"/>
              <a:pathLst>
                <a:path w="24390096" h="1049655">
                  <a:moveTo>
                    <a:pt x="0" y="0"/>
                  </a:moveTo>
                  <a:lnTo>
                    <a:pt x="24390096" y="0"/>
                  </a:lnTo>
                  <a:lnTo>
                    <a:pt x="24390096" y="1049655"/>
                  </a:lnTo>
                  <a:lnTo>
                    <a:pt x="0" y="1049655"/>
                  </a:lnTo>
                  <a:close/>
                </a:path>
              </a:pathLst>
            </a:custGeom>
            <a:solidFill>
              <a:srgbClr val="348E90"/>
            </a:solidFill>
          </p:spPr>
          <p:txBody>
            <a:bodyPr/>
            <a:lstStyle/>
            <a:p>
              <a:endParaRPr lang="en-IN"/>
            </a:p>
          </p:txBody>
        </p:sp>
      </p:grpSp>
      <p:sp>
        <p:nvSpPr>
          <p:cNvPr id="4" name="Rectangle 3">
            <a:extLst>
              <a:ext uri="{FF2B5EF4-FFF2-40B4-BE49-F238E27FC236}">
                <a16:creationId xmlns:a16="http://schemas.microsoft.com/office/drawing/2014/main" id="{40C96075-7D9D-BF76-4753-0AB4B4E86D88}"/>
              </a:ext>
            </a:extLst>
          </p:cNvPr>
          <p:cNvSpPr/>
          <p:nvPr/>
        </p:nvSpPr>
        <p:spPr>
          <a:xfrm>
            <a:off x="15544800" y="0"/>
            <a:ext cx="1143000" cy="1823056"/>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15515EA5-F5BB-A3EF-9B66-21161F46DE12}"/>
              </a:ext>
            </a:extLst>
          </p:cNvPr>
          <p:cNvSpPr txBox="1"/>
          <p:nvPr/>
        </p:nvSpPr>
        <p:spPr>
          <a:xfrm>
            <a:off x="4114800" y="4644406"/>
            <a:ext cx="9372600" cy="1015663"/>
          </a:xfrm>
          <a:prstGeom prst="rect">
            <a:avLst/>
          </a:prstGeom>
          <a:noFill/>
        </p:spPr>
        <p:txBody>
          <a:bodyPr wrap="square">
            <a:spAutoFit/>
          </a:bodyPr>
          <a:lstStyle/>
          <a:p>
            <a:r>
              <a:rPr lang="en-US" sz="6000" b="1" dirty="0">
                <a:latin typeface="Inter" panose="020B0604020202020204" charset="0"/>
                <a:cs typeface="Inter" panose="020B0604020202020204" charset="0"/>
              </a:rPr>
              <a:t>Historical Credit Behavior</a:t>
            </a:r>
            <a:endParaRPr lang="en-IN" sz="6000" b="1" dirty="0">
              <a:latin typeface="Inter" panose="020B0604020202020204" charset="0"/>
              <a:cs typeface="Inter" panose="020B0604020202020204" charset="0"/>
            </a:endParaRPr>
          </a:p>
        </p:txBody>
      </p:sp>
    </p:spTree>
    <p:extLst>
      <p:ext uri="{BB962C8B-B14F-4D97-AF65-F5344CB8AC3E}">
        <p14:creationId xmlns:p14="http://schemas.microsoft.com/office/powerpoint/2010/main" val="134677169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rgbClr val="C5D6CA"/>
        </a:solidFill>
        <a:effectLst/>
      </p:bgPr>
    </p:bg>
    <p:spTree>
      <p:nvGrpSpPr>
        <p:cNvPr id="1" name="">
          <a:extLst>
            <a:ext uri="{FF2B5EF4-FFF2-40B4-BE49-F238E27FC236}">
              <a16:creationId xmlns:a16="http://schemas.microsoft.com/office/drawing/2014/main" id="{13E90A31-42E4-F0AF-F26E-97A9065816D8}"/>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A2756F1C-52D6-98EE-8F6E-E5C26DCE00D0}"/>
              </a:ext>
            </a:extLst>
          </p:cNvPr>
          <p:cNvGrpSpPr/>
          <p:nvPr/>
        </p:nvGrpSpPr>
        <p:grpSpPr>
          <a:xfrm>
            <a:off x="0" y="9497082"/>
            <a:ext cx="18292543" cy="787203"/>
            <a:chOff x="0" y="0"/>
            <a:chExt cx="24390058" cy="1049604"/>
          </a:xfrm>
        </p:grpSpPr>
        <p:sp>
          <p:nvSpPr>
            <p:cNvPr id="3" name="Freeform 3">
              <a:extLst>
                <a:ext uri="{FF2B5EF4-FFF2-40B4-BE49-F238E27FC236}">
                  <a16:creationId xmlns:a16="http://schemas.microsoft.com/office/drawing/2014/main" id="{FC159F0F-A033-2ABC-AEE7-23DA162AEC51}"/>
                </a:ext>
              </a:extLst>
            </p:cNvPr>
            <p:cNvSpPr/>
            <p:nvPr/>
          </p:nvSpPr>
          <p:spPr>
            <a:xfrm>
              <a:off x="0" y="0"/>
              <a:ext cx="24390096" cy="1049655"/>
            </a:xfrm>
            <a:custGeom>
              <a:avLst/>
              <a:gdLst/>
              <a:ahLst/>
              <a:cxnLst/>
              <a:rect l="l" t="t" r="r" b="b"/>
              <a:pathLst>
                <a:path w="24390096" h="1049655">
                  <a:moveTo>
                    <a:pt x="0" y="0"/>
                  </a:moveTo>
                  <a:lnTo>
                    <a:pt x="24390096" y="0"/>
                  </a:lnTo>
                  <a:lnTo>
                    <a:pt x="24390096" y="1049655"/>
                  </a:lnTo>
                  <a:lnTo>
                    <a:pt x="0" y="1049655"/>
                  </a:lnTo>
                  <a:close/>
                </a:path>
              </a:pathLst>
            </a:custGeom>
            <a:solidFill>
              <a:srgbClr val="348E90"/>
            </a:solidFill>
          </p:spPr>
          <p:txBody>
            <a:bodyPr/>
            <a:lstStyle/>
            <a:p>
              <a:endParaRPr lang="en-IN"/>
            </a:p>
          </p:txBody>
        </p:sp>
      </p:grpSp>
      <p:sp>
        <p:nvSpPr>
          <p:cNvPr id="4" name="Rectangle 3">
            <a:extLst>
              <a:ext uri="{FF2B5EF4-FFF2-40B4-BE49-F238E27FC236}">
                <a16:creationId xmlns:a16="http://schemas.microsoft.com/office/drawing/2014/main" id="{294BC53C-E2C8-E7C0-C75E-83A76E20AC68}"/>
              </a:ext>
            </a:extLst>
          </p:cNvPr>
          <p:cNvSpPr/>
          <p:nvPr/>
        </p:nvSpPr>
        <p:spPr>
          <a:xfrm>
            <a:off x="15544800" y="0"/>
            <a:ext cx="1143000" cy="1823056"/>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84054E1F-81BE-B815-CBEA-46C3AE79E5B0}"/>
              </a:ext>
            </a:extLst>
          </p:cNvPr>
          <p:cNvSpPr txBox="1"/>
          <p:nvPr/>
        </p:nvSpPr>
        <p:spPr>
          <a:xfrm>
            <a:off x="5535891" y="1115170"/>
            <a:ext cx="6553200" cy="707886"/>
          </a:xfrm>
          <a:prstGeom prst="rect">
            <a:avLst/>
          </a:prstGeom>
          <a:noFill/>
        </p:spPr>
        <p:txBody>
          <a:bodyPr wrap="square">
            <a:spAutoFit/>
          </a:bodyPr>
          <a:lstStyle/>
          <a:p>
            <a:r>
              <a:rPr lang="en-US" sz="4000" b="1" dirty="0">
                <a:latin typeface="Inter" panose="020B0604020202020204" charset="0"/>
                <a:cs typeface="Inter" panose="020B0604020202020204" charset="0"/>
              </a:rPr>
              <a:t>Credit Portfolio Composition</a:t>
            </a:r>
          </a:p>
        </p:txBody>
      </p:sp>
      <p:pic>
        <p:nvPicPr>
          <p:cNvPr id="11" name="Picture 10">
            <a:extLst>
              <a:ext uri="{FF2B5EF4-FFF2-40B4-BE49-F238E27FC236}">
                <a16:creationId xmlns:a16="http://schemas.microsoft.com/office/drawing/2014/main" id="{B96BD3A5-3B57-F628-E776-3370395F0AEF}"/>
              </a:ext>
            </a:extLst>
          </p:cNvPr>
          <p:cNvPicPr>
            <a:picLocks noChangeAspect="1"/>
          </p:cNvPicPr>
          <p:nvPr/>
        </p:nvPicPr>
        <p:blipFill>
          <a:blip r:embed="rId2" cstate="print">
            <a:extLst>
              <a:ext uri="{28A0092B-C50C-407E-A947-70E740481C1C}">
                <a14:useLocalDpi xmlns:a14="http://schemas.microsoft.com/office/drawing/2010/main" val="0"/>
              </a:ext>
            </a:extLst>
          </a:blip>
          <a:srcRect t="6309"/>
          <a:stretch>
            <a:fillRect/>
          </a:stretch>
        </p:blipFill>
        <p:spPr>
          <a:xfrm>
            <a:off x="430490" y="2325130"/>
            <a:ext cx="12599709" cy="6847730"/>
          </a:xfrm>
          <a:prstGeom prst="rect">
            <a:avLst/>
          </a:prstGeom>
        </p:spPr>
      </p:pic>
      <p:sp>
        <p:nvSpPr>
          <p:cNvPr id="12" name="Rectangle: Rounded Corners 11">
            <a:extLst>
              <a:ext uri="{FF2B5EF4-FFF2-40B4-BE49-F238E27FC236}">
                <a16:creationId xmlns:a16="http://schemas.microsoft.com/office/drawing/2014/main" id="{9B072430-5624-901B-F4B3-B56027640A3A}"/>
              </a:ext>
            </a:extLst>
          </p:cNvPr>
          <p:cNvSpPr/>
          <p:nvPr/>
        </p:nvSpPr>
        <p:spPr>
          <a:xfrm>
            <a:off x="12573000" y="2933700"/>
            <a:ext cx="4436012" cy="4038600"/>
          </a:xfrm>
          <a:prstGeom prst="roundRect">
            <a:avLst>
              <a:gd name="adj" fmla="val 10104"/>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buNone/>
            </a:pPr>
            <a:r>
              <a:rPr lang="en-IN" sz="2500" b="1" dirty="0">
                <a:solidFill>
                  <a:schemeClr val="bg1"/>
                </a:solidFill>
                <a:latin typeface="Inter" panose="020B0604020202020204" charset="0"/>
                <a:cs typeface="Inter" panose="020B0604020202020204" charset="0"/>
              </a:rPr>
              <a:t>Key Insight:</a:t>
            </a:r>
          </a:p>
          <a:p>
            <a:r>
              <a:rPr lang="en-IN" dirty="0">
                <a:latin typeface="Inter" panose="020B0604020202020204" charset="0"/>
                <a:cs typeface="Inter" panose="020B0604020202020204" charset="0"/>
              </a:rPr>
              <a:t>Customers primarily rely on unsecured borrowing products such as consumer loans and credit cards, indicating that household borrowing is concentrated in short-to-medium-term retail lending products.</a:t>
            </a:r>
          </a:p>
          <a:p>
            <a:endParaRPr lang="en-IN" dirty="0">
              <a:latin typeface="Inter" panose="020B0604020202020204" charset="0"/>
              <a:cs typeface="Inter" panose="020B0604020202020204" charset="0"/>
            </a:endParaRPr>
          </a:p>
          <a:p>
            <a:r>
              <a:rPr lang="en-IN" dirty="0">
                <a:latin typeface="Inter" panose="020B0604020202020204" charset="0"/>
                <a:cs typeface="Inter" panose="020B0604020202020204" charset="0"/>
              </a:rPr>
              <a:t>Since most customer exposure comes from consumer credit and credit cards, risk management efforts should focus heavily on these product categories.</a:t>
            </a:r>
          </a:p>
        </p:txBody>
      </p:sp>
    </p:spTree>
    <p:extLst>
      <p:ext uri="{BB962C8B-B14F-4D97-AF65-F5344CB8AC3E}">
        <p14:creationId xmlns:p14="http://schemas.microsoft.com/office/powerpoint/2010/main" val="303504531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rgbClr val="C5D6CA"/>
        </a:solidFill>
        <a:effectLst/>
      </p:bgPr>
    </p:bg>
    <p:spTree>
      <p:nvGrpSpPr>
        <p:cNvPr id="1" name="">
          <a:extLst>
            <a:ext uri="{FF2B5EF4-FFF2-40B4-BE49-F238E27FC236}">
              <a16:creationId xmlns:a16="http://schemas.microsoft.com/office/drawing/2014/main" id="{CF8144BB-2019-7B4A-8C20-C2DE548DFE0A}"/>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A684A68A-503D-B9F6-B114-5B5429D3158A}"/>
              </a:ext>
            </a:extLst>
          </p:cNvPr>
          <p:cNvGrpSpPr/>
          <p:nvPr/>
        </p:nvGrpSpPr>
        <p:grpSpPr>
          <a:xfrm>
            <a:off x="0" y="9497082"/>
            <a:ext cx="18292543" cy="787203"/>
            <a:chOff x="0" y="0"/>
            <a:chExt cx="24390058" cy="1049604"/>
          </a:xfrm>
        </p:grpSpPr>
        <p:sp>
          <p:nvSpPr>
            <p:cNvPr id="3" name="Freeform 3">
              <a:extLst>
                <a:ext uri="{FF2B5EF4-FFF2-40B4-BE49-F238E27FC236}">
                  <a16:creationId xmlns:a16="http://schemas.microsoft.com/office/drawing/2014/main" id="{42D0E240-6B5F-CB79-E8A1-51C8DCCF8091}"/>
                </a:ext>
              </a:extLst>
            </p:cNvPr>
            <p:cNvSpPr/>
            <p:nvPr/>
          </p:nvSpPr>
          <p:spPr>
            <a:xfrm>
              <a:off x="0" y="0"/>
              <a:ext cx="24390096" cy="1049655"/>
            </a:xfrm>
            <a:custGeom>
              <a:avLst/>
              <a:gdLst/>
              <a:ahLst/>
              <a:cxnLst/>
              <a:rect l="l" t="t" r="r" b="b"/>
              <a:pathLst>
                <a:path w="24390096" h="1049655">
                  <a:moveTo>
                    <a:pt x="0" y="0"/>
                  </a:moveTo>
                  <a:lnTo>
                    <a:pt x="24390096" y="0"/>
                  </a:lnTo>
                  <a:lnTo>
                    <a:pt x="24390096" y="1049655"/>
                  </a:lnTo>
                  <a:lnTo>
                    <a:pt x="0" y="1049655"/>
                  </a:lnTo>
                  <a:close/>
                </a:path>
              </a:pathLst>
            </a:custGeom>
            <a:solidFill>
              <a:srgbClr val="348E90"/>
            </a:solidFill>
          </p:spPr>
          <p:txBody>
            <a:bodyPr/>
            <a:lstStyle/>
            <a:p>
              <a:endParaRPr lang="en-IN"/>
            </a:p>
          </p:txBody>
        </p:sp>
      </p:grpSp>
      <p:sp>
        <p:nvSpPr>
          <p:cNvPr id="4" name="Rectangle 3">
            <a:extLst>
              <a:ext uri="{FF2B5EF4-FFF2-40B4-BE49-F238E27FC236}">
                <a16:creationId xmlns:a16="http://schemas.microsoft.com/office/drawing/2014/main" id="{69B93BAF-8F60-5369-A0A0-5EB91FA5CA96}"/>
              </a:ext>
            </a:extLst>
          </p:cNvPr>
          <p:cNvSpPr/>
          <p:nvPr/>
        </p:nvSpPr>
        <p:spPr>
          <a:xfrm>
            <a:off x="15544800" y="0"/>
            <a:ext cx="1143000" cy="1823056"/>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09E4B9DB-9891-FDBD-8CB5-1E43A63954D7}"/>
              </a:ext>
            </a:extLst>
          </p:cNvPr>
          <p:cNvSpPr txBox="1"/>
          <p:nvPr/>
        </p:nvSpPr>
        <p:spPr>
          <a:xfrm>
            <a:off x="3505200" y="797538"/>
            <a:ext cx="9803091" cy="707886"/>
          </a:xfrm>
          <a:prstGeom prst="rect">
            <a:avLst/>
          </a:prstGeom>
          <a:noFill/>
        </p:spPr>
        <p:txBody>
          <a:bodyPr wrap="square">
            <a:spAutoFit/>
          </a:bodyPr>
          <a:lstStyle/>
          <a:p>
            <a:r>
              <a:rPr lang="en-US" sz="4000" b="1" dirty="0">
                <a:latin typeface="Inter" panose="020B0604020202020204" charset="0"/>
                <a:cs typeface="Inter" panose="020B0604020202020204" charset="0"/>
              </a:rPr>
              <a:t>Default Rate by Previous Overdue History</a:t>
            </a:r>
          </a:p>
        </p:txBody>
      </p:sp>
      <p:sp>
        <p:nvSpPr>
          <p:cNvPr id="12" name="Rectangle: Rounded Corners 11">
            <a:extLst>
              <a:ext uri="{FF2B5EF4-FFF2-40B4-BE49-F238E27FC236}">
                <a16:creationId xmlns:a16="http://schemas.microsoft.com/office/drawing/2014/main" id="{980CD6A4-9E51-D142-28B9-404995DCA806}"/>
              </a:ext>
            </a:extLst>
          </p:cNvPr>
          <p:cNvSpPr/>
          <p:nvPr/>
        </p:nvSpPr>
        <p:spPr>
          <a:xfrm>
            <a:off x="12573000" y="2933700"/>
            <a:ext cx="4436012" cy="4724400"/>
          </a:xfrm>
          <a:prstGeom prst="roundRect">
            <a:avLst>
              <a:gd name="adj" fmla="val 10104"/>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buNone/>
            </a:pPr>
            <a:r>
              <a:rPr lang="en-IN" sz="2500" b="1" dirty="0">
                <a:solidFill>
                  <a:schemeClr val="bg1"/>
                </a:solidFill>
                <a:latin typeface="Inter" panose="020B0604020202020204" charset="0"/>
                <a:cs typeface="Inter" panose="020B0604020202020204" charset="0"/>
              </a:rPr>
              <a:t>Key Insight:</a:t>
            </a:r>
          </a:p>
          <a:p>
            <a:r>
              <a:rPr lang="en-IN" dirty="0"/>
              <a:t>Customers with previous overdue obligations default at roughly twice the rate of customers with clean repayment histories.</a:t>
            </a:r>
          </a:p>
          <a:p>
            <a:endParaRPr lang="en-IN" dirty="0"/>
          </a:p>
          <a:p>
            <a:r>
              <a:rPr lang="en-IN" sz="2500" b="1" dirty="0">
                <a:latin typeface="Inter" panose="020B0604020202020204" charset="0"/>
                <a:cs typeface="Inter" panose="020B0604020202020204" charset="0"/>
              </a:rPr>
              <a:t>Risk Interpretation</a:t>
            </a:r>
          </a:p>
          <a:p>
            <a:r>
              <a:rPr lang="en-IN" dirty="0">
                <a:latin typeface="Inter" panose="020B0604020202020204" charset="0"/>
                <a:cs typeface="Inter" panose="020B0604020202020204" charset="0"/>
              </a:rPr>
              <a:t>Past repayment behaviour strongly predicts future repayment behaviour.</a:t>
            </a:r>
          </a:p>
          <a:p>
            <a:endParaRPr lang="en-IN" dirty="0">
              <a:latin typeface="Inter" panose="020B0604020202020204" charset="0"/>
              <a:cs typeface="Inter" panose="020B0604020202020204" charset="0"/>
            </a:endParaRPr>
          </a:p>
          <a:p>
            <a:r>
              <a:rPr lang="en-IN" dirty="0">
                <a:latin typeface="Inter" panose="020B0604020202020204" charset="0"/>
                <a:cs typeface="Inter" panose="020B0604020202020204" charset="0"/>
              </a:rPr>
              <a:t>Historical delinquency is one of the strongest indicators of future credit risk and should be incorporated into underwriting and monitoring strategies.</a:t>
            </a:r>
          </a:p>
        </p:txBody>
      </p:sp>
      <p:pic>
        <p:nvPicPr>
          <p:cNvPr id="9" name="Picture 8">
            <a:extLst>
              <a:ext uri="{FF2B5EF4-FFF2-40B4-BE49-F238E27FC236}">
                <a16:creationId xmlns:a16="http://schemas.microsoft.com/office/drawing/2014/main" id="{1F0458E4-D353-402D-D698-65886859CE9B}"/>
              </a:ext>
            </a:extLst>
          </p:cNvPr>
          <p:cNvPicPr>
            <a:picLocks noChangeAspect="1"/>
          </p:cNvPicPr>
          <p:nvPr/>
        </p:nvPicPr>
        <p:blipFill>
          <a:blip r:embed="rId2" cstate="print">
            <a:extLst>
              <a:ext uri="{28A0092B-C50C-407E-A947-70E740481C1C}">
                <a14:useLocalDpi xmlns:a14="http://schemas.microsoft.com/office/drawing/2010/main" val="0"/>
              </a:ext>
            </a:extLst>
          </a:blip>
          <a:srcRect t="7134"/>
          <a:stretch>
            <a:fillRect/>
          </a:stretch>
        </p:blipFill>
        <p:spPr>
          <a:xfrm>
            <a:off x="533400" y="2247900"/>
            <a:ext cx="11037575" cy="7249182"/>
          </a:xfrm>
          <a:prstGeom prst="rect">
            <a:avLst/>
          </a:prstGeom>
        </p:spPr>
      </p:pic>
    </p:spTree>
    <p:extLst>
      <p:ext uri="{BB962C8B-B14F-4D97-AF65-F5344CB8AC3E}">
        <p14:creationId xmlns:p14="http://schemas.microsoft.com/office/powerpoint/2010/main" val="36059952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rgbClr val="C5D6CA"/>
        </a:solidFill>
        <a:effectLst/>
      </p:bgPr>
    </p:bg>
    <p:spTree>
      <p:nvGrpSpPr>
        <p:cNvPr id="1" name="">
          <a:extLst>
            <a:ext uri="{FF2B5EF4-FFF2-40B4-BE49-F238E27FC236}">
              <a16:creationId xmlns:a16="http://schemas.microsoft.com/office/drawing/2014/main" id="{A935C8B3-4115-891D-7E90-71BE6BFDFD00}"/>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62CEDF64-28FE-B8A7-43C8-5B67C2D845F3}"/>
              </a:ext>
            </a:extLst>
          </p:cNvPr>
          <p:cNvGrpSpPr/>
          <p:nvPr/>
        </p:nvGrpSpPr>
        <p:grpSpPr>
          <a:xfrm>
            <a:off x="0" y="9497082"/>
            <a:ext cx="18292543" cy="787203"/>
            <a:chOff x="0" y="0"/>
            <a:chExt cx="24390058" cy="1049604"/>
          </a:xfrm>
        </p:grpSpPr>
        <p:sp>
          <p:nvSpPr>
            <p:cNvPr id="3" name="Freeform 3">
              <a:extLst>
                <a:ext uri="{FF2B5EF4-FFF2-40B4-BE49-F238E27FC236}">
                  <a16:creationId xmlns:a16="http://schemas.microsoft.com/office/drawing/2014/main" id="{006FE74E-C1FE-75CA-6487-8F9743E4C7AD}"/>
                </a:ext>
              </a:extLst>
            </p:cNvPr>
            <p:cNvSpPr/>
            <p:nvPr/>
          </p:nvSpPr>
          <p:spPr>
            <a:xfrm>
              <a:off x="0" y="0"/>
              <a:ext cx="24390096" cy="1049655"/>
            </a:xfrm>
            <a:custGeom>
              <a:avLst/>
              <a:gdLst/>
              <a:ahLst/>
              <a:cxnLst/>
              <a:rect l="l" t="t" r="r" b="b"/>
              <a:pathLst>
                <a:path w="24390096" h="1049655">
                  <a:moveTo>
                    <a:pt x="0" y="0"/>
                  </a:moveTo>
                  <a:lnTo>
                    <a:pt x="24390096" y="0"/>
                  </a:lnTo>
                  <a:lnTo>
                    <a:pt x="24390096" y="1049655"/>
                  </a:lnTo>
                  <a:lnTo>
                    <a:pt x="0" y="1049655"/>
                  </a:lnTo>
                  <a:close/>
                </a:path>
              </a:pathLst>
            </a:custGeom>
            <a:solidFill>
              <a:srgbClr val="348E90"/>
            </a:solidFill>
          </p:spPr>
          <p:txBody>
            <a:bodyPr/>
            <a:lstStyle/>
            <a:p>
              <a:endParaRPr lang="en-IN"/>
            </a:p>
          </p:txBody>
        </p:sp>
      </p:grpSp>
      <p:sp>
        <p:nvSpPr>
          <p:cNvPr id="4" name="Rectangle 3">
            <a:extLst>
              <a:ext uri="{FF2B5EF4-FFF2-40B4-BE49-F238E27FC236}">
                <a16:creationId xmlns:a16="http://schemas.microsoft.com/office/drawing/2014/main" id="{78B30A81-00DD-A5C9-3321-EC7734AB33ED}"/>
              </a:ext>
            </a:extLst>
          </p:cNvPr>
          <p:cNvSpPr/>
          <p:nvPr/>
        </p:nvSpPr>
        <p:spPr>
          <a:xfrm>
            <a:off x="15544800" y="0"/>
            <a:ext cx="1143000" cy="1823056"/>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C8A5734F-83BD-4BDC-C988-DBE383C0095F}"/>
              </a:ext>
            </a:extLst>
          </p:cNvPr>
          <p:cNvSpPr txBox="1"/>
          <p:nvPr/>
        </p:nvSpPr>
        <p:spPr>
          <a:xfrm>
            <a:off x="4610100" y="911528"/>
            <a:ext cx="9067800" cy="707886"/>
          </a:xfrm>
          <a:prstGeom prst="rect">
            <a:avLst/>
          </a:prstGeom>
          <a:noFill/>
        </p:spPr>
        <p:txBody>
          <a:bodyPr wrap="square">
            <a:spAutoFit/>
          </a:bodyPr>
          <a:lstStyle/>
          <a:p>
            <a:r>
              <a:rPr lang="en-US" sz="4000" b="1" dirty="0">
                <a:latin typeface="Inter" panose="020B0604020202020204" charset="0"/>
                <a:cs typeface="Inter" panose="020B0604020202020204" charset="0"/>
              </a:rPr>
              <a:t>Outstanding Debt Exposure vs Default</a:t>
            </a:r>
          </a:p>
        </p:txBody>
      </p:sp>
      <p:sp>
        <p:nvSpPr>
          <p:cNvPr id="12" name="Rectangle: Rounded Corners 11">
            <a:extLst>
              <a:ext uri="{FF2B5EF4-FFF2-40B4-BE49-F238E27FC236}">
                <a16:creationId xmlns:a16="http://schemas.microsoft.com/office/drawing/2014/main" id="{67685667-3663-B094-980F-85894C595A49}"/>
              </a:ext>
            </a:extLst>
          </p:cNvPr>
          <p:cNvSpPr/>
          <p:nvPr/>
        </p:nvSpPr>
        <p:spPr>
          <a:xfrm>
            <a:off x="12573000" y="2933700"/>
            <a:ext cx="4436012" cy="4724400"/>
          </a:xfrm>
          <a:prstGeom prst="roundRect">
            <a:avLst>
              <a:gd name="adj" fmla="val 10104"/>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buNone/>
            </a:pPr>
            <a:r>
              <a:rPr lang="en-IN" sz="2500" b="1" dirty="0">
                <a:solidFill>
                  <a:schemeClr val="bg1"/>
                </a:solidFill>
                <a:latin typeface="Inter" panose="020B0604020202020204" charset="0"/>
                <a:cs typeface="Inter" panose="020B0604020202020204" charset="0"/>
              </a:rPr>
              <a:t>Key Insight:</a:t>
            </a:r>
          </a:p>
          <a:p>
            <a:r>
              <a:rPr lang="en-IN" dirty="0">
                <a:latin typeface="Inter" panose="020B0604020202020204" charset="0"/>
                <a:cs typeface="Inter" panose="020B0604020202020204" charset="0"/>
              </a:rPr>
              <a:t>Customers carrying larger outstanding debt balances exhibit higher default propensity, suggesting increased financial leverage and repayment burden.</a:t>
            </a:r>
          </a:p>
          <a:p>
            <a:endParaRPr lang="en-IN" dirty="0">
              <a:latin typeface="Inter" panose="020B0604020202020204" charset="0"/>
              <a:cs typeface="Inter" panose="020B0604020202020204" charset="0"/>
            </a:endParaRPr>
          </a:p>
          <a:p>
            <a:r>
              <a:rPr lang="en-IN" sz="2500" b="1" dirty="0">
                <a:latin typeface="Inter" panose="020B0604020202020204" charset="0"/>
                <a:cs typeface="Inter" panose="020B0604020202020204" charset="0"/>
              </a:rPr>
              <a:t>Risk Interpretation</a:t>
            </a:r>
          </a:p>
          <a:p>
            <a:r>
              <a:rPr lang="en-IN" dirty="0">
                <a:latin typeface="Inter" panose="020B0604020202020204" charset="0"/>
                <a:cs typeface="Inter" panose="020B0604020202020204" charset="0"/>
              </a:rPr>
              <a:t>Existing debt reduces financial flexibility..</a:t>
            </a:r>
          </a:p>
          <a:p>
            <a:endParaRPr lang="en-IN" dirty="0">
              <a:latin typeface="Inter" panose="020B0604020202020204" charset="0"/>
              <a:cs typeface="Inter" panose="020B0604020202020204" charset="0"/>
            </a:endParaRPr>
          </a:p>
          <a:p>
            <a:r>
              <a:rPr lang="en-IN" dirty="0">
                <a:latin typeface="Inter" panose="020B0604020202020204" charset="0"/>
                <a:cs typeface="Inter" panose="020B0604020202020204" charset="0"/>
              </a:rPr>
              <a:t>Borrowers with higher external debt obligations represent a relatively higher-risk segment and warrant closer credit assessment.</a:t>
            </a:r>
          </a:p>
        </p:txBody>
      </p:sp>
      <p:pic>
        <p:nvPicPr>
          <p:cNvPr id="7" name="Picture 6">
            <a:extLst>
              <a:ext uri="{FF2B5EF4-FFF2-40B4-BE49-F238E27FC236}">
                <a16:creationId xmlns:a16="http://schemas.microsoft.com/office/drawing/2014/main" id="{9FA0B056-9A16-7069-B727-3735F413169C}"/>
              </a:ext>
            </a:extLst>
          </p:cNvPr>
          <p:cNvPicPr>
            <a:picLocks noChangeAspect="1"/>
          </p:cNvPicPr>
          <p:nvPr/>
        </p:nvPicPr>
        <p:blipFill>
          <a:blip r:embed="rId2" cstate="print">
            <a:extLst>
              <a:ext uri="{28A0092B-C50C-407E-A947-70E740481C1C}">
                <a14:useLocalDpi xmlns:a14="http://schemas.microsoft.com/office/drawing/2010/main" val="0"/>
              </a:ext>
            </a:extLst>
          </a:blip>
          <a:srcRect t="6428"/>
          <a:stretch>
            <a:fillRect/>
          </a:stretch>
        </p:blipFill>
        <p:spPr>
          <a:xfrm>
            <a:off x="304800" y="2705100"/>
            <a:ext cx="12268200" cy="6670372"/>
          </a:xfrm>
          <a:prstGeom prst="rect">
            <a:avLst/>
          </a:prstGeom>
        </p:spPr>
      </p:pic>
    </p:spTree>
    <p:extLst>
      <p:ext uri="{BB962C8B-B14F-4D97-AF65-F5344CB8AC3E}">
        <p14:creationId xmlns:p14="http://schemas.microsoft.com/office/powerpoint/2010/main" val="307300571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rgbClr val="C5D6CA"/>
        </a:solidFill>
        <a:effectLst/>
      </p:bgPr>
    </p:bg>
    <p:spTree>
      <p:nvGrpSpPr>
        <p:cNvPr id="1" name="">
          <a:extLst>
            <a:ext uri="{FF2B5EF4-FFF2-40B4-BE49-F238E27FC236}">
              <a16:creationId xmlns:a16="http://schemas.microsoft.com/office/drawing/2014/main" id="{3225DAAC-7859-5964-2C7F-3FF8529EF2EB}"/>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D1C41067-DA27-DAB1-306A-8FC041765A78}"/>
              </a:ext>
            </a:extLst>
          </p:cNvPr>
          <p:cNvGrpSpPr/>
          <p:nvPr/>
        </p:nvGrpSpPr>
        <p:grpSpPr>
          <a:xfrm>
            <a:off x="0" y="9497082"/>
            <a:ext cx="18292543" cy="787203"/>
            <a:chOff x="0" y="0"/>
            <a:chExt cx="24390058" cy="1049604"/>
          </a:xfrm>
        </p:grpSpPr>
        <p:sp>
          <p:nvSpPr>
            <p:cNvPr id="3" name="Freeform 3">
              <a:extLst>
                <a:ext uri="{FF2B5EF4-FFF2-40B4-BE49-F238E27FC236}">
                  <a16:creationId xmlns:a16="http://schemas.microsoft.com/office/drawing/2014/main" id="{38D7237E-2724-1EE9-CE85-BF093F1E9B5F}"/>
                </a:ext>
              </a:extLst>
            </p:cNvPr>
            <p:cNvSpPr/>
            <p:nvPr/>
          </p:nvSpPr>
          <p:spPr>
            <a:xfrm>
              <a:off x="0" y="0"/>
              <a:ext cx="24390096" cy="1049655"/>
            </a:xfrm>
            <a:custGeom>
              <a:avLst/>
              <a:gdLst/>
              <a:ahLst/>
              <a:cxnLst/>
              <a:rect l="l" t="t" r="r" b="b"/>
              <a:pathLst>
                <a:path w="24390096" h="1049655">
                  <a:moveTo>
                    <a:pt x="0" y="0"/>
                  </a:moveTo>
                  <a:lnTo>
                    <a:pt x="24390096" y="0"/>
                  </a:lnTo>
                  <a:lnTo>
                    <a:pt x="24390096" y="1049655"/>
                  </a:lnTo>
                  <a:lnTo>
                    <a:pt x="0" y="1049655"/>
                  </a:lnTo>
                  <a:close/>
                </a:path>
              </a:pathLst>
            </a:custGeom>
            <a:solidFill>
              <a:srgbClr val="348E90"/>
            </a:solidFill>
          </p:spPr>
          <p:txBody>
            <a:bodyPr/>
            <a:lstStyle/>
            <a:p>
              <a:endParaRPr lang="en-IN"/>
            </a:p>
          </p:txBody>
        </p:sp>
      </p:grpSp>
      <p:sp>
        <p:nvSpPr>
          <p:cNvPr id="4" name="Rectangle 3">
            <a:extLst>
              <a:ext uri="{FF2B5EF4-FFF2-40B4-BE49-F238E27FC236}">
                <a16:creationId xmlns:a16="http://schemas.microsoft.com/office/drawing/2014/main" id="{CE2C7A0A-4094-F92A-CDA6-25AFF035D112}"/>
              </a:ext>
            </a:extLst>
          </p:cNvPr>
          <p:cNvSpPr/>
          <p:nvPr/>
        </p:nvSpPr>
        <p:spPr>
          <a:xfrm>
            <a:off x="15544800" y="0"/>
            <a:ext cx="1143000" cy="1823056"/>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B69DEB3C-A0B6-938B-FD14-2A10FA406EC0}"/>
              </a:ext>
            </a:extLst>
          </p:cNvPr>
          <p:cNvSpPr txBox="1"/>
          <p:nvPr/>
        </p:nvSpPr>
        <p:spPr>
          <a:xfrm>
            <a:off x="3505200" y="797538"/>
            <a:ext cx="9803091" cy="707886"/>
          </a:xfrm>
          <a:prstGeom prst="rect">
            <a:avLst/>
          </a:prstGeom>
          <a:noFill/>
        </p:spPr>
        <p:txBody>
          <a:bodyPr wrap="square">
            <a:spAutoFit/>
          </a:bodyPr>
          <a:lstStyle/>
          <a:p>
            <a:r>
              <a:rPr lang="en-US" sz="4000" b="1" dirty="0">
                <a:latin typeface="Inter" panose="020B0604020202020204" charset="0"/>
                <a:cs typeface="Inter" panose="020B0604020202020204" charset="0"/>
              </a:rPr>
              <a:t>Number of Active Credit vs Default</a:t>
            </a:r>
          </a:p>
        </p:txBody>
      </p:sp>
      <p:sp>
        <p:nvSpPr>
          <p:cNvPr id="12" name="Rectangle: Rounded Corners 11">
            <a:extLst>
              <a:ext uri="{FF2B5EF4-FFF2-40B4-BE49-F238E27FC236}">
                <a16:creationId xmlns:a16="http://schemas.microsoft.com/office/drawing/2014/main" id="{35A94D5D-A46E-68CF-88CA-ECE7BF84661A}"/>
              </a:ext>
            </a:extLst>
          </p:cNvPr>
          <p:cNvSpPr/>
          <p:nvPr/>
        </p:nvSpPr>
        <p:spPr>
          <a:xfrm>
            <a:off x="12764473" y="2781300"/>
            <a:ext cx="4436012" cy="4724400"/>
          </a:xfrm>
          <a:prstGeom prst="roundRect">
            <a:avLst>
              <a:gd name="adj" fmla="val 10104"/>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buNone/>
            </a:pPr>
            <a:r>
              <a:rPr lang="en-IN" sz="2500" b="1" dirty="0">
                <a:solidFill>
                  <a:schemeClr val="bg1"/>
                </a:solidFill>
                <a:latin typeface="Inter" panose="020B0604020202020204" charset="0"/>
                <a:cs typeface="Inter" panose="020B0604020202020204" charset="0"/>
              </a:rPr>
              <a:t>Key Insight:</a:t>
            </a:r>
          </a:p>
          <a:p>
            <a:r>
              <a:rPr lang="en-IN" dirty="0">
                <a:latin typeface="Inter" panose="020B0604020202020204" charset="0"/>
                <a:cs typeface="Inter" panose="020B0604020202020204" charset="0"/>
              </a:rPr>
              <a:t>Default risk increases sharply once customers maintain multiple active credit relationships..</a:t>
            </a:r>
          </a:p>
          <a:p>
            <a:endParaRPr lang="en-IN" dirty="0">
              <a:latin typeface="Inter" panose="020B0604020202020204" charset="0"/>
              <a:cs typeface="Inter" panose="020B0604020202020204" charset="0"/>
            </a:endParaRPr>
          </a:p>
          <a:p>
            <a:r>
              <a:rPr lang="en-IN" sz="2500" b="1" dirty="0">
                <a:latin typeface="Inter" panose="020B0604020202020204" charset="0"/>
                <a:cs typeface="Inter" panose="020B0604020202020204" charset="0"/>
              </a:rPr>
              <a:t>Risk Interpretation</a:t>
            </a:r>
          </a:p>
          <a:p>
            <a:r>
              <a:rPr lang="en-IN" dirty="0">
                <a:latin typeface="Inter" panose="020B0604020202020204" charset="0"/>
                <a:cs typeface="Inter" panose="020B0604020202020204" charset="0"/>
              </a:rPr>
              <a:t>Customers with many simultaneous obligations may experience repayment stress due to debt accumulation across institutions.</a:t>
            </a:r>
          </a:p>
          <a:p>
            <a:endParaRPr lang="en-IN" dirty="0">
              <a:latin typeface="Inter" panose="020B0604020202020204" charset="0"/>
              <a:cs typeface="Inter" panose="020B0604020202020204" charset="0"/>
            </a:endParaRPr>
          </a:p>
          <a:p>
            <a:r>
              <a:rPr lang="en-IN" dirty="0">
                <a:latin typeface="Inter" panose="020B0604020202020204" charset="0"/>
                <a:cs typeface="Inter" panose="020B0604020202020204" charset="0"/>
              </a:rPr>
              <a:t>Credit portfolio complexity is associated with elevated default risk, particularly among customers holding six or more active credit accounts..</a:t>
            </a:r>
          </a:p>
        </p:txBody>
      </p:sp>
      <p:pic>
        <p:nvPicPr>
          <p:cNvPr id="7" name="Picture 6">
            <a:extLst>
              <a:ext uri="{FF2B5EF4-FFF2-40B4-BE49-F238E27FC236}">
                <a16:creationId xmlns:a16="http://schemas.microsoft.com/office/drawing/2014/main" id="{5F8B41A5-4582-818E-2207-45AD01F5D326}"/>
              </a:ext>
            </a:extLst>
          </p:cNvPr>
          <p:cNvPicPr>
            <a:picLocks noChangeAspect="1"/>
          </p:cNvPicPr>
          <p:nvPr/>
        </p:nvPicPr>
        <p:blipFill>
          <a:blip r:embed="rId2" cstate="print">
            <a:extLst>
              <a:ext uri="{28A0092B-C50C-407E-A947-70E740481C1C}">
                <a14:useLocalDpi xmlns:a14="http://schemas.microsoft.com/office/drawing/2010/main" val="0"/>
              </a:ext>
            </a:extLst>
          </a:blip>
          <a:srcRect t="6305"/>
          <a:stretch>
            <a:fillRect/>
          </a:stretch>
        </p:blipFill>
        <p:spPr>
          <a:xfrm>
            <a:off x="369563" y="2400300"/>
            <a:ext cx="12394910" cy="6781800"/>
          </a:xfrm>
          <a:prstGeom prst="rect">
            <a:avLst/>
          </a:prstGeom>
        </p:spPr>
      </p:pic>
    </p:spTree>
    <p:extLst>
      <p:ext uri="{BB962C8B-B14F-4D97-AF65-F5344CB8AC3E}">
        <p14:creationId xmlns:p14="http://schemas.microsoft.com/office/powerpoint/2010/main" val="320025742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rgbClr val="C5D6CA"/>
        </a:solidFill>
        <a:effectLst/>
      </p:bgPr>
    </p:bg>
    <p:spTree>
      <p:nvGrpSpPr>
        <p:cNvPr id="1" name="">
          <a:extLst>
            <a:ext uri="{FF2B5EF4-FFF2-40B4-BE49-F238E27FC236}">
              <a16:creationId xmlns:a16="http://schemas.microsoft.com/office/drawing/2014/main" id="{9E5E99C0-90F3-C26C-129E-4B5936C04943}"/>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3E45E652-7644-B741-5EA5-2490C05E32EB}"/>
              </a:ext>
            </a:extLst>
          </p:cNvPr>
          <p:cNvGrpSpPr/>
          <p:nvPr/>
        </p:nvGrpSpPr>
        <p:grpSpPr>
          <a:xfrm>
            <a:off x="0" y="9497082"/>
            <a:ext cx="18292543" cy="787203"/>
            <a:chOff x="0" y="0"/>
            <a:chExt cx="24390058" cy="1049604"/>
          </a:xfrm>
        </p:grpSpPr>
        <p:sp>
          <p:nvSpPr>
            <p:cNvPr id="3" name="Freeform 3">
              <a:extLst>
                <a:ext uri="{FF2B5EF4-FFF2-40B4-BE49-F238E27FC236}">
                  <a16:creationId xmlns:a16="http://schemas.microsoft.com/office/drawing/2014/main" id="{BD8E9009-E041-C94A-6020-7EC188EF24F0}"/>
                </a:ext>
              </a:extLst>
            </p:cNvPr>
            <p:cNvSpPr/>
            <p:nvPr/>
          </p:nvSpPr>
          <p:spPr>
            <a:xfrm>
              <a:off x="0" y="0"/>
              <a:ext cx="24390096" cy="1049655"/>
            </a:xfrm>
            <a:custGeom>
              <a:avLst/>
              <a:gdLst/>
              <a:ahLst/>
              <a:cxnLst/>
              <a:rect l="l" t="t" r="r" b="b"/>
              <a:pathLst>
                <a:path w="24390096" h="1049655">
                  <a:moveTo>
                    <a:pt x="0" y="0"/>
                  </a:moveTo>
                  <a:lnTo>
                    <a:pt x="24390096" y="0"/>
                  </a:lnTo>
                  <a:lnTo>
                    <a:pt x="24390096" y="1049655"/>
                  </a:lnTo>
                  <a:lnTo>
                    <a:pt x="0" y="1049655"/>
                  </a:lnTo>
                  <a:close/>
                </a:path>
              </a:pathLst>
            </a:custGeom>
            <a:solidFill>
              <a:srgbClr val="348E90"/>
            </a:solidFill>
          </p:spPr>
          <p:txBody>
            <a:bodyPr/>
            <a:lstStyle/>
            <a:p>
              <a:endParaRPr lang="en-IN"/>
            </a:p>
          </p:txBody>
        </p:sp>
      </p:grpSp>
      <p:sp>
        <p:nvSpPr>
          <p:cNvPr id="4" name="Rectangle 3">
            <a:extLst>
              <a:ext uri="{FF2B5EF4-FFF2-40B4-BE49-F238E27FC236}">
                <a16:creationId xmlns:a16="http://schemas.microsoft.com/office/drawing/2014/main" id="{BCC8EF44-E3FE-56E3-A524-99217054E072}"/>
              </a:ext>
            </a:extLst>
          </p:cNvPr>
          <p:cNvSpPr/>
          <p:nvPr/>
        </p:nvSpPr>
        <p:spPr>
          <a:xfrm>
            <a:off x="15544800" y="0"/>
            <a:ext cx="1143000" cy="1823056"/>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IN"/>
          </a:p>
        </p:txBody>
      </p:sp>
      <p:sp>
        <p:nvSpPr>
          <p:cNvPr id="14" name="Rectangle: Rounded Corners 13">
            <a:extLst>
              <a:ext uri="{FF2B5EF4-FFF2-40B4-BE49-F238E27FC236}">
                <a16:creationId xmlns:a16="http://schemas.microsoft.com/office/drawing/2014/main" id="{BAB5DF9C-662A-7AEA-2704-CBD2EA505F53}"/>
              </a:ext>
            </a:extLst>
          </p:cNvPr>
          <p:cNvSpPr/>
          <p:nvPr/>
        </p:nvSpPr>
        <p:spPr>
          <a:xfrm>
            <a:off x="1524001" y="2555789"/>
            <a:ext cx="13639800" cy="3200400"/>
          </a:xfrm>
          <a:prstGeom prst="roundRect">
            <a:avLst>
              <a:gd name="adj" fmla="val 10104"/>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buNone/>
            </a:pPr>
            <a:r>
              <a:rPr lang="en-IN" sz="2500" b="1" dirty="0">
                <a:solidFill>
                  <a:schemeClr val="bg1"/>
                </a:solidFill>
                <a:latin typeface="Inter" panose="020B0604020202020204" charset="0"/>
                <a:cs typeface="Inter" panose="020B0604020202020204" charset="0"/>
              </a:rPr>
              <a:t>Key Findings:</a:t>
            </a:r>
          </a:p>
          <a:p>
            <a:pPr marL="285750" indent="-285750">
              <a:buFont typeface="Arial" panose="020B0604020202020204" pitchFamily="34" charset="0"/>
              <a:buChar char="•"/>
            </a:pPr>
            <a:r>
              <a:rPr lang="en-IN" dirty="0">
                <a:latin typeface="Inter" panose="020B0604020202020204" charset="0"/>
                <a:cs typeface="Inter" panose="020B0604020202020204" charset="0"/>
              </a:rPr>
              <a:t>Previous overdue history nearly doubles the probability of future default. </a:t>
            </a:r>
          </a:p>
          <a:p>
            <a:pPr marL="285750" indent="-285750">
              <a:buFont typeface="Arial" panose="020B0604020202020204" pitchFamily="34" charset="0"/>
              <a:buChar char="•"/>
            </a:pPr>
            <a:r>
              <a:rPr lang="en-IN" dirty="0">
                <a:latin typeface="Inter" panose="020B0604020202020204" charset="0"/>
                <a:cs typeface="Inter" panose="020B0604020202020204" charset="0"/>
              </a:rPr>
              <a:t>Customers with larger outstanding debt balances exhibit higher default rates. </a:t>
            </a:r>
          </a:p>
          <a:p>
            <a:pPr marL="285750" indent="-285750">
              <a:buFont typeface="Arial" panose="020B0604020202020204" pitchFamily="34" charset="0"/>
              <a:buChar char="•"/>
            </a:pPr>
            <a:r>
              <a:rPr lang="en-IN" dirty="0">
                <a:latin typeface="Inter" panose="020B0604020202020204" charset="0"/>
                <a:cs typeface="Inter" panose="020B0604020202020204" charset="0"/>
              </a:rPr>
              <a:t>Default risk increases as the number of active credit relationships grows. </a:t>
            </a:r>
          </a:p>
          <a:p>
            <a:pPr marL="285750" indent="-285750">
              <a:buFont typeface="Arial" panose="020B0604020202020204" pitchFamily="34" charset="0"/>
              <a:buChar char="•"/>
            </a:pPr>
            <a:r>
              <a:rPr lang="en-IN" dirty="0">
                <a:latin typeface="Inter" panose="020B0604020202020204" charset="0"/>
                <a:cs typeface="Inter" panose="020B0604020202020204" charset="0"/>
              </a:rPr>
              <a:t>Consumer loans and credit cards dominate customer borrowing activity. </a:t>
            </a:r>
          </a:p>
          <a:p>
            <a:pPr marL="285750" indent="-285750">
              <a:buFont typeface="Arial" panose="020B0604020202020204" pitchFamily="34" charset="0"/>
              <a:buChar char="•"/>
            </a:pPr>
            <a:r>
              <a:rPr lang="en-IN" dirty="0">
                <a:latin typeface="Inter" panose="020B0604020202020204" charset="0"/>
                <a:cs typeface="Inter" panose="020B0604020202020204" charset="0"/>
              </a:rPr>
              <a:t>Historical repayment behaviour provides strong signals regarding future credit performance.</a:t>
            </a:r>
          </a:p>
        </p:txBody>
      </p:sp>
      <p:sp>
        <p:nvSpPr>
          <p:cNvPr id="5" name="TextBox 4">
            <a:extLst>
              <a:ext uri="{FF2B5EF4-FFF2-40B4-BE49-F238E27FC236}">
                <a16:creationId xmlns:a16="http://schemas.microsoft.com/office/drawing/2014/main" id="{4E632B5A-BA49-BACF-8313-CC434849501A}"/>
              </a:ext>
            </a:extLst>
          </p:cNvPr>
          <p:cNvSpPr txBox="1"/>
          <p:nvPr/>
        </p:nvSpPr>
        <p:spPr>
          <a:xfrm>
            <a:off x="4257674" y="908656"/>
            <a:ext cx="9772651" cy="707886"/>
          </a:xfrm>
          <a:prstGeom prst="rect">
            <a:avLst/>
          </a:prstGeom>
          <a:noFill/>
        </p:spPr>
        <p:txBody>
          <a:bodyPr wrap="square">
            <a:spAutoFit/>
          </a:bodyPr>
          <a:lstStyle/>
          <a:p>
            <a:r>
              <a:rPr lang="en-US" sz="4000" b="1" dirty="0">
                <a:latin typeface="Inter" panose="020B0604020202020204" charset="0"/>
                <a:cs typeface="Inter" panose="020B0604020202020204" charset="0"/>
              </a:rPr>
              <a:t>Historical Credit </a:t>
            </a:r>
            <a:r>
              <a:rPr lang="en-US" sz="4000" b="1" dirty="0" err="1">
                <a:latin typeface="Inter" panose="020B0604020202020204" charset="0"/>
                <a:cs typeface="Inter" panose="020B0604020202020204" charset="0"/>
              </a:rPr>
              <a:t>Behaviour</a:t>
            </a:r>
            <a:r>
              <a:rPr lang="en-US" sz="4000" b="1" dirty="0">
                <a:latin typeface="Inter" panose="020B0604020202020204" charset="0"/>
                <a:cs typeface="Inter" panose="020B0604020202020204" charset="0"/>
              </a:rPr>
              <a:t>– Key Findings</a:t>
            </a:r>
          </a:p>
        </p:txBody>
      </p:sp>
      <p:sp>
        <p:nvSpPr>
          <p:cNvPr id="7" name="Rectangle: Rounded Corners 6">
            <a:extLst>
              <a:ext uri="{FF2B5EF4-FFF2-40B4-BE49-F238E27FC236}">
                <a16:creationId xmlns:a16="http://schemas.microsoft.com/office/drawing/2014/main" id="{8912BD78-A402-B176-A700-0F9BBCB9A6D3}"/>
              </a:ext>
            </a:extLst>
          </p:cNvPr>
          <p:cNvSpPr/>
          <p:nvPr/>
        </p:nvSpPr>
        <p:spPr>
          <a:xfrm>
            <a:off x="1524001" y="6289590"/>
            <a:ext cx="13639800" cy="2130510"/>
          </a:xfrm>
          <a:prstGeom prst="roundRect">
            <a:avLst>
              <a:gd name="adj" fmla="val 10104"/>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buNone/>
            </a:pPr>
            <a:r>
              <a:rPr lang="en-IN" sz="2500" b="1" dirty="0">
                <a:solidFill>
                  <a:schemeClr val="bg1"/>
                </a:solidFill>
                <a:latin typeface="Inter" panose="020B0604020202020204" charset="0"/>
                <a:cs typeface="Inter" panose="020B0604020202020204" charset="0"/>
              </a:rPr>
              <a:t>Business Implications:</a:t>
            </a:r>
          </a:p>
          <a:p>
            <a:pPr marL="285750" indent="-285750">
              <a:buFont typeface="Arial" panose="020B0604020202020204" pitchFamily="34" charset="0"/>
              <a:buChar char="•"/>
            </a:pPr>
            <a:r>
              <a:rPr lang="en-IN" dirty="0">
                <a:latin typeface="Inter" panose="020B0604020202020204" charset="0"/>
                <a:cs typeface="Inter" panose="020B0604020202020204" charset="0"/>
              </a:rPr>
              <a:t>Bureau information should play a central role in credit approval and portfolio monitoring. </a:t>
            </a:r>
          </a:p>
          <a:p>
            <a:pPr marL="285750" indent="-285750">
              <a:buFont typeface="Arial" panose="020B0604020202020204" pitchFamily="34" charset="0"/>
              <a:buChar char="•"/>
            </a:pPr>
            <a:r>
              <a:rPr lang="en-IN" dirty="0">
                <a:latin typeface="Inter" panose="020B0604020202020204" charset="0"/>
                <a:cs typeface="Inter" panose="020B0604020202020204" charset="0"/>
              </a:rPr>
              <a:t>Customers with prior delinquency, multiple active loans, and high debt exposure warrant closer scrutiny. </a:t>
            </a:r>
          </a:p>
          <a:p>
            <a:pPr marL="285750" indent="-285750">
              <a:buFont typeface="Arial" panose="020B0604020202020204" pitchFamily="34" charset="0"/>
              <a:buChar char="•"/>
            </a:pPr>
            <a:r>
              <a:rPr lang="en-IN" dirty="0">
                <a:latin typeface="Inter" panose="020B0604020202020204" charset="0"/>
                <a:cs typeface="Inter" panose="020B0604020202020204" charset="0"/>
              </a:rPr>
              <a:t>Historical credit behaviour remains one of the most reliable predictors of future repayment risk. </a:t>
            </a:r>
          </a:p>
        </p:txBody>
      </p:sp>
    </p:spTree>
    <p:extLst>
      <p:ext uri="{BB962C8B-B14F-4D97-AF65-F5344CB8AC3E}">
        <p14:creationId xmlns:p14="http://schemas.microsoft.com/office/powerpoint/2010/main" val="241362387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rgbClr val="C5D6CA"/>
        </a:solidFill>
        <a:effectLst/>
      </p:bgPr>
    </p:bg>
    <p:spTree>
      <p:nvGrpSpPr>
        <p:cNvPr id="1" name="">
          <a:extLst>
            <a:ext uri="{FF2B5EF4-FFF2-40B4-BE49-F238E27FC236}">
              <a16:creationId xmlns:a16="http://schemas.microsoft.com/office/drawing/2014/main" id="{CBEC9873-A7BC-8C06-8448-DB9047442239}"/>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E4CD8419-514D-FDB5-7400-0184F92D5958}"/>
              </a:ext>
            </a:extLst>
          </p:cNvPr>
          <p:cNvGrpSpPr/>
          <p:nvPr/>
        </p:nvGrpSpPr>
        <p:grpSpPr>
          <a:xfrm>
            <a:off x="0" y="9497082"/>
            <a:ext cx="18292543" cy="787203"/>
            <a:chOff x="0" y="0"/>
            <a:chExt cx="24390058" cy="1049604"/>
          </a:xfrm>
        </p:grpSpPr>
        <p:sp>
          <p:nvSpPr>
            <p:cNvPr id="3" name="Freeform 3">
              <a:extLst>
                <a:ext uri="{FF2B5EF4-FFF2-40B4-BE49-F238E27FC236}">
                  <a16:creationId xmlns:a16="http://schemas.microsoft.com/office/drawing/2014/main" id="{EB0C8CC5-6597-7628-70A8-52EEA67DCE99}"/>
                </a:ext>
              </a:extLst>
            </p:cNvPr>
            <p:cNvSpPr/>
            <p:nvPr/>
          </p:nvSpPr>
          <p:spPr>
            <a:xfrm>
              <a:off x="0" y="0"/>
              <a:ext cx="24390096" cy="1049655"/>
            </a:xfrm>
            <a:custGeom>
              <a:avLst/>
              <a:gdLst/>
              <a:ahLst/>
              <a:cxnLst/>
              <a:rect l="l" t="t" r="r" b="b"/>
              <a:pathLst>
                <a:path w="24390096" h="1049655">
                  <a:moveTo>
                    <a:pt x="0" y="0"/>
                  </a:moveTo>
                  <a:lnTo>
                    <a:pt x="24390096" y="0"/>
                  </a:lnTo>
                  <a:lnTo>
                    <a:pt x="24390096" y="1049655"/>
                  </a:lnTo>
                  <a:lnTo>
                    <a:pt x="0" y="1049655"/>
                  </a:lnTo>
                  <a:close/>
                </a:path>
              </a:pathLst>
            </a:custGeom>
            <a:solidFill>
              <a:srgbClr val="348E90"/>
            </a:solidFill>
          </p:spPr>
          <p:txBody>
            <a:bodyPr/>
            <a:lstStyle/>
            <a:p>
              <a:endParaRPr lang="en-IN"/>
            </a:p>
          </p:txBody>
        </p:sp>
      </p:grpSp>
      <p:sp>
        <p:nvSpPr>
          <p:cNvPr id="4" name="Rectangle 3">
            <a:extLst>
              <a:ext uri="{FF2B5EF4-FFF2-40B4-BE49-F238E27FC236}">
                <a16:creationId xmlns:a16="http://schemas.microsoft.com/office/drawing/2014/main" id="{3AE95E28-D3D0-71C8-066D-AFBD65620293}"/>
              </a:ext>
            </a:extLst>
          </p:cNvPr>
          <p:cNvSpPr/>
          <p:nvPr/>
        </p:nvSpPr>
        <p:spPr>
          <a:xfrm>
            <a:off x="15544800" y="0"/>
            <a:ext cx="1143000" cy="1823056"/>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IN"/>
          </a:p>
        </p:txBody>
      </p:sp>
      <p:sp>
        <p:nvSpPr>
          <p:cNvPr id="14" name="Rectangle: Rounded Corners 13">
            <a:extLst>
              <a:ext uri="{FF2B5EF4-FFF2-40B4-BE49-F238E27FC236}">
                <a16:creationId xmlns:a16="http://schemas.microsoft.com/office/drawing/2014/main" id="{AE3E0327-1A73-0D03-5084-5204CF932D60}"/>
              </a:ext>
            </a:extLst>
          </p:cNvPr>
          <p:cNvSpPr/>
          <p:nvPr/>
        </p:nvSpPr>
        <p:spPr>
          <a:xfrm>
            <a:off x="1524001" y="2555788"/>
            <a:ext cx="5714999" cy="3273511"/>
          </a:xfrm>
          <a:prstGeom prst="roundRect">
            <a:avLst>
              <a:gd name="adj" fmla="val 10104"/>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buNone/>
            </a:pPr>
            <a:r>
              <a:rPr lang="en-IN" sz="2500" b="1" dirty="0">
                <a:solidFill>
                  <a:schemeClr val="bg1"/>
                </a:solidFill>
                <a:latin typeface="Inter" panose="020B0604020202020204" charset="0"/>
                <a:cs typeface="Inter" panose="020B0604020202020204" charset="0"/>
              </a:rPr>
              <a:t>Strongest Risk Drivers Identified:</a:t>
            </a:r>
          </a:p>
          <a:p>
            <a:pPr marL="285750" indent="-285750">
              <a:buFont typeface="Arial" panose="020B0604020202020204" pitchFamily="34" charset="0"/>
              <a:buChar char="•"/>
            </a:pPr>
            <a:r>
              <a:rPr lang="en-IN" dirty="0">
                <a:latin typeface="Inter" panose="020B0604020202020204" charset="0"/>
                <a:cs typeface="Inter" panose="020B0604020202020204" charset="0"/>
              </a:rPr>
              <a:t>Low EXT_SOURCE_MEAN </a:t>
            </a:r>
          </a:p>
          <a:p>
            <a:pPr marL="285750" indent="-285750">
              <a:buFont typeface="Arial" panose="020B0604020202020204" pitchFamily="34" charset="0"/>
              <a:buChar char="•"/>
            </a:pPr>
            <a:r>
              <a:rPr lang="en-IN" dirty="0">
                <a:latin typeface="Inter" panose="020B0604020202020204" charset="0"/>
                <a:cs typeface="Inter" panose="020B0604020202020204" charset="0"/>
              </a:rPr>
              <a:t>Previous Overdue History </a:t>
            </a:r>
          </a:p>
          <a:p>
            <a:pPr marL="285750" indent="-285750">
              <a:buFont typeface="Arial" panose="020B0604020202020204" pitchFamily="34" charset="0"/>
              <a:buChar char="•"/>
            </a:pPr>
            <a:r>
              <a:rPr lang="en-IN" dirty="0">
                <a:latin typeface="Inter" panose="020B0604020202020204" charset="0"/>
                <a:cs typeface="Inter" panose="020B0604020202020204" charset="0"/>
              </a:rPr>
              <a:t>Young Applicant Age </a:t>
            </a:r>
          </a:p>
          <a:p>
            <a:pPr marL="285750" indent="-285750">
              <a:buFont typeface="Arial" panose="020B0604020202020204" pitchFamily="34" charset="0"/>
              <a:buChar char="•"/>
            </a:pPr>
            <a:r>
              <a:rPr lang="en-IN" dirty="0">
                <a:latin typeface="Inter" panose="020B0604020202020204" charset="0"/>
                <a:cs typeface="Inter" panose="020B0604020202020204" charset="0"/>
              </a:rPr>
              <a:t>Multiple Active Credit Accounts </a:t>
            </a:r>
          </a:p>
          <a:p>
            <a:pPr marL="285750" indent="-285750">
              <a:buFont typeface="Arial" panose="020B0604020202020204" pitchFamily="34" charset="0"/>
              <a:buChar char="•"/>
            </a:pPr>
            <a:r>
              <a:rPr lang="en-IN" dirty="0">
                <a:latin typeface="Inter" panose="020B0604020202020204" charset="0"/>
                <a:cs typeface="Inter" panose="020B0604020202020204" charset="0"/>
              </a:rPr>
              <a:t>High Outstanding Debt Exposure.</a:t>
            </a:r>
          </a:p>
        </p:txBody>
      </p:sp>
      <p:sp>
        <p:nvSpPr>
          <p:cNvPr id="5" name="TextBox 4">
            <a:extLst>
              <a:ext uri="{FF2B5EF4-FFF2-40B4-BE49-F238E27FC236}">
                <a16:creationId xmlns:a16="http://schemas.microsoft.com/office/drawing/2014/main" id="{8C2450DF-A7E5-D8A9-674E-878AB2E825BB}"/>
              </a:ext>
            </a:extLst>
          </p:cNvPr>
          <p:cNvSpPr txBox="1"/>
          <p:nvPr/>
        </p:nvSpPr>
        <p:spPr>
          <a:xfrm>
            <a:off x="6167437" y="955469"/>
            <a:ext cx="5953126" cy="707886"/>
          </a:xfrm>
          <a:prstGeom prst="rect">
            <a:avLst/>
          </a:prstGeom>
          <a:noFill/>
        </p:spPr>
        <p:txBody>
          <a:bodyPr wrap="square">
            <a:spAutoFit/>
          </a:bodyPr>
          <a:lstStyle/>
          <a:p>
            <a:r>
              <a:rPr lang="en-US" sz="4000" b="1" dirty="0">
                <a:latin typeface="Inter" panose="020B0604020202020204" charset="0"/>
                <a:cs typeface="Inter" panose="020B0604020202020204" charset="0"/>
              </a:rPr>
              <a:t>Executive EDA Summary</a:t>
            </a:r>
          </a:p>
        </p:txBody>
      </p:sp>
      <p:sp>
        <p:nvSpPr>
          <p:cNvPr id="7" name="Rectangle: Rounded Corners 6">
            <a:extLst>
              <a:ext uri="{FF2B5EF4-FFF2-40B4-BE49-F238E27FC236}">
                <a16:creationId xmlns:a16="http://schemas.microsoft.com/office/drawing/2014/main" id="{CE865F0E-5171-723A-2D9F-3318D9F93EB8}"/>
              </a:ext>
            </a:extLst>
          </p:cNvPr>
          <p:cNvSpPr/>
          <p:nvPr/>
        </p:nvSpPr>
        <p:spPr>
          <a:xfrm>
            <a:off x="1524001" y="6289590"/>
            <a:ext cx="13639800" cy="2130510"/>
          </a:xfrm>
          <a:prstGeom prst="roundRect">
            <a:avLst>
              <a:gd name="adj" fmla="val 10104"/>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2500" b="1" dirty="0">
                <a:solidFill>
                  <a:schemeClr val="bg1"/>
                </a:solidFill>
                <a:latin typeface="Inter" panose="020B0604020202020204" charset="0"/>
                <a:cs typeface="Inter" panose="020B0604020202020204" charset="0"/>
              </a:rPr>
              <a:t>Strategic Takeaway:</a:t>
            </a:r>
          </a:p>
          <a:p>
            <a:r>
              <a:rPr lang="en-IN" dirty="0">
                <a:latin typeface="Inter" panose="020B0604020202020204" charset="0"/>
                <a:cs typeface="Inter" panose="020B0604020202020204" charset="0"/>
              </a:rPr>
              <a:t>Credit risk is primarily driven by a combination of creditworthiness indicators, historical repayment behaviour, and borrower demographics. Integrating these signals into underwriting and monitoring frameworks can significantly improve portfolio quality and reduce future credit losses.</a:t>
            </a:r>
          </a:p>
        </p:txBody>
      </p:sp>
      <p:sp>
        <p:nvSpPr>
          <p:cNvPr id="6" name="Rectangle: Rounded Corners 5">
            <a:extLst>
              <a:ext uri="{FF2B5EF4-FFF2-40B4-BE49-F238E27FC236}">
                <a16:creationId xmlns:a16="http://schemas.microsoft.com/office/drawing/2014/main" id="{9294430D-F218-5A95-BF9A-39EC9810EF8E}"/>
              </a:ext>
            </a:extLst>
          </p:cNvPr>
          <p:cNvSpPr/>
          <p:nvPr/>
        </p:nvSpPr>
        <p:spPr>
          <a:xfrm>
            <a:off x="9448802" y="2555788"/>
            <a:ext cx="5714999" cy="3273511"/>
          </a:xfrm>
          <a:prstGeom prst="roundRect">
            <a:avLst>
              <a:gd name="adj" fmla="val 10104"/>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buNone/>
            </a:pPr>
            <a:r>
              <a:rPr lang="en-IN" sz="2500" b="1" dirty="0">
                <a:solidFill>
                  <a:schemeClr val="bg1"/>
                </a:solidFill>
                <a:latin typeface="Inter" panose="020B0604020202020204" charset="0"/>
                <a:cs typeface="Inter" panose="020B0604020202020204" charset="0"/>
              </a:rPr>
              <a:t>Portfolio Characteristics:</a:t>
            </a:r>
          </a:p>
          <a:p>
            <a:pPr marL="285750" indent="-285750">
              <a:buFont typeface="Arial" panose="020B0604020202020204" pitchFamily="34" charset="0"/>
              <a:buChar char="•"/>
            </a:pPr>
            <a:r>
              <a:rPr lang="en-IN" dirty="0">
                <a:latin typeface="Inter" panose="020B0604020202020204" charset="0"/>
                <a:cs typeface="Inter" panose="020B0604020202020204" charset="0"/>
              </a:rPr>
              <a:t>Overall default rate remains moderate at </a:t>
            </a:r>
            <a:r>
              <a:rPr lang="en-IN" b="1" dirty="0">
                <a:latin typeface="Inter" panose="020B0604020202020204" charset="0"/>
                <a:cs typeface="Inter" panose="020B0604020202020204" charset="0"/>
              </a:rPr>
              <a:t>8.07%</a:t>
            </a:r>
          </a:p>
          <a:p>
            <a:pPr marL="285750" indent="-285750">
              <a:buFont typeface="Arial" panose="020B0604020202020204" pitchFamily="34" charset="0"/>
              <a:buChar char="•"/>
            </a:pPr>
            <a:r>
              <a:rPr lang="en-IN" dirty="0">
                <a:latin typeface="Inter" panose="020B0604020202020204" charset="0"/>
                <a:cs typeface="Inter" panose="020B0604020202020204" charset="0"/>
              </a:rPr>
              <a:t> Customer base is predominantly middle-aged borrowers </a:t>
            </a:r>
          </a:p>
          <a:p>
            <a:pPr marL="285750" indent="-285750">
              <a:buFont typeface="Arial" panose="020B0604020202020204" pitchFamily="34" charset="0"/>
              <a:buChar char="•"/>
            </a:pPr>
            <a:r>
              <a:rPr lang="en-IN" dirty="0">
                <a:latin typeface="Inter" panose="020B0604020202020204" charset="0"/>
                <a:cs typeface="Inter" panose="020B0604020202020204" charset="0"/>
              </a:rPr>
              <a:t>Lending portfolio is concentrated in consumer loans and credit cards </a:t>
            </a:r>
          </a:p>
          <a:p>
            <a:pPr marL="285750" indent="-285750">
              <a:buFont typeface="Arial" panose="020B0604020202020204" pitchFamily="34" charset="0"/>
              <a:buChar char="•"/>
            </a:pPr>
            <a:r>
              <a:rPr lang="en-IN" dirty="0">
                <a:latin typeface="Inter" panose="020B0604020202020204" charset="0"/>
                <a:cs typeface="Inter" panose="020B0604020202020204" charset="0"/>
              </a:rPr>
              <a:t>Repayment performance remains generally healthy despite observed risk pockets</a:t>
            </a:r>
          </a:p>
        </p:txBody>
      </p:sp>
    </p:spTree>
    <p:extLst>
      <p:ext uri="{BB962C8B-B14F-4D97-AF65-F5344CB8AC3E}">
        <p14:creationId xmlns:p14="http://schemas.microsoft.com/office/powerpoint/2010/main" val="266811204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rgbClr val="C5D6CA"/>
        </a:solidFill>
        <a:effectLst/>
      </p:bgPr>
    </p:bg>
    <p:spTree>
      <p:nvGrpSpPr>
        <p:cNvPr id="1" name="">
          <a:extLst>
            <a:ext uri="{FF2B5EF4-FFF2-40B4-BE49-F238E27FC236}">
              <a16:creationId xmlns:a16="http://schemas.microsoft.com/office/drawing/2014/main" id="{EF7A92CF-018B-7E71-FD68-91E5A93D555E}"/>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9D72D999-12A4-90E8-63C2-10F4D9CE2FC9}"/>
              </a:ext>
            </a:extLst>
          </p:cNvPr>
          <p:cNvGrpSpPr/>
          <p:nvPr/>
        </p:nvGrpSpPr>
        <p:grpSpPr>
          <a:xfrm>
            <a:off x="0" y="9497082"/>
            <a:ext cx="18292543" cy="787203"/>
            <a:chOff x="0" y="0"/>
            <a:chExt cx="24390058" cy="1049604"/>
          </a:xfrm>
        </p:grpSpPr>
        <p:sp>
          <p:nvSpPr>
            <p:cNvPr id="3" name="Freeform 3">
              <a:extLst>
                <a:ext uri="{FF2B5EF4-FFF2-40B4-BE49-F238E27FC236}">
                  <a16:creationId xmlns:a16="http://schemas.microsoft.com/office/drawing/2014/main" id="{DD03F984-D1D0-0372-7FD2-0EF563605B89}"/>
                </a:ext>
              </a:extLst>
            </p:cNvPr>
            <p:cNvSpPr/>
            <p:nvPr/>
          </p:nvSpPr>
          <p:spPr>
            <a:xfrm>
              <a:off x="0" y="0"/>
              <a:ext cx="24390096" cy="1049655"/>
            </a:xfrm>
            <a:custGeom>
              <a:avLst/>
              <a:gdLst/>
              <a:ahLst/>
              <a:cxnLst/>
              <a:rect l="l" t="t" r="r" b="b"/>
              <a:pathLst>
                <a:path w="24390096" h="1049655">
                  <a:moveTo>
                    <a:pt x="0" y="0"/>
                  </a:moveTo>
                  <a:lnTo>
                    <a:pt x="24390096" y="0"/>
                  </a:lnTo>
                  <a:lnTo>
                    <a:pt x="24390096" y="1049655"/>
                  </a:lnTo>
                  <a:lnTo>
                    <a:pt x="0" y="1049655"/>
                  </a:lnTo>
                  <a:close/>
                </a:path>
              </a:pathLst>
            </a:custGeom>
            <a:solidFill>
              <a:srgbClr val="348E90"/>
            </a:solidFill>
          </p:spPr>
          <p:txBody>
            <a:bodyPr/>
            <a:lstStyle/>
            <a:p>
              <a:endParaRPr lang="en-IN"/>
            </a:p>
          </p:txBody>
        </p:sp>
      </p:grpSp>
      <p:sp>
        <p:nvSpPr>
          <p:cNvPr id="4" name="Rectangle 3">
            <a:extLst>
              <a:ext uri="{FF2B5EF4-FFF2-40B4-BE49-F238E27FC236}">
                <a16:creationId xmlns:a16="http://schemas.microsoft.com/office/drawing/2014/main" id="{DFFF7896-5536-7277-E096-5B04511F56DD}"/>
              </a:ext>
            </a:extLst>
          </p:cNvPr>
          <p:cNvSpPr/>
          <p:nvPr/>
        </p:nvSpPr>
        <p:spPr>
          <a:xfrm>
            <a:off x="15544800" y="0"/>
            <a:ext cx="1143000" cy="1823056"/>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C9AF3D18-539E-856A-D5A6-82C42EE0D983}"/>
              </a:ext>
            </a:extLst>
          </p:cNvPr>
          <p:cNvSpPr txBox="1"/>
          <p:nvPr/>
        </p:nvSpPr>
        <p:spPr>
          <a:xfrm>
            <a:off x="4610100" y="911528"/>
            <a:ext cx="9067800" cy="707886"/>
          </a:xfrm>
          <a:prstGeom prst="rect">
            <a:avLst/>
          </a:prstGeom>
          <a:noFill/>
        </p:spPr>
        <p:txBody>
          <a:bodyPr wrap="square">
            <a:spAutoFit/>
          </a:bodyPr>
          <a:lstStyle/>
          <a:p>
            <a:r>
              <a:rPr lang="en-US" sz="4000" b="1" dirty="0">
                <a:latin typeface="Inter" panose="020B0604020202020204" charset="0"/>
                <a:cs typeface="Inter" panose="020B0604020202020204" charset="0"/>
              </a:rPr>
              <a:t>Conclusion and Recommendations</a:t>
            </a:r>
          </a:p>
        </p:txBody>
      </p:sp>
      <p:graphicFrame>
        <p:nvGraphicFramePr>
          <p:cNvPr id="10" name="Table 9">
            <a:extLst>
              <a:ext uri="{FF2B5EF4-FFF2-40B4-BE49-F238E27FC236}">
                <a16:creationId xmlns:a16="http://schemas.microsoft.com/office/drawing/2014/main" id="{77088B36-281D-BEF7-B012-F12D662AE41A}"/>
              </a:ext>
            </a:extLst>
          </p:cNvPr>
          <p:cNvGraphicFramePr>
            <a:graphicFrameLocks noGrp="1"/>
          </p:cNvGraphicFramePr>
          <p:nvPr/>
        </p:nvGraphicFramePr>
        <p:xfrm>
          <a:off x="1524000" y="2324100"/>
          <a:ext cx="13639800" cy="3947160"/>
        </p:xfrm>
        <a:graphic>
          <a:graphicData uri="http://schemas.openxmlformats.org/drawingml/2006/table">
            <a:tbl>
              <a:tblPr/>
              <a:tblGrid>
                <a:gridCol w="6819900">
                  <a:extLst>
                    <a:ext uri="{9D8B030D-6E8A-4147-A177-3AD203B41FA5}">
                      <a16:colId xmlns:a16="http://schemas.microsoft.com/office/drawing/2014/main" val="1435493111"/>
                    </a:ext>
                  </a:extLst>
                </a:gridCol>
                <a:gridCol w="6819900">
                  <a:extLst>
                    <a:ext uri="{9D8B030D-6E8A-4147-A177-3AD203B41FA5}">
                      <a16:colId xmlns:a16="http://schemas.microsoft.com/office/drawing/2014/main" val="2578089819"/>
                    </a:ext>
                  </a:extLst>
                </a:gridCol>
              </a:tblGrid>
              <a:tr h="0">
                <a:tc>
                  <a:txBody>
                    <a:bodyPr/>
                    <a:lstStyle/>
                    <a:p>
                      <a:pPr>
                        <a:buNone/>
                      </a:pPr>
                      <a:r>
                        <a:rPr lang="en-IN" sz="2500" dirty="0">
                          <a:latin typeface="Inter" panose="020B0604020202020204" charset="0"/>
                          <a:cs typeface="Inter" panose="020B0604020202020204" charset="0"/>
                        </a:rPr>
                        <a:t>Key Findings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500" dirty="0">
                          <a:latin typeface="Inter" panose="020B0604020202020204" charset="0"/>
                          <a:cs typeface="Inter" panose="020B0604020202020204" charset="0"/>
                        </a:rPr>
                        <a:t>Business Recommendations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28631541"/>
                  </a:ext>
                </a:extLst>
              </a:tr>
              <a:tr h="0">
                <a:tc>
                  <a:txBody>
                    <a:bodyPr/>
                    <a:lstStyle/>
                    <a:p>
                      <a:pPr>
                        <a:buNone/>
                      </a:pPr>
                      <a:r>
                        <a:rPr lang="en-IN">
                          <a:latin typeface="Inter" panose="020B0604020202020204" charset="0"/>
                          <a:cs typeface="Inter" panose="020B0604020202020204" charset="0"/>
                        </a:rPr>
                        <a:t>EXT_SOURCE_MEAN is the strongest predictor of default. Customers with low external scores default at ~23% vs ~2% for high-score customers.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latin typeface="Inter" panose="020B0604020202020204" charset="0"/>
                          <a:cs typeface="Inter" panose="020B0604020202020204" charset="0"/>
                        </a:rPr>
                        <a:t>Prioritize external credit scores during underwriting and risk segmentation.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32019781"/>
                  </a:ext>
                </a:extLst>
              </a:tr>
              <a:tr h="0">
                <a:tc>
                  <a:txBody>
                    <a:bodyPr/>
                    <a:lstStyle/>
                    <a:p>
                      <a:pPr>
                        <a:buNone/>
                      </a:pPr>
                      <a:r>
                        <a:rPr lang="en-IN">
                          <a:latin typeface="Inter" panose="020B0604020202020204" charset="0"/>
                          <a:cs typeface="Inter" panose="020B0604020202020204" charset="0"/>
                        </a:rPr>
                        <a:t>Previous overdue history doubles default risk (≈8% → 16%).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latin typeface="Inter" panose="020B0604020202020204" charset="0"/>
                          <a:cs typeface="Inter" panose="020B0604020202020204" charset="0"/>
                        </a:rPr>
                        <a:t>Incorporate bureau delinquency history into approval and pricing decisions.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07915751"/>
                  </a:ext>
                </a:extLst>
              </a:tr>
              <a:tr h="0">
                <a:tc>
                  <a:txBody>
                    <a:bodyPr/>
                    <a:lstStyle/>
                    <a:p>
                      <a:pPr>
                        <a:buNone/>
                      </a:pPr>
                      <a:r>
                        <a:rPr lang="en-IN">
                          <a:latin typeface="Inter" panose="020B0604020202020204" charset="0"/>
                          <a:cs typeface="Inter" panose="020B0604020202020204" charset="0"/>
                        </a:rPr>
                        <a:t>Younger applicants (20–30 years) exhibit the highest default rates.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latin typeface="Inter" panose="020B0604020202020204" charset="0"/>
                          <a:cs typeface="Inter" panose="020B0604020202020204" charset="0"/>
                        </a:rPr>
                        <a:t>Apply enhanced affordability checks for younger borrowers.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63566012"/>
                  </a:ext>
                </a:extLst>
              </a:tr>
              <a:tr h="0">
                <a:tc>
                  <a:txBody>
                    <a:bodyPr/>
                    <a:lstStyle/>
                    <a:p>
                      <a:pPr>
                        <a:buNone/>
                      </a:pPr>
                      <a:r>
                        <a:rPr lang="en-IN">
                          <a:latin typeface="Inter" panose="020B0604020202020204" charset="0"/>
                          <a:cs typeface="Inter" panose="020B0604020202020204" charset="0"/>
                        </a:rPr>
                        <a:t>Customers with 6+ active credit accounts show significantly elevated default risk.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latin typeface="Inter" panose="020B0604020202020204" charset="0"/>
                          <a:cs typeface="Inter" panose="020B0604020202020204" charset="0"/>
                        </a:rPr>
                        <a:t>Monitor highly leveraged customers and limit excessive exposure.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2909458"/>
                  </a:ext>
                </a:extLst>
              </a:tr>
              <a:tr h="0">
                <a:tc>
                  <a:txBody>
                    <a:bodyPr/>
                    <a:lstStyle/>
                    <a:p>
                      <a:pPr>
                        <a:buNone/>
                      </a:pPr>
                      <a:r>
                        <a:rPr lang="en-IN">
                          <a:latin typeface="Inter" panose="020B0604020202020204" charset="0"/>
                          <a:cs typeface="Inter" panose="020B0604020202020204" charset="0"/>
                        </a:rPr>
                        <a:t>Missing property information is associated with higher default rates.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latin typeface="Inter" panose="020B0604020202020204" charset="0"/>
                          <a:cs typeface="Inter" panose="020B0604020202020204" charset="0"/>
                        </a:rPr>
                        <a:t>Use property-information completeness as an additional risk signal.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12828658"/>
                  </a:ext>
                </a:extLst>
              </a:tr>
            </a:tbl>
          </a:graphicData>
        </a:graphic>
      </p:graphicFrame>
      <p:sp>
        <p:nvSpPr>
          <p:cNvPr id="14" name="Rectangle: Rounded Corners 13">
            <a:extLst>
              <a:ext uri="{FF2B5EF4-FFF2-40B4-BE49-F238E27FC236}">
                <a16:creationId xmlns:a16="http://schemas.microsoft.com/office/drawing/2014/main" id="{443FED86-2639-6A83-99CC-061FB257286E}"/>
              </a:ext>
            </a:extLst>
          </p:cNvPr>
          <p:cNvSpPr/>
          <p:nvPr/>
        </p:nvSpPr>
        <p:spPr>
          <a:xfrm>
            <a:off x="1524001" y="7505700"/>
            <a:ext cx="13639800" cy="1518256"/>
          </a:xfrm>
          <a:prstGeom prst="roundRect">
            <a:avLst>
              <a:gd name="adj" fmla="val 10104"/>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buNone/>
            </a:pPr>
            <a:r>
              <a:rPr lang="en-IN" sz="2500" b="1" dirty="0">
                <a:solidFill>
                  <a:schemeClr val="bg1"/>
                </a:solidFill>
                <a:latin typeface="Inter" panose="020B0604020202020204" charset="0"/>
                <a:cs typeface="Inter" panose="020B0604020202020204" charset="0"/>
              </a:rPr>
              <a:t>Executive takeaway:</a:t>
            </a:r>
          </a:p>
          <a:p>
            <a:r>
              <a:rPr lang="en-IN" dirty="0">
                <a:latin typeface="Inter" panose="020B0604020202020204" charset="0"/>
                <a:cs typeface="Inter" panose="020B0604020202020204" charset="0"/>
              </a:rPr>
              <a:t>The portfolio demonstrates overall stability with an 8.07% default rate and strong repayment performance. However, external credit scores, historical delinquency, debt exposure, and borrower demographics emerge as key drivers of default risk. Incorporating these signals into underwriting and monitoring frameworks can improve loan quality and reduce future credit losses.</a:t>
            </a:r>
          </a:p>
        </p:txBody>
      </p:sp>
    </p:spTree>
    <p:extLst>
      <p:ext uri="{BB962C8B-B14F-4D97-AF65-F5344CB8AC3E}">
        <p14:creationId xmlns:p14="http://schemas.microsoft.com/office/powerpoint/2010/main" val="277615361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rgbClr val="C5D6CA"/>
        </a:solidFill>
        <a:effectLst/>
      </p:bgPr>
    </p:bg>
    <p:spTree>
      <p:nvGrpSpPr>
        <p:cNvPr id="1" name="">
          <a:extLst>
            <a:ext uri="{FF2B5EF4-FFF2-40B4-BE49-F238E27FC236}">
              <a16:creationId xmlns:a16="http://schemas.microsoft.com/office/drawing/2014/main" id="{23A4696D-15BF-448D-7432-003C17D2103B}"/>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B7E39CFD-89AA-80B0-1833-F4AE3B366E87}"/>
              </a:ext>
            </a:extLst>
          </p:cNvPr>
          <p:cNvGrpSpPr/>
          <p:nvPr/>
        </p:nvGrpSpPr>
        <p:grpSpPr>
          <a:xfrm>
            <a:off x="0" y="9497082"/>
            <a:ext cx="18292543" cy="787203"/>
            <a:chOff x="0" y="0"/>
            <a:chExt cx="24390058" cy="1049604"/>
          </a:xfrm>
        </p:grpSpPr>
        <p:sp>
          <p:nvSpPr>
            <p:cNvPr id="3" name="Freeform 3">
              <a:extLst>
                <a:ext uri="{FF2B5EF4-FFF2-40B4-BE49-F238E27FC236}">
                  <a16:creationId xmlns:a16="http://schemas.microsoft.com/office/drawing/2014/main" id="{9D80FD22-A175-933A-55B2-C86C305497C9}"/>
                </a:ext>
              </a:extLst>
            </p:cNvPr>
            <p:cNvSpPr/>
            <p:nvPr/>
          </p:nvSpPr>
          <p:spPr>
            <a:xfrm>
              <a:off x="0" y="0"/>
              <a:ext cx="24390096" cy="1049655"/>
            </a:xfrm>
            <a:custGeom>
              <a:avLst/>
              <a:gdLst/>
              <a:ahLst/>
              <a:cxnLst/>
              <a:rect l="l" t="t" r="r" b="b"/>
              <a:pathLst>
                <a:path w="24390096" h="1049655">
                  <a:moveTo>
                    <a:pt x="0" y="0"/>
                  </a:moveTo>
                  <a:lnTo>
                    <a:pt x="24390096" y="0"/>
                  </a:lnTo>
                  <a:lnTo>
                    <a:pt x="24390096" y="1049655"/>
                  </a:lnTo>
                  <a:lnTo>
                    <a:pt x="0" y="1049655"/>
                  </a:lnTo>
                  <a:close/>
                </a:path>
              </a:pathLst>
            </a:custGeom>
            <a:solidFill>
              <a:srgbClr val="348E90"/>
            </a:solidFill>
          </p:spPr>
          <p:txBody>
            <a:bodyPr/>
            <a:lstStyle/>
            <a:p>
              <a:endParaRPr lang="en-IN"/>
            </a:p>
          </p:txBody>
        </p:sp>
      </p:grpSp>
      <p:sp>
        <p:nvSpPr>
          <p:cNvPr id="4" name="Rectangle 3">
            <a:extLst>
              <a:ext uri="{FF2B5EF4-FFF2-40B4-BE49-F238E27FC236}">
                <a16:creationId xmlns:a16="http://schemas.microsoft.com/office/drawing/2014/main" id="{E824371A-130F-1022-7ADF-621D9CE56B83}"/>
              </a:ext>
            </a:extLst>
          </p:cNvPr>
          <p:cNvSpPr/>
          <p:nvPr/>
        </p:nvSpPr>
        <p:spPr>
          <a:xfrm>
            <a:off x="15544800" y="0"/>
            <a:ext cx="1143000" cy="1823056"/>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IN"/>
          </a:p>
        </p:txBody>
      </p:sp>
      <p:sp>
        <p:nvSpPr>
          <p:cNvPr id="5" name="TextBox 6">
            <a:extLst>
              <a:ext uri="{FF2B5EF4-FFF2-40B4-BE49-F238E27FC236}">
                <a16:creationId xmlns:a16="http://schemas.microsoft.com/office/drawing/2014/main" id="{123ECBDE-4E49-7F21-7654-14D12D10ABB8}"/>
              </a:ext>
            </a:extLst>
          </p:cNvPr>
          <p:cNvSpPr txBox="1"/>
          <p:nvPr/>
        </p:nvSpPr>
        <p:spPr>
          <a:xfrm>
            <a:off x="4273496" y="3804370"/>
            <a:ext cx="9740998" cy="1513761"/>
          </a:xfrm>
          <a:prstGeom prst="rect">
            <a:avLst/>
          </a:prstGeom>
        </p:spPr>
        <p:txBody>
          <a:bodyPr lIns="0" tIns="0" rIns="0" bIns="0" rtlCol="0" anchor="ctr"/>
          <a:lstStyle/>
          <a:p>
            <a:pPr algn="ctr">
              <a:lnSpc>
                <a:spcPts val="9590"/>
              </a:lnSpc>
            </a:pPr>
            <a:r>
              <a:rPr lang="en-US" sz="8880" b="1" dirty="0">
                <a:solidFill>
                  <a:srgbClr val="000000"/>
                </a:solidFill>
                <a:latin typeface="Raleway Bold"/>
                <a:ea typeface="Raleway Bold"/>
                <a:cs typeface="Raleway Bold"/>
                <a:sym typeface="Raleway Bold"/>
              </a:rPr>
              <a:t>THANK YOU!</a:t>
            </a:r>
          </a:p>
        </p:txBody>
      </p:sp>
    </p:spTree>
    <p:extLst>
      <p:ext uri="{BB962C8B-B14F-4D97-AF65-F5344CB8AC3E}">
        <p14:creationId xmlns:p14="http://schemas.microsoft.com/office/powerpoint/2010/main" val="14042595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3984</TotalTime>
  <Words>7242</Words>
  <Application>Microsoft Office PowerPoint</Application>
  <PresentationFormat>Custom</PresentationFormat>
  <Paragraphs>1641</Paragraphs>
  <Slides>83</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83</vt:i4>
      </vt:variant>
    </vt:vector>
  </HeadingPairs>
  <TitlesOfParts>
    <vt:vector size="92" baseType="lpstr">
      <vt:lpstr>Arial Bold</vt:lpstr>
      <vt:lpstr>Poppins</vt:lpstr>
      <vt:lpstr>Arial</vt:lpstr>
      <vt:lpstr>Consolas</vt:lpstr>
      <vt:lpstr>Poppins Bold</vt:lpstr>
      <vt:lpstr>Calibri</vt:lpstr>
      <vt:lpstr>Inter</vt:lpstr>
      <vt:lpstr>Raleway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 Name: Abhishek Kumar Pandey Date:</dc:title>
  <cp:lastModifiedBy>Abhishek Kumar Pandey</cp:lastModifiedBy>
  <cp:revision>26</cp:revision>
  <dcterms:created xsi:type="dcterms:W3CDTF">2006-08-16T00:00:00Z</dcterms:created>
  <dcterms:modified xsi:type="dcterms:W3CDTF">2026-05-26T11:55:56Z</dcterms:modified>
  <dc:identifier>DAHJFO419kk</dc:identifier>
</cp:coreProperties>
</file>