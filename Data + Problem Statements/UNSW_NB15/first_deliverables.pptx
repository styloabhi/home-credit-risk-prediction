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Poppins" panose="020B0502040204020203" pitchFamily="2" charset="0"/>
      <p:regular r:id="rId22"/>
    </p:embeddedFont>
    <p:embeddedFont>
      <p:font typeface="Poppins Bold" panose="020B0604020202020204" charset="0"/>
      <p:regular r:id="rId23"/>
    </p:embeddedFont>
    <p:embeddedFont>
      <p:font typeface="Poppins Bold Italics" panose="020B0604020202020204" charset="0"/>
      <p:regular r:id="rId24"/>
    </p:embeddedFont>
    <p:embeddedFont>
      <p:font typeface="Poppins Italics"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8" d="100"/>
          <a:sy n="68" d="100"/>
        </p:scale>
        <p:origin x="81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D099F9-B85A-4BC4-85EA-1428BB46FA9A}" type="datetimeFigureOut">
              <a:rPr lang="en-IN" smtClean="0"/>
              <a:t>04-05-2026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BBB35-1C78-4DC7-B084-A91A3F0C7A74}" type="slidenum">
              <a:rPr lang="en-IN" smtClean="0"/>
              <a:t>‹#›</a:t>
            </a:fld>
            <a:endParaRPr lang="en-IN"/>
          </a:p>
        </p:txBody>
      </p:sp>
    </p:spTree>
    <p:extLst>
      <p:ext uri="{BB962C8B-B14F-4D97-AF65-F5344CB8AC3E}">
        <p14:creationId xmlns:p14="http://schemas.microsoft.com/office/powerpoint/2010/main" val="1517907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59BBB35-1C78-4DC7-B084-A91A3F0C7A74}" type="slidenum">
              <a:rPr lang="en-IN" smtClean="0"/>
              <a:t>10</a:t>
            </a:fld>
            <a:endParaRPr lang="en-IN"/>
          </a:p>
        </p:txBody>
      </p:sp>
    </p:spTree>
    <p:extLst>
      <p:ext uri="{BB962C8B-B14F-4D97-AF65-F5344CB8AC3E}">
        <p14:creationId xmlns:p14="http://schemas.microsoft.com/office/powerpoint/2010/main" val="25169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jpeg"/><Relationship Id="rId1" Type="http://schemas.openxmlformats.org/officeDocument/2006/relationships/slideLayout" Target="../slideLayouts/slideLayout7.xml"/><Relationship Id="rId4" Type="http://schemas.openxmlformats.org/officeDocument/2006/relationships/image" Target="../media/image15.svg"/></Relationships>
</file>

<file path=ppt/slides/_rels/slide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jpeg"/><Relationship Id="rId1" Type="http://schemas.openxmlformats.org/officeDocument/2006/relationships/slideLayout" Target="../slideLayouts/slideLayout7.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53F">
                <a:alpha val="100000"/>
              </a:srgbClr>
            </a:gs>
            <a:gs pos="100000">
              <a:srgbClr val="17597F">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8165213" y="-3428311"/>
            <a:ext cx="13249455" cy="17143622"/>
            <a:chOff x="0" y="0"/>
            <a:chExt cx="815349" cy="1054990"/>
          </a:xfrm>
        </p:grpSpPr>
        <p:sp>
          <p:nvSpPr>
            <p:cNvPr id="3" name="Freeform 3"/>
            <p:cNvSpPr/>
            <p:nvPr/>
          </p:nvSpPr>
          <p:spPr>
            <a:xfrm>
              <a:off x="0" y="0"/>
              <a:ext cx="815349" cy="1054990"/>
            </a:xfrm>
            <a:custGeom>
              <a:avLst/>
              <a:gdLst/>
              <a:ahLst/>
              <a:cxnLst/>
              <a:rect l="l" t="t" r="r" b="b"/>
              <a:pathLst>
                <a:path w="815349" h="1054990">
                  <a:moveTo>
                    <a:pt x="407675" y="0"/>
                  </a:moveTo>
                  <a:cubicBezTo>
                    <a:pt x="182522" y="0"/>
                    <a:pt x="0" y="236168"/>
                    <a:pt x="0" y="527495"/>
                  </a:cubicBezTo>
                  <a:cubicBezTo>
                    <a:pt x="0" y="818822"/>
                    <a:pt x="182522" y="1054990"/>
                    <a:pt x="407675" y="1054990"/>
                  </a:cubicBezTo>
                  <a:cubicBezTo>
                    <a:pt x="632827" y="1054990"/>
                    <a:pt x="815349" y="818822"/>
                    <a:pt x="815349" y="527495"/>
                  </a:cubicBezTo>
                  <a:cubicBezTo>
                    <a:pt x="815349" y="236168"/>
                    <a:pt x="632827" y="0"/>
                    <a:pt x="407675" y="0"/>
                  </a:cubicBezTo>
                  <a:close/>
                </a:path>
              </a:pathLst>
            </a:custGeom>
            <a:blipFill>
              <a:blip r:embed="rId2"/>
              <a:stretch>
                <a:fillRect l="-43840" t="-1084" r="-88681"/>
              </a:stretch>
            </a:blipFill>
            <a:ln cap="sq">
              <a:noFill/>
              <a:prstDash val="solid"/>
              <a:miter/>
            </a:ln>
          </p:spPr>
        </p:sp>
      </p:grpSp>
      <p:sp>
        <p:nvSpPr>
          <p:cNvPr id="4" name="TextBox 4"/>
          <p:cNvSpPr txBox="1"/>
          <p:nvPr/>
        </p:nvSpPr>
        <p:spPr>
          <a:xfrm>
            <a:off x="1028700" y="1668236"/>
            <a:ext cx="5950216" cy="1382221"/>
          </a:xfrm>
          <a:prstGeom prst="rect">
            <a:avLst/>
          </a:prstGeom>
        </p:spPr>
        <p:txBody>
          <a:bodyPr lIns="0" tIns="0" rIns="0" bIns="0" rtlCol="0" anchor="t">
            <a:spAutoFit/>
          </a:bodyPr>
          <a:lstStyle/>
          <a:p>
            <a:pPr algn="l">
              <a:lnSpc>
                <a:spcPts val="9947"/>
              </a:lnSpc>
            </a:pPr>
            <a:r>
              <a:rPr lang="en-US" sz="9297" b="1" spc="-232">
                <a:solidFill>
                  <a:srgbClr val="FFFFFF"/>
                </a:solidFill>
                <a:latin typeface="Poppins Bold"/>
                <a:ea typeface="Poppins Bold"/>
                <a:cs typeface="Poppins Bold"/>
                <a:sym typeface="Poppins Bold"/>
              </a:rPr>
              <a:t>CYBER</a:t>
            </a:r>
          </a:p>
        </p:txBody>
      </p:sp>
      <p:sp>
        <p:nvSpPr>
          <p:cNvPr id="5" name="Freeform 5"/>
          <p:cNvSpPr/>
          <p:nvPr/>
        </p:nvSpPr>
        <p:spPr>
          <a:xfrm rot="-8687136">
            <a:off x="5025660" y="1690951"/>
            <a:ext cx="464897" cy="561963"/>
          </a:xfrm>
          <a:custGeom>
            <a:avLst/>
            <a:gdLst/>
            <a:ahLst/>
            <a:cxnLst/>
            <a:rect l="l" t="t" r="r" b="b"/>
            <a:pathLst>
              <a:path w="464897" h="561963">
                <a:moveTo>
                  <a:pt x="0" y="0"/>
                </a:moveTo>
                <a:lnTo>
                  <a:pt x="464897" y="0"/>
                </a:lnTo>
                <a:lnTo>
                  <a:pt x="464897" y="561964"/>
                </a:lnTo>
                <a:lnTo>
                  <a:pt x="0" y="56196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flipH="1">
            <a:off x="7207516" y="1116395"/>
            <a:ext cx="5157756" cy="10698026"/>
          </a:xfrm>
          <a:custGeom>
            <a:avLst/>
            <a:gdLst/>
            <a:ahLst/>
            <a:cxnLst/>
            <a:rect l="l" t="t" r="r" b="b"/>
            <a:pathLst>
              <a:path w="5157756" h="10698026">
                <a:moveTo>
                  <a:pt x="5157756" y="0"/>
                </a:moveTo>
                <a:lnTo>
                  <a:pt x="0" y="0"/>
                </a:lnTo>
                <a:lnTo>
                  <a:pt x="0" y="10698025"/>
                </a:lnTo>
                <a:lnTo>
                  <a:pt x="5157756" y="10698025"/>
                </a:lnTo>
                <a:lnTo>
                  <a:pt x="5157756" y="0"/>
                </a:lnTo>
                <a:close/>
              </a:path>
            </a:pathLst>
          </a:custGeom>
          <a:blipFill>
            <a:blip r:embed="rId4"/>
            <a:stretch>
              <a:fillRect/>
            </a:stretch>
          </a:blipFill>
        </p:spPr>
      </p:sp>
      <p:sp>
        <p:nvSpPr>
          <p:cNvPr id="7" name="TextBox 7"/>
          <p:cNvSpPr txBox="1"/>
          <p:nvPr/>
        </p:nvSpPr>
        <p:spPr>
          <a:xfrm>
            <a:off x="1028700" y="6432863"/>
            <a:ext cx="5950216" cy="1070728"/>
          </a:xfrm>
          <a:prstGeom prst="rect">
            <a:avLst/>
          </a:prstGeom>
        </p:spPr>
        <p:txBody>
          <a:bodyPr lIns="0" tIns="0" rIns="0" bIns="0" rtlCol="0" anchor="t">
            <a:spAutoFit/>
          </a:bodyPr>
          <a:lstStyle/>
          <a:p>
            <a:pPr algn="l">
              <a:lnSpc>
                <a:spcPts val="2723"/>
              </a:lnSpc>
            </a:pPr>
            <a:r>
              <a:rPr lang="en-US" sz="2545" i="1" spc="-63">
                <a:solidFill>
                  <a:srgbClr val="FFFFFF"/>
                </a:solidFill>
                <a:latin typeface="Poppins Italics"/>
                <a:ea typeface="Poppins Italics"/>
                <a:cs typeface="Poppins Italics"/>
                <a:sym typeface="Poppins Italics"/>
              </a:rPr>
              <a:t>Network Intrusion Detection using Machine Learning </a:t>
            </a:r>
          </a:p>
          <a:p>
            <a:pPr algn="l">
              <a:lnSpc>
                <a:spcPts val="2723"/>
              </a:lnSpc>
            </a:pPr>
            <a:r>
              <a:rPr lang="en-US" sz="2545" b="1" i="1" spc="-63">
                <a:solidFill>
                  <a:srgbClr val="FFFFFF"/>
                </a:solidFill>
                <a:latin typeface="Poppins Bold Italics"/>
                <a:ea typeface="Poppins Bold Italics"/>
                <a:cs typeface="Poppins Bold Italics"/>
                <a:sym typeface="Poppins Bold Italics"/>
              </a:rPr>
              <a:t>(UNSW-NB15 Dataset)</a:t>
            </a:r>
          </a:p>
        </p:txBody>
      </p:sp>
      <p:sp>
        <p:nvSpPr>
          <p:cNvPr id="8" name="TextBox 8"/>
          <p:cNvSpPr txBox="1"/>
          <p:nvPr/>
        </p:nvSpPr>
        <p:spPr>
          <a:xfrm>
            <a:off x="1028700" y="2786566"/>
            <a:ext cx="5950216" cy="1382221"/>
          </a:xfrm>
          <a:prstGeom prst="rect">
            <a:avLst/>
          </a:prstGeom>
        </p:spPr>
        <p:txBody>
          <a:bodyPr lIns="0" tIns="0" rIns="0" bIns="0" rtlCol="0" anchor="t">
            <a:spAutoFit/>
          </a:bodyPr>
          <a:lstStyle/>
          <a:p>
            <a:pPr algn="l">
              <a:lnSpc>
                <a:spcPts val="9947"/>
              </a:lnSpc>
            </a:pPr>
            <a:r>
              <a:rPr lang="en-US" sz="9297" b="1" spc="-232">
                <a:solidFill>
                  <a:srgbClr val="91FFF9"/>
                </a:solidFill>
                <a:latin typeface="Poppins Bold"/>
                <a:ea typeface="Poppins Bold"/>
                <a:cs typeface="Poppins Bold"/>
                <a:sym typeface="Poppins Bold"/>
              </a:rPr>
              <a:t>SECURITY</a:t>
            </a:r>
          </a:p>
        </p:txBody>
      </p:sp>
      <p:sp>
        <p:nvSpPr>
          <p:cNvPr id="9" name="TextBox 9"/>
          <p:cNvSpPr txBox="1"/>
          <p:nvPr/>
        </p:nvSpPr>
        <p:spPr>
          <a:xfrm>
            <a:off x="1028700" y="8669133"/>
            <a:ext cx="7136513" cy="310515"/>
          </a:xfrm>
          <a:prstGeom prst="rect">
            <a:avLst/>
          </a:prstGeom>
        </p:spPr>
        <p:txBody>
          <a:bodyPr lIns="0" tIns="0" rIns="0" bIns="0" rtlCol="0" anchor="t">
            <a:spAutoFit/>
          </a:bodyPr>
          <a:lstStyle/>
          <a:p>
            <a:pPr algn="l">
              <a:lnSpc>
                <a:spcPts val="2280"/>
              </a:lnSpc>
            </a:pPr>
            <a:r>
              <a:rPr lang="en-US" sz="2000" spc="-76">
                <a:solidFill>
                  <a:srgbClr val="91FFF9"/>
                </a:solidFill>
                <a:latin typeface="Poppins"/>
                <a:ea typeface="Poppins"/>
                <a:cs typeface="Poppins"/>
                <a:sym typeface="Poppins"/>
              </a:rPr>
              <a:t>Presented by : Abhishek Kumar Pandey</a:t>
            </a:r>
          </a:p>
        </p:txBody>
      </p:sp>
      <p:sp>
        <p:nvSpPr>
          <p:cNvPr id="10" name="TextBox 10"/>
          <p:cNvSpPr txBox="1"/>
          <p:nvPr/>
        </p:nvSpPr>
        <p:spPr>
          <a:xfrm>
            <a:off x="1028700" y="4968886"/>
            <a:ext cx="5950216" cy="1382221"/>
          </a:xfrm>
          <a:prstGeom prst="rect">
            <a:avLst/>
          </a:prstGeom>
        </p:spPr>
        <p:txBody>
          <a:bodyPr lIns="0" tIns="0" rIns="0" bIns="0" rtlCol="0" anchor="t">
            <a:spAutoFit/>
          </a:bodyPr>
          <a:lstStyle/>
          <a:p>
            <a:pPr algn="l">
              <a:lnSpc>
                <a:spcPts val="9947"/>
              </a:lnSpc>
            </a:pPr>
            <a:r>
              <a:rPr lang="en-US" sz="9297" b="1" spc="-232">
                <a:solidFill>
                  <a:srgbClr val="FFFFFF"/>
                </a:solidFill>
                <a:latin typeface="Poppins Bold"/>
                <a:ea typeface="Poppins Bold"/>
                <a:cs typeface="Poppins Bold"/>
                <a:sym typeface="Poppins Bold"/>
              </a:rPr>
              <a:t>ANALYSIS</a:t>
            </a:r>
          </a:p>
        </p:txBody>
      </p:sp>
      <p:sp>
        <p:nvSpPr>
          <p:cNvPr id="11" name="TextBox 11"/>
          <p:cNvSpPr txBox="1"/>
          <p:nvPr/>
        </p:nvSpPr>
        <p:spPr>
          <a:xfrm>
            <a:off x="1028700" y="3875574"/>
            <a:ext cx="5950216" cy="1382221"/>
          </a:xfrm>
          <a:prstGeom prst="rect">
            <a:avLst/>
          </a:prstGeom>
        </p:spPr>
        <p:txBody>
          <a:bodyPr lIns="0" tIns="0" rIns="0" bIns="0" rtlCol="0" anchor="t">
            <a:spAutoFit/>
          </a:bodyPr>
          <a:lstStyle/>
          <a:p>
            <a:pPr algn="l">
              <a:lnSpc>
                <a:spcPts val="9947"/>
              </a:lnSpc>
            </a:pPr>
            <a:r>
              <a:rPr lang="en-US" sz="9297" b="1" spc="-232">
                <a:solidFill>
                  <a:srgbClr val="91FFF9"/>
                </a:solidFill>
                <a:latin typeface="Poppins Bold"/>
                <a:ea typeface="Poppins Bold"/>
                <a:cs typeface="Poppins Bold"/>
                <a:sym typeface="Poppins Bold"/>
              </a:rPr>
              <a:t>THREAT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53F">
                <a:alpha val="100000"/>
              </a:srgbClr>
            </a:gs>
            <a:gs pos="100000">
              <a:srgbClr val="17597F">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0" y="0"/>
            <a:ext cx="7834625" cy="10287000"/>
            <a:chOff x="0" y="0"/>
            <a:chExt cx="1213788" cy="1593725"/>
          </a:xfrm>
        </p:grpSpPr>
        <p:sp>
          <p:nvSpPr>
            <p:cNvPr id="3" name="Freeform 3"/>
            <p:cNvSpPr/>
            <p:nvPr/>
          </p:nvSpPr>
          <p:spPr>
            <a:xfrm>
              <a:off x="0" y="0"/>
              <a:ext cx="1213788" cy="1593725"/>
            </a:xfrm>
            <a:custGeom>
              <a:avLst/>
              <a:gdLst/>
              <a:ahLst/>
              <a:cxnLst/>
              <a:rect l="l" t="t" r="r" b="b"/>
              <a:pathLst>
                <a:path w="1213788" h="1593725">
                  <a:moveTo>
                    <a:pt x="0" y="0"/>
                  </a:moveTo>
                  <a:lnTo>
                    <a:pt x="1213788" y="0"/>
                  </a:lnTo>
                  <a:lnTo>
                    <a:pt x="1213788" y="1593725"/>
                  </a:lnTo>
                  <a:lnTo>
                    <a:pt x="0" y="1593725"/>
                  </a:lnTo>
                  <a:close/>
                </a:path>
              </a:pathLst>
            </a:custGeom>
            <a:blipFill>
              <a:blip r:embed="rId2"/>
              <a:stretch>
                <a:fillRect l="-68298" r="-72421"/>
              </a:stretch>
            </a:blipFill>
            <a:ln cap="sq">
              <a:noFill/>
              <a:prstDash val="solid"/>
              <a:miter/>
            </a:ln>
          </p:spPr>
        </p:sp>
      </p:grpSp>
      <p:sp>
        <p:nvSpPr>
          <p:cNvPr id="4" name="TextBox 4"/>
          <p:cNvSpPr txBox="1"/>
          <p:nvPr/>
        </p:nvSpPr>
        <p:spPr>
          <a:xfrm>
            <a:off x="9144000" y="3907524"/>
            <a:ext cx="7695706" cy="848903"/>
          </a:xfrm>
          <a:prstGeom prst="rect">
            <a:avLst/>
          </a:prstGeom>
        </p:spPr>
        <p:txBody>
          <a:bodyPr lIns="0" tIns="0" rIns="0" bIns="0" rtlCol="0" anchor="t">
            <a:spAutoFit/>
          </a:bodyPr>
          <a:lstStyle/>
          <a:p>
            <a:pPr algn="l">
              <a:lnSpc>
                <a:spcPts val="3318"/>
              </a:lnSpc>
            </a:pPr>
            <a:r>
              <a:rPr lang="en-US" sz="2370" spc="-59">
                <a:solidFill>
                  <a:srgbClr val="FFFFFF"/>
                </a:solidFill>
                <a:latin typeface="Poppins"/>
                <a:ea typeface="Poppins"/>
                <a:cs typeface="Poppins"/>
                <a:sym typeface="Poppins"/>
              </a:rPr>
              <a:t>Understanding the role of cybersecurity in protecting digital systems and networks</a:t>
            </a:r>
          </a:p>
        </p:txBody>
      </p:sp>
      <p:sp>
        <p:nvSpPr>
          <p:cNvPr id="5" name="Freeform 5"/>
          <p:cNvSpPr/>
          <p:nvPr/>
        </p:nvSpPr>
        <p:spPr>
          <a:xfrm rot="-8687136">
            <a:off x="16774021" y="4046550"/>
            <a:ext cx="189150" cy="228643"/>
          </a:xfrm>
          <a:custGeom>
            <a:avLst/>
            <a:gdLst/>
            <a:ahLst/>
            <a:cxnLst/>
            <a:rect l="l" t="t" r="r" b="b"/>
            <a:pathLst>
              <a:path w="189150" h="228643">
                <a:moveTo>
                  <a:pt x="0" y="0"/>
                </a:moveTo>
                <a:lnTo>
                  <a:pt x="189150" y="0"/>
                </a:lnTo>
                <a:lnTo>
                  <a:pt x="189150" y="228643"/>
                </a:lnTo>
                <a:lnTo>
                  <a:pt x="0" y="22864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9144000" y="4918352"/>
            <a:ext cx="7695706" cy="0"/>
          </a:xfrm>
          <a:prstGeom prst="line">
            <a:avLst/>
          </a:prstGeom>
          <a:ln w="19050" cap="rnd">
            <a:solidFill>
              <a:srgbClr val="FFFFFF"/>
            </a:solidFill>
            <a:prstDash val="solid"/>
            <a:headEnd type="none" w="sm" len="sm"/>
            <a:tailEnd type="none" w="sm" len="sm"/>
          </a:ln>
        </p:spPr>
      </p:sp>
      <p:sp>
        <p:nvSpPr>
          <p:cNvPr id="7" name="TextBox 7"/>
          <p:cNvSpPr txBox="1"/>
          <p:nvPr/>
        </p:nvSpPr>
        <p:spPr>
          <a:xfrm>
            <a:off x="9144000" y="5312698"/>
            <a:ext cx="7724596" cy="3154680"/>
          </a:xfrm>
          <a:prstGeom prst="rect">
            <a:avLst/>
          </a:prstGeom>
        </p:spPr>
        <p:txBody>
          <a:bodyPr lIns="0" tIns="0" rIns="0" bIns="0" rtlCol="0" anchor="t">
            <a:spAutoFit/>
          </a:bodyPr>
          <a:lstStyle/>
          <a:p>
            <a:pPr algn="just">
              <a:lnSpc>
                <a:spcPts val="2520"/>
              </a:lnSpc>
            </a:pPr>
            <a:r>
              <a:rPr lang="en-US" sz="1800">
                <a:solidFill>
                  <a:srgbClr val="FFFFFF"/>
                </a:solidFill>
                <a:latin typeface="Poppins"/>
                <a:ea typeface="Poppins"/>
                <a:cs typeface="Poppins"/>
                <a:sym typeface="Poppins"/>
              </a:rPr>
              <a:t>Cybersecurity plays a critical role in protecting digital systems, networks, and sensitive data from cyber threats. With the rapid growth of internet usage and online services, cyber attacks such as malware, phishing, and network intrusions have become increasingly common.</a:t>
            </a:r>
          </a:p>
          <a:p>
            <a:pPr algn="just">
              <a:lnSpc>
                <a:spcPts val="2520"/>
              </a:lnSpc>
            </a:pPr>
            <a:r>
              <a:rPr lang="en-US" sz="1800">
                <a:solidFill>
                  <a:srgbClr val="FFFFFF"/>
                </a:solidFill>
                <a:latin typeface="Poppins"/>
                <a:ea typeface="Poppins"/>
                <a:cs typeface="Poppins"/>
                <a:sym typeface="Poppins"/>
              </a:rPr>
              <a:t>Organizations require intelligent systems to monitor network activity and detect malicious behavior in real-time. This project focuses on analyzing network traffic and identifying potential cyber attacks using data-driven techniques.</a:t>
            </a:r>
          </a:p>
          <a:p>
            <a:pPr algn="just">
              <a:lnSpc>
                <a:spcPts val="2520"/>
              </a:lnSpc>
            </a:pPr>
            <a:endParaRPr lang="en-US" sz="1800">
              <a:solidFill>
                <a:srgbClr val="FFFFFF"/>
              </a:solidFill>
              <a:latin typeface="Poppins"/>
              <a:ea typeface="Poppins"/>
              <a:cs typeface="Poppins"/>
              <a:sym typeface="Poppins"/>
            </a:endParaRPr>
          </a:p>
        </p:txBody>
      </p:sp>
      <p:sp>
        <p:nvSpPr>
          <p:cNvPr id="8" name="TextBox 8"/>
          <p:cNvSpPr txBox="1"/>
          <p:nvPr/>
        </p:nvSpPr>
        <p:spPr>
          <a:xfrm>
            <a:off x="9144000" y="1138809"/>
            <a:ext cx="7218364" cy="1065012"/>
          </a:xfrm>
          <a:prstGeom prst="rect">
            <a:avLst/>
          </a:prstGeom>
        </p:spPr>
        <p:txBody>
          <a:bodyPr lIns="0" tIns="0" rIns="0" bIns="0" rtlCol="0" anchor="t">
            <a:spAutoFit/>
          </a:bodyPr>
          <a:lstStyle/>
          <a:p>
            <a:pPr algn="l">
              <a:lnSpc>
                <a:spcPts val="7627"/>
              </a:lnSpc>
            </a:pPr>
            <a:r>
              <a:rPr lang="en-US" sz="7128" b="1">
                <a:solidFill>
                  <a:srgbClr val="FFFFFF"/>
                </a:solidFill>
                <a:latin typeface="Poppins Bold"/>
                <a:ea typeface="Poppins Bold"/>
                <a:cs typeface="Poppins Bold"/>
                <a:sym typeface="Poppins Bold"/>
              </a:rPr>
              <a:t>INTRODUCTION </a:t>
            </a:r>
          </a:p>
        </p:txBody>
      </p:sp>
      <p:sp>
        <p:nvSpPr>
          <p:cNvPr id="9" name="TextBox 9"/>
          <p:cNvSpPr txBox="1"/>
          <p:nvPr/>
        </p:nvSpPr>
        <p:spPr>
          <a:xfrm>
            <a:off x="9144000" y="2019360"/>
            <a:ext cx="4963955" cy="1075442"/>
          </a:xfrm>
          <a:prstGeom prst="rect">
            <a:avLst/>
          </a:prstGeom>
        </p:spPr>
        <p:txBody>
          <a:bodyPr lIns="0" tIns="0" rIns="0" bIns="0" rtlCol="0" anchor="t">
            <a:spAutoFit/>
          </a:bodyPr>
          <a:lstStyle/>
          <a:p>
            <a:pPr algn="just">
              <a:lnSpc>
                <a:spcPts val="7627"/>
              </a:lnSpc>
            </a:pPr>
            <a:r>
              <a:rPr lang="en-US" sz="7128" b="1">
                <a:solidFill>
                  <a:srgbClr val="91FFF9"/>
                </a:solidFill>
                <a:latin typeface="Poppins Bold"/>
                <a:ea typeface="Poppins Bold"/>
                <a:cs typeface="Poppins Bold"/>
                <a:sym typeface="Poppins Bold"/>
              </a:rPr>
              <a:t>TO CYBER</a:t>
            </a:r>
          </a:p>
        </p:txBody>
      </p:sp>
      <p:sp>
        <p:nvSpPr>
          <p:cNvPr id="10" name="TextBox 10"/>
          <p:cNvSpPr txBox="1"/>
          <p:nvPr/>
        </p:nvSpPr>
        <p:spPr>
          <a:xfrm>
            <a:off x="9144000" y="2937494"/>
            <a:ext cx="4963955" cy="1075442"/>
          </a:xfrm>
          <a:prstGeom prst="rect">
            <a:avLst/>
          </a:prstGeom>
        </p:spPr>
        <p:txBody>
          <a:bodyPr lIns="0" tIns="0" rIns="0" bIns="0" rtlCol="0" anchor="t">
            <a:spAutoFit/>
          </a:bodyPr>
          <a:lstStyle/>
          <a:p>
            <a:pPr algn="just">
              <a:lnSpc>
                <a:spcPts val="7627"/>
              </a:lnSpc>
            </a:pPr>
            <a:r>
              <a:rPr lang="en-US" sz="7128" b="1">
                <a:solidFill>
                  <a:srgbClr val="91FFF9"/>
                </a:solidFill>
                <a:latin typeface="Poppins Bold"/>
                <a:ea typeface="Poppins Bold"/>
                <a:cs typeface="Poppins Bold"/>
                <a:sym typeface="Poppins Bold"/>
              </a:rPr>
              <a:t>SECURITY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53F">
                <a:alpha val="100000"/>
              </a:srgbClr>
            </a:gs>
            <a:gs pos="100000">
              <a:srgbClr val="17597F">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1852756" y="1625741"/>
            <a:ext cx="4642394" cy="6845353"/>
          </a:xfrm>
          <a:custGeom>
            <a:avLst/>
            <a:gdLst/>
            <a:ahLst/>
            <a:cxnLst/>
            <a:rect l="l" t="t" r="r" b="b"/>
            <a:pathLst>
              <a:path w="4642394" h="6845353">
                <a:moveTo>
                  <a:pt x="0" y="0"/>
                </a:moveTo>
                <a:lnTo>
                  <a:pt x="4642394" y="0"/>
                </a:lnTo>
                <a:lnTo>
                  <a:pt x="4642394" y="6845353"/>
                </a:lnTo>
                <a:lnTo>
                  <a:pt x="0" y="684535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028700" y="1038225"/>
            <a:ext cx="8623967" cy="1109571"/>
          </a:xfrm>
          <a:prstGeom prst="rect">
            <a:avLst/>
          </a:prstGeom>
        </p:spPr>
        <p:txBody>
          <a:bodyPr lIns="0" tIns="0" rIns="0" bIns="0" rtlCol="0" anchor="t">
            <a:spAutoFit/>
          </a:bodyPr>
          <a:lstStyle/>
          <a:p>
            <a:pPr algn="l">
              <a:lnSpc>
                <a:spcPts val="7914"/>
              </a:lnSpc>
            </a:pPr>
            <a:r>
              <a:rPr lang="en-US" sz="7396" b="1">
                <a:solidFill>
                  <a:srgbClr val="FFFFFF"/>
                </a:solidFill>
                <a:latin typeface="Poppins Bold"/>
                <a:ea typeface="Poppins Bold"/>
                <a:cs typeface="Poppins Bold"/>
                <a:sym typeface="Poppins Bold"/>
              </a:rPr>
              <a:t>Business Problem</a:t>
            </a:r>
          </a:p>
        </p:txBody>
      </p:sp>
      <p:sp>
        <p:nvSpPr>
          <p:cNvPr id="4" name="TextBox 4"/>
          <p:cNvSpPr txBox="1"/>
          <p:nvPr/>
        </p:nvSpPr>
        <p:spPr>
          <a:xfrm>
            <a:off x="1028700" y="3518779"/>
            <a:ext cx="8623967" cy="2872359"/>
          </a:xfrm>
          <a:prstGeom prst="rect">
            <a:avLst/>
          </a:prstGeom>
        </p:spPr>
        <p:txBody>
          <a:bodyPr lIns="0" tIns="0" rIns="0" bIns="0" rtlCol="0" anchor="t">
            <a:spAutoFit/>
          </a:bodyPr>
          <a:lstStyle/>
          <a:p>
            <a:pPr algn="just">
              <a:lnSpc>
                <a:spcPts val="2268"/>
              </a:lnSpc>
            </a:pPr>
            <a:r>
              <a:rPr lang="en-US" sz="1800">
                <a:solidFill>
                  <a:srgbClr val="FFFFFF"/>
                </a:solidFill>
                <a:latin typeface="Poppins"/>
                <a:ea typeface="Poppins"/>
                <a:cs typeface="Poppins"/>
                <a:sym typeface="Poppins"/>
              </a:rPr>
              <a:t>Organizations today face increasing cyber threats that can compromise sensitive data, disrupt operations, and cause financial losses.</a:t>
            </a:r>
          </a:p>
          <a:p>
            <a:pPr algn="just">
              <a:lnSpc>
                <a:spcPts val="2268"/>
              </a:lnSpc>
            </a:pPr>
            <a:endParaRPr lang="en-US" sz="1800">
              <a:solidFill>
                <a:srgbClr val="FFFFFF"/>
              </a:solidFill>
              <a:latin typeface="Poppins"/>
              <a:ea typeface="Poppins"/>
              <a:cs typeface="Poppins"/>
              <a:sym typeface="Poppins"/>
            </a:endParaRPr>
          </a:p>
          <a:p>
            <a:pPr algn="just">
              <a:lnSpc>
                <a:spcPts val="2268"/>
              </a:lnSpc>
            </a:pPr>
            <a:r>
              <a:rPr lang="en-US" sz="1800">
                <a:solidFill>
                  <a:srgbClr val="FFFFFF"/>
                </a:solidFill>
                <a:latin typeface="Poppins"/>
                <a:ea typeface="Poppins"/>
                <a:cs typeface="Poppins"/>
                <a:sym typeface="Poppins"/>
              </a:rPr>
              <a:t>Traditional security systems rely on predefined rules, which often fail to detect new or evolving attack patterns. As network traffic grows in volume and complexity, identifying malicious activity becomes challenging.</a:t>
            </a:r>
          </a:p>
          <a:p>
            <a:pPr algn="just">
              <a:lnSpc>
                <a:spcPts val="2268"/>
              </a:lnSpc>
            </a:pPr>
            <a:endParaRPr lang="en-US" sz="1800">
              <a:solidFill>
                <a:srgbClr val="FFFFFF"/>
              </a:solidFill>
              <a:latin typeface="Poppins"/>
              <a:ea typeface="Poppins"/>
              <a:cs typeface="Poppins"/>
              <a:sym typeface="Poppins"/>
            </a:endParaRPr>
          </a:p>
          <a:p>
            <a:pPr algn="just">
              <a:lnSpc>
                <a:spcPts val="2268"/>
              </a:lnSpc>
            </a:pPr>
            <a:r>
              <a:rPr lang="en-US" sz="1800">
                <a:solidFill>
                  <a:srgbClr val="FFFFFF"/>
                </a:solidFill>
                <a:latin typeface="Poppins"/>
                <a:ea typeface="Poppins"/>
                <a:cs typeface="Poppins"/>
                <a:sym typeface="Poppins"/>
              </a:rPr>
              <a:t>There is a need for intelligent, data-driven solutions that can automatically analyze network traffic and detect cyber attacks in real-time.</a:t>
            </a:r>
          </a:p>
          <a:p>
            <a:pPr algn="just">
              <a:lnSpc>
                <a:spcPts val="2268"/>
              </a:lnSpc>
            </a:pPr>
            <a:endParaRPr lang="en-US" sz="1800">
              <a:solidFill>
                <a:srgbClr val="FFFFFF"/>
              </a:solidFill>
              <a:latin typeface="Poppins"/>
              <a:ea typeface="Poppins"/>
              <a:cs typeface="Poppins"/>
              <a:sym typeface="Poppins"/>
            </a:endParaRPr>
          </a:p>
        </p:txBody>
      </p:sp>
      <p:sp>
        <p:nvSpPr>
          <p:cNvPr id="5" name="TextBox 5"/>
          <p:cNvSpPr txBox="1"/>
          <p:nvPr/>
        </p:nvSpPr>
        <p:spPr>
          <a:xfrm>
            <a:off x="1028700" y="2147796"/>
            <a:ext cx="6889282" cy="727828"/>
          </a:xfrm>
          <a:prstGeom prst="rect">
            <a:avLst/>
          </a:prstGeom>
        </p:spPr>
        <p:txBody>
          <a:bodyPr lIns="0" tIns="0" rIns="0" bIns="0" rtlCol="0" anchor="t">
            <a:spAutoFit/>
          </a:bodyPr>
          <a:lstStyle/>
          <a:p>
            <a:pPr algn="l">
              <a:lnSpc>
                <a:spcPts val="2723"/>
              </a:lnSpc>
            </a:pPr>
            <a:r>
              <a:rPr lang="en-US" sz="2545" spc="-63">
                <a:solidFill>
                  <a:srgbClr val="FFFFFF"/>
                </a:solidFill>
                <a:latin typeface="Poppins"/>
                <a:ea typeface="Poppins"/>
                <a:cs typeface="Poppins"/>
                <a:sym typeface="Poppins"/>
              </a:rPr>
              <a:t>Challenges in Detecting Cyber Attacks in Network Traffic</a:t>
            </a:r>
          </a:p>
        </p:txBody>
      </p:sp>
      <p:sp>
        <p:nvSpPr>
          <p:cNvPr id="6" name="TextBox 6"/>
          <p:cNvSpPr txBox="1"/>
          <p:nvPr/>
        </p:nvSpPr>
        <p:spPr>
          <a:xfrm>
            <a:off x="1028700" y="6654756"/>
            <a:ext cx="8623967" cy="1944433"/>
          </a:xfrm>
          <a:prstGeom prst="rect">
            <a:avLst/>
          </a:prstGeom>
        </p:spPr>
        <p:txBody>
          <a:bodyPr lIns="0" tIns="0" rIns="0" bIns="0" rtlCol="0" anchor="t">
            <a:spAutoFit/>
          </a:bodyPr>
          <a:lstStyle/>
          <a:p>
            <a:pPr algn="just">
              <a:lnSpc>
                <a:spcPts val="3422"/>
              </a:lnSpc>
            </a:pPr>
            <a:r>
              <a:rPr lang="en-US" sz="2100" b="1">
                <a:solidFill>
                  <a:srgbClr val="FFFFFF"/>
                </a:solidFill>
                <a:latin typeface="Poppins Bold"/>
                <a:ea typeface="Poppins Bold"/>
                <a:cs typeface="Poppins Bold"/>
                <a:sym typeface="Poppins Bold"/>
              </a:rPr>
              <a:t>KEY CHALLENGES</a:t>
            </a:r>
          </a:p>
          <a:p>
            <a:pPr marL="388622" lvl="1" indent="-194311" algn="just">
              <a:lnSpc>
                <a:spcPts val="2268"/>
              </a:lnSpc>
              <a:buFont typeface="Arial"/>
              <a:buChar char="•"/>
            </a:pPr>
            <a:r>
              <a:rPr lang="en-US" sz="1800">
                <a:solidFill>
                  <a:srgbClr val="FFFFFF"/>
                </a:solidFill>
                <a:latin typeface="Poppins"/>
                <a:ea typeface="Poppins"/>
                <a:cs typeface="Poppins"/>
                <a:sym typeface="Poppins"/>
              </a:rPr>
              <a:t>Difficulty in distinguishing normal vs malicious traffic</a:t>
            </a:r>
          </a:p>
          <a:p>
            <a:pPr marL="388622" lvl="1" indent="-194311" algn="just">
              <a:lnSpc>
                <a:spcPts val="2268"/>
              </a:lnSpc>
              <a:buFont typeface="Arial"/>
              <a:buChar char="•"/>
            </a:pPr>
            <a:r>
              <a:rPr lang="en-US" sz="1800">
                <a:solidFill>
                  <a:srgbClr val="FFFFFF"/>
                </a:solidFill>
                <a:latin typeface="Poppins"/>
                <a:ea typeface="Poppins"/>
                <a:cs typeface="Poppins"/>
                <a:sym typeface="Poppins"/>
              </a:rPr>
              <a:t>High volume of network data</a:t>
            </a:r>
          </a:p>
          <a:p>
            <a:pPr marL="388622" lvl="1" indent="-194311" algn="just">
              <a:lnSpc>
                <a:spcPts val="2268"/>
              </a:lnSpc>
              <a:buFont typeface="Arial"/>
              <a:buChar char="•"/>
            </a:pPr>
            <a:r>
              <a:rPr lang="en-US" sz="1800">
                <a:solidFill>
                  <a:srgbClr val="FFFFFF"/>
                </a:solidFill>
                <a:latin typeface="Poppins"/>
                <a:ea typeface="Poppins"/>
                <a:cs typeface="Poppins"/>
                <a:sym typeface="Poppins"/>
              </a:rPr>
              <a:t>Evolving and unknown attack patterns</a:t>
            </a:r>
          </a:p>
          <a:p>
            <a:pPr marL="388622" lvl="1" indent="-194311" algn="just">
              <a:lnSpc>
                <a:spcPts val="2268"/>
              </a:lnSpc>
              <a:buFont typeface="Arial"/>
              <a:buChar char="•"/>
            </a:pPr>
            <a:r>
              <a:rPr lang="en-US" sz="1800">
                <a:solidFill>
                  <a:srgbClr val="FFFFFF"/>
                </a:solidFill>
                <a:latin typeface="Poppins"/>
                <a:ea typeface="Poppins"/>
                <a:cs typeface="Poppins"/>
                <a:sym typeface="Poppins"/>
              </a:rPr>
              <a:t>Risk of false positives and missed attacks</a:t>
            </a:r>
          </a:p>
          <a:p>
            <a:pPr algn="just">
              <a:lnSpc>
                <a:spcPts val="2646"/>
              </a:lnSpc>
            </a:pPr>
            <a:endParaRPr lang="en-US" sz="1800">
              <a:solidFill>
                <a:srgbClr val="FFFFFF"/>
              </a:solidFill>
              <a:latin typeface="Poppins"/>
              <a:ea typeface="Poppins"/>
              <a:cs typeface="Poppins"/>
              <a:sym typeface="Poppins"/>
            </a:endParaRPr>
          </a:p>
        </p:txBody>
      </p:sp>
      <p:sp>
        <p:nvSpPr>
          <p:cNvPr id="7" name="AutoShape 7"/>
          <p:cNvSpPr/>
          <p:nvPr/>
        </p:nvSpPr>
        <p:spPr>
          <a:xfrm>
            <a:off x="1028700" y="3046144"/>
            <a:ext cx="7695706" cy="0"/>
          </a:xfrm>
          <a:prstGeom prst="line">
            <a:avLst/>
          </a:prstGeom>
          <a:ln w="19050" cap="rnd">
            <a:solidFill>
              <a:srgbClr val="FFFFFF"/>
            </a:solidFill>
            <a:prstDash val="solid"/>
            <a:headEnd type="none" w="sm" len="sm"/>
            <a:tailEnd type="none" w="sm" len="sm"/>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53F">
                <a:alpha val="100000"/>
              </a:srgbClr>
            </a:gs>
            <a:gs pos="100000">
              <a:srgbClr val="17597F">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0" y="0"/>
            <a:ext cx="7834625" cy="10287000"/>
            <a:chOff x="0" y="0"/>
            <a:chExt cx="1213788" cy="1593725"/>
          </a:xfrm>
        </p:grpSpPr>
        <p:sp>
          <p:nvSpPr>
            <p:cNvPr id="3" name="Freeform 3"/>
            <p:cNvSpPr/>
            <p:nvPr/>
          </p:nvSpPr>
          <p:spPr>
            <a:xfrm>
              <a:off x="0" y="0"/>
              <a:ext cx="1213788" cy="1593725"/>
            </a:xfrm>
            <a:custGeom>
              <a:avLst/>
              <a:gdLst/>
              <a:ahLst/>
              <a:cxnLst/>
              <a:rect l="l" t="t" r="r" b="b"/>
              <a:pathLst>
                <a:path w="1213788" h="1593725">
                  <a:moveTo>
                    <a:pt x="0" y="0"/>
                  </a:moveTo>
                  <a:lnTo>
                    <a:pt x="1213788" y="0"/>
                  </a:lnTo>
                  <a:lnTo>
                    <a:pt x="1213788" y="1593725"/>
                  </a:lnTo>
                  <a:lnTo>
                    <a:pt x="0" y="1593725"/>
                  </a:lnTo>
                  <a:close/>
                </a:path>
              </a:pathLst>
            </a:custGeom>
            <a:blipFill>
              <a:blip r:embed="rId2"/>
              <a:stretch>
                <a:fillRect l="-68298" r="-72421"/>
              </a:stretch>
            </a:blipFill>
            <a:ln cap="sq">
              <a:noFill/>
              <a:prstDash val="solid"/>
              <a:miter/>
            </a:ln>
          </p:spPr>
        </p:sp>
      </p:grpSp>
      <p:sp>
        <p:nvSpPr>
          <p:cNvPr id="4" name="TextBox 4"/>
          <p:cNvSpPr txBox="1"/>
          <p:nvPr/>
        </p:nvSpPr>
        <p:spPr>
          <a:xfrm>
            <a:off x="9336928" y="3441146"/>
            <a:ext cx="7695706" cy="848903"/>
          </a:xfrm>
          <a:prstGeom prst="rect">
            <a:avLst/>
          </a:prstGeom>
        </p:spPr>
        <p:txBody>
          <a:bodyPr lIns="0" tIns="0" rIns="0" bIns="0" rtlCol="0" anchor="t">
            <a:spAutoFit/>
          </a:bodyPr>
          <a:lstStyle/>
          <a:p>
            <a:pPr algn="l">
              <a:lnSpc>
                <a:spcPts val="3318"/>
              </a:lnSpc>
            </a:pPr>
            <a:r>
              <a:rPr lang="en-US" sz="2370" spc="-59">
                <a:solidFill>
                  <a:srgbClr val="FFFFFF"/>
                </a:solidFill>
                <a:latin typeface="Poppins"/>
                <a:ea typeface="Poppins"/>
                <a:cs typeface="Poppins"/>
                <a:sym typeface="Poppins"/>
              </a:rPr>
              <a:t>Detecting malicious network traffic using Data Analytics and Machine Learning</a:t>
            </a:r>
          </a:p>
        </p:txBody>
      </p:sp>
      <p:sp>
        <p:nvSpPr>
          <p:cNvPr id="5" name="Freeform 5"/>
          <p:cNvSpPr/>
          <p:nvPr/>
        </p:nvSpPr>
        <p:spPr>
          <a:xfrm rot="-8687136">
            <a:off x="16397240" y="3010403"/>
            <a:ext cx="189150" cy="228643"/>
          </a:xfrm>
          <a:custGeom>
            <a:avLst/>
            <a:gdLst/>
            <a:ahLst/>
            <a:cxnLst/>
            <a:rect l="l" t="t" r="r" b="b"/>
            <a:pathLst>
              <a:path w="189150" h="228643">
                <a:moveTo>
                  <a:pt x="0" y="0"/>
                </a:moveTo>
                <a:lnTo>
                  <a:pt x="189150" y="0"/>
                </a:lnTo>
                <a:lnTo>
                  <a:pt x="189150" y="228643"/>
                </a:lnTo>
                <a:lnTo>
                  <a:pt x="0" y="22864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9336928" y="4451974"/>
            <a:ext cx="7695706" cy="0"/>
          </a:xfrm>
          <a:prstGeom prst="line">
            <a:avLst/>
          </a:prstGeom>
          <a:ln w="19050" cap="rnd">
            <a:solidFill>
              <a:srgbClr val="FFFFFF"/>
            </a:solidFill>
            <a:prstDash val="solid"/>
            <a:headEnd type="none" w="sm" len="sm"/>
            <a:tailEnd type="none" w="sm" len="sm"/>
          </a:ln>
        </p:spPr>
      </p:sp>
      <p:sp>
        <p:nvSpPr>
          <p:cNvPr id="7" name="TextBox 7"/>
          <p:cNvSpPr txBox="1"/>
          <p:nvPr/>
        </p:nvSpPr>
        <p:spPr>
          <a:xfrm>
            <a:off x="9336928" y="4846320"/>
            <a:ext cx="7724596" cy="4411980"/>
          </a:xfrm>
          <a:prstGeom prst="rect">
            <a:avLst/>
          </a:prstGeom>
        </p:spPr>
        <p:txBody>
          <a:bodyPr lIns="0" tIns="0" rIns="0" bIns="0" rtlCol="0" anchor="t">
            <a:spAutoFit/>
          </a:bodyPr>
          <a:lstStyle/>
          <a:p>
            <a:pPr algn="just">
              <a:lnSpc>
                <a:spcPts val="2520"/>
              </a:lnSpc>
            </a:pPr>
            <a:r>
              <a:rPr lang="en-US" sz="1800">
                <a:solidFill>
                  <a:srgbClr val="FFFFFF"/>
                </a:solidFill>
                <a:latin typeface="Poppins"/>
                <a:ea typeface="Poppins"/>
                <a:cs typeface="Poppins"/>
                <a:sym typeface="Poppins"/>
              </a:rPr>
              <a:t>The objective of this project is to analyze network traffic data to identify patterns, anomalies, and key indicators of cyber attacks.</a:t>
            </a:r>
          </a:p>
          <a:p>
            <a:pPr algn="just">
              <a:lnSpc>
                <a:spcPts val="2520"/>
              </a:lnSpc>
            </a:pPr>
            <a:r>
              <a:rPr lang="en-US" sz="1800">
                <a:solidFill>
                  <a:srgbClr val="FFFFFF"/>
                </a:solidFill>
                <a:latin typeface="Poppins"/>
                <a:ea typeface="Poppins"/>
                <a:cs typeface="Poppins"/>
                <a:sym typeface="Poppins"/>
              </a:rPr>
              <a:t> Through Exploratory Data Analysis (EDA), the goal is to understand traffic behavior and detect unusual patterns.</a:t>
            </a:r>
          </a:p>
          <a:p>
            <a:pPr algn="just">
              <a:lnSpc>
                <a:spcPts val="2520"/>
              </a:lnSpc>
            </a:pPr>
            <a:r>
              <a:rPr lang="en-US" sz="1800">
                <a:solidFill>
                  <a:srgbClr val="FFFFFF"/>
                </a:solidFill>
                <a:latin typeface="Poppins"/>
                <a:ea typeface="Poppins"/>
                <a:cs typeface="Poppins"/>
                <a:sym typeface="Poppins"/>
              </a:rPr>
              <a:t> Further, machine learning techniques are applied to classify network traffic as normal or malicious using the UNSW-NB15 dataset.</a:t>
            </a:r>
          </a:p>
          <a:p>
            <a:pPr algn="just">
              <a:lnSpc>
                <a:spcPts val="2520"/>
              </a:lnSpc>
            </a:pPr>
            <a:endParaRPr lang="en-US" sz="1800">
              <a:solidFill>
                <a:srgbClr val="FFFFFF"/>
              </a:solidFill>
              <a:latin typeface="Poppins"/>
              <a:ea typeface="Poppins"/>
              <a:cs typeface="Poppins"/>
              <a:sym typeface="Poppins"/>
            </a:endParaRPr>
          </a:p>
          <a:p>
            <a:pPr marL="388622" lvl="1" indent="-194311" algn="just">
              <a:lnSpc>
                <a:spcPts val="2520"/>
              </a:lnSpc>
              <a:buFont typeface="Arial"/>
              <a:buChar char="•"/>
            </a:pPr>
            <a:r>
              <a:rPr lang="en-US" sz="1800">
                <a:solidFill>
                  <a:srgbClr val="FFFFFF"/>
                </a:solidFill>
                <a:latin typeface="Poppins"/>
                <a:ea typeface="Poppins"/>
                <a:cs typeface="Poppins"/>
                <a:sym typeface="Poppins"/>
              </a:rPr>
              <a:t>Perform EDA to understand traffic patterns and anomalies</a:t>
            </a:r>
          </a:p>
          <a:p>
            <a:pPr marL="388622" lvl="1" indent="-194311" algn="just">
              <a:lnSpc>
                <a:spcPts val="2520"/>
              </a:lnSpc>
              <a:buFont typeface="Arial"/>
              <a:buChar char="•"/>
            </a:pPr>
            <a:r>
              <a:rPr lang="en-US" sz="1800">
                <a:solidFill>
                  <a:srgbClr val="FFFFFF"/>
                </a:solidFill>
                <a:latin typeface="Poppins"/>
                <a:ea typeface="Poppins"/>
                <a:cs typeface="Poppins"/>
                <a:sym typeface="Poppins"/>
              </a:rPr>
              <a:t>Identify key features influencing attack behavior</a:t>
            </a:r>
          </a:p>
          <a:p>
            <a:pPr marL="388622" lvl="1" indent="-194311" algn="just">
              <a:lnSpc>
                <a:spcPts val="2520"/>
              </a:lnSpc>
              <a:buFont typeface="Arial"/>
              <a:buChar char="•"/>
            </a:pPr>
            <a:r>
              <a:rPr lang="en-US" sz="1800">
                <a:solidFill>
                  <a:srgbClr val="FFFFFF"/>
                </a:solidFill>
                <a:latin typeface="Poppins"/>
                <a:ea typeface="Poppins"/>
                <a:cs typeface="Poppins"/>
                <a:sym typeface="Poppins"/>
              </a:rPr>
              <a:t>Build a binary classification model</a:t>
            </a:r>
          </a:p>
          <a:p>
            <a:pPr marL="388622" lvl="1" indent="-194311" algn="just">
              <a:lnSpc>
                <a:spcPts val="2520"/>
              </a:lnSpc>
              <a:buFont typeface="Arial"/>
              <a:buChar char="•"/>
            </a:pPr>
            <a:r>
              <a:rPr lang="en-US" sz="1800">
                <a:solidFill>
                  <a:srgbClr val="FFFFFF"/>
                </a:solidFill>
                <a:latin typeface="Poppins"/>
                <a:ea typeface="Poppins"/>
                <a:cs typeface="Poppins"/>
                <a:sym typeface="Poppins"/>
              </a:rPr>
              <a:t>Target: Label (0 = Normal, 1 = Attack)</a:t>
            </a:r>
          </a:p>
          <a:p>
            <a:pPr marL="388622" lvl="1" indent="-194311" algn="just">
              <a:lnSpc>
                <a:spcPts val="2520"/>
              </a:lnSpc>
              <a:buFont typeface="Arial"/>
              <a:buChar char="•"/>
            </a:pPr>
            <a:r>
              <a:rPr lang="en-US" sz="1800">
                <a:solidFill>
                  <a:srgbClr val="FFFFFF"/>
                </a:solidFill>
                <a:latin typeface="Poppins"/>
                <a:ea typeface="Poppins"/>
                <a:cs typeface="Poppins"/>
                <a:sym typeface="Poppins"/>
              </a:rPr>
              <a:t>Focus on accurate and efficient detection</a:t>
            </a:r>
          </a:p>
          <a:p>
            <a:pPr algn="just">
              <a:lnSpc>
                <a:spcPts val="2520"/>
              </a:lnSpc>
            </a:pPr>
            <a:endParaRPr lang="en-US" sz="1800">
              <a:solidFill>
                <a:srgbClr val="FFFFFF"/>
              </a:solidFill>
              <a:latin typeface="Poppins"/>
              <a:ea typeface="Poppins"/>
              <a:cs typeface="Poppins"/>
              <a:sym typeface="Poppins"/>
            </a:endParaRPr>
          </a:p>
        </p:txBody>
      </p:sp>
      <p:sp>
        <p:nvSpPr>
          <p:cNvPr id="8" name="TextBox 8"/>
          <p:cNvSpPr txBox="1"/>
          <p:nvPr/>
        </p:nvSpPr>
        <p:spPr>
          <a:xfrm>
            <a:off x="9336928" y="1268417"/>
            <a:ext cx="4963955" cy="1075442"/>
          </a:xfrm>
          <a:prstGeom prst="rect">
            <a:avLst/>
          </a:prstGeom>
        </p:spPr>
        <p:txBody>
          <a:bodyPr lIns="0" tIns="0" rIns="0" bIns="0" rtlCol="0" anchor="t">
            <a:spAutoFit/>
          </a:bodyPr>
          <a:lstStyle/>
          <a:p>
            <a:pPr algn="just">
              <a:lnSpc>
                <a:spcPts val="7627"/>
              </a:lnSpc>
            </a:pPr>
            <a:r>
              <a:rPr lang="en-US" sz="7128" b="1">
                <a:solidFill>
                  <a:srgbClr val="91FFF9"/>
                </a:solidFill>
                <a:latin typeface="Poppins Bold"/>
                <a:ea typeface="Poppins Bold"/>
                <a:cs typeface="Poppins Bold"/>
                <a:sym typeface="Poppins Bold"/>
              </a:rPr>
              <a:t>PROBLEM</a:t>
            </a:r>
          </a:p>
        </p:txBody>
      </p:sp>
      <p:sp>
        <p:nvSpPr>
          <p:cNvPr id="9" name="TextBox 9"/>
          <p:cNvSpPr txBox="1"/>
          <p:nvPr/>
        </p:nvSpPr>
        <p:spPr>
          <a:xfrm>
            <a:off x="9336928" y="2186551"/>
            <a:ext cx="5419259" cy="1075442"/>
          </a:xfrm>
          <a:prstGeom prst="rect">
            <a:avLst/>
          </a:prstGeom>
        </p:spPr>
        <p:txBody>
          <a:bodyPr lIns="0" tIns="0" rIns="0" bIns="0" rtlCol="0" anchor="t">
            <a:spAutoFit/>
          </a:bodyPr>
          <a:lstStyle/>
          <a:p>
            <a:pPr algn="just">
              <a:lnSpc>
                <a:spcPts val="7627"/>
              </a:lnSpc>
            </a:pPr>
            <a:r>
              <a:rPr lang="en-US" sz="7128" b="1">
                <a:solidFill>
                  <a:srgbClr val="91FFF9"/>
                </a:solidFill>
                <a:latin typeface="Poppins Bold"/>
                <a:ea typeface="Poppins Bold"/>
                <a:cs typeface="Poppins Bold"/>
                <a:sym typeface="Poppins Bold"/>
              </a:rPr>
              <a:t>STATEMENT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6457686" y="0"/>
            <a:ext cx="11830314" cy="10287000"/>
            <a:chOff x="0" y="0"/>
            <a:chExt cx="3115803" cy="2709333"/>
          </a:xfrm>
        </p:grpSpPr>
        <p:sp>
          <p:nvSpPr>
            <p:cNvPr id="4" name="Freeform 4"/>
            <p:cNvSpPr/>
            <p:nvPr/>
          </p:nvSpPr>
          <p:spPr>
            <a:xfrm>
              <a:off x="0" y="0"/>
              <a:ext cx="3115803" cy="2709333"/>
            </a:xfrm>
            <a:custGeom>
              <a:avLst/>
              <a:gdLst/>
              <a:ahLst/>
              <a:cxnLst/>
              <a:rect l="l" t="t" r="r" b="b"/>
              <a:pathLst>
                <a:path w="3115803" h="2709333">
                  <a:moveTo>
                    <a:pt x="0" y="0"/>
                  </a:moveTo>
                  <a:lnTo>
                    <a:pt x="3115803" y="0"/>
                  </a:lnTo>
                  <a:lnTo>
                    <a:pt x="3115803" y="2709333"/>
                  </a:lnTo>
                  <a:lnTo>
                    <a:pt x="0" y="2709333"/>
                  </a:lnTo>
                  <a:close/>
                </a:path>
              </a:pathLst>
            </a:custGeom>
            <a:gradFill rotWithShape="1">
              <a:gsLst>
                <a:gs pos="0">
                  <a:srgbClr val="04153F">
                    <a:alpha val="88000"/>
                  </a:srgbClr>
                </a:gs>
                <a:gs pos="100000">
                  <a:srgbClr val="17597F">
                    <a:alpha val="88000"/>
                  </a:srgbClr>
                </a:gs>
              </a:gsLst>
              <a:lin ang="2700000"/>
            </a:gradFill>
          </p:spPr>
        </p:sp>
        <p:sp>
          <p:nvSpPr>
            <p:cNvPr id="5" name="TextBox 5"/>
            <p:cNvSpPr txBox="1"/>
            <p:nvPr/>
          </p:nvSpPr>
          <p:spPr>
            <a:xfrm>
              <a:off x="0" y="-38100"/>
              <a:ext cx="3115803" cy="2747433"/>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7524147" y="2260937"/>
            <a:ext cx="8173927" cy="498509"/>
          </a:xfrm>
          <a:prstGeom prst="rect">
            <a:avLst/>
          </a:prstGeom>
        </p:spPr>
        <p:txBody>
          <a:bodyPr lIns="0" tIns="0" rIns="0" bIns="0" rtlCol="0" anchor="t">
            <a:spAutoFit/>
          </a:bodyPr>
          <a:lstStyle/>
          <a:p>
            <a:pPr algn="l">
              <a:lnSpc>
                <a:spcPts val="3845"/>
              </a:lnSpc>
            </a:pPr>
            <a:r>
              <a:rPr lang="en-US" sz="2746" spc="-68">
                <a:solidFill>
                  <a:srgbClr val="FFFFFF"/>
                </a:solidFill>
                <a:latin typeface="Poppins"/>
                <a:ea typeface="Poppins"/>
                <a:cs typeface="Poppins"/>
                <a:sym typeface="Poppins"/>
              </a:rPr>
              <a:t>Roles Involved in Cybersecurity Analytics Solution</a:t>
            </a:r>
          </a:p>
        </p:txBody>
      </p:sp>
      <p:sp>
        <p:nvSpPr>
          <p:cNvPr id="7" name="Freeform 7"/>
          <p:cNvSpPr/>
          <p:nvPr/>
        </p:nvSpPr>
        <p:spPr>
          <a:xfrm rot="-8687136">
            <a:off x="15737101" y="2230130"/>
            <a:ext cx="219168" cy="264929"/>
          </a:xfrm>
          <a:custGeom>
            <a:avLst/>
            <a:gdLst/>
            <a:ahLst/>
            <a:cxnLst/>
            <a:rect l="l" t="t" r="r" b="b"/>
            <a:pathLst>
              <a:path w="219168" h="264929">
                <a:moveTo>
                  <a:pt x="0" y="0"/>
                </a:moveTo>
                <a:lnTo>
                  <a:pt x="219168" y="0"/>
                </a:lnTo>
                <a:lnTo>
                  <a:pt x="219168" y="264929"/>
                </a:lnTo>
                <a:lnTo>
                  <a:pt x="0" y="26492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AutoShape 8"/>
          <p:cNvSpPr/>
          <p:nvPr/>
        </p:nvSpPr>
        <p:spPr>
          <a:xfrm>
            <a:off x="7524147" y="2759446"/>
            <a:ext cx="8173927" cy="0"/>
          </a:xfrm>
          <a:prstGeom prst="line">
            <a:avLst/>
          </a:prstGeom>
          <a:ln w="38100" cap="rnd">
            <a:solidFill>
              <a:srgbClr val="FFFFFF"/>
            </a:solidFill>
            <a:prstDash val="solid"/>
            <a:headEnd type="none" w="sm" len="sm"/>
            <a:tailEnd type="none" w="sm" len="sm"/>
          </a:ln>
        </p:spPr>
      </p:sp>
      <p:sp>
        <p:nvSpPr>
          <p:cNvPr id="9" name="TextBox 9"/>
          <p:cNvSpPr txBox="1"/>
          <p:nvPr/>
        </p:nvSpPr>
        <p:spPr>
          <a:xfrm>
            <a:off x="7524147" y="1299473"/>
            <a:ext cx="4293174" cy="1169021"/>
          </a:xfrm>
          <a:prstGeom prst="rect">
            <a:avLst/>
          </a:prstGeom>
        </p:spPr>
        <p:txBody>
          <a:bodyPr lIns="0" tIns="0" rIns="0" bIns="0" rtlCol="0" anchor="t">
            <a:spAutoFit/>
          </a:bodyPr>
          <a:lstStyle/>
          <a:p>
            <a:pPr algn="l">
              <a:lnSpc>
                <a:spcPts val="8433"/>
              </a:lnSpc>
            </a:pPr>
            <a:r>
              <a:rPr lang="en-US" sz="7881" b="1">
                <a:solidFill>
                  <a:srgbClr val="FFFFFF"/>
                </a:solidFill>
                <a:latin typeface="Poppins Bold"/>
                <a:ea typeface="Poppins Bold"/>
                <a:cs typeface="Poppins Bold"/>
                <a:sym typeface="Poppins Bold"/>
              </a:rPr>
              <a:t>KEY</a:t>
            </a:r>
          </a:p>
        </p:txBody>
      </p:sp>
      <p:sp>
        <p:nvSpPr>
          <p:cNvPr id="10" name="TextBox 10"/>
          <p:cNvSpPr txBox="1"/>
          <p:nvPr/>
        </p:nvSpPr>
        <p:spPr>
          <a:xfrm>
            <a:off x="9539584" y="1230998"/>
            <a:ext cx="7767633" cy="1174745"/>
          </a:xfrm>
          <a:prstGeom prst="rect">
            <a:avLst/>
          </a:prstGeom>
        </p:spPr>
        <p:txBody>
          <a:bodyPr lIns="0" tIns="0" rIns="0" bIns="0" rtlCol="0" anchor="t">
            <a:spAutoFit/>
          </a:bodyPr>
          <a:lstStyle/>
          <a:p>
            <a:pPr algn="r">
              <a:lnSpc>
                <a:spcPts val="8433"/>
              </a:lnSpc>
            </a:pPr>
            <a:r>
              <a:rPr lang="en-US" sz="7881" b="1">
                <a:solidFill>
                  <a:srgbClr val="91FFF9"/>
                </a:solidFill>
                <a:latin typeface="Poppins Bold"/>
                <a:ea typeface="Poppins Bold"/>
                <a:cs typeface="Poppins Bold"/>
                <a:sym typeface="Poppins Bold"/>
              </a:rPr>
              <a:t>STAKEHOLDERS</a:t>
            </a:r>
          </a:p>
        </p:txBody>
      </p:sp>
      <p:grpSp>
        <p:nvGrpSpPr>
          <p:cNvPr id="11" name="Group 11"/>
          <p:cNvGrpSpPr/>
          <p:nvPr/>
        </p:nvGrpSpPr>
        <p:grpSpPr>
          <a:xfrm>
            <a:off x="7637122" y="3659729"/>
            <a:ext cx="465787" cy="1165349"/>
            <a:chOff x="0" y="0"/>
            <a:chExt cx="621049" cy="1553798"/>
          </a:xfrm>
        </p:grpSpPr>
        <p:sp>
          <p:nvSpPr>
            <p:cNvPr id="12" name="AutoShape 12"/>
            <p:cNvSpPr/>
            <p:nvPr/>
          </p:nvSpPr>
          <p:spPr>
            <a:xfrm flipH="1">
              <a:off x="310525" y="475767"/>
              <a:ext cx="0" cy="1078032"/>
            </a:xfrm>
            <a:prstGeom prst="line">
              <a:avLst/>
            </a:prstGeom>
            <a:ln w="63500" cap="flat">
              <a:solidFill>
                <a:srgbClr val="91FFF9"/>
              </a:solidFill>
              <a:prstDash val="sysDot"/>
              <a:headEnd type="none" w="sm" len="sm"/>
              <a:tailEnd type="none" w="sm" len="sm"/>
            </a:ln>
          </p:spPr>
        </p:sp>
        <p:sp>
          <p:nvSpPr>
            <p:cNvPr id="13" name="Freeform 13"/>
            <p:cNvSpPr/>
            <p:nvPr/>
          </p:nvSpPr>
          <p:spPr>
            <a:xfrm>
              <a:off x="0" y="0"/>
              <a:ext cx="621049" cy="621049"/>
            </a:xfrm>
            <a:custGeom>
              <a:avLst/>
              <a:gdLst/>
              <a:ahLst/>
              <a:cxnLst/>
              <a:rect l="l" t="t" r="r" b="b"/>
              <a:pathLst>
                <a:path w="621049" h="621049">
                  <a:moveTo>
                    <a:pt x="0" y="0"/>
                  </a:moveTo>
                  <a:lnTo>
                    <a:pt x="621049" y="0"/>
                  </a:lnTo>
                  <a:lnTo>
                    <a:pt x="621049" y="621049"/>
                  </a:lnTo>
                  <a:lnTo>
                    <a:pt x="0" y="62104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sp>
        <p:nvSpPr>
          <p:cNvPr id="14" name="Freeform 14"/>
          <p:cNvSpPr/>
          <p:nvPr/>
        </p:nvSpPr>
        <p:spPr>
          <a:xfrm>
            <a:off x="7637122" y="4592006"/>
            <a:ext cx="465787" cy="465787"/>
          </a:xfrm>
          <a:custGeom>
            <a:avLst/>
            <a:gdLst/>
            <a:ahLst/>
            <a:cxnLst/>
            <a:rect l="l" t="t" r="r" b="b"/>
            <a:pathLst>
              <a:path w="465787" h="465787">
                <a:moveTo>
                  <a:pt x="0" y="0"/>
                </a:moveTo>
                <a:lnTo>
                  <a:pt x="465787" y="0"/>
                </a:lnTo>
                <a:lnTo>
                  <a:pt x="465787" y="465787"/>
                </a:lnTo>
                <a:lnTo>
                  <a:pt x="0" y="46578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5" name="TextBox 15"/>
          <p:cNvSpPr txBox="1"/>
          <p:nvPr/>
        </p:nvSpPr>
        <p:spPr>
          <a:xfrm>
            <a:off x="8312913" y="3651208"/>
            <a:ext cx="7684607" cy="316611"/>
          </a:xfrm>
          <a:prstGeom prst="rect">
            <a:avLst/>
          </a:prstGeom>
        </p:spPr>
        <p:txBody>
          <a:bodyPr lIns="0" tIns="0" rIns="0" bIns="0" rtlCol="0" anchor="t">
            <a:spAutoFit/>
          </a:bodyPr>
          <a:lstStyle/>
          <a:p>
            <a:pPr algn="just">
              <a:lnSpc>
                <a:spcPts val="2351"/>
              </a:lnSpc>
            </a:pPr>
            <a:r>
              <a:rPr lang="en-US" sz="2099">
                <a:solidFill>
                  <a:srgbClr val="91FFF9"/>
                </a:solidFill>
                <a:latin typeface="Poppins"/>
                <a:ea typeface="Poppins"/>
                <a:cs typeface="Poppins"/>
                <a:sym typeface="Poppins"/>
              </a:rPr>
              <a:t>RESPONSIBILITIES:</a:t>
            </a:r>
          </a:p>
        </p:txBody>
      </p:sp>
      <p:sp>
        <p:nvSpPr>
          <p:cNvPr id="16" name="TextBox 16"/>
          <p:cNvSpPr txBox="1"/>
          <p:nvPr/>
        </p:nvSpPr>
        <p:spPr>
          <a:xfrm>
            <a:off x="8312913" y="3958294"/>
            <a:ext cx="7684607" cy="523113"/>
          </a:xfrm>
          <a:prstGeom prst="rect">
            <a:avLst/>
          </a:prstGeom>
        </p:spPr>
        <p:txBody>
          <a:bodyPr lIns="0" tIns="0" rIns="0" bIns="0" rtlCol="0" anchor="t">
            <a:spAutoFit/>
          </a:bodyPr>
          <a:lstStyle/>
          <a:p>
            <a:pPr marL="388620" lvl="1" indent="-194310" algn="just">
              <a:lnSpc>
                <a:spcPts val="2016"/>
              </a:lnSpc>
              <a:buFont typeface="Arial"/>
              <a:buChar char="•"/>
            </a:pPr>
            <a:r>
              <a:rPr lang="en-US" sz="1800">
                <a:solidFill>
                  <a:srgbClr val="FFFFFF"/>
                </a:solidFill>
                <a:latin typeface="Poppins"/>
                <a:ea typeface="Poppins"/>
                <a:cs typeface="Poppins"/>
                <a:sym typeface="Poppins"/>
              </a:rPr>
              <a:t>Monitor network traffic and system activity</a:t>
            </a:r>
          </a:p>
          <a:p>
            <a:pPr marL="388620" lvl="1" indent="-194310" algn="just">
              <a:lnSpc>
                <a:spcPts val="2016"/>
              </a:lnSpc>
              <a:buFont typeface="Arial"/>
              <a:buChar char="•"/>
            </a:pPr>
            <a:r>
              <a:rPr lang="en-US" sz="1800">
                <a:solidFill>
                  <a:srgbClr val="FFFFFF"/>
                </a:solidFill>
                <a:latin typeface="Poppins"/>
                <a:ea typeface="Poppins"/>
                <a:cs typeface="Poppins"/>
                <a:sym typeface="Poppins"/>
              </a:rPr>
              <a:t>Detect and respond to cyber threats</a:t>
            </a:r>
          </a:p>
        </p:txBody>
      </p:sp>
      <p:sp>
        <p:nvSpPr>
          <p:cNvPr id="17" name="TextBox 17"/>
          <p:cNvSpPr txBox="1"/>
          <p:nvPr/>
        </p:nvSpPr>
        <p:spPr>
          <a:xfrm>
            <a:off x="8312913" y="4666594"/>
            <a:ext cx="7684607" cy="316611"/>
          </a:xfrm>
          <a:prstGeom prst="rect">
            <a:avLst/>
          </a:prstGeom>
        </p:spPr>
        <p:txBody>
          <a:bodyPr lIns="0" tIns="0" rIns="0" bIns="0" rtlCol="0" anchor="t">
            <a:spAutoFit/>
          </a:bodyPr>
          <a:lstStyle/>
          <a:p>
            <a:pPr algn="just">
              <a:lnSpc>
                <a:spcPts val="2351"/>
              </a:lnSpc>
            </a:pPr>
            <a:r>
              <a:rPr lang="en-US" sz="2099">
                <a:solidFill>
                  <a:srgbClr val="91FFF9"/>
                </a:solidFill>
                <a:latin typeface="Poppins"/>
                <a:ea typeface="Poppins"/>
                <a:cs typeface="Poppins"/>
                <a:sym typeface="Poppins"/>
              </a:rPr>
              <a:t>GOALS:</a:t>
            </a:r>
          </a:p>
        </p:txBody>
      </p:sp>
      <p:sp>
        <p:nvSpPr>
          <p:cNvPr id="18" name="TextBox 18"/>
          <p:cNvSpPr txBox="1"/>
          <p:nvPr/>
        </p:nvSpPr>
        <p:spPr>
          <a:xfrm>
            <a:off x="8327992" y="5048268"/>
            <a:ext cx="7684607" cy="523113"/>
          </a:xfrm>
          <a:prstGeom prst="rect">
            <a:avLst/>
          </a:prstGeom>
        </p:spPr>
        <p:txBody>
          <a:bodyPr lIns="0" tIns="0" rIns="0" bIns="0" rtlCol="0" anchor="t">
            <a:spAutoFit/>
          </a:bodyPr>
          <a:lstStyle/>
          <a:p>
            <a:pPr marL="388620" lvl="1" indent="-194310" algn="just">
              <a:lnSpc>
                <a:spcPts val="2016"/>
              </a:lnSpc>
              <a:buFont typeface="Arial"/>
              <a:buChar char="•"/>
            </a:pPr>
            <a:r>
              <a:rPr lang="en-US" sz="1800">
                <a:solidFill>
                  <a:srgbClr val="FFFFFF"/>
                </a:solidFill>
                <a:latin typeface="Poppins"/>
                <a:ea typeface="Poppins"/>
                <a:cs typeface="Poppins"/>
                <a:sym typeface="Poppins"/>
              </a:rPr>
              <a:t>Ensure system security</a:t>
            </a:r>
          </a:p>
          <a:p>
            <a:pPr marL="388620" lvl="1" indent="-194310" algn="just">
              <a:lnSpc>
                <a:spcPts val="2016"/>
              </a:lnSpc>
              <a:buFont typeface="Arial"/>
              <a:buChar char="•"/>
            </a:pPr>
            <a:r>
              <a:rPr lang="en-US" sz="1800">
                <a:solidFill>
                  <a:srgbClr val="FFFFFF"/>
                </a:solidFill>
                <a:latin typeface="Poppins"/>
                <a:ea typeface="Poppins"/>
                <a:cs typeface="Poppins"/>
                <a:sym typeface="Poppins"/>
              </a:rPr>
              <a:t>Minimize risks and breaches</a:t>
            </a:r>
          </a:p>
        </p:txBody>
      </p:sp>
      <p:sp>
        <p:nvSpPr>
          <p:cNvPr id="19" name="TextBox 19"/>
          <p:cNvSpPr txBox="1"/>
          <p:nvPr/>
        </p:nvSpPr>
        <p:spPr>
          <a:xfrm>
            <a:off x="8327992" y="6712898"/>
            <a:ext cx="7684607" cy="316611"/>
          </a:xfrm>
          <a:prstGeom prst="rect">
            <a:avLst/>
          </a:prstGeom>
        </p:spPr>
        <p:txBody>
          <a:bodyPr lIns="0" tIns="0" rIns="0" bIns="0" rtlCol="0" anchor="t">
            <a:spAutoFit/>
          </a:bodyPr>
          <a:lstStyle/>
          <a:p>
            <a:pPr algn="just">
              <a:lnSpc>
                <a:spcPts val="2351"/>
              </a:lnSpc>
            </a:pPr>
            <a:r>
              <a:rPr lang="en-US" sz="2099">
                <a:solidFill>
                  <a:srgbClr val="91FFF9"/>
                </a:solidFill>
                <a:latin typeface="Poppins"/>
                <a:ea typeface="Poppins"/>
                <a:cs typeface="Poppins"/>
                <a:sym typeface="Poppins"/>
              </a:rPr>
              <a:t>RESPONSIBILITIES:</a:t>
            </a:r>
          </a:p>
        </p:txBody>
      </p:sp>
      <p:sp>
        <p:nvSpPr>
          <p:cNvPr id="20" name="TextBox 20"/>
          <p:cNvSpPr txBox="1"/>
          <p:nvPr/>
        </p:nvSpPr>
        <p:spPr>
          <a:xfrm>
            <a:off x="8327992" y="7086327"/>
            <a:ext cx="7684607" cy="770763"/>
          </a:xfrm>
          <a:prstGeom prst="rect">
            <a:avLst/>
          </a:prstGeom>
        </p:spPr>
        <p:txBody>
          <a:bodyPr lIns="0" tIns="0" rIns="0" bIns="0" rtlCol="0" anchor="t">
            <a:spAutoFit/>
          </a:bodyPr>
          <a:lstStyle/>
          <a:p>
            <a:pPr marL="388620" lvl="1" indent="-194310" algn="l">
              <a:lnSpc>
                <a:spcPts val="2016"/>
              </a:lnSpc>
              <a:buFont typeface="Arial"/>
              <a:buChar char="•"/>
            </a:pPr>
            <a:r>
              <a:rPr lang="en-US" sz="1800">
                <a:solidFill>
                  <a:srgbClr val="FFFFFF"/>
                </a:solidFill>
                <a:latin typeface="Poppins"/>
                <a:ea typeface="Poppins"/>
                <a:cs typeface="Poppins"/>
                <a:sym typeface="Poppins"/>
              </a:rPr>
              <a:t>Make strategic decisions based on analysis</a:t>
            </a:r>
          </a:p>
          <a:p>
            <a:pPr marL="388620" lvl="1" indent="-194310" algn="l">
              <a:lnSpc>
                <a:spcPts val="2016"/>
              </a:lnSpc>
              <a:buFont typeface="Arial"/>
              <a:buChar char="•"/>
            </a:pPr>
            <a:r>
              <a:rPr lang="en-US" sz="1800">
                <a:solidFill>
                  <a:srgbClr val="FFFFFF"/>
                </a:solidFill>
                <a:latin typeface="Poppins"/>
                <a:ea typeface="Poppins"/>
                <a:cs typeface="Poppins"/>
                <a:sym typeface="Poppins"/>
              </a:rPr>
              <a:t>Implement security policies</a:t>
            </a:r>
          </a:p>
          <a:p>
            <a:pPr algn="l">
              <a:lnSpc>
                <a:spcPts val="2016"/>
              </a:lnSpc>
            </a:pPr>
            <a:endParaRPr lang="en-US" sz="1800">
              <a:solidFill>
                <a:srgbClr val="FFFFFF"/>
              </a:solidFill>
              <a:latin typeface="Poppins"/>
              <a:ea typeface="Poppins"/>
              <a:cs typeface="Poppins"/>
              <a:sym typeface="Poppins"/>
            </a:endParaRPr>
          </a:p>
        </p:txBody>
      </p:sp>
      <p:sp>
        <p:nvSpPr>
          <p:cNvPr id="21" name="TextBox 21"/>
          <p:cNvSpPr txBox="1"/>
          <p:nvPr/>
        </p:nvSpPr>
        <p:spPr>
          <a:xfrm>
            <a:off x="8327992" y="7710728"/>
            <a:ext cx="7684607" cy="316611"/>
          </a:xfrm>
          <a:prstGeom prst="rect">
            <a:avLst/>
          </a:prstGeom>
        </p:spPr>
        <p:txBody>
          <a:bodyPr lIns="0" tIns="0" rIns="0" bIns="0" rtlCol="0" anchor="t">
            <a:spAutoFit/>
          </a:bodyPr>
          <a:lstStyle/>
          <a:p>
            <a:pPr algn="just">
              <a:lnSpc>
                <a:spcPts val="2351"/>
              </a:lnSpc>
            </a:pPr>
            <a:r>
              <a:rPr lang="en-US" sz="2099">
                <a:solidFill>
                  <a:srgbClr val="91FFF9"/>
                </a:solidFill>
                <a:latin typeface="Poppins"/>
                <a:ea typeface="Poppins"/>
                <a:cs typeface="Poppins"/>
                <a:sym typeface="Poppins"/>
              </a:rPr>
              <a:t>GOALS:</a:t>
            </a:r>
          </a:p>
        </p:txBody>
      </p:sp>
      <p:sp>
        <p:nvSpPr>
          <p:cNvPr id="22" name="TextBox 22"/>
          <p:cNvSpPr txBox="1"/>
          <p:nvPr/>
        </p:nvSpPr>
        <p:spPr>
          <a:xfrm>
            <a:off x="8327992" y="8084157"/>
            <a:ext cx="7684607" cy="770763"/>
          </a:xfrm>
          <a:prstGeom prst="rect">
            <a:avLst/>
          </a:prstGeom>
        </p:spPr>
        <p:txBody>
          <a:bodyPr lIns="0" tIns="0" rIns="0" bIns="0" rtlCol="0" anchor="t">
            <a:spAutoFit/>
          </a:bodyPr>
          <a:lstStyle/>
          <a:p>
            <a:pPr marL="388620" lvl="1" indent="-194310" algn="just">
              <a:lnSpc>
                <a:spcPts val="2016"/>
              </a:lnSpc>
              <a:buFont typeface="Arial"/>
              <a:buChar char="•"/>
            </a:pPr>
            <a:r>
              <a:rPr lang="en-US" sz="1800">
                <a:solidFill>
                  <a:srgbClr val="FFFFFF"/>
                </a:solidFill>
                <a:latin typeface="Poppins"/>
                <a:ea typeface="Poppins"/>
                <a:cs typeface="Poppins"/>
                <a:sym typeface="Poppins"/>
              </a:rPr>
              <a:t>Protect organizational data</a:t>
            </a:r>
          </a:p>
          <a:p>
            <a:pPr marL="388620" lvl="1" indent="-194310" algn="just">
              <a:lnSpc>
                <a:spcPts val="2016"/>
              </a:lnSpc>
              <a:buFont typeface="Arial"/>
              <a:buChar char="•"/>
            </a:pPr>
            <a:r>
              <a:rPr lang="en-US" sz="1800">
                <a:solidFill>
                  <a:srgbClr val="FFFFFF"/>
                </a:solidFill>
                <a:latin typeface="Poppins"/>
                <a:ea typeface="Poppins"/>
                <a:cs typeface="Poppins"/>
                <a:sym typeface="Poppins"/>
              </a:rPr>
              <a:t>Reduce financial and operational losses</a:t>
            </a:r>
          </a:p>
          <a:p>
            <a:pPr algn="just">
              <a:lnSpc>
                <a:spcPts val="2016"/>
              </a:lnSpc>
            </a:pPr>
            <a:endParaRPr lang="en-US" sz="1800">
              <a:solidFill>
                <a:srgbClr val="FFFFFF"/>
              </a:solidFill>
              <a:latin typeface="Poppins"/>
              <a:ea typeface="Poppins"/>
              <a:cs typeface="Poppins"/>
              <a:sym typeface="Poppins"/>
            </a:endParaRPr>
          </a:p>
        </p:txBody>
      </p:sp>
      <p:grpSp>
        <p:nvGrpSpPr>
          <p:cNvPr id="23" name="Group 23"/>
          <p:cNvGrpSpPr/>
          <p:nvPr/>
        </p:nvGrpSpPr>
        <p:grpSpPr>
          <a:xfrm>
            <a:off x="7772902" y="3122977"/>
            <a:ext cx="6892512" cy="788695"/>
            <a:chOff x="0" y="0"/>
            <a:chExt cx="9190016" cy="1051594"/>
          </a:xfrm>
        </p:grpSpPr>
        <p:sp>
          <p:nvSpPr>
            <p:cNvPr id="24" name="TextBox 24"/>
            <p:cNvSpPr txBox="1"/>
            <p:nvPr/>
          </p:nvSpPr>
          <p:spPr>
            <a:xfrm>
              <a:off x="0" y="9525"/>
              <a:ext cx="9190016" cy="518886"/>
            </a:xfrm>
            <a:prstGeom prst="rect">
              <a:avLst/>
            </a:prstGeom>
          </p:spPr>
          <p:txBody>
            <a:bodyPr lIns="0" tIns="0" rIns="0" bIns="0" rtlCol="0" anchor="t">
              <a:spAutoFit/>
            </a:bodyPr>
            <a:lstStyle/>
            <a:p>
              <a:pPr algn="just">
                <a:lnSpc>
                  <a:spcPts val="2844"/>
                </a:lnSpc>
              </a:pPr>
              <a:r>
                <a:rPr lang="en-US" sz="2657" b="1">
                  <a:solidFill>
                    <a:srgbClr val="FFFFFF"/>
                  </a:solidFill>
                  <a:latin typeface="Poppins Bold"/>
                  <a:ea typeface="Poppins Bold"/>
                  <a:cs typeface="Poppins Bold"/>
                  <a:sym typeface="Poppins Bold"/>
                </a:rPr>
                <a:t>SECURITY ANALYST / IT TEAM</a:t>
              </a:r>
            </a:p>
          </p:txBody>
        </p:sp>
        <p:sp>
          <p:nvSpPr>
            <p:cNvPr id="25" name="TextBox 25"/>
            <p:cNvSpPr txBox="1"/>
            <p:nvPr/>
          </p:nvSpPr>
          <p:spPr>
            <a:xfrm>
              <a:off x="0" y="532087"/>
              <a:ext cx="9190016" cy="519506"/>
            </a:xfrm>
            <a:prstGeom prst="rect">
              <a:avLst/>
            </a:prstGeom>
          </p:spPr>
          <p:txBody>
            <a:bodyPr lIns="0" tIns="0" rIns="0" bIns="0" rtlCol="0" anchor="t">
              <a:spAutoFit/>
            </a:bodyPr>
            <a:lstStyle/>
            <a:p>
              <a:pPr algn="just">
                <a:lnSpc>
                  <a:spcPts val="3057"/>
                </a:lnSpc>
              </a:pPr>
              <a:endParaRPr/>
            </a:p>
          </p:txBody>
        </p:sp>
      </p:grpSp>
      <p:grpSp>
        <p:nvGrpSpPr>
          <p:cNvPr id="26" name="Group 26"/>
          <p:cNvGrpSpPr/>
          <p:nvPr/>
        </p:nvGrpSpPr>
        <p:grpSpPr>
          <a:xfrm>
            <a:off x="7772902" y="6160448"/>
            <a:ext cx="6892512" cy="788695"/>
            <a:chOff x="0" y="0"/>
            <a:chExt cx="9190016" cy="1051594"/>
          </a:xfrm>
        </p:grpSpPr>
        <p:sp>
          <p:nvSpPr>
            <p:cNvPr id="27" name="TextBox 27"/>
            <p:cNvSpPr txBox="1"/>
            <p:nvPr/>
          </p:nvSpPr>
          <p:spPr>
            <a:xfrm>
              <a:off x="0" y="9525"/>
              <a:ext cx="9190016" cy="518886"/>
            </a:xfrm>
            <a:prstGeom prst="rect">
              <a:avLst/>
            </a:prstGeom>
          </p:spPr>
          <p:txBody>
            <a:bodyPr lIns="0" tIns="0" rIns="0" bIns="0" rtlCol="0" anchor="t">
              <a:spAutoFit/>
            </a:bodyPr>
            <a:lstStyle/>
            <a:p>
              <a:pPr algn="just">
                <a:lnSpc>
                  <a:spcPts val="2844"/>
                </a:lnSpc>
              </a:pPr>
              <a:r>
                <a:rPr lang="en-US" sz="2657" b="1">
                  <a:solidFill>
                    <a:srgbClr val="FFFFFF"/>
                  </a:solidFill>
                  <a:latin typeface="Poppins Bold"/>
                  <a:ea typeface="Poppins Bold"/>
                  <a:cs typeface="Poppins Bold"/>
                  <a:sym typeface="Poppins Bold"/>
                </a:rPr>
                <a:t>BUSINESS / ORGANIZATION</a:t>
              </a:r>
            </a:p>
          </p:txBody>
        </p:sp>
        <p:sp>
          <p:nvSpPr>
            <p:cNvPr id="28" name="TextBox 28"/>
            <p:cNvSpPr txBox="1"/>
            <p:nvPr/>
          </p:nvSpPr>
          <p:spPr>
            <a:xfrm>
              <a:off x="0" y="532087"/>
              <a:ext cx="9190016" cy="519506"/>
            </a:xfrm>
            <a:prstGeom prst="rect">
              <a:avLst/>
            </a:prstGeom>
          </p:spPr>
          <p:txBody>
            <a:bodyPr lIns="0" tIns="0" rIns="0" bIns="0" rtlCol="0" anchor="t">
              <a:spAutoFit/>
            </a:bodyPr>
            <a:lstStyle/>
            <a:p>
              <a:pPr algn="just">
                <a:lnSpc>
                  <a:spcPts val="3057"/>
                </a:lnSpc>
              </a:pPr>
              <a:endParaRPr/>
            </a:p>
          </p:txBody>
        </p:sp>
      </p:grpSp>
      <p:grpSp>
        <p:nvGrpSpPr>
          <p:cNvPr id="29" name="Group 29"/>
          <p:cNvGrpSpPr/>
          <p:nvPr/>
        </p:nvGrpSpPr>
        <p:grpSpPr>
          <a:xfrm>
            <a:off x="7652202" y="6665821"/>
            <a:ext cx="465787" cy="1222262"/>
            <a:chOff x="0" y="0"/>
            <a:chExt cx="621049" cy="1629683"/>
          </a:xfrm>
        </p:grpSpPr>
        <p:sp>
          <p:nvSpPr>
            <p:cNvPr id="30" name="AutoShape 30"/>
            <p:cNvSpPr/>
            <p:nvPr/>
          </p:nvSpPr>
          <p:spPr>
            <a:xfrm flipH="1">
              <a:off x="310525" y="475767"/>
              <a:ext cx="0" cy="1153916"/>
            </a:xfrm>
            <a:prstGeom prst="line">
              <a:avLst/>
            </a:prstGeom>
            <a:ln w="63500" cap="flat">
              <a:solidFill>
                <a:srgbClr val="91FFF9"/>
              </a:solidFill>
              <a:prstDash val="sysDot"/>
              <a:headEnd type="none" w="sm" len="sm"/>
              <a:tailEnd type="none" w="sm" len="sm"/>
            </a:ln>
          </p:spPr>
        </p:sp>
        <p:sp>
          <p:nvSpPr>
            <p:cNvPr id="31" name="Freeform 31"/>
            <p:cNvSpPr/>
            <p:nvPr/>
          </p:nvSpPr>
          <p:spPr>
            <a:xfrm>
              <a:off x="0" y="0"/>
              <a:ext cx="621049" cy="621049"/>
            </a:xfrm>
            <a:custGeom>
              <a:avLst/>
              <a:gdLst/>
              <a:ahLst/>
              <a:cxnLst/>
              <a:rect l="l" t="t" r="r" b="b"/>
              <a:pathLst>
                <a:path w="621049" h="621049">
                  <a:moveTo>
                    <a:pt x="0" y="0"/>
                  </a:moveTo>
                  <a:lnTo>
                    <a:pt x="621049" y="0"/>
                  </a:lnTo>
                  <a:lnTo>
                    <a:pt x="621049" y="621049"/>
                  </a:lnTo>
                  <a:lnTo>
                    <a:pt x="0" y="62104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sp>
        <p:nvSpPr>
          <p:cNvPr id="32" name="Freeform 32"/>
          <p:cNvSpPr/>
          <p:nvPr/>
        </p:nvSpPr>
        <p:spPr>
          <a:xfrm>
            <a:off x="7652202" y="7636140"/>
            <a:ext cx="465787" cy="465787"/>
          </a:xfrm>
          <a:custGeom>
            <a:avLst/>
            <a:gdLst/>
            <a:ahLst/>
            <a:cxnLst/>
            <a:rect l="l" t="t" r="r" b="b"/>
            <a:pathLst>
              <a:path w="465787" h="465787">
                <a:moveTo>
                  <a:pt x="0" y="0"/>
                </a:moveTo>
                <a:lnTo>
                  <a:pt x="465787" y="0"/>
                </a:lnTo>
                <a:lnTo>
                  <a:pt x="465787" y="465787"/>
                </a:lnTo>
                <a:lnTo>
                  <a:pt x="0" y="465787"/>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b="-18592"/>
            </a:stretch>
          </a:blipFill>
        </p:spPr>
      </p:sp>
      <p:grpSp>
        <p:nvGrpSpPr>
          <p:cNvPr id="3" name="Group 3"/>
          <p:cNvGrpSpPr/>
          <p:nvPr/>
        </p:nvGrpSpPr>
        <p:grpSpPr>
          <a:xfrm>
            <a:off x="0" y="5723048"/>
            <a:ext cx="18288000" cy="4563952"/>
            <a:chOff x="0" y="0"/>
            <a:chExt cx="4816593" cy="1202029"/>
          </a:xfrm>
        </p:grpSpPr>
        <p:sp>
          <p:nvSpPr>
            <p:cNvPr id="4" name="Freeform 4"/>
            <p:cNvSpPr/>
            <p:nvPr/>
          </p:nvSpPr>
          <p:spPr>
            <a:xfrm>
              <a:off x="0" y="0"/>
              <a:ext cx="4816592" cy="1202028"/>
            </a:xfrm>
            <a:custGeom>
              <a:avLst/>
              <a:gdLst/>
              <a:ahLst/>
              <a:cxnLst/>
              <a:rect l="l" t="t" r="r" b="b"/>
              <a:pathLst>
                <a:path w="4816592" h="1202028">
                  <a:moveTo>
                    <a:pt x="0" y="0"/>
                  </a:moveTo>
                  <a:lnTo>
                    <a:pt x="4816592" y="0"/>
                  </a:lnTo>
                  <a:lnTo>
                    <a:pt x="4816592" y="1202028"/>
                  </a:lnTo>
                  <a:lnTo>
                    <a:pt x="0" y="1202028"/>
                  </a:lnTo>
                  <a:close/>
                </a:path>
              </a:pathLst>
            </a:custGeom>
            <a:gradFill rotWithShape="1">
              <a:gsLst>
                <a:gs pos="0">
                  <a:srgbClr val="04153F">
                    <a:alpha val="88000"/>
                  </a:srgbClr>
                </a:gs>
                <a:gs pos="100000">
                  <a:srgbClr val="17597F">
                    <a:alpha val="88000"/>
                  </a:srgbClr>
                </a:gs>
              </a:gsLst>
              <a:lin ang="2700000"/>
            </a:gradFill>
          </p:spPr>
        </p:sp>
        <p:sp>
          <p:nvSpPr>
            <p:cNvPr id="5" name="TextBox 5"/>
            <p:cNvSpPr txBox="1"/>
            <p:nvPr/>
          </p:nvSpPr>
          <p:spPr>
            <a:xfrm>
              <a:off x="0" y="-38100"/>
              <a:ext cx="4816593" cy="1240129"/>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rot="-8687136">
            <a:off x="11162975" y="8865015"/>
            <a:ext cx="222699" cy="269196"/>
          </a:xfrm>
          <a:custGeom>
            <a:avLst/>
            <a:gdLst/>
            <a:ahLst/>
            <a:cxnLst/>
            <a:rect l="l" t="t" r="r" b="b"/>
            <a:pathLst>
              <a:path w="222699" h="269196">
                <a:moveTo>
                  <a:pt x="0" y="0"/>
                </a:moveTo>
                <a:lnTo>
                  <a:pt x="222699" y="0"/>
                </a:lnTo>
                <a:lnTo>
                  <a:pt x="222699" y="269196"/>
                </a:lnTo>
                <a:lnTo>
                  <a:pt x="0" y="26919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028700" y="8962858"/>
            <a:ext cx="10265296" cy="505158"/>
          </a:xfrm>
          <a:prstGeom prst="rect">
            <a:avLst/>
          </a:prstGeom>
        </p:spPr>
        <p:txBody>
          <a:bodyPr lIns="0" tIns="0" rIns="0" bIns="0" rtlCol="0" anchor="t">
            <a:spAutoFit/>
          </a:bodyPr>
          <a:lstStyle/>
          <a:p>
            <a:pPr algn="l">
              <a:lnSpc>
                <a:spcPts val="3907"/>
              </a:lnSpc>
            </a:pPr>
            <a:r>
              <a:rPr lang="en-US" sz="2790" spc="-69">
                <a:solidFill>
                  <a:srgbClr val="FFFFFF"/>
                </a:solidFill>
                <a:latin typeface="Poppins"/>
                <a:ea typeface="Poppins"/>
                <a:cs typeface="Poppins"/>
                <a:sym typeface="Poppins"/>
              </a:rPr>
              <a:t>Defining the Role of Data Analysis in Cybersecurity Solutions</a:t>
            </a:r>
          </a:p>
        </p:txBody>
      </p:sp>
      <p:sp>
        <p:nvSpPr>
          <p:cNvPr id="8" name="AutoShape 8"/>
          <p:cNvSpPr/>
          <p:nvPr/>
        </p:nvSpPr>
        <p:spPr>
          <a:xfrm flipV="1">
            <a:off x="1028700" y="9468017"/>
            <a:ext cx="10414212" cy="28408"/>
          </a:xfrm>
          <a:prstGeom prst="line">
            <a:avLst/>
          </a:prstGeom>
          <a:ln w="19050" cap="rnd">
            <a:solidFill>
              <a:srgbClr val="FFFFFF"/>
            </a:solidFill>
            <a:prstDash val="solid"/>
            <a:headEnd type="none" w="sm" len="sm"/>
            <a:tailEnd type="none" w="sm" len="sm"/>
          </a:ln>
        </p:spPr>
      </p:sp>
      <p:sp>
        <p:nvSpPr>
          <p:cNvPr id="9" name="TextBox 9"/>
          <p:cNvSpPr txBox="1"/>
          <p:nvPr/>
        </p:nvSpPr>
        <p:spPr>
          <a:xfrm>
            <a:off x="1028700" y="6378123"/>
            <a:ext cx="11456163" cy="1207080"/>
          </a:xfrm>
          <a:prstGeom prst="rect">
            <a:avLst/>
          </a:prstGeom>
        </p:spPr>
        <p:txBody>
          <a:bodyPr lIns="0" tIns="0" rIns="0" bIns="0" rtlCol="0" anchor="t">
            <a:spAutoFit/>
          </a:bodyPr>
          <a:lstStyle/>
          <a:p>
            <a:pPr algn="l">
              <a:lnSpc>
                <a:spcPts val="8770"/>
              </a:lnSpc>
            </a:pPr>
            <a:r>
              <a:rPr lang="en-US" sz="8197" b="1">
                <a:solidFill>
                  <a:srgbClr val="FFFFFF"/>
                </a:solidFill>
                <a:latin typeface="Poppins Bold"/>
                <a:ea typeface="Poppins Bold"/>
                <a:cs typeface="Poppins Bold"/>
                <a:sym typeface="Poppins Bold"/>
              </a:rPr>
              <a:t>EXPECTATIONS FROM</a:t>
            </a:r>
          </a:p>
        </p:txBody>
      </p:sp>
      <p:sp>
        <p:nvSpPr>
          <p:cNvPr id="10" name="TextBox 10"/>
          <p:cNvSpPr txBox="1"/>
          <p:nvPr/>
        </p:nvSpPr>
        <p:spPr>
          <a:xfrm>
            <a:off x="1028700" y="7613778"/>
            <a:ext cx="9326391" cy="1211660"/>
          </a:xfrm>
          <a:prstGeom prst="rect">
            <a:avLst/>
          </a:prstGeom>
        </p:spPr>
        <p:txBody>
          <a:bodyPr lIns="0" tIns="0" rIns="0" bIns="0" rtlCol="0" anchor="t">
            <a:spAutoFit/>
          </a:bodyPr>
          <a:lstStyle/>
          <a:p>
            <a:pPr algn="l">
              <a:lnSpc>
                <a:spcPts val="8770"/>
              </a:lnSpc>
            </a:pPr>
            <a:r>
              <a:rPr lang="en-US" sz="8197" b="1">
                <a:solidFill>
                  <a:srgbClr val="91FFF9"/>
                </a:solidFill>
                <a:latin typeface="Poppins Bold"/>
                <a:ea typeface="Poppins Bold"/>
                <a:cs typeface="Poppins Bold"/>
                <a:sym typeface="Poppins Bold"/>
              </a:rPr>
              <a:t>ANALYTICS TEAM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53F">
                <a:alpha val="100000"/>
              </a:srgbClr>
            </a:gs>
            <a:gs pos="100000">
              <a:srgbClr val="17597F">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3119209" y="1392613"/>
            <a:ext cx="11577045" cy="1124231"/>
          </a:xfrm>
          <a:prstGeom prst="rect">
            <a:avLst/>
          </a:prstGeom>
        </p:spPr>
        <p:txBody>
          <a:bodyPr lIns="0" tIns="0" rIns="0" bIns="0" rtlCol="0" anchor="t">
            <a:spAutoFit/>
          </a:bodyPr>
          <a:lstStyle/>
          <a:p>
            <a:pPr algn="r">
              <a:lnSpc>
                <a:spcPts val="8043"/>
              </a:lnSpc>
            </a:pPr>
            <a:r>
              <a:rPr lang="en-US" sz="7517" b="1">
                <a:solidFill>
                  <a:srgbClr val="FFFFFF"/>
                </a:solidFill>
                <a:latin typeface="Poppins Bold"/>
                <a:ea typeface="Poppins Bold"/>
                <a:cs typeface="Poppins Bold"/>
                <a:sym typeface="Poppins Bold"/>
              </a:rPr>
              <a:t>Analytics  Workflow</a:t>
            </a:r>
          </a:p>
        </p:txBody>
      </p:sp>
      <p:sp>
        <p:nvSpPr>
          <p:cNvPr id="3" name="TextBox 3"/>
          <p:cNvSpPr txBox="1"/>
          <p:nvPr/>
        </p:nvSpPr>
        <p:spPr>
          <a:xfrm>
            <a:off x="2752908" y="3889586"/>
            <a:ext cx="4972973" cy="1443609"/>
          </a:xfrm>
          <a:prstGeom prst="rect">
            <a:avLst/>
          </a:prstGeom>
        </p:spPr>
        <p:txBody>
          <a:bodyPr lIns="0" tIns="0" rIns="0" bIns="0" rtlCol="0" anchor="t">
            <a:spAutoFit/>
          </a:bodyPr>
          <a:lstStyle/>
          <a:p>
            <a:pPr marL="388620" lvl="1" indent="-194310" algn="just">
              <a:lnSpc>
                <a:spcPts val="2268"/>
              </a:lnSpc>
              <a:buFont typeface="Arial"/>
              <a:buChar char="•"/>
            </a:pPr>
            <a:r>
              <a:rPr lang="en-US" sz="1800">
                <a:solidFill>
                  <a:srgbClr val="FFFFFF"/>
                </a:solidFill>
                <a:latin typeface="Poppins"/>
                <a:ea typeface="Poppins"/>
                <a:cs typeface="Poppins"/>
                <a:sym typeface="Poppins"/>
              </a:rPr>
              <a:t>Understand network traffic structure and features</a:t>
            </a:r>
          </a:p>
          <a:p>
            <a:pPr marL="388620" lvl="1" indent="-194310" algn="just">
              <a:lnSpc>
                <a:spcPts val="2268"/>
              </a:lnSpc>
              <a:buFont typeface="Arial"/>
              <a:buChar char="•"/>
            </a:pPr>
            <a:r>
              <a:rPr lang="en-US" sz="1800">
                <a:solidFill>
                  <a:srgbClr val="FFFFFF"/>
                </a:solidFill>
                <a:latin typeface="Poppins"/>
                <a:ea typeface="Poppins"/>
                <a:cs typeface="Poppins"/>
                <a:sym typeface="Poppins"/>
              </a:rPr>
              <a:t>Clean and prepare data for analysis</a:t>
            </a:r>
          </a:p>
          <a:p>
            <a:pPr marL="388620" lvl="1" indent="-194310" algn="just">
              <a:lnSpc>
                <a:spcPts val="2268"/>
              </a:lnSpc>
              <a:buFont typeface="Arial"/>
              <a:buChar char="•"/>
            </a:pPr>
            <a:r>
              <a:rPr lang="en-US" sz="1800">
                <a:solidFill>
                  <a:srgbClr val="FFFFFF"/>
                </a:solidFill>
                <a:latin typeface="Poppins"/>
                <a:ea typeface="Poppins"/>
                <a:cs typeface="Poppins"/>
                <a:sym typeface="Poppins"/>
              </a:rPr>
              <a:t>Handle inconsistencies and missing values</a:t>
            </a:r>
          </a:p>
        </p:txBody>
      </p:sp>
      <p:sp>
        <p:nvSpPr>
          <p:cNvPr id="4" name="TextBox 4"/>
          <p:cNvSpPr txBox="1"/>
          <p:nvPr/>
        </p:nvSpPr>
        <p:spPr>
          <a:xfrm>
            <a:off x="2752908" y="6022416"/>
            <a:ext cx="4248727" cy="358420"/>
          </a:xfrm>
          <a:prstGeom prst="rect">
            <a:avLst/>
          </a:prstGeom>
        </p:spPr>
        <p:txBody>
          <a:bodyPr lIns="0" tIns="0" rIns="0" bIns="0" rtlCol="0" anchor="t">
            <a:spAutoFit/>
          </a:bodyPr>
          <a:lstStyle/>
          <a:p>
            <a:pPr algn="just">
              <a:lnSpc>
                <a:spcPts val="2819"/>
              </a:lnSpc>
            </a:pPr>
            <a:r>
              <a:rPr lang="en-US" sz="2013">
                <a:solidFill>
                  <a:srgbClr val="6CE5E8"/>
                </a:solidFill>
                <a:latin typeface="Poppins"/>
                <a:ea typeface="Poppins"/>
                <a:cs typeface="Poppins"/>
                <a:sym typeface="Poppins"/>
              </a:rPr>
              <a:t>Exploratory Data Analysis (EDA)</a:t>
            </a:r>
          </a:p>
        </p:txBody>
      </p:sp>
      <p:sp>
        <p:nvSpPr>
          <p:cNvPr id="5" name="AutoShape 5"/>
          <p:cNvSpPr/>
          <p:nvPr/>
        </p:nvSpPr>
        <p:spPr>
          <a:xfrm>
            <a:off x="2752908" y="6623313"/>
            <a:ext cx="4972973" cy="0"/>
          </a:xfrm>
          <a:prstGeom prst="line">
            <a:avLst/>
          </a:prstGeom>
          <a:ln w="38100" cap="rnd">
            <a:solidFill>
              <a:srgbClr val="FFFFFF"/>
            </a:solidFill>
            <a:prstDash val="solid"/>
            <a:headEnd type="none" w="sm" len="sm"/>
            <a:tailEnd type="none" w="sm" len="sm"/>
          </a:ln>
        </p:spPr>
      </p:sp>
      <p:sp>
        <p:nvSpPr>
          <p:cNvPr id="6" name="TextBox 6"/>
          <p:cNvSpPr txBox="1"/>
          <p:nvPr/>
        </p:nvSpPr>
        <p:spPr>
          <a:xfrm>
            <a:off x="7208359" y="6011703"/>
            <a:ext cx="517521" cy="385742"/>
          </a:xfrm>
          <a:prstGeom prst="rect">
            <a:avLst/>
          </a:prstGeom>
        </p:spPr>
        <p:txBody>
          <a:bodyPr lIns="0" tIns="0" rIns="0" bIns="0" rtlCol="0" anchor="t">
            <a:spAutoFit/>
          </a:bodyPr>
          <a:lstStyle/>
          <a:p>
            <a:pPr algn="r">
              <a:lnSpc>
                <a:spcPts val="3017"/>
              </a:lnSpc>
            </a:pPr>
            <a:r>
              <a:rPr lang="en-US" sz="2155" spc="-53">
                <a:solidFill>
                  <a:srgbClr val="FFFFFF"/>
                </a:solidFill>
                <a:latin typeface="Poppins"/>
                <a:ea typeface="Poppins"/>
                <a:cs typeface="Poppins"/>
                <a:sym typeface="Poppins"/>
              </a:rPr>
              <a:t>02</a:t>
            </a:r>
          </a:p>
        </p:txBody>
      </p:sp>
      <p:sp>
        <p:nvSpPr>
          <p:cNvPr id="7" name="TextBox 7"/>
          <p:cNvSpPr txBox="1"/>
          <p:nvPr/>
        </p:nvSpPr>
        <p:spPr>
          <a:xfrm>
            <a:off x="10525125" y="3851486"/>
            <a:ext cx="4972973" cy="1897380"/>
          </a:xfrm>
          <a:prstGeom prst="rect">
            <a:avLst/>
          </a:prstGeom>
        </p:spPr>
        <p:txBody>
          <a:bodyPr lIns="0" tIns="0" rIns="0" bIns="0" rtlCol="0" anchor="t">
            <a:spAutoFit/>
          </a:bodyPr>
          <a:lstStyle/>
          <a:p>
            <a:pPr marL="388620" lvl="1" indent="-194310" algn="just">
              <a:lnSpc>
                <a:spcPts val="2520"/>
              </a:lnSpc>
              <a:buFont typeface="Arial"/>
              <a:buChar char="•"/>
            </a:pPr>
            <a:r>
              <a:rPr lang="en-US" sz="1800">
                <a:solidFill>
                  <a:srgbClr val="FFFFFF"/>
                </a:solidFill>
                <a:latin typeface="Poppins"/>
                <a:ea typeface="Poppins"/>
                <a:cs typeface="Poppins"/>
                <a:sym typeface="Poppins"/>
              </a:rPr>
              <a:t>Identify key factors contributing to cyber attacks</a:t>
            </a:r>
          </a:p>
          <a:p>
            <a:pPr marL="388620" lvl="1" indent="-194310" algn="just">
              <a:lnSpc>
                <a:spcPts val="2520"/>
              </a:lnSpc>
              <a:buFont typeface="Arial"/>
              <a:buChar char="•"/>
            </a:pPr>
            <a:r>
              <a:rPr lang="en-US" sz="1800">
                <a:solidFill>
                  <a:srgbClr val="FFFFFF"/>
                </a:solidFill>
                <a:latin typeface="Poppins"/>
                <a:ea typeface="Poppins"/>
                <a:cs typeface="Poppins"/>
                <a:sym typeface="Poppins"/>
              </a:rPr>
              <a:t>Provide actionable insights for security improvement</a:t>
            </a:r>
          </a:p>
          <a:p>
            <a:pPr marL="388620" lvl="1" indent="-194310" algn="just">
              <a:lnSpc>
                <a:spcPts val="2520"/>
              </a:lnSpc>
              <a:buFont typeface="Arial"/>
              <a:buChar char="•"/>
            </a:pPr>
            <a:r>
              <a:rPr lang="en-US" sz="1800">
                <a:solidFill>
                  <a:srgbClr val="FFFFFF"/>
                </a:solidFill>
                <a:latin typeface="Poppins"/>
                <a:ea typeface="Poppins"/>
                <a:cs typeface="Poppins"/>
                <a:sym typeface="Poppins"/>
              </a:rPr>
              <a:t>Highlight high-risk patterns and attack trends</a:t>
            </a:r>
          </a:p>
        </p:txBody>
      </p:sp>
      <p:sp>
        <p:nvSpPr>
          <p:cNvPr id="8" name="TextBox 8"/>
          <p:cNvSpPr txBox="1"/>
          <p:nvPr/>
        </p:nvSpPr>
        <p:spPr>
          <a:xfrm>
            <a:off x="10525125" y="3060089"/>
            <a:ext cx="4171130" cy="358420"/>
          </a:xfrm>
          <a:prstGeom prst="rect">
            <a:avLst/>
          </a:prstGeom>
        </p:spPr>
        <p:txBody>
          <a:bodyPr lIns="0" tIns="0" rIns="0" bIns="0" rtlCol="0" anchor="t">
            <a:spAutoFit/>
          </a:bodyPr>
          <a:lstStyle/>
          <a:p>
            <a:pPr algn="just">
              <a:lnSpc>
                <a:spcPts val="2819"/>
              </a:lnSpc>
            </a:pPr>
            <a:r>
              <a:rPr lang="en-US" sz="2013">
                <a:solidFill>
                  <a:srgbClr val="6CE5E8"/>
                </a:solidFill>
                <a:latin typeface="Poppins"/>
                <a:ea typeface="Poppins"/>
                <a:cs typeface="Poppins"/>
                <a:sym typeface="Poppins"/>
              </a:rPr>
              <a:t>Insight Generation</a:t>
            </a:r>
          </a:p>
        </p:txBody>
      </p:sp>
      <p:sp>
        <p:nvSpPr>
          <p:cNvPr id="9" name="AutoShape 9"/>
          <p:cNvSpPr/>
          <p:nvPr/>
        </p:nvSpPr>
        <p:spPr>
          <a:xfrm>
            <a:off x="10525125" y="3660986"/>
            <a:ext cx="4972973" cy="0"/>
          </a:xfrm>
          <a:prstGeom prst="line">
            <a:avLst/>
          </a:prstGeom>
          <a:ln w="38100" cap="rnd">
            <a:solidFill>
              <a:srgbClr val="FFFFFF"/>
            </a:solidFill>
            <a:prstDash val="solid"/>
            <a:headEnd type="none" w="sm" len="sm"/>
            <a:tailEnd type="none" w="sm" len="sm"/>
          </a:ln>
        </p:spPr>
      </p:sp>
      <p:sp>
        <p:nvSpPr>
          <p:cNvPr id="10" name="TextBox 10"/>
          <p:cNvSpPr txBox="1"/>
          <p:nvPr/>
        </p:nvSpPr>
        <p:spPr>
          <a:xfrm>
            <a:off x="14980576" y="3049377"/>
            <a:ext cx="517521" cy="385742"/>
          </a:xfrm>
          <a:prstGeom prst="rect">
            <a:avLst/>
          </a:prstGeom>
        </p:spPr>
        <p:txBody>
          <a:bodyPr lIns="0" tIns="0" rIns="0" bIns="0" rtlCol="0" anchor="t">
            <a:spAutoFit/>
          </a:bodyPr>
          <a:lstStyle/>
          <a:p>
            <a:pPr algn="r">
              <a:lnSpc>
                <a:spcPts val="3017"/>
              </a:lnSpc>
            </a:pPr>
            <a:r>
              <a:rPr lang="en-US" sz="2155" spc="-53">
                <a:solidFill>
                  <a:srgbClr val="FFFFFF"/>
                </a:solidFill>
                <a:latin typeface="Poppins"/>
                <a:ea typeface="Poppins"/>
                <a:cs typeface="Poppins"/>
                <a:sym typeface="Poppins"/>
              </a:rPr>
              <a:t>03</a:t>
            </a:r>
          </a:p>
        </p:txBody>
      </p:sp>
      <p:sp>
        <p:nvSpPr>
          <p:cNvPr id="11" name="TextBox 11"/>
          <p:cNvSpPr txBox="1"/>
          <p:nvPr/>
        </p:nvSpPr>
        <p:spPr>
          <a:xfrm>
            <a:off x="2751802" y="6813813"/>
            <a:ext cx="4972973" cy="1268730"/>
          </a:xfrm>
          <a:prstGeom prst="rect">
            <a:avLst/>
          </a:prstGeom>
        </p:spPr>
        <p:txBody>
          <a:bodyPr lIns="0" tIns="0" rIns="0" bIns="0" rtlCol="0" anchor="t">
            <a:spAutoFit/>
          </a:bodyPr>
          <a:lstStyle/>
          <a:p>
            <a:pPr marL="388620" lvl="1" indent="-194310" algn="just">
              <a:lnSpc>
                <a:spcPts val="2520"/>
              </a:lnSpc>
              <a:buFont typeface="Arial"/>
              <a:buChar char="•"/>
            </a:pPr>
            <a:r>
              <a:rPr lang="en-US" sz="1800">
                <a:solidFill>
                  <a:srgbClr val="FFFFFF"/>
                </a:solidFill>
                <a:latin typeface="Poppins"/>
                <a:ea typeface="Poppins"/>
                <a:cs typeface="Poppins"/>
                <a:sym typeface="Poppins"/>
              </a:rPr>
              <a:t>Analyze traffic patterns and behavior</a:t>
            </a:r>
          </a:p>
          <a:p>
            <a:pPr marL="388620" lvl="1" indent="-194310" algn="just">
              <a:lnSpc>
                <a:spcPts val="2520"/>
              </a:lnSpc>
              <a:buFont typeface="Arial"/>
              <a:buChar char="•"/>
            </a:pPr>
            <a:r>
              <a:rPr lang="en-US" sz="1800">
                <a:solidFill>
                  <a:srgbClr val="FFFFFF"/>
                </a:solidFill>
                <a:latin typeface="Poppins"/>
                <a:ea typeface="Poppins"/>
                <a:cs typeface="Poppins"/>
                <a:sym typeface="Poppins"/>
              </a:rPr>
              <a:t>Identify anomalies and unusual activity</a:t>
            </a:r>
          </a:p>
          <a:p>
            <a:pPr marL="388620" lvl="1" indent="-194310" algn="just">
              <a:lnSpc>
                <a:spcPts val="2520"/>
              </a:lnSpc>
              <a:buFont typeface="Arial"/>
              <a:buChar char="•"/>
            </a:pPr>
            <a:r>
              <a:rPr lang="en-US" sz="1800">
                <a:solidFill>
                  <a:srgbClr val="FFFFFF"/>
                </a:solidFill>
                <a:latin typeface="Poppins"/>
                <a:ea typeface="Poppins"/>
                <a:cs typeface="Poppins"/>
                <a:sym typeface="Poppins"/>
              </a:rPr>
              <a:t>Discover relationships between features and attacks</a:t>
            </a:r>
          </a:p>
        </p:txBody>
      </p:sp>
      <p:sp>
        <p:nvSpPr>
          <p:cNvPr id="12" name="TextBox 12"/>
          <p:cNvSpPr txBox="1"/>
          <p:nvPr/>
        </p:nvSpPr>
        <p:spPr>
          <a:xfrm>
            <a:off x="10525125" y="6813813"/>
            <a:ext cx="4972973" cy="1897380"/>
          </a:xfrm>
          <a:prstGeom prst="rect">
            <a:avLst/>
          </a:prstGeom>
        </p:spPr>
        <p:txBody>
          <a:bodyPr lIns="0" tIns="0" rIns="0" bIns="0" rtlCol="0" anchor="t">
            <a:spAutoFit/>
          </a:bodyPr>
          <a:lstStyle/>
          <a:p>
            <a:pPr marL="388620" lvl="1" indent="-194310" algn="just">
              <a:lnSpc>
                <a:spcPts val="2520"/>
              </a:lnSpc>
              <a:buFont typeface="Arial"/>
              <a:buChar char="•"/>
            </a:pPr>
            <a:r>
              <a:rPr lang="en-US" sz="1800">
                <a:solidFill>
                  <a:srgbClr val="FFFFFF"/>
                </a:solidFill>
                <a:latin typeface="Poppins"/>
                <a:ea typeface="Poppins"/>
                <a:cs typeface="Poppins"/>
                <a:sym typeface="Poppins"/>
              </a:rPr>
              <a:t>Build models to classify normal vs malicious traffic</a:t>
            </a:r>
          </a:p>
          <a:p>
            <a:pPr marL="388620" lvl="1" indent="-194310" algn="just">
              <a:lnSpc>
                <a:spcPts val="2520"/>
              </a:lnSpc>
              <a:buFont typeface="Arial"/>
              <a:buChar char="•"/>
            </a:pPr>
            <a:r>
              <a:rPr lang="en-US" sz="1800">
                <a:solidFill>
                  <a:srgbClr val="FFFFFF"/>
                </a:solidFill>
                <a:latin typeface="Poppins"/>
                <a:ea typeface="Poppins"/>
                <a:cs typeface="Poppins"/>
                <a:sym typeface="Poppins"/>
              </a:rPr>
              <a:t>Evaluate performance and optimize accuracy</a:t>
            </a:r>
          </a:p>
          <a:p>
            <a:pPr marL="388620" lvl="1" indent="-194310" algn="just">
              <a:lnSpc>
                <a:spcPts val="2520"/>
              </a:lnSpc>
              <a:buFont typeface="Arial"/>
              <a:buChar char="•"/>
            </a:pPr>
            <a:r>
              <a:rPr lang="en-US" sz="1800">
                <a:solidFill>
                  <a:srgbClr val="FFFFFF"/>
                </a:solidFill>
                <a:latin typeface="Poppins"/>
                <a:ea typeface="Poppins"/>
                <a:cs typeface="Poppins"/>
                <a:sym typeface="Poppins"/>
              </a:rPr>
              <a:t>Handle class imbalance and improve detection</a:t>
            </a:r>
          </a:p>
        </p:txBody>
      </p:sp>
      <p:sp>
        <p:nvSpPr>
          <p:cNvPr id="13" name="TextBox 13"/>
          <p:cNvSpPr txBox="1"/>
          <p:nvPr/>
        </p:nvSpPr>
        <p:spPr>
          <a:xfrm>
            <a:off x="10562120" y="6022416"/>
            <a:ext cx="4171130" cy="358420"/>
          </a:xfrm>
          <a:prstGeom prst="rect">
            <a:avLst/>
          </a:prstGeom>
        </p:spPr>
        <p:txBody>
          <a:bodyPr lIns="0" tIns="0" rIns="0" bIns="0" rtlCol="0" anchor="t">
            <a:spAutoFit/>
          </a:bodyPr>
          <a:lstStyle/>
          <a:p>
            <a:pPr algn="just">
              <a:lnSpc>
                <a:spcPts val="2819"/>
              </a:lnSpc>
            </a:pPr>
            <a:r>
              <a:rPr lang="en-US" sz="2013">
                <a:solidFill>
                  <a:srgbClr val="6CE5E8"/>
                </a:solidFill>
                <a:latin typeface="Poppins"/>
                <a:ea typeface="Poppins"/>
                <a:cs typeface="Poppins"/>
                <a:sym typeface="Poppins"/>
              </a:rPr>
              <a:t>Machine Learning Modeling</a:t>
            </a:r>
          </a:p>
        </p:txBody>
      </p:sp>
      <p:sp>
        <p:nvSpPr>
          <p:cNvPr id="14" name="AutoShape 14"/>
          <p:cNvSpPr/>
          <p:nvPr/>
        </p:nvSpPr>
        <p:spPr>
          <a:xfrm>
            <a:off x="10562120" y="6623313"/>
            <a:ext cx="4972973" cy="0"/>
          </a:xfrm>
          <a:prstGeom prst="line">
            <a:avLst/>
          </a:prstGeom>
          <a:ln w="38100" cap="rnd">
            <a:solidFill>
              <a:srgbClr val="FFFFFF"/>
            </a:solidFill>
            <a:prstDash val="solid"/>
            <a:headEnd type="none" w="sm" len="sm"/>
            <a:tailEnd type="none" w="sm" len="sm"/>
          </a:ln>
        </p:spPr>
      </p:sp>
      <p:sp>
        <p:nvSpPr>
          <p:cNvPr id="15" name="TextBox 15"/>
          <p:cNvSpPr txBox="1"/>
          <p:nvPr/>
        </p:nvSpPr>
        <p:spPr>
          <a:xfrm>
            <a:off x="15017571" y="6011703"/>
            <a:ext cx="517521" cy="385742"/>
          </a:xfrm>
          <a:prstGeom prst="rect">
            <a:avLst/>
          </a:prstGeom>
        </p:spPr>
        <p:txBody>
          <a:bodyPr lIns="0" tIns="0" rIns="0" bIns="0" rtlCol="0" anchor="t">
            <a:spAutoFit/>
          </a:bodyPr>
          <a:lstStyle/>
          <a:p>
            <a:pPr algn="r">
              <a:lnSpc>
                <a:spcPts val="3017"/>
              </a:lnSpc>
            </a:pPr>
            <a:r>
              <a:rPr lang="en-US" sz="2155" spc="-53">
                <a:solidFill>
                  <a:srgbClr val="FFFFFF"/>
                </a:solidFill>
                <a:latin typeface="Poppins"/>
                <a:ea typeface="Poppins"/>
                <a:cs typeface="Poppins"/>
                <a:sym typeface="Poppins"/>
              </a:rPr>
              <a:t>04</a:t>
            </a:r>
          </a:p>
        </p:txBody>
      </p:sp>
      <p:sp>
        <p:nvSpPr>
          <p:cNvPr id="16" name="AutoShape 16"/>
          <p:cNvSpPr/>
          <p:nvPr/>
        </p:nvSpPr>
        <p:spPr>
          <a:xfrm flipV="1">
            <a:off x="9124950" y="3164544"/>
            <a:ext cx="0" cy="5753865"/>
          </a:xfrm>
          <a:prstGeom prst="line">
            <a:avLst/>
          </a:prstGeom>
          <a:ln w="38100" cap="flat">
            <a:solidFill>
              <a:srgbClr val="FFFFFF"/>
            </a:solidFill>
            <a:prstDash val="solid"/>
            <a:headEnd type="diamond" w="lg" len="lg"/>
            <a:tailEnd type="diamond" w="lg" len="lg"/>
          </a:ln>
        </p:spPr>
      </p:sp>
      <p:sp>
        <p:nvSpPr>
          <p:cNvPr id="17" name="TextBox 17"/>
          <p:cNvSpPr txBox="1"/>
          <p:nvPr/>
        </p:nvSpPr>
        <p:spPr>
          <a:xfrm>
            <a:off x="2752908" y="3079139"/>
            <a:ext cx="4455451" cy="358420"/>
          </a:xfrm>
          <a:prstGeom prst="rect">
            <a:avLst/>
          </a:prstGeom>
        </p:spPr>
        <p:txBody>
          <a:bodyPr lIns="0" tIns="0" rIns="0" bIns="0" rtlCol="0" anchor="t">
            <a:spAutoFit/>
          </a:bodyPr>
          <a:lstStyle/>
          <a:p>
            <a:pPr algn="just">
              <a:lnSpc>
                <a:spcPts val="2819"/>
              </a:lnSpc>
            </a:pPr>
            <a:r>
              <a:rPr lang="en-US" sz="2013">
                <a:solidFill>
                  <a:srgbClr val="6CE5E8"/>
                </a:solidFill>
                <a:latin typeface="Poppins"/>
                <a:ea typeface="Poppins"/>
                <a:cs typeface="Poppins"/>
                <a:sym typeface="Poppins"/>
              </a:rPr>
              <a:t>Data Understanding &amp; Preparation</a:t>
            </a:r>
          </a:p>
        </p:txBody>
      </p:sp>
      <p:sp>
        <p:nvSpPr>
          <p:cNvPr id="18" name="AutoShape 18"/>
          <p:cNvSpPr/>
          <p:nvPr/>
        </p:nvSpPr>
        <p:spPr>
          <a:xfrm>
            <a:off x="2752908" y="3680036"/>
            <a:ext cx="4972973" cy="0"/>
          </a:xfrm>
          <a:prstGeom prst="line">
            <a:avLst/>
          </a:prstGeom>
          <a:ln w="38100" cap="rnd">
            <a:solidFill>
              <a:srgbClr val="FFFFFF"/>
            </a:solidFill>
            <a:prstDash val="solid"/>
            <a:headEnd type="none" w="sm" len="sm"/>
            <a:tailEnd type="none" w="sm" len="sm"/>
          </a:ln>
        </p:spPr>
      </p:sp>
      <p:sp>
        <p:nvSpPr>
          <p:cNvPr id="19" name="TextBox 19"/>
          <p:cNvSpPr txBox="1"/>
          <p:nvPr/>
        </p:nvSpPr>
        <p:spPr>
          <a:xfrm>
            <a:off x="7208359" y="3068427"/>
            <a:ext cx="517521" cy="385742"/>
          </a:xfrm>
          <a:prstGeom prst="rect">
            <a:avLst/>
          </a:prstGeom>
        </p:spPr>
        <p:txBody>
          <a:bodyPr lIns="0" tIns="0" rIns="0" bIns="0" rtlCol="0" anchor="t">
            <a:spAutoFit/>
          </a:bodyPr>
          <a:lstStyle/>
          <a:p>
            <a:pPr algn="r">
              <a:lnSpc>
                <a:spcPts val="3017"/>
              </a:lnSpc>
            </a:pPr>
            <a:r>
              <a:rPr lang="en-US" sz="2155" spc="-53">
                <a:solidFill>
                  <a:srgbClr val="FFFFFF"/>
                </a:solidFill>
                <a:latin typeface="Poppins"/>
                <a:ea typeface="Poppins"/>
                <a:cs typeface="Poppins"/>
                <a:sym typeface="Poppins"/>
              </a:rPr>
              <a:t>01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b="-18592"/>
            </a:stretch>
          </a:blipFill>
        </p:spPr>
      </p:sp>
      <p:grpSp>
        <p:nvGrpSpPr>
          <p:cNvPr id="3" name="Group 3"/>
          <p:cNvGrpSpPr/>
          <p:nvPr/>
        </p:nvGrpSpPr>
        <p:grpSpPr>
          <a:xfrm>
            <a:off x="0" y="5723048"/>
            <a:ext cx="18288000" cy="4563952"/>
            <a:chOff x="0" y="0"/>
            <a:chExt cx="4816593" cy="1202029"/>
          </a:xfrm>
        </p:grpSpPr>
        <p:sp>
          <p:nvSpPr>
            <p:cNvPr id="4" name="Freeform 4"/>
            <p:cNvSpPr/>
            <p:nvPr/>
          </p:nvSpPr>
          <p:spPr>
            <a:xfrm>
              <a:off x="0" y="0"/>
              <a:ext cx="4816592" cy="1202028"/>
            </a:xfrm>
            <a:custGeom>
              <a:avLst/>
              <a:gdLst/>
              <a:ahLst/>
              <a:cxnLst/>
              <a:rect l="l" t="t" r="r" b="b"/>
              <a:pathLst>
                <a:path w="4816592" h="1202028">
                  <a:moveTo>
                    <a:pt x="0" y="0"/>
                  </a:moveTo>
                  <a:lnTo>
                    <a:pt x="4816592" y="0"/>
                  </a:lnTo>
                  <a:lnTo>
                    <a:pt x="4816592" y="1202028"/>
                  </a:lnTo>
                  <a:lnTo>
                    <a:pt x="0" y="1202028"/>
                  </a:lnTo>
                  <a:close/>
                </a:path>
              </a:pathLst>
            </a:custGeom>
            <a:gradFill rotWithShape="1">
              <a:gsLst>
                <a:gs pos="0">
                  <a:srgbClr val="04153F">
                    <a:alpha val="88000"/>
                  </a:srgbClr>
                </a:gs>
                <a:gs pos="100000">
                  <a:srgbClr val="17597F">
                    <a:alpha val="88000"/>
                  </a:srgbClr>
                </a:gs>
              </a:gsLst>
              <a:lin ang="2700000"/>
            </a:gradFill>
          </p:spPr>
        </p:sp>
        <p:sp>
          <p:nvSpPr>
            <p:cNvPr id="5" name="TextBox 5"/>
            <p:cNvSpPr txBox="1"/>
            <p:nvPr/>
          </p:nvSpPr>
          <p:spPr>
            <a:xfrm>
              <a:off x="0" y="-38100"/>
              <a:ext cx="4816593" cy="1240129"/>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rot="-8687136">
            <a:off x="8933385" y="8623400"/>
            <a:ext cx="222699" cy="269196"/>
          </a:xfrm>
          <a:custGeom>
            <a:avLst/>
            <a:gdLst/>
            <a:ahLst/>
            <a:cxnLst/>
            <a:rect l="l" t="t" r="r" b="b"/>
            <a:pathLst>
              <a:path w="222699" h="269196">
                <a:moveTo>
                  <a:pt x="0" y="0"/>
                </a:moveTo>
                <a:lnTo>
                  <a:pt x="222699" y="0"/>
                </a:lnTo>
                <a:lnTo>
                  <a:pt x="222699" y="269197"/>
                </a:lnTo>
                <a:lnTo>
                  <a:pt x="0" y="26919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028700" y="8846448"/>
            <a:ext cx="10265296" cy="505158"/>
          </a:xfrm>
          <a:prstGeom prst="rect">
            <a:avLst/>
          </a:prstGeom>
        </p:spPr>
        <p:txBody>
          <a:bodyPr lIns="0" tIns="0" rIns="0" bIns="0" rtlCol="0" anchor="t">
            <a:spAutoFit/>
          </a:bodyPr>
          <a:lstStyle/>
          <a:p>
            <a:pPr algn="l">
              <a:lnSpc>
                <a:spcPts val="3907"/>
              </a:lnSpc>
            </a:pPr>
            <a:r>
              <a:rPr lang="en-US" sz="2790" spc="-69">
                <a:solidFill>
                  <a:srgbClr val="FFFFFF"/>
                </a:solidFill>
                <a:latin typeface="Poppins"/>
                <a:ea typeface="Poppins"/>
                <a:cs typeface="Poppins"/>
                <a:sym typeface="Poppins"/>
              </a:rPr>
              <a:t>Key Variables Used for Network Traffic Analysis</a:t>
            </a:r>
          </a:p>
        </p:txBody>
      </p:sp>
      <p:sp>
        <p:nvSpPr>
          <p:cNvPr id="8" name="AutoShape 8"/>
          <p:cNvSpPr/>
          <p:nvPr/>
        </p:nvSpPr>
        <p:spPr>
          <a:xfrm>
            <a:off x="1028700" y="9542251"/>
            <a:ext cx="7847448" cy="0"/>
          </a:xfrm>
          <a:prstGeom prst="line">
            <a:avLst/>
          </a:prstGeom>
          <a:ln w="19050" cap="rnd">
            <a:solidFill>
              <a:srgbClr val="FFFFFF"/>
            </a:solidFill>
            <a:prstDash val="solid"/>
            <a:headEnd type="none" w="sm" len="sm"/>
            <a:tailEnd type="none" w="sm" len="sm"/>
          </a:ln>
        </p:spPr>
      </p:sp>
      <p:sp>
        <p:nvSpPr>
          <p:cNvPr id="9" name="TextBox 9"/>
          <p:cNvSpPr txBox="1"/>
          <p:nvPr/>
        </p:nvSpPr>
        <p:spPr>
          <a:xfrm>
            <a:off x="1028700" y="6812022"/>
            <a:ext cx="4890798" cy="1207080"/>
          </a:xfrm>
          <a:prstGeom prst="rect">
            <a:avLst/>
          </a:prstGeom>
        </p:spPr>
        <p:txBody>
          <a:bodyPr lIns="0" tIns="0" rIns="0" bIns="0" rtlCol="0" anchor="t">
            <a:spAutoFit/>
          </a:bodyPr>
          <a:lstStyle/>
          <a:p>
            <a:pPr algn="l">
              <a:lnSpc>
                <a:spcPts val="8770"/>
              </a:lnSpc>
            </a:pPr>
            <a:r>
              <a:rPr lang="en-US" sz="8197" b="1">
                <a:solidFill>
                  <a:srgbClr val="FFFFFF"/>
                </a:solidFill>
                <a:latin typeface="Poppins Bold"/>
                <a:ea typeface="Poppins Bold"/>
                <a:cs typeface="Poppins Bold"/>
                <a:sym typeface="Poppins Bold"/>
              </a:rPr>
              <a:t>DATASET</a:t>
            </a:r>
          </a:p>
        </p:txBody>
      </p:sp>
      <p:sp>
        <p:nvSpPr>
          <p:cNvPr id="10" name="TextBox 10"/>
          <p:cNvSpPr txBox="1"/>
          <p:nvPr/>
        </p:nvSpPr>
        <p:spPr>
          <a:xfrm>
            <a:off x="5919498" y="6812022"/>
            <a:ext cx="7068838" cy="1211660"/>
          </a:xfrm>
          <a:prstGeom prst="rect">
            <a:avLst/>
          </a:prstGeom>
        </p:spPr>
        <p:txBody>
          <a:bodyPr lIns="0" tIns="0" rIns="0" bIns="0" rtlCol="0" anchor="t">
            <a:spAutoFit/>
          </a:bodyPr>
          <a:lstStyle/>
          <a:p>
            <a:pPr algn="l">
              <a:lnSpc>
                <a:spcPts val="8770"/>
              </a:lnSpc>
            </a:pPr>
            <a:r>
              <a:rPr lang="en-US" sz="8197" b="1">
                <a:solidFill>
                  <a:srgbClr val="91FFF9"/>
                </a:solidFill>
                <a:latin typeface="Poppins Bold"/>
                <a:ea typeface="Poppins Bold"/>
                <a:cs typeface="Poppins Bold"/>
                <a:sym typeface="Poppins Bold"/>
              </a:rPr>
              <a:t>OVERVIEW</a:t>
            </a:r>
          </a:p>
        </p:txBody>
      </p:sp>
      <p:sp>
        <p:nvSpPr>
          <p:cNvPr id="11" name="TextBox 11"/>
          <p:cNvSpPr txBox="1"/>
          <p:nvPr/>
        </p:nvSpPr>
        <p:spPr>
          <a:xfrm>
            <a:off x="1028700" y="7720514"/>
            <a:ext cx="4890798" cy="1207080"/>
          </a:xfrm>
          <a:prstGeom prst="rect">
            <a:avLst/>
          </a:prstGeom>
        </p:spPr>
        <p:txBody>
          <a:bodyPr lIns="0" tIns="0" rIns="0" bIns="0" rtlCol="0" anchor="t">
            <a:spAutoFit/>
          </a:bodyPr>
          <a:lstStyle/>
          <a:p>
            <a:pPr algn="l">
              <a:lnSpc>
                <a:spcPts val="8770"/>
              </a:lnSpc>
            </a:pPr>
            <a:r>
              <a:rPr lang="en-US" sz="8197" b="1">
                <a:solidFill>
                  <a:srgbClr val="FFFFFF"/>
                </a:solidFill>
                <a:latin typeface="Poppins Bold"/>
                <a:ea typeface="Poppins Bold"/>
                <a:cs typeface="Poppins Bold"/>
                <a:sym typeface="Poppins Bold"/>
              </a:rPr>
              <a:t>&amp;</a:t>
            </a:r>
          </a:p>
        </p:txBody>
      </p:sp>
      <p:sp>
        <p:nvSpPr>
          <p:cNvPr id="12" name="TextBox 12"/>
          <p:cNvSpPr txBox="1"/>
          <p:nvPr/>
        </p:nvSpPr>
        <p:spPr>
          <a:xfrm>
            <a:off x="2144483" y="7715935"/>
            <a:ext cx="7068838" cy="1211660"/>
          </a:xfrm>
          <a:prstGeom prst="rect">
            <a:avLst/>
          </a:prstGeom>
        </p:spPr>
        <p:txBody>
          <a:bodyPr lIns="0" tIns="0" rIns="0" bIns="0" rtlCol="0" anchor="t">
            <a:spAutoFit/>
          </a:bodyPr>
          <a:lstStyle/>
          <a:p>
            <a:pPr algn="l">
              <a:lnSpc>
                <a:spcPts val="8770"/>
              </a:lnSpc>
            </a:pPr>
            <a:r>
              <a:rPr lang="en-US" sz="8197" b="1">
                <a:solidFill>
                  <a:srgbClr val="91FFF9"/>
                </a:solidFill>
                <a:latin typeface="Poppins Bold"/>
                <a:ea typeface="Poppins Bold"/>
                <a:cs typeface="Poppins Bold"/>
                <a:sym typeface="Poppins Bold"/>
              </a:rPr>
              <a:t>DICTIONARY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53F">
                <a:alpha val="100000"/>
              </a:srgbClr>
            </a:gs>
            <a:gs pos="100000">
              <a:srgbClr val="17597F">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2752908" y="1368591"/>
            <a:ext cx="10505661" cy="1143281"/>
            <a:chOff x="0" y="0"/>
            <a:chExt cx="14007548" cy="1524375"/>
          </a:xfrm>
        </p:grpSpPr>
        <p:grpSp>
          <p:nvGrpSpPr>
            <p:cNvPr id="3" name="Group 3"/>
            <p:cNvGrpSpPr/>
            <p:nvPr/>
          </p:nvGrpSpPr>
          <p:grpSpPr>
            <a:xfrm>
              <a:off x="0" y="136210"/>
              <a:ext cx="1475756" cy="1238425"/>
              <a:chOff x="0" y="0"/>
              <a:chExt cx="306253" cy="257002"/>
            </a:xfrm>
          </p:grpSpPr>
          <p:sp>
            <p:nvSpPr>
              <p:cNvPr id="4" name="Freeform 4"/>
              <p:cNvSpPr/>
              <p:nvPr/>
            </p:nvSpPr>
            <p:spPr>
              <a:xfrm>
                <a:off x="0" y="0"/>
                <a:ext cx="306253" cy="257002"/>
              </a:xfrm>
              <a:custGeom>
                <a:avLst/>
                <a:gdLst/>
                <a:ahLst/>
                <a:cxnLst/>
                <a:rect l="l" t="t" r="r" b="b"/>
                <a:pathLst>
                  <a:path w="306253" h="257002">
                    <a:moveTo>
                      <a:pt x="0" y="0"/>
                    </a:moveTo>
                    <a:lnTo>
                      <a:pt x="306253" y="0"/>
                    </a:lnTo>
                    <a:lnTo>
                      <a:pt x="306253" y="257002"/>
                    </a:lnTo>
                    <a:lnTo>
                      <a:pt x="0" y="257002"/>
                    </a:lnTo>
                    <a:close/>
                  </a:path>
                </a:pathLst>
              </a:custGeom>
              <a:solidFill>
                <a:srgbClr val="91FFF9"/>
              </a:solidFill>
              <a:ln cap="sq">
                <a:noFill/>
                <a:prstDash val="solid"/>
                <a:miter/>
              </a:ln>
            </p:spPr>
          </p:sp>
          <p:sp>
            <p:nvSpPr>
              <p:cNvPr id="5" name="TextBox 5"/>
              <p:cNvSpPr txBox="1"/>
              <p:nvPr/>
            </p:nvSpPr>
            <p:spPr>
              <a:xfrm>
                <a:off x="0" y="-9525"/>
                <a:ext cx="306253" cy="266527"/>
              </a:xfrm>
              <a:prstGeom prst="rect">
                <a:avLst/>
              </a:prstGeom>
            </p:spPr>
            <p:txBody>
              <a:bodyPr lIns="50800" tIns="50800" rIns="50800" bIns="50800" rtlCol="0" anchor="ctr"/>
              <a:lstStyle/>
              <a:p>
                <a:pPr algn="ctr">
                  <a:lnSpc>
                    <a:spcPts val="3459"/>
                  </a:lnSpc>
                </a:pPr>
                <a:r>
                  <a:rPr lang="en-US" sz="3117" b="1">
                    <a:gradFill>
                      <a:gsLst>
                        <a:gs pos="0">
                          <a:srgbClr val="04153F">
                            <a:alpha val="100000"/>
                          </a:srgbClr>
                        </a:gs>
                        <a:gs pos="100000">
                          <a:srgbClr val="17597F">
                            <a:alpha val="100000"/>
                          </a:srgbClr>
                        </a:gs>
                      </a:gsLst>
                      <a:lin ang="2700000"/>
                    </a:gradFill>
                    <a:latin typeface="Poppins Bold"/>
                    <a:ea typeface="Poppins Bold"/>
                    <a:cs typeface="Poppins Bold"/>
                    <a:sym typeface="Poppins Bold"/>
                  </a:rPr>
                  <a:t>01</a:t>
                </a:r>
              </a:p>
            </p:txBody>
          </p:sp>
        </p:grpSp>
        <p:sp>
          <p:nvSpPr>
            <p:cNvPr id="6" name="TextBox 6"/>
            <p:cNvSpPr txBox="1"/>
            <p:nvPr/>
          </p:nvSpPr>
          <p:spPr>
            <a:xfrm>
              <a:off x="1606852" y="19050"/>
              <a:ext cx="12400696" cy="1505325"/>
            </a:xfrm>
            <a:prstGeom prst="rect">
              <a:avLst/>
            </a:prstGeom>
          </p:spPr>
          <p:txBody>
            <a:bodyPr lIns="0" tIns="0" rIns="0" bIns="0" rtlCol="0" anchor="t">
              <a:spAutoFit/>
            </a:bodyPr>
            <a:lstStyle/>
            <a:p>
              <a:pPr algn="r">
                <a:lnSpc>
                  <a:spcPts val="8043"/>
                </a:lnSpc>
              </a:pPr>
              <a:r>
                <a:rPr lang="en-US" sz="7517" b="1">
                  <a:solidFill>
                    <a:srgbClr val="FFFFFF"/>
                  </a:solidFill>
                  <a:latin typeface="Poppins Bold"/>
                  <a:ea typeface="Poppins Bold"/>
                  <a:cs typeface="Poppins Bold"/>
                  <a:sym typeface="Poppins Bold"/>
                </a:rPr>
                <a:t>Dataset Overview</a:t>
              </a:r>
            </a:p>
          </p:txBody>
        </p:sp>
      </p:grpSp>
      <p:sp>
        <p:nvSpPr>
          <p:cNvPr id="7" name="TextBox 7"/>
          <p:cNvSpPr txBox="1"/>
          <p:nvPr/>
        </p:nvSpPr>
        <p:spPr>
          <a:xfrm>
            <a:off x="2752908" y="4269729"/>
            <a:ext cx="4972973" cy="2825395"/>
          </a:xfrm>
          <a:prstGeom prst="rect">
            <a:avLst/>
          </a:prstGeom>
        </p:spPr>
        <p:txBody>
          <a:bodyPr lIns="0" tIns="0" rIns="0" bIns="0" rtlCol="0" anchor="t">
            <a:spAutoFit/>
          </a:bodyPr>
          <a:lstStyle/>
          <a:p>
            <a:pPr algn="just">
              <a:lnSpc>
                <a:spcPts val="2819"/>
              </a:lnSpc>
            </a:pPr>
            <a:r>
              <a:rPr lang="en-US" sz="2013">
                <a:solidFill>
                  <a:srgbClr val="FFFFFF"/>
                </a:solidFill>
                <a:latin typeface="Poppins"/>
                <a:ea typeface="Poppins"/>
                <a:cs typeface="Poppins"/>
                <a:sym typeface="Poppins"/>
              </a:rPr>
              <a:t>The </a:t>
            </a:r>
            <a:r>
              <a:rPr lang="en-US" sz="2013" b="1">
                <a:solidFill>
                  <a:srgbClr val="FFFFFF"/>
                </a:solidFill>
                <a:latin typeface="Poppins Bold"/>
                <a:ea typeface="Poppins Bold"/>
                <a:cs typeface="Poppins Bold"/>
                <a:sym typeface="Poppins Bold"/>
              </a:rPr>
              <a:t>UNSW-NB15</a:t>
            </a:r>
            <a:r>
              <a:rPr lang="en-US" sz="2013">
                <a:solidFill>
                  <a:srgbClr val="FFFFFF"/>
                </a:solidFill>
                <a:latin typeface="Poppins"/>
                <a:ea typeface="Poppins"/>
                <a:cs typeface="Poppins"/>
                <a:sym typeface="Poppins"/>
              </a:rPr>
              <a:t> dataset is a network intrusion detection dataset that captures real-world network traffic along with various cyber attack scenarios. Each record represents a network connection with multiple features describing traffic behavior, protocol, and data flow.</a:t>
            </a:r>
          </a:p>
        </p:txBody>
      </p:sp>
      <p:sp>
        <p:nvSpPr>
          <p:cNvPr id="8" name="TextBox 8"/>
          <p:cNvSpPr txBox="1"/>
          <p:nvPr/>
        </p:nvSpPr>
        <p:spPr>
          <a:xfrm>
            <a:off x="9463081" y="2751774"/>
            <a:ext cx="5913509" cy="358420"/>
          </a:xfrm>
          <a:prstGeom prst="rect">
            <a:avLst/>
          </a:prstGeom>
        </p:spPr>
        <p:txBody>
          <a:bodyPr lIns="0" tIns="0" rIns="0" bIns="0" rtlCol="0" anchor="t">
            <a:spAutoFit/>
          </a:bodyPr>
          <a:lstStyle/>
          <a:p>
            <a:pPr algn="just">
              <a:lnSpc>
                <a:spcPts val="2819"/>
              </a:lnSpc>
            </a:pPr>
            <a:r>
              <a:rPr lang="en-US" sz="2013">
                <a:solidFill>
                  <a:srgbClr val="6CE5E8"/>
                </a:solidFill>
                <a:latin typeface="Poppins"/>
                <a:ea typeface="Poppins"/>
                <a:cs typeface="Poppins"/>
                <a:sym typeface="Poppins"/>
              </a:rPr>
              <a:t>Key Characteristics</a:t>
            </a:r>
          </a:p>
        </p:txBody>
      </p:sp>
      <p:sp>
        <p:nvSpPr>
          <p:cNvPr id="9" name="AutoShape 9"/>
          <p:cNvSpPr/>
          <p:nvPr/>
        </p:nvSpPr>
        <p:spPr>
          <a:xfrm>
            <a:off x="9463081" y="3352671"/>
            <a:ext cx="7050301" cy="0"/>
          </a:xfrm>
          <a:prstGeom prst="line">
            <a:avLst/>
          </a:prstGeom>
          <a:ln w="38100" cap="rnd">
            <a:solidFill>
              <a:srgbClr val="FFFFFF"/>
            </a:solidFill>
            <a:prstDash val="solid"/>
            <a:headEnd type="none" w="sm" len="sm"/>
            <a:tailEnd type="none" w="sm" len="sm"/>
          </a:ln>
        </p:spPr>
      </p:sp>
      <p:sp>
        <p:nvSpPr>
          <p:cNvPr id="10" name="TextBox 10"/>
          <p:cNvSpPr txBox="1"/>
          <p:nvPr/>
        </p:nvSpPr>
        <p:spPr>
          <a:xfrm>
            <a:off x="15779679" y="2741061"/>
            <a:ext cx="733702" cy="385742"/>
          </a:xfrm>
          <a:prstGeom prst="rect">
            <a:avLst/>
          </a:prstGeom>
        </p:spPr>
        <p:txBody>
          <a:bodyPr lIns="0" tIns="0" rIns="0" bIns="0" rtlCol="0" anchor="t">
            <a:spAutoFit/>
          </a:bodyPr>
          <a:lstStyle/>
          <a:p>
            <a:pPr algn="r">
              <a:lnSpc>
                <a:spcPts val="3017"/>
              </a:lnSpc>
            </a:pPr>
            <a:r>
              <a:rPr lang="en-US" sz="2155" spc="-53">
                <a:solidFill>
                  <a:srgbClr val="FFFFFF"/>
                </a:solidFill>
                <a:latin typeface="Poppins"/>
                <a:ea typeface="Poppins"/>
                <a:cs typeface="Poppins"/>
                <a:sym typeface="Poppins"/>
              </a:rPr>
              <a:t>02</a:t>
            </a:r>
          </a:p>
        </p:txBody>
      </p:sp>
      <p:sp>
        <p:nvSpPr>
          <p:cNvPr id="11" name="TextBox 11"/>
          <p:cNvSpPr txBox="1"/>
          <p:nvPr/>
        </p:nvSpPr>
        <p:spPr>
          <a:xfrm>
            <a:off x="9463081" y="3892615"/>
            <a:ext cx="7050301" cy="2472970"/>
          </a:xfrm>
          <a:prstGeom prst="rect">
            <a:avLst/>
          </a:prstGeom>
        </p:spPr>
        <p:txBody>
          <a:bodyPr lIns="0" tIns="0" rIns="0" bIns="0" rtlCol="0" anchor="t">
            <a:spAutoFit/>
          </a:bodyPr>
          <a:lstStyle/>
          <a:p>
            <a:pPr marL="434819" lvl="1" indent="-217409" algn="just">
              <a:lnSpc>
                <a:spcPts val="2819"/>
              </a:lnSpc>
              <a:buFont typeface="Arial"/>
              <a:buChar char="•"/>
            </a:pPr>
            <a:r>
              <a:rPr lang="en-US" sz="2013">
                <a:solidFill>
                  <a:srgbClr val="FFFFFF"/>
                </a:solidFill>
                <a:latin typeface="Poppins"/>
                <a:ea typeface="Poppins"/>
                <a:cs typeface="Poppins"/>
                <a:sym typeface="Poppins"/>
              </a:rPr>
              <a:t>Contains both normal and malicious network traffic</a:t>
            </a:r>
          </a:p>
          <a:p>
            <a:pPr marL="434819" lvl="1" indent="-217409" algn="just">
              <a:lnSpc>
                <a:spcPts val="2819"/>
              </a:lnSpc>
              <a:buFont typeface="Arial"/>
              <a:buChar char="•"/>
            </a:pPr>
            <a:r>
              <a:rPr lang="en-US" sz="2013">
                <a:solidFill>
                  <a:srgbClr val="FFFFFF"/>
                </a:solidFill>
                <a:latin typeface="Poppins"/>
                <a:ea typeface="Poppins"/>
                <a:cs typeface="Poppins"/>
                <a:sym typeface="Poppins"/>
              </a:rPr>
              <a:t>45+ features describing network behavior</a:t>
            </a:r>
          </a:p>
          <a:p>
            <a:pPr marL="434819" lvl="1" indent="-217409" algn="just">
              <a:lnSpc>
                <a:spcPts val="2819"/>
              </a:lnSpc>
              <a:buFont typeface="Arial"/>
              <a:buChar char="•"/>
            </a:pPr>
            <a:r>
              <a:rPr lang="en-US" sz="2013">
                <a:solidFill>
                  <a:srgbClr val="FFFFFF"/>
                </a:solidFill>
                <a:latin typeface="Poppins"/>
                <a:ea typeface="Poppins"/>
                <a:cs typeface="Poppins"/>
                <a:sym typeface="Poppins"/>
              </a:rPr>
              <a:t>Includes multiple attack categories (DoS, Exploits, Fuzzers, etc.)</a:t>
            </a:r>
          </a:p>
          <a:p>
            <a:pPr marL="434819" lvl="1" indent="-217409" algn="just">
              <a:lnSpc>
                <a:spcPts val="2819"/>
              </a:lnSpc>
              <a:buFont typeface="Arial"/>
              <a:buChar char="•"/>
            </a:pPr>
            <a:r>
              <a:rPr lang="en-US" sz="2013">
                <a:solidFill>
                  <a:srgbClr val="FFFFFF"/>
                </a:solidFill>
                <a:latin typeface="Poppins"/>
                <a:ea typeface="Poppins"/>
                <a:cs typeface="Poppins"/>
                <a:sym typeface="Poppins"/>
              </a:rPr>
              <a:t>Suitable for classification and anomaly detection</a:t>
            </a:r>
          </a:p>
          <a:p>
            <a:pPr marL="434819" lvl="1" indent="-217409" algn="just">
              <a:lnSpc>
                <a:spcPts val="2819"/>
              </a:lnSpc>
              <a:buFont typeface="Arial"/>
              <a:buChar char="•"/>
            </a:pPr>
            <a:r>
              <a:rPr lang="en-US" sz="2013">
                <a:solidFill>
                  <a:srgbClr val="FFFFFF"/>
                </a:solidFill>
                <a:latin typeface="Poppins"/>
                <a:ea typeface="Poppins"/>
                <a:cs typeface="Poppins"/>
                <a:sym typeface="Poppins"/>
              </a:rPr>
              <a:t>Represent read-world cybersecurity scenarios</a:t>
            </a:r>
          </a:p>
          <a:p>
            <a:pPr algn="just">
              <a:lnSpc>
                <a:spcPts val="2819"/>
              </a:lnSpc>
            </a:pPr>
            <a:endParaRPr lang="en-US" sz="2013">
              <a:solidFill>
                <a:srgbClr val="FFFFFF"/>
              </a:solidFill>
              <a:latin typeface="Poppins"/>
              <a:ea typeface="Poppins"/>
              <a:cs typeface="Poppins"/>
              <a:sym typeface="Poppins"/>
            </a:endParaRPr>
          </a:p>
        </p:txBody>
      </p:sp>
      <p:sp>
        <p:nvSpPr>
          <p:cNvPr id="12" name="TextBox 12"/>
          <p:cNvSpPr txBox="1"/>
          <p:nvPr/>
        </p:nvSpPr>
        <p:spPr>
          <a:xfrm>
            <a:off x="9463081" y="6823973"/>
            <a:ext cx="5913509" cy="358420"/>
          </a:xfrm>
          <a:prstGeom prst="rect">
            <a:avLst/>
          </a:prstGeom>
        </p:spPr>
        <p:txBody>
          <a:bodyPr lIns="0" tIns="0" rIns="0" bIns="0" rtlCol="0" anchor="t">
            <a:spAutoFit/>
          </a:bodyPr>
          <a:lstStyle/>
          <a:p>
            <a:pPr algn="just">
              <a:lnSpc>
                <a:spcPts val="2819"/>
              </a:lnSpc>
            </a:pPr>
            <a:r>
              <a:rPr lang="en-US" sz="2013">
                <a:solidFill>
                  <a:srgbClr val="6CE5E8"/>
                </a:solidFill>
                <a:latin typeface="Poppins"/>
                <a:ea typeface="Poppins"/>
                <a:cs typeface="Poppins"/>
                <a:sym typeface="Poppins"/>
              </a:rPr>
              <a:t>Target Variable</a:t>
            </a:r>
          </a:p>
        </p:txBody>
      </p:sp>
      <p:sp>
        <p:nvSpPr>
          <p:cNvPr id="13" name="AutoShape 13"/>
          <p:cNvSpPr/>
          <p:nvPr/>
        </p:nvSpPr>
        <p:spPr>
          <a:xfrm>
            <a:off x="9463081" y="7424870"/>
            <a:ext cx="7050301" cy="0"/>
          </a:xfrm>
          <a:prstGeom prst="line">
            <a:avLst/>
          </a:prstGeom>
          <a:ln w="38100" cap="rnd">
            <a:solidFill>
              <a:srgbClr val="FFFFFF"/>
            </a:solidFill>
            <a:prstDash val="solid"/>
            <a:headEnd type="none" w="sm" len="sm"/>
            <a:tailEnd type="none" w="sm" len="sm"/>
          </a:ln>
        </p:spPr>
      </p:sp>
      <p:sp>
        <p:nvSpPr>
          <p:cNvPr id="14" name="TextBox 14"/>
          <p:cNvSpPr txBox="1"/>
          <p:nvPr/>
        </p:nvSpPr>
        <p:spPr>
          <a:xfrm>
            <a:off x="15779679" y="6813260"/>
            <a:ext cx="733702" cy="385742"/>
          </a:xfrm>
          <a:prstGeom prst="rect">
            <a:avLst/>
          </a:prstGeom>
        </p:spPr>
        <p:txBody>
          <a:bodyPr lIns="0" tIns="0" rIns="0" bIns="0" rtlCol="0" anchor="t">
            <a:spAutoFit/>
          </a:bodyPr>
          <a:lstStyle/>
          <a:p>
            <a:pPr algn="r">
              <a:lnSpc>
                <a:spcPts val="3017"/>
              </a:lnSpc>
            </a:pPr>
            <a:r>
              <a:rPr lang="en-US" sz="2155" spc="-53">
                <a:solidFill>
                  <a:srgbClr val="FFFFFF"/>
                </a:solidFill>
                <a:latin typeface="Poppins"/>
                <a:ea typeface="Poppins"/>
                <a:cs typeface="Poppins"/>
                <a:sym typeface="Poppins"/>
              </a:rPr>
              <a:t>03</a:t>
            </a:r>
          </a:p>
        </p:txBody>
      </p:sp>
      <p:sp>
        <p:nvSpPr>
          <p:cNvPr id="15" name="AutoShape 15"/>
          <p:cNvSpPr/>
          <p:nvPr/>
        </p:nvSpPr>
        <p:spPr>
          <a:xfrm flipV="1">
            <a:off x="8427765" y="3066867"/>
            <a:ext cx="0" cy="5753865"/>
          </a:xfrm>
          <a:prstGeom prst="line">
            <a:avLst/>
          </a:prstGeom>
          <a:ln w="38100" cap="flat">
            <a:solidFill>
              <a:srgbClr val="FFFFFF"/>
            </a:solidFill>
            <a:prstDash val="solid"/>
            <a:headEnd type="diamond" w="lg" len="lg"/>
            <a:tailEnd type="diamond" w="lg" len="lg"/>
          </a:ln>
        </p:spPr>
      </p:sp>
      <p:sp>
        <p:nvSpPr>
          <p:cNvPr id="16" name="TextBox 16"/>
          <p:cNvSpPr txBox="1"/>
          <p:nvPr/>
        </p:nvSpPr>
        <p:spPr>
          <a:xfrm>
            <a:off x="9463081" y="7786820"/>
            <a:ext cx="4972973" cy="1063270"/>
          </a:xfrm>
          <a:prstGeom prst="rect">
            <a:avLst/>
          </a:prstGeom>
        </p:spPr>
        <p:txBody>
          <a:bodyPr lIns="0" tIns="0" rIns="0" bIns="0" rtlCol="0" anchor="t">
            <a:spAutoFit/>
          </a:bodyPr>
          <a:lstStyle/>
          <a:p>
            <a:pPr marL="434819" lvl="1" indent="-217409" algn="just">
              <a:lnSpc>
                <a:spcPts val="2819"/>
              </a:lnSpc>
              <a:buFont typeface="Arial"/>
              <a:buChar char="•"/>
            </a:pPr>
            <a:r>
              <a:rPr lang="en-US" sz="2013">
                <a:solidFill>
                  <a:srgbClr val="FFFFFF"/>
                </a:solidFill>
                <a:latin typeface="Poppins"/>
                <a:ea typeface="Poppins"/>
                <a:cs typeface="Poppins"/>
                <a:sym typeface="Poppins"/>
              </a:rPr>
              <a:t>Label = 0 → Normal traffic</a:t>
            </a:r>
          </a:p>
          <a:p>
            <a:pPr marL="434819" lvl="1" indent="-217409" algn="just">
              <a:lnSpc>
                <a:spcPts val="2819"/>
              </a:lnSpc>
              <a:buFont typeface="Arial"/>
              <a:buChar char="•"/>
            </a:pPr>
            <a:r>
              <a:rPr lang="en-US" sz="2013">
                <a:solidFill>
                  <a:srgbClr val="FFFFFF"/>
                </a:solidFill>
                <a:latin typeface="Poppins"/>
                <a:ea typeface="Poppins"/>
                <a:cs typeface="Poppins"/>
                <a:sym typeface="Poppins"/>
              </a:rPr>
              <a:t>Label = 1 → Attack traffic</a:t>
            </a:r>
          </a:p>
          <a:p>
            <a:pPr algn="just">
              <a:lnSpc>
                <a:spcPts val="2819"/>
              </a:lnSpc>
            </a:pPr>
            <a:endParaRPr lang="en-US" sz="2013">
              <a:solidFill>
                <a:srgbClr val="FFFFFF"/>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53F">
                <a:alpha val="100000"/>
              </a:srgbClr>
            </a:gs>
            <a:gs pos="100000">
              <a:srgbClr val="17597F">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5703714" y="1880569"/>
            <a:ext cx="6880572" cy="764215"/>
            <a:chOff x="0" y="0"/>
            <a:chExt cx="9174096" cy="1018954"/>
          </a:xfrm>
        </p:grpSpPr>
        <p:sp>
          <p:nvSpPr>
            <p:cNvPr id="3" name="TextBox 3"/>
            <p:cNvSpPr txBox="1"/>
            <p:nvPr/>
          </p:nvSpPr>
          <p:spPr>
            <a:xfrm>
              <a:off x="0" y="-50194"/>
              <a:ext cx="8876677" cy="636104"/>
            </a:xfrm>
            <a:prstGeom prst="rect">
              <a:avLst/>
            </a:prstGeom>
          </p:spPr>
          <p:txBody>
            <a:bodyPr lIns="0" tIns="0" rIns="0" bIns="0" rtlCol="0" anchor="t">
              <a:spAutoFit/>
            </a:bodyPr>
            <a:lstStyle/>
            <a:p>
              <a:pPr algn="l">
                <a:lnSpc>
                  <a:spcPts val="3845"/>
                </a:lnSpc>
              </a:pPr>
              <a:r>
                <a:rPr lang="en-US" sz="2746" spc="-68">
                  <a:solidFill>
                    <a:srgbClr val="FFFFFF"/>
                  </a:solidFill>
                  <a:latin typeface="Poppins"/>
                  <a:ea typeface="Poppins"/>
                  <a:cs typeface="Poppins"/>
                  <a:sym typeface="Poppins"/>
                </a:rPr>
                <a:t>Key Features of Network Traffic Data</a:t>
              </a:r>
            </a:p>
          </p:txBody>
        </p:sp>
        <p:sp>
          <p:nvSpPr>
            <p:cNvPr id="4" name="Freeform 4"/>
            <p:cNvSpPr/>
            <p:nvPr/>
          </p:nvSpPr>
          <p:spPr>
            <a:xfrm rot="-8687136">
              <a:off x="8806764" y="51933"/>
              <a:ext cx="292225" cy="353239"/>
            </a:xfrm>
            <a:custGeom>
              <a:avLst/>
              <a:gdLst/>
              <a:ahLst/>
              <a:cxnLst/>
              <a:rect l="l" t="t" r="r" b="b"/>
              <a:pathLst>
                <a:path w="292225" h="353239">
                  <a:moveTo>
                    <a:pt x="0" y="0"/>
                  </a:moveTo>
                  <a:lnTo>
                    <a:pt x="292225" y="0"/>
                  </a:lnTo>
                  <a:lnTo>
                    <a:pt x="292225" y="353238"/>
                  </a:lnTo>
                  <a:lnTo>
                    <a:pt x="0" y="35323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AutoShape 5"/>
            <p:cNvSpPr/>
            <p:nvPr/>
          </p:nvSpPr>
          <p:spPr>
            <a:xfrm>
              <a:off x="0" y="993554"/>
              <a:ext cx="9174096" cy="0"/>
            </a:xfrm>
            <a:prstGeom prst="line">
              <a:avLst/>
            </a:prstGeom>
            <a:ln w="50800" cap="rnd">
              <a:solidFill>
                <a:srgbClr val="FFFFFF"/>
              </a:solidFill>
              <a:prstDash val="solid"/>
              <a:headEnd type="none" w="sm" len="sm"/>
              <a:tailEnd type="none" w="sm" len="sm"/>
            </a:ln>
          </p:spPr>
        </p:sp>
      </p:grpSp>
      <p:grpSp>
        <p:nvGrpSpPr>
          <p:cNvPr id="6" name="Group 6"/>
          <p:cNvGrpSpPr/>
          <p:nvPr/>
        </p:nvGrpSpPr>
        <p:grpSpPr>
          <a:xfrm>
            <a:off x="1380829" y="3092459"/>
            <a:ext cx="7490431" cy="2744699"/>
            <a:chOff x="0" y="0"/>
            <a:chExt cx="2754311" cy="1009255"/>
          </a:xfrm>
        </p:grpSpPr>
        <p:sp>
          <p:nvSpPr>
            <p:cNvPr id="7" name="Freeform 7"/>
            <p:cNvSpPr/>
            <p:nvPr/>
          </p:nvSpPr>
          <p:spPr>
            <a:xfrm>
              <a:off x="0" y="0"/>
              <a:ext cx="2754311" cy="1009255"/>
            </a:xfrm>
            <a:custGeom>
              <a:avLst/>
              <a:gdLst/>
              <a:ahLst/>
              <a:cxnLst/>
              <a:rect l="l" t="t" r="r" b="b"/>
              <a:pathLst>
                <a:path w="2754311" h="1009255">
                  <a:moveTo>
                    <a:pt x="44444" y="0"/>
                  </a:moveTo>
                  <a:lnTo>
                    <a:pt x="2709867" y="0"/>
                  </a:lnTo>
                  <a:cubicBezTo>
                    <a:pt x="2721655" y="0"/>
                    <a:pt x="2732959" y="4682"/>
                    <a:pt x="2741294" y="13017"/>
                  </a:cubicBezTo>
                  <a:cubicBezTo>
                    <a:pt x="2749629" y="21352"/>
                    <a:pt x="2754311" y="32657"/>
                    <a:pt x="2754311" y="44444"/>
                  </a:cubicBezTo>
                  <a:lnTo>
                    <a:pt x="2754311" y="964811"/>
                  </a:lnTo>
                  <a:cubicBezTo>
                    <a:pt x="2754311" y="976598"/>
                    <a:pt x="2749629" y="987903"/>
                    <a:pt x="2741294" y="996238"/>
                  </a:cubicBezTo>
                  <a:cubicBezTo>
                    <a:pt x="2732959" y="1004572"/>
                    <a:pt x="2721655" y="1009255"/>
                    <a:pt x="2709867" y="1009255"/>
                  </a:cubicBezTo>
                  <a:lnTo>
                    <a:pt x="44444" y="1009255"/>
                  </a:lnTo>
                  <a:cubicBezTo>
                    <a:pt x="19898" y="1009255"/>
                    <a:pt x="0" y="989357"/>
                    <a:pt x="0" y="964811"/>
                  </a:cubicBezTo>
                  <a:lnTo>
                    <a:pt x="0" y="44444"/>
                  </a:lnTo>
                  <a:cubicBezTo>
                    <a:pt x="0" y="32657"/>
                    <a:pt x="4682" y="21352"/>
                    <a:pt x="13017" y="13017"/>
                  </a:cubicBezTo>
                  <a:cubicBezTo>
                    <a:pt x="21352" y="4682"/>
                    <a:pt x="32657" y="0"/>
                    <a:pt x="44444" y="0"/>
                  </a:cubicBezTo>
                  <a:close/>
                </a:path>
              </a:pathLst>
            </a:custGeom>
            <a:solidFill>
              <a:srgbClr val="91FFF9"/>
            </a:solidFill>
          </p:spPr>
        </p:sp>
        <p:sp>
          <p:nvSpPr>
            <p:cNvPr id="8" name="TextBox 8"/>
            <p:cNvSpPr txBox="1"/>
            <p:nvPr/>
          </p:nvSpPr>
          <p:spPr>
            <a:xfrm>
              <a:off x="0" y="-38100"/>
              <a:ext cx="2754311" cy="1047355"/>
            </a:xfrm>
            <a:prstGeom prst="rect">
              <a:avLst/>
            </a:prstGeom>
          </p:spPr>
          <p:txBody>
            <a:bodyPr lIns="34965" tIns="34965" rIns="34965" bIns="34965" rtlCol="0" anchor="ctr"/>
            <a:lstStyle/>
            <a:p>
              <a:pPr algn="ctr">
                <a:lnSpc>
                  <a:spcPts val="2660"/>
                </a:lnSpc>
                <a:spcBef>
                  <a:spcPct val="0"/>
                </a:spcBef>
              </a:pPr>
              <a:endParaRPr/>
            </a:p>
          </p:txBody>
        </p:sp>
      </p:grpSp>
      <p:grpSp>
        <p:nvGrpSpPr>
          <p:cNvPr id="9" name="Group 9"/>
          <p:cNvGrpSpPr/>
          <p:nvPr/>
        </p:nvGrpSpPr>
        <p:grpSpPr>
          <a:xfrm>
            <a:off x="1380829" y="6460816"/>
            <a:ext cx="7490431" cy="2797484"/>
            <a:chOff x="0" y="0"/>
            <a:chExt cx="2754311" cy="1028665"/>
          </a:xfrm>
        </p:grpSpPr>
        <p:sp>
          <p:nvSpPr>
            <p:cNvPr id="10" name="Freeform 10"/>
            <p:cNvSpPr/>
            <p:nvPr/>
          </p:nvSpPr>
          <p:spPr>
            <a:xfrm>
              <a:off x="0" y="0"/>
              <a:ext cx="2754311" cy="1028665"/>
            </a:xfrm>
            <a:custGeom>
              <a:avLst/>
              <a:gdLst/>
              <a:ahLst/>
              <a:cxnLst/>
              <a:rect l="l" t="t" r="r" b="b"/>
              <a:pathLst>
                <a:path w="2754311" h="1028665">
                  <a:moveTo>
                    <a:pt x="44444" y="0"/>
                  </a:moveTo>
                  <a:lnTo>
                    <a:pt x="2709867" y="0"/>
                  </a:lnTo>
                  <a:cubicBezTo>
                    <a:pt x="2721655" y="0"/>
                    <a:pt x="2732959" y="4682"/>
                    <a:pt x="2741294" y="13017"/>
                  </a:cubicBezTo>
                  <a:cubicBezTo>
                    <a:pt x="2749629" y="21352"/>
                    <a:pt x="2754311" y="32657"/>
                    <a:pt x="2754311" y="44444"/>
                  </a:cubicBezTo>
                  <a:lnTo>
                    <a:pt x="2754311" y="984221"/>
                  </a:lnTo>
                  <a:cubicBezTo>
                    <a:pt x="2754311" y="1008767"/>
                    <a:pt x="2734413" y="1028665"/>
                    <a:pt x="2709867" y="1028665"/>
                  </a:cubicBezTo>
                  <a:lnTo>
                    <a:pt x="44444" y="1028665"/>
                  </a:lnTo>
                  <a:cubicBezTo>
                    <a:pt x="32657" y="1028665"/>
                    <a:pt x="21352" y="1023982"/>
                    <a:pt x="13017" y="1015648"/>
                  </a:cubicBezTo>
                  <a:cubicBezTo>
                    <a:pt x="4682" y="1007313"/>
                    <a:pt x="0" y="996008"/>
                    <a:pt x="0" y="984221"/>
                  </a:cubicBezTo>
                  <a:lnTo>
                    <a:pt x="0" y="44444"/>
                  </a:lnTo>
                  <a:cubicBezTo>
                    <a:pt x="0" y="32657"/>
                    <a:pt x="4682" y="21352"/>
                    <a:pt x="13017" y="13017"/>
                  </a:cubicBezTo>
                  <a:cubicBezTo>
                    <a:pt x="21352" y="4682"/>
                    <a:pt x="32657" y="0"/>
                    <a:pt x="44444" y="0"/>
                  </a:cubicBezTo>
                  <a:close/>
                </a:path>
              </a:pathLst>
            </a:custGeom>
            <a:ln w="38100" cap="rnd">
              <a:solidFill>
                <a:srgbClr val="91FFF9"/>
              </a:solidFill>
              <a:prstDash val="solid"/>
              <a:round/>
            </a:ln>
          </p:spPr>
        </p:sp>
        <p:sp>
          <p:nvSpPr>
            <p:cNvPr id="11" name="TextBox 11"/>
            <p:cNvSpPr txBox="1"/>
            <p:nvPr/>
          </p:nvSpPr>
          <p:spPr>
            <a:xfrm>
              <a:off x="0" y="-38100"/>
              <a:ext cx="2754311" cy="1066765"/>
            </a:xfrm>
            <a:prstGeom prst="rect">
              <a:avLst/>
            </a:prstGeom>
          </p:spPr>
          <p:txBody>
            <a:bodyPr lIns="34965" tIns="34965" rIns="34965" bIns="34965" rtlCol="0" anchor="ctr"/>
            <a:lstStyle/>
            <a:p>
              <a:pPr algn="ctr">
                <a:lnSpc>
                  <a:spcPts val="2660"/>
                </a:lnSpc>
                <a:spcBef>
                  <a:spcPct val="0"/>
                </a:spcBef>
              </a:pPr>
              <a:endParaRPr/>
            </a:p>
          </p:txBody>
        </p:sp>
      </p:grpSp>
      <p:grpSp>
        <p:nvGrpSpPr>
          <p:cNvPr id="12" name="Group 12"/>
          <p:cNvGrpSpPr/>
          <p:nvPr/>
        </p:nvGrpSpPr>
        <p:grpSpPr>
          <a:xfrm>
            <a:off x="9616115" y="3092459"/>
            <a:ext cx="7490431" cy="2744699"/>
            <a:chOff x="0" y="0"/>
            <a:chExt cx="2754311" cy="1009255"/>
          </a:xfrm>
        </p:grpSpPr>
        <p:sp>
          <p:nvSpPr>
            <p:cNvPr id="13" name="Freeform 13"/>
            <p:cNvSpPr/>
            <p:nvPr/>
          </p:nvSpPr>
          <p:spPr>
            <a:xfrm>
              <a:off x="0" y="0"/>
              <a:ext cx="2754311" cy="1009255"/>
            </a:xfrm>
            <a:custGeom>
              <a:avLst/>
              <a:gdLst/>
              <a:ahLst/>
              <a:cxnLst/>
              <a:rect l="l" t="t" r="r" b="b"/>
              <a:pathLst>
                <a:path w="2754311" h="1009255">
                  <a:moveTo>
                    <a:pt x="44444" y="0"/>
                  </a:moveTo>
                  <a:lnTo>
                    <a:pt x="2709867" y="0"/>
                  </a:lnTo>
                  <a:cubicBezTo>
                    <a:pt x="2721655" y="0"/>
                    <a:pt x="2732959" y="4682"/>
                    <a:pt x="2741294" y="13017"/>
                  </a:cubicBezTo>
                  <a:cubicBezTo>
                    <a:pt x="2749629" y="21352"/>
                    <a:pt x="2754311" y="32657"/>
                    <a:pt x="2754311" y="44444"/>
                  </a:cubicBezTo>
                  <a:lnTo>
                    <a:pt x="2754311" y="964811"/>
                  </a:lnTo>
                  <a:cubicBezTo>
                    <a:pt x="2754311" y="976598"/>
                    <a:pt x="2749629" y="987903"/>
                    <a:pt x="2741294" y="996238"/>
                  </a:cubicBezTo>
                  <a:cubicBezTo>
                    <a:pt x="2732959" y="1004572"/>
                    <a:pt x="2721655" y="1009255"/>
                    <a:pt x="2709867" y="1009255"/>
                  </a:cubicBezTo>
                  <a:lnTo>
                    <a:pt x="44444" y="1009255"/>
                  </a:lnTo>
                  <a:cubicBezTo>
                    <a:pt x="19898" y="1009255"/>
                    <a:pt x="0" y="989357"/>
                    <a:pt x="0" y="964811"/>
                  </a:cubicBezTo>
                  <a:lnTo>
                    <a:pt x="0" y="44444"/>
                  </a:lnTo>
                  <a:cubicBezTo>
                    <a:pt x="0" y="32657"/>
                    <a:pt x="4682" y="21352"/>
                    <a:pt x="13017" y="13017"/>
                  </a:cubicBezTo>
                  <a:cubicBezTo>
                    <a:pt x="21352" y="4682"/>
                    <a:pt x="32657" y="0"/>
                    <a:pt x="44444" y="0"/>
                  </a:cubicBezTo>
                  <a:close/>
                </a:path>
              </a:pathLst>
            </a:custGeom>
            <a:ln w="38100" cap="rnd">
              <a:solidFill>
                <a:srgbClr val="91FFF9"/>
              </a:solidFill>
              <a:prstDash val="solid"/>
              <a:round/>
            </a:ln>
          </p:spPr>
        </p:sp>
        <p:sp>
          <p:nvSpPr>
            <p:cNvPr id="14" name="TextBox 14"/>
            <p:cNvSpPr txBox="1"/>
            <p:nvPr/>
          </p:nvSpPr>
          <p:spPr>
            <a:xfrm>
              <a:off x="0" y="-38100"/>
              <a:ext cx="2754311" cy="1047355"/>
            </a:xfrm>
            <a:prstGeom prst="rect">
              <a:avLst/>
            </a:prstGeom>
          </p:spPr>
          <p:txBody>
            <a:bodyPr lIns="34965" tIns="34965" rIns="34965" bIns="34965" rtlCol="0" anchor="ctr"/>
            <a:lstStyle/>
            <a:p>
              <a:pPr algn="ctr">
                <a:lnSpc>
                  <a:spcPts val="2660"/>
                </a:lnSpc>
                <a:spcBef>
                  <a:spcPct val="0"/>
                </a:spcBef>
              </a:pPr>
              <a:endParaRPr/>
            </a:p>
          </p:txBody>
        </p:sp>
      </p:grpSp>
      <p:grpSp>
        <p:nvGrpSpPr>
          <p:cNvPr id="15" name="Group 15"/>
          <p:cNvGrpSpPr/>
          <p:nvPr/>
        </p:nvGrpSpPr>
        <p:grpSpPr>
          <a:xfrm>
            <a:off x="9616115" y="6460816"/>
            <a:ext cx="7490431" cy="2797484"/>
            <a:chOff x="0" y="0"/>
            <a:chExt cx="2754311" cy="1028665"/>
          </a:xfrm>
        </p:grpSpPr>
        <p:sp>
          <p:nvSpPr>
            <p:cNvPr id="16" name="Freeform 16"/>
            <p:cNvSpPr/>
            <p:nvPr/>
          </p:nvSpPr>
          <p:spPr>
            <a:xfrm>
              <a:off x="0" y="0"/>
              <a:ext cx="2754311" cy="1028665"/>
            </a:xfrm>
            <a:custGeom>
              <a:avLst/>
              <a:gdLst/>
              <a:ahLst/>
              <a:cxnLst/>
              <a:rect l="l" t="t" r="r" b="b"/>
              <a:pathLst>
                <a:path w="2754311" h="1028665">
                  <a:moveTo>
                    <a:pt x="44444" y="0"/>
                  </a:moveTo>
                  <a:lnTo>
                    <a:pt x="2709867" y="0"/>
                  </a:lnTo>
                  <a:cubicBezTo>
                    <a:pt x="2721655" y="0"/>
                    <a:pt x="2732959" y="4682"/>
                    <a:pt x="2741294" y="13017"/>
                  </a:cubicBezTo>
                  <a:cubicBezTo>
                    <a:pt x="2749629" y="21352"/>
                    <a:pt x="2754311" y="32657"/>
                    <a:pt x="2754311" y="44444"/>
                  </a:cubicBezTo>
                  <a:lnTo>
                    <a:pt x="2754311" y="984221"/>
                  </a:lnTo>
                  <a:cubicBezTo>
                    <a:pt x="2754311" y="1008767"/>
                    <a:pt x="2734413" y="1028665"/>
                    <a:pt x="2709867" y="1028665"/>
                  </a:cubicBezTo>
                  <a:lnTo>
                    <a:pt x="44444" y="1028665"/>
                  </a:lnTo>
                  <a:cubicBezTo>
                    <a:pt x="32657" y="1028665"/>
                    <a:pt x="21352" y="1023982"/>
                    <a:pt x="13017" y="1015648"/>
                  </a:cubicBezTo>
                  <a:cubicBezTo>
                    <a:pt x="4682" y="1007313"/>
                    <a:pt x="0" y="996008"/>
                    <a:pt x="0" y="984221"/>
                  </a:cubicBezTo>
                  <a:lnTo>
                    <a:pt x="0" y="44444"/>
                  </a:lnTo>
                  <a:cubicBezTo>
                    <a:pt x="0" y="32657"/>
                    <a:pt x="4682" y="21352"/>
                    <a:pt x="13017" y="13017"/>
                  </a:cubicBezTo>
                  <a:cubicBezTo>
                    <a:pt x="21352" y="4682"/>
                    <a:pt x="32657" y="0"/>
                    <a:pt x="44444" y="0"/>
                  </a:cubicBezTo>
                  <a:close/>
                </a:path>
              </a:pathLst>
            </a:custGeom>
            <a:solidFill>
              <a:srgbClr val="91FFF9"/>
            </a:solidFill>
            <a:ln cap="rnd">
              <a:noFill/>
              <a:prstDash val="solid"/>
              <a:round/>
            </a:ln>
          </p:spPr>
        </p:sp>
        <p:sp>
          <p:nvSpPr>
            <p:cNvPr id="17" name="TextBox 17"/>
            <p:cNvSpPr txBox="1"/>
            <p:nvPr/>
          </p:nvSpPr>
          <p:spPr>
            <a:xfrm>
              <a:off x="0" y="-38100"/>
              <a:ext cx="2754311" cy="1066765"/>
            </a:xfrm>
            <a:prstGeom prst="rect">
              <a:avLst/>
            </a:prstGeom>
          </p:spPr>
          <p:txBody>
            <a:bodyPr lIns="34965" tIns="34965" rIns="34965" bIns="34965" rtlCol="0" anchor="ctr"/>
            <a:lstStyle/>
            <a:p>
              <a:pPr algn="ctr">
                <a:lnSpc>
                  <a:spcPts val="2660"/>
                </a:lnSpc>
                <a:spcBef>
                  <a:spcPct val="0"/>
                </a:spcBef>
              </a:pPr>
              <a:endParaRPr/>
            </a:p>
          </p:txBody>
        </p:sp>
      </p:grpSp>
      <p:sp>
        <p:nvSpPr>
          <p:cNvPr id="18" name="TextBox 18"/>
          <p:cNvSpPr txBox="1"/>
          <p:nvPr/>
        </p:nvSpPr>
        <p:spPr>
          <a:xfrm>
            <a:off x="4840446" y="716031"/>
            <a:ext cx="2871554" cy="1169021"/>
          </a:xfrm>
          <a:prstGeom prst="rect">
            <a:avLst/>
          </a:prstGeom>
        </p:spPr>
        <p:txBody>
          <a:bodyPr lIns="0" tIns="0" rIns="0" bIns="0" rtlCol="0" anchor="t">
            <a:spAutoFit/>
          </a:bodyPr>
          <a:lstStyle/>
          <a:p>
            <a:pPr algn="l">
              <a:lnSpc>
                <a:spcPts val="8433"/>
              </a:lnSpc>
            </a:pPr>
            <a:r>
              <a:rPr lang="en-US" sz="7881" b="1">
                <a:solidFill>
                  <a:srgbClr val="FFFFFF"/>
                </a:solidFill>
                <a:latin typeface="Poppins Bold"/>
                <a:ea typeface="Poppins Bold"/>
                <a:cs typeface="Poppins Bold"/>
                <a:sym typeface="Poppins Bold"/>
              </a:rPr>
              <a:t>DATA</a:t>
            </a:r>
          </a:p>
        </p:txBody>
      </p:sp>
      <p:sp>
        <p:nvSpPr>
          <p:cNvPr id="19" name="TextBox 19"/>
          <p:cNvSpPr txBox="1"/>
          <p:nvPr/>
        </p:nvSpPr>
        <p:spPr>
          <a:xfrm>
            <a:off x="7806668" y="716031"/>
            <a:ext cx="6376297" cy="1177873"/>
          </a:xfrm>
          <a:prstGeom prst="rect">
            <a:avLst/>
          </a:prstGeom>
        </p:spPr>
        <p:txBody>
          <a:bodyPr lIns="0" tIns="0" rIns="0" bIns="0" rtlCol="0" anchor="t">
            <a:spAutoFit/>
          </a:bodyPr>
          <a:lstStyle/>
          <a:p>
            <a:pPr algn="l">
              <a:lnSpc>
                <a:spcPts val="8433"/>
              </a:lnSpc>
            </a:pPr>
            <a:r>
              <a:rPr lang="en-US" sz="7881" b="1">
                <a:solidFill>
                  <a:srgbClr val="91FFF9"/>
                </a:solidFill>
                <a:latin typeface="Poppins Bold"/>
                <a:ea typeface="Poppins Bold"/>
                <a:cs typeface="Poppins Bold"/>
                <a:sym typeface="Poppins Bold"/>
              </a:rPr>
              <a:t>SUMMARY</a:t>
            </a:r>
          </a:p>
        </p:txBody>
      </p:sp>
      <p:sp>
        <p:nvSpPr>
          <p:cNvPr id="20" name="TextBox 20"/>
          <p:cNvSpPr txBox="1"/>
          <p:nvPr/>
        </p:nvSpPr>
        <p:spPr>
          <a:xfrm>
            <a:off x="2961669" y="3316150"/>
            <a:ext cx="4624626" cy="494613"/>
          </a:xfrm>
          <a:prstGeom prst="rect">
            <a:avLst/>
          </a:prstGeom>
        </p:spPr>
        <p:txBody>
          <a:bodyPr lIns="0" tIns="0" rIns="0" bIns="0" rtlCol="0" anchor="t">
            <a:spAutoFit/>
          </a:bodyPr>
          <a:lstStyle/>
          <a:p>
            <a:pPr algn="just">
              <a:lnSpc>
                <a:spcPts val="3988"/>
              </a:lnSpc>
            </a:pPr>
            <a:r>
              <a:rPr lang="en-US" sz="2624" b="1" dirty="0">
                <a:gradFill>
                  <a:gsLst>
                    <a:gs pos="0">
                      <a:srgbClr val="04153F">
                        <a:alpha val="100000"/>
                      </a:srgbClr>
                    </a:gs>
                    <a:gs pos="100000">
                      <a:srgbClr val="17597F">
                        <a:alpha val="100000"/>
                      </a:srgbClr>
                    </a:gs>
                  </a:gsLst>
                  <a:lin ang="2700000"/>
                </a:gradFill>
                <a:latin typeface="Poppins Bold"/>
                <a:ea typeface="Poppins Bold"/>
                <a:cs typeface="Poppins Bold"/>
                <a:sym typeface="Poppins Bold"/>
              </a:rPr>
              <a:t>Connection &amp; Protocol</a:t>
            </a:r>
          </a:p>
        </p:txBody>
      </p:sp>
      <p:sp>
        <p:nvSpPr>
          <p:cNvPr id="21" name="TextBox 21"/>
          <p:cNvSpPr txBox="1"/>
          <p:nvPr/>
        </p:nvSpPr>
        <p:spPr>
          <a:xfrm>
            <a:off x="2297851" y="3836607"/>
            <a:ext cx="6393372" cy="1014445"/>
          </a:xfrm>
          <a:prstGeom prst="rect">
            <a:avLst/>
          </a:prstGeom>
        </p:spPr>
        <p:txBody>
          <a:bodyPr lIns="0" tIns="0" rIns="0" bIns="0" rtlCol="0" anchor="t">
            <a:spAutoFit/>
          </a:bodyPr>
          <a:lstStyle/>
          <a:p>
            <a:pPr marL="421327" lvl="1" indent="-210664" algn="just">
              <a:lnSpc>
                <a:spcPts val="2732"/>
              </a:lnSpc>
              <a:buFont typeface="Arial"/>
              <a:buChar char="•"/>
            </a:pPr>
            <a:r>
              <a:rPr lang="en-US" dirty="0">
                <a:gradFill>
                  <a:gsLst>
                    <a:gs pos="0">
                      <a:srgbClr val="04153F">
                        <a:alpha val="100000"/>
                      </a:srgbClr>
                    </a:gs>
                    <a:gs pos="100000">
                      <a:srgbClr val="17597F">
                        <a:alpha val="100000"/>
                      </a:srgbClr>
                    </a:gs>
                  </a:gsLst>
                  <a:lin ang="2700000"/>
                </a:gradFill>
                <a:latin typeface="Poppins"/>
                <a:ea typeface="Poppins"/>
                <a:cs typeface="Poppins"/>
                <a:sym typeface="Poppins"/>
              </a:rPr>
              <a:t>proto → Network protocol (TCP, UDP, etc.)</a:t>
            </a:r>
          </a:p>
          <a:p>
            <a:pPr marL="421327" lvl="1" indent="-210664" algn="just">
              <a:lnSpc>
                <a:spcPts val="2732"/>
              </a:lnSpc>
              <a:buFont typeface="Arial"/>
              <a:buChar char="•"/>
            </a:pPr>
            <a:r>
              <a:rPr lang="en-US" dirty="0">
                <a:gradFill>
                  <a:gsLst>
                    <a:gs pos="0">
                      <a:srgbClr val="04153F">
                        <a:alpha val="100000"/>
                      </a:srgbClr>
                    </a:gs>
                    <a:gs pos="100000">
                      <a:srgbClr val="17597F">
                        <a:alpha val="100000"/>
                      </a:srgbClr>
                    </a:gs>
                  </a:gsLst>
                  <a:lin ang="2700000"/>
                </a:gradFill>
                <a:latin typeface="Poppins"/>
                <a:ea typeface="Poppins"/>
                <a:cs typeface="Poppins"/>
                <a:sym typeface="Poppins"/>
              </a:rPr>
              <a:t>service → Application service (HTTP, FTP, DNS, etc.)</a:t>
            </a:r>
          </a:p>
          <a:p>
            <a:pPr marL="421327" lvl="1" indent="-210664" algn="just">
              <a:lnSpc>
                <a:spcPts val="2732"/>
              </a:lnSpc>
              <a:buFont typeface="Arial"/>
              <a:buChar char="•"/>
            </a:pPr>
            <a:r>
              <a:rPr lang="en-US" dirty="0">
                <a:gradFill>
                  <a:gsLst>
                    <a:gs pos="0">
                      <a:srgbClr val="04153F">
                        <a:alpha val="100000"/>
                      </a:srgbClr>
                    </a:gs>
                    <a:gs pos="100000">
                      <a:srgbClr val="17597F">
                        <a:alpha val="100000"/>
                      </a:srgbClr>
                    </a:gs>
                  </a:gsLst>
                  <a:lin ang="2700000"/>
                </a:gradFill>
                <a:latin typeface="Poppins"/>
                <a:ea typeface="Poppins"/>
                <a:cs typeface="Poppins"/>
                <a:sym typeface="Poppins"/>
              </a:rPr>
              <a:t>state → Connection state (e.g., FIN, CON)</a:t>
            </a:r>
          </a:p>
        </p:txBody>
      </p:sp>
      <p:sp>
        <p:nvSpPr>
          <p:cNvPr id="22" name="TextBox 22"/>
          <p:cNvSpPr txBox="1"/>
          <p:nvPr/>
        </p:nvSpPr>
        <p:spPr>
          <a:xfrm>
            <a:off x="1560866" y="3632258"/>
            <a:ext cx="1027303" cy="799332"/>
          </a:xfrm>
          <a:prstGeom prst="rect">
            <a:avLst/>
          </a:prstGeom>
        </p:spPr>
        <p:txBody>
          <a:bodyPr lIns="0" tIns="0" rIns="0" bIns="0" rtlCol="0" anchor="t">
            <a:spAutoFit/>
          </a:bodyPr>
          <a:lstStyle/>
          <a:p>
            <a:pPr marL="0" lvl="0" indent="0" algn="l">
              <a:lnSpc>
                <a:spcPts val="5458"/>
              </a:lnSpc>
            </a:pPr>
            <a:r>
              <a:rPr lang="en-US" sz="6064" spc="-181">
                <a:gradFill>
                  <a:gsLst>
                    <a:gs pos="0">
                      <a:srgbClr val="04153F">
                        <a:alpha val="100000"/>
                      </a:srgbClr>
                    </a:gs>
                    <a:gs pos="100000">
                      <a:srgbClr val="17597F">
                        <a:alpha val="100000"/>
                      </a:srgbClr>
                    </a:gs>
                  </a:gsLst>
                  <a:lin ang="2700000"/>
                </a:gradFill>
                <a:latin typeface="Poppins"/>
                <a:ea typeface="Poppins"/>
                <a:cs typeface="Poppins"/>
                <a:sym typeface="Poppins"/>
              </a:rPr>
              <a:t>01</a:t>
            </a:r>
          </a:p>
        </p:txBody>
      </p:sp>
      <p:sp>
        <p:nvSpPr>
          <p:cNvPr id="23" name="TextBox 23"/>
          <p:cNvSpPr txBox="1"/>
          <p:nvPr/>
        </p:nvSpPr>
        <p:spPr>
          <a:xfrm>
            <a:off x="2629578" y="6689335"/>
            <a:ext cx="4228335" cy="494613"/>
          </a:xfrm>
          <a:prstGeom prst="rect">
            <a:avLst/>
          </a:prstGeom>
        </p:spPr>
        <p:txBody>
          <a:bodyPr lIns="0" tIns="0" rIns="0" bIns="0" rtlCol="0" anchor="t">
            <a:spAutoFit/>
          </a:bodyPr>
          <a:lstStyle/>
          <a:p>
            <a:pPr algn="just">
              <a:lnSpc>
                <a:spcPts val="3988"/>
              </a:lnSpc>
            </a:pPr>
            <a:r>
              <a:rPr lang="en-US" sz="2624" b="1">
                <a:solidFill>
                  <a:srgbClr val="91FFF9"/>
                </a:solidFill>
                <a:latin typeface="Poppins Bold"/>
                <a:ea typeface="Poppins Bold"/>
                <a:cs typeface="Poppins Bold"/>
                <a:sym typeface="Poppins Bold"/>
              </a:rPr>
              <a:t>Time-Based Features</a:t>
            </a:r>
          </a:p>
        </p:txBody>
      </p:sp>
      <p:sp>
        <p:nvSpPr>
          <p:cNvPr id="24" name="TextBox 24"/>
          <p:cNvSpPr txBox="1"/>
          <p:nvPr/>
        </p:nvSpPr>
        <p:spPr>
          <a:xfrm>
            <a:off x="2629578" y="7232036"/>
            <a:ext cx="5911339" cy="1020023"/>
          </a:xfrm>
          <a:prstGeom prst="rect">
            <a:avLst/>
          </a:prstGeom>
        </p:spPr>
        <p:txBody>
          <a:bodyPr lIns="0" tIns="0" rIns="0" bIns="0" rtlCol="0" anchor="t">
            <a:spAutoFit/>
          </a:bodyPr>
          <a:lstStyle/>
          <a:p>
            <a:pPr marL="423631" lvl="1" indent="-211816" algn="just">
              <a:lnSpc>
                <a:spcPts val="2747"/>
              </a:lnSpc>
              <a:buFont typeface="Arial"/>
              <a:buChar char="•"/>
            </a:pPr>
            <a:r>
              <a:rPr lang="en-US" dirty="0" err="1">
                <a:solidFill>
                  <a:srgbClr val="91FFF9"/>
                </a:solidFill>
                <a:latin typeface="Poppins"/>
                <a:ea typeface="Poppins"/>
                <a:cs typeface="Poppins"/>
                <a:sym typeface="Poppins"/>
              </a:rPr>
              <a:t>sinpkt</a:t>
            </a:r>
            <a:r>
              <a:rPr lang="en-US" dirty="0">
                <a:solidFill>
                  <a:srgbClr val="91FFF9"/>
                </a:solidFill>
                <a:latin typeface="Poppins"/>
                <a:ea typeface="Poppins"/>
                <a:cs typeface="Poppins"/>
                <a:sym typeface="Poppins"/>
              </a:rPr>
              <a:t>, </a:t>
            </a:r>
            <a:r>
              <a:rPr lang="en-US" dirty="0" err="1">
                <a:solidFill>
                  <a:srgbClr val="91FFF9"/>
                </a:solidFill>
                <a:latin typeface="Poppins"/>
                <a:ea typeface="Poppins"/>
                <a:cs typeface="Poppins"/>
                <a:sym typeface="Poppins"/>
              </a:rPr>
              <a:t>dinpkt</a:t>
            </a:r>
            <a:r>
              <a:rPr lang="en-US" dirty="0">
                <a:solidFill>
                  <a:srgbClr val="91FFF9"/>
                </a:solidFill>
                <a:latin typeface="Poppins"/>
                <a:ea typeface="Poppins"/>
                <a:cs typeface="Poppins"/>
                <a:sym typeface="Poppins"/>
              </a:rPr>
              <a:t> → Packet interval time</a:t>
            </a:r>
          </a:p>
          <a:p>
            <a:pPr marL="423631" lvl="1" indent="-211816" algn="just">
              <a:lnSpc>
                <a:spcPts val="2747"/>
              </a:lnSpc>
              <a:buFont typeface="Arial"/>
              <a:buChar char="•"/>
            </a:pPr>
            <a:r>
              <a:rPr lang="en-US" dirty="0" err="1">
                <a:solidFill>
                  <a:srgbClr val="91FFF9"/>
                </a:solidFill>
                <a:latin typeface="Poppins"/>
                <a:ea typeface="Poppins"/>
                <a:cs typeface="Poppins"/>
                <a:sym typeface="Poppins"/>
              </a:rPr>
              <a:t>sjit</a:t>
            </a:r>
            <a:r>
              <a:rPr lang="en-US" dirty="0">
                <a:solidFill>
                  <a:srgbClr val="91FFF9"/>
                </a:solidFill>
                <a:latin typeface="Poppins"/>
                <a:ea typeface="Poppins"/>
                <a:cs typeface="Poppins"/>
                <a:sym typeface="Poppins"/>
              </a:rPr>
              <a:t>, </a:t>
            </a:r>
            <a:r>
              <a:rPr lang="en-US" dirty="0" err="1">
                <a:solidFill>
                  <a:srgbClr val="91FFF9"/>
                </a:solidFill>
                <a:latin typeface="Poppins"/>
                <a:ea typeface="Poppins"/>
                <a:cs typeface="Poppins"/>
                <a:sym typeface="Poppins"/>
              </a:rPr>
              <a:t>djit</a:t>
            </a:r>
            <a:r>
              <a:rPr lang="en-US" dirty="0">
                <a:solidFill>
                  <a:srgbClr val="91FFF9"/>
                </a:solidFill>
                <a:latin typeface="Poppins"/>
                <a:ea typeface="Poppins"/>
                <a:cs typeface="Poppins"/>
                <a:sym typeface="Poppins"/>
              </a:rPr>
              <a:t> → Network jitter</a:t>
            </a:r>
          </a:p>
          <a:p>
            <a:pPr marL="423631" lvl="1" indent="-211816" algn="just">
              <a:lnSpc>
                <a:spcPts val="2747"/>
              </a:lnSpc>
              <a:buFont typeface="Arial"/>
              <a:buChar char="•"/>
            </a:pPr>
            <a:r>
              <a:rPr lang="en-US" dirty="0" err="1">
                <a:solidFill>
                  <a:srgbClr val="91FFF9"/>
                </a:solidFill>
                <a:latin typeface="Poppins"/>
                <a:ea typeface="Poppins"/>
                <a:cs typeface="Poppins"/>
                <a:sym typeface="Poppins"/>
              </a:rPr>
              <a:t>tcprtt</a:t>
            </a:r>
            <a:r>
              <a:rPr lang="en-US" dirty="0">
                <a:solidFill>
                  <a:srgbClr val="91FFF9"/>
                </a:solidFill>
                <a:latin typeface="Poppins"/>
                <a:ea typeface="Poppins"/>
                <a:cs typeface="Poppins"/>
                <a:sym typeface="Poppins"/>
              </a:rPr>
              <a:t>, </a:t>
            </a:r>
            <a:r>
              <a:rPr lang="en-US" dirty="0" err="1">
                <a:solidFill>
                  <a:srgbClr val="91FFF9"/>
                </a:solidFill>
                <a:latin typeface="Poppins"/>
                <a:ea typeface="Poppins"/>
                <a:cs typeface="Poppins"/>
                <a:sym typeface="Poppins"/>
              </a:rPr>
              <a:t>synack</a:t>
            </a:r>
            <a:r>
              <a:rPr lang="en-US" dirty="0">
                <a:solidFill>
                  <a:srgbClr val="91FFF9"/>
                </a:solidFill>
                <a:latin typeface="Poppins"/>
                <a:ea typeface="Poppins"/>
                <a:cs typeface="Poppins"/>
                <a:sym typeface="Poppins"/>
              </a:rPr>
              <a:t>, </a:t>
            </a:r>
            <a:r>
              <a:rPr lang="en-US" dirty="0" err="1">
                <a:solidFill>
                  <a:srgbClr val="91FFF9"/>
                </a:solidFill>
                <a:latin typeface="Poppins"/>
                <a:ea typeface="Poppins"/>
                <a:cs typeface="Poppins"/>
                <a:sym typeface="Poppins"/>
              </a:rPr>
              <a:t>ackdat</a:t>
            </a:r>
            <a:r>
              <a:rPr lang="en-US" dirty="0">
                <a:solidFill>
                  <a:srgbClr val="91FFF9"/>
                </a:solidFill>
                <a:latin typeface="Poppins"/>
                <a:ea typeface="Poppins"/>
                <a:cs typeface="Poppins"/>
                <a:sym typeface="Poppins"/>
              </a:rPr>
              <a:t> → Connection timing</a:t>
            </a:r>
          </a:p>
        </p:txBody>
      </p:sp>
      <p:sp>
        <p:nvSpPr>
          <p:cNvPr id="25" name="TextBox 25"/>
          <p:cNvSpPr txBox="1"/>
          <p:nvPr/>
        </p:nvSpPr>
        <p:spPr>
          <a:xfrm>
            <a:off x="1560866" y="7061660"/>
            <a:ext cx="1027303" cy="799332"/>
          </a:xfrm>
          <a:prstGeom prst="rect">
            <a:avLst/>
          </a:prstGeom>
        </p:spPr>
        <p:txBody>
          <a:bodyPr lIns="0" tIns="0" rIns="0" bIns="0" rtlCol="0" anchor="t">
            <a:spAutoFit/>
          </a:bodyPr>
          <a:lstStyle/>
          <a:p>
            <a:pPr marL="0" lvl="0" indent="0" algn="l">
              <a:lnSpc>
                <a:spcPts val="5458"/>
              </a:lnSpc>
            </a:pPr>
            <a:r>
              <a:rPr lang="en-US" sz="6064" spc="-181">
                <a:solidFill>
                  <a:srgbClr val="91FFF9"/>
                </a:solidFill>
                <a:latin typeface="Poppins"/>
                <a:ea typeface="Poppins"/>
                <a:cs typeface="Poppins"/>
                <a:sym typeface="Poppins"/>
              </a:rPr>
              <a:t>03</a:t>
            </a:r>
          </a:p>
        </p:txBody>
      </p:sp>
      <p:sp>
        <p:nvSpPr>
          <p:cNvPr id="26" name="TextBox 26"/>
          <p:cNvSpPr txBox="1"/>
          <p:nvPr/>
        </p:nvSpPr>
        <p:spPr>
          <a:xfrm>
            <a:off x="11414019" y="3330678"/>
            <a:ext cx="3703133" cy="494613"/>
          </a:xfrm>
          <a:prstGeom prst="rect">
            <a:avLst/>
          </a:prstGeom>
        </p:spPr>
        <p:txBody>
          <a:bodyPr lIns="0" tIns="0" rIns="0" bIns="0" rtlCol="0" anchor="t">
            <a:spAutoFit/>
          </a:bodyPr>
          <a:lstStyle/>
          <a:p>
            <a:pPr algn="just">
              <a:lnSpc>
                <a:spcPts val="3988"/>
              </a:lnSpc>
            </a:pPr>
            <a:r>
              <a:rPr lang="en-US" sz="2624" b="1" dirty="0">
                <a:solidFill>
                  <a:srgbClr val="91FFF9"/>
                </a:solidFill>
                <a:latin typeface="Poppins Bold"/>
                <a:ea typeface="Poppins Bold"/>
                <a:cs typeface="Poppins Bold"/>
                <a:sym typeface="Poppins Bold"/>
              </a:rPr>
              <a:t>Traffic Volume</a:t>
            </a:r>
          </a:p>
        </p:txBody>
      </p:sp>
      <p:sp>
        <p:nvSpPr>
          <p:cNvPr id="27" name="TextBox 27"/>
          <p:cNvSpPr txBox="1"/>
          <p:nvPr/>
        </p:nvSpPr>
        <p:spPr>
          <a:xfrm>
            <a:off x="11414019" y="3873379"/>
            <a:ext cx="4862761" cy="1019703"/>
          </a:xfrm>
          <a:prstGeom prst="rect">
            <a:avLst/>
          </a:prstGeom>
        </p:spPr>
        <p:txBody>
          <a:bodyPr lIns="0" tIns="0" rIns="0" bIns="0" rtlCol="0" anchor="t">
            <a:spAutoFit/>
          </a:bodyPr>
          <a:lstStyle/>
          <a:p>
            <a:pPr marL="421327" lvl="1" indent="-210664" algn="just">
              <a:lnSpc>
                <a:spcPts val="2732"/>
              </a:lnSpc>
              <a:buFont typeface="Arial"/>
              <a:buChar char="•"/>
            </a:pPr>
            <a:r>
              <a:rPr lang="en-US" dirty="0" err="1">
                <a:solidFill>
                  <a:srgbClr val="91FFF9"/>
                </a:solidFill>
                <a:latin typeface="Poppins"/>
                <a:ea typeface="Poppins"/>
                <a:cs typeface="Poppins"/>
                <a:sym typeface="Poppins"/>
              </a:rPr>
              <a:t>sbytes</a:t>
            </a:r>
            <a:r>
              <a:rPr lang="en-US" dirty="0">
                <a:solidFill>
                  <a:srgbClr val="91FFF9"/>
                </a:solidFill>
                <a:latin typeface="Poppins"/>
                <a:ea typeface="Poppins"/>
                <a:cs typeface="Poppins"/>
                <a:sym typeface="Poppins"/>
              </a:rPr>
              <a:t>, </a:t>
            </a:r>
            <a:r>
              <a:rPr lang="en-US" dirty="0" err="1">
                <a:solidFill>
                  <a:srgbClr val="91FFF9"/>
                </a:solidFill>
                <a:latin typeface="Poppins"/>
                <a:ea typeface="Poppins"/>
                <a:cs typeface="Poppins"/>
                <a:sym typeface="Poppins"/>
              </a:rPr>
              <a:t>dbytes</a:t>
            </a:r>
            <a:r>
              <a:rPr lang="en-US" dirty="0">
                <a:solidFill>
                  <a:srgbClr val="91FFF9"/>
                </a:solidFill>
                <a:latin typeface="Poppins"/>
                <a:ea typeface="Poppins"/>
                <a:cs typeface="Poppins"/>
                <a:sym typeface="Poppins"/>
              </a:rPr>
              <a:t> → Bytes transferred</a:t>
            </a:r>
          </a:p>
          <a:p>
            <a:pPr marL="421327" lvl="1" indent="-210664" algn="just">
              <a:lnSpc>
                <a:spcPts val="2732"/>
              </a:lnSpc>
              <a:buFont typeface="Arial"/>
              <a:buChar char="•"/>
            </a:pPr>
            <a:r>
              <a:rPr lang="en-US" dirty="0" err="1">
                <a:solidFill>
                  <a:srgbClr val="91FFF9"/>
                </a:solidFill>
                <a:latin typeface="Poppins"/>
                <a:ea typeface="Poppins"/>
                <a:cs typeface="Poppins"/>
                <a:sym typeface="Poppins"/>
              </a:rPr>
              <a:t>spkts</a:t>
            </a:r>
            <a:r>
              <a:rPr lang="en-US" dirty="0">
                <a:solidFill>
                  <a:srgbClr val="91FFF9"/>
                </a:solidFill>
                <a:latin typeface="Poppins"/>
                <a:ea typeface="Poppins"/>
                <a:cs typeface="Poppins"/>
                <a:sym typeface="Poppins"/>
              </a:rPr>
              <a:t>, </a:t>
            </a:r>
            <a:r>
              <a:rPr lang="en-US" dirty="0" err="1">
                <a:solidFill>
                  <a:srgbClr val="91FFF9"/>
                </a:solidFill>
                <a:latin typeface="Poppins"/>
                <a:ea typeface="Poppins"/>
                <a:cs typeface="Poppins"/>
                <a:sym typeface="Poppins"/>
              </a:rPr>
              <a:t>dpkts</a:t>
            </a:r>
            <a:r>
              <a:rPr lang="en-US" dirty="0">
                <a:solidFill>
                  <a:srgbClr val="91FFF9"/>
                </a:solidFill>
                <a:latin typeface="Poppins"/>
                <a:ea typeface="Poppins"/>
                <a:cs typeface="Poppins"/>
                <a:sym typeface="Poppins"/>
              </a:rPr>
              <a:t> → Number of Packets</a:t>
            </a:r>
          </a:p>
          <a:p>
            <a:pPr marL="421327" lvl="1" indent="-210664" algn="just">
              <a:lnSpc>
                <a:spcPts val="2732"/>
              </a:lnSpc>
              <a:buFont typeface="Arial"/>
              <a:buChar char="•"/>
            </a:pPr>
            <a:r>
              <a:rPr lang="en-US" dirty="0">
                <a:solidFill>
                  <a:srgbClr val="91FFF9"/>
                </a:solidFill>
                <a:latin typeface="Poppins"/>
                <a:ea typeface="Poppins"/>
                <a:cs typeface="Poppins"/>
                <a:sym typeface="Poppins"/>
              </a:rPr>
              <a:t>dur → Connection duration</a:t>
            </a:r>
          </a:p>
        </p:txBody>
      </p:sp>
      <p:sp>
        <p:nvSpPr>
          <p:cNvPr id="28" name="TextBox 28"/>
          <p:cNvSpPr txBox="1"/>
          <p:nvPr/>
        </p:nvSpPr>
        <p:spPr>
          <a:xfrm>
            <a:off x="10348615" y="3685713"/>
            <a:ext cx="1027303" cy="799332"/>
          </a:xfrm>
          <a:prstGeom prst="rect">
            <a:avLst/>
          </a:prstGeom>
        </p:spPr>
        <p:txBody>
          <a:bodyPr lIns="0" tIns="0" rIns="0" bIns="0" rtlCol="0" anchor="t">
            <a:spAutoFit/>
          </a:bodyPr>
          <a:lstStyle/>
          <a:p>
            <a:pPr marL="0" lvl="0" indent="0" algn="l">
              <a:lnSpc>
                <a:spcPts val="5458"/>
              </a:lnSpc>
            </a:pPr>
            <a:r>
              <a:rPr lang="en-US" sz="6064" spc="-181">
                <a:solidFill>
                  <a:srgbClr val="91FFF9"/>
                </a:solidFill>
                <a:latin typeface="Poppins"/>
                <a:ea typeface="Poppins"/>
                <a:cs typeface="Poppins"/>
                <a:sym typeface="Poppins"/>
              </a:rPr>
              <a:t>02</a:t>
            </a:r>
          </a:p>
        </p:txBody>
      </p:sp>
      <p:sp>
        <p:nvSpPr>
          <p:cNvPr id="29" name="TextBox 29"/>
          <p:cNvSpPr txBox="1"/>
          <p:nvPr/>
        </p:nvSpPr>
        <p:spPr>
          <a:xfrm>
            <a:off x="11414019" y="6689335"/>
            <a:ext cx="3703133" cy="494613"/>
          </a:xfrm>
          <a:prstGeom prst="rect">
            <a:avLst/>
          </a:prstGeom>
        </p:spPr>
        <p:txBody>
          <a:bodyPr lIns="0" tIns="0" rIns="0" bIns="0" rtlCol="0" anchor="t">
            <a:spAutoFit/>
          </a:bodyPr>
          <a:lstStyle/>
          <a:p>
            <a:pPr algn="just">
              <a:lnSpc>
                <a:spcPts val="3988"/>
              </a:lnSpc>
            </a:pPr>
            <a:r>
              <a:rPr lang="en-US" sz="2624" b="1" dirty="0">
                <a:gradFill>
                  <a:gsLst>
                    <a:gs pos="0">
                      <a:srgbClr val="04153F">
                        <a:alpha val="100000"/>
                      </a:srgbClr>
                    </a:gs>
                    <a:gs pos="100000">
                      <a:srgbClr val="17597F">
                        <a:alpha val="100000"/>
                      </a:srgbClr>
                    </a:gs>
                  </a:gsLst>
                  <a:lin ang="2700000"/>
                </a:gradFill>
                <a:latin typeface="Poppins Bold"/>
                <a:ea typeface="Poppins Bold"/>
                <a:cs typeface="Poppins Bold"/>
                <a:sym typeface="Poppins Bold"/>
              </a:rPr>
              <a:t>Network Metrics</a:t>
            </a:r>
          </a:p>
        </p:txBody>
      </p:sp>
      <p:sp>
        <p:nvSpPr>
          <p:cNvPr id="30" name="TextBox 30"/>
          <p:cNvSpPr txBox="1"/>
          <p:nvPr/>
        </p:nvSpPr>
        <p:spPr>
          <a:xfrm>
            <a:off x="11414019" y="7232036"/>
            <a:ext cx="4624626" cy="1020023"/>
          </a:xfrm>
          <a:prstGeom prst="rect">
            <a:avLst/>
          </a:prstGeom>
        </p:spPr>
        <p:txBody>
          <a:bodyPr lIns="0" tIns="0" rIns="0" bIns="0" rtlCol="0" anchor="t">
            <a:spAutoFit/>
          </a:bodyPr>
          <a:lstStyle/>
          <a:p>
            <a:pPr marL="423631" lvl="1" indent="-211816" algn="just">
              <a:lnSpc>
                <a:spcPts val="2747"/>
              </a:lnSpc>
              <a:buFont typeface="Arial"/>
              <a:buChar char="•"/>
            </a:pPr>
            <a:r>
              <a:rPr lang="en-US" dirty="0" err="1">
                <a:gradFill>
                  <a:gsLst>
                    <a:gs pos="0">
                      <a:srgbClr val="04153F">
                        <a:alpha val="100000"/>
                      </a:srgbClr>
                    </a:gs>
                    <a:gs pos="100000">
                      <a:srgbClr val="17597F">
                        <a:alpha val="100000"/>
                      </a:srgbClr>
                    </a:gs>
                  </a:gsLst>
                  <a:lin ang="2700000"/>
                </a:gradFill>
                <a:latin typeface="Poppins"/>
                <a:ea typeface="Poppins"/>
                <a:cs typeface="Poppins"/>
                <a:sym typeface="Poppins"/>
              </a:rPr>
              <a:t>sttl</a:t>
            </a:r>
            <a:r>
              <a:rPr lang="en-US" dirty="0">
                <a:gradFill>
                  <a:gsLst>
                    <a:gs pos="0">
                      <a:srgbClr val="04153F">
                        <a:alpha val="100000"/>
                      </a:srgbClr>
                    </a:gs>
                    <a:gs pos="100000">
                      <a:srgbClr val="17597F">
                        <a:alpha val="100000"/>
                      </a:srgbClr>
                    </a:gs>
                  </a:gsLst>
                  <a:lin ang="2700000"/>
                </a:gradFill>
                <a:latin typeface="Poppins"/>
                <a:ea typeface="Poppins"/>
                <a:cs typeface="Poppins"/>
                <a:sym typeface="Poppins"/>
              </a:rPr>
              <a:t>, </a:t>
            </a:r>
            <a:r>
              <a:rPr lang="en-US" dirty="0" err="1">
                <a:gradFill>
                  <a:gsLst>
                    <a:gs pos="0">
                      <a:srgbClr val="04153F">
                        <a:alpha val="100000"/>
                      </a:srgbClr>
                    </a:gs>
                    <a:gs pos="100000">
                      <a:srgbClr val="17597F">
                        <a:alpha val="100000"/>
                      </a:srgbClr>
                    </a:gs>
                  </a:gsLst>
                  <a:lin ang="2700000"/>
                </a:gradFill>
                <a:latin typeface="Poppins"/>
                <a:ea typeface="Poppins"/>
                <a:cs typeface="Poppins"/>
                <a:sym typeface="Poppins"/>
              </a:rPr>
              <a:t>dttl</a:t>
            </a:r>
            <a:r>
              <a:rPr lang="en-US" dirty="0">
                <a:gradFill>
                  <a:gsLst>
                    <a:gs pos="0">
                      <a:srgbClr val="04153F">
                        <a:alpha val="100000"/>
                      </a:srgbClr>
                    </a:gs>
                    <a:gs pos="100000">
                      <a:srgbClr val="17597F">
                        <a:alpha val="100000"/>
                      </a:srgbClr>
                    </a:gs>
                  </a:gsLst>
                  <a:lin ang="2700000"/>
                </a:gradFill>
                <a:latin typeface="Poppins"/>
                <a:ea typeface="Poppins"/>
                <a:cs typeface="Poppins"/>
                <a:sym typeface="Poppins"/>
              </a:rPr>
              <a:t> → Time-to-live values</a:t>
            </a:r>
          </a:p>
          <a:p>
            <a:pPr marL="423631" lvl="1" indent="-211816" algn="just">
              <a:lnSpc>
                <a:spcPts val="2747"/>
              </a:lnSpc>
              <a:buFont typeface="Arial"/>
              <a:buChar char="•"/>
            </a:pPr>
            <a:r>
              <a:rPr lang="en-US" dirty="0" err="1">
                <a:gradFill>
                  <a:gsLst>
                    <a:gs pos="0">
                      <a:srgbClr val="04153F">
                        <a:alpha val="100000"/>
                      </a:srgbClr>
                    </a:gs>
                    <a:gs pos="100000">
                      <a:srgbClr val="17597F">
                        <a:alpha val="100000"/>
                      </a:srgbClr>
                    </a:gs>
                  </a:gsLst>
                  <a:lin ang="2700000"/>
                </a:gradFill>
                <a:latin typeface="Poppins"/>
                <a:ea typeface="Poppins"/>
                <a:cs typeface="Poppins"/>
                <a:sym typeface="Poppins"/>
              </a:rPr>
              <a:t>sload</a:t>
            </a:r>
            <a:r>
              <a:rPr lang="en-US" dirty="0">
                <a:gradFill>
                  <a:gsLst>
                    <a:gs pos="0">
                      <a:srgbClr val="04153F">
                        <a:alpha val="100000"/>
                      </a:srgbClr>
                    </a:gs>
                    <a:gs pos="100000">
                      <a:srgbClr val="17597F">
                        <a:alpha val="100000"/>
                      </a:srgbClr>
                    </a:gs>
                  </a:gsLst>
                  <a:lin ang="2700000"/>
                </a:gradFill>
                <a:latin typeface="Poppins"/>
                <a:ea typeface="Poppins"/>
                <a:cs typeface="Poppins"/>
                <a:sym typeface="Poppins"/>
              </a:rPr>
              <a:t>, </a:t>
            </a:r>
            <a:r>
              <a:rPr lang="en-US" dirty="0" err="1">
                <a:gradFill>
                  <a:gsLst>
                    <a:gs pos="0">
                      <a:srgbClr val="04153F">
                        <a:alpha val="100000"/>
                      </a:srgbClr>
                    </a:gs>
                    <a:gs pos="100000">
                      <a:srgbClr val="17597F">
                        <a:alpha val="100000"/>
                      </a:srgbClr>
                    </a:gs>
                  </a:gsLst>
                  <a:lin ang="2700000"/>
                </a:gradFill>
                <a:latin typeface="Poppins"/>
                <a:ea typeface="Poppins"/>
                <a:cs typeface="Poppins"/>
                <a:sym typeface="Poppins"/>
              </a:rPr>
              <a:t>dload</a:t>
            </a:r>
            <a:r>
              <a:rPr lang="en-US" dirty="0">
                <a:gradFill>
                  <a:gsLst>
                    <a:gs pos="0">
                      <a:srgbClr val="04153F">
                        <a:alpha val="100000"/>
                      </a:srgbClr>
                    </a:gs>
                    <a:gs pos="100000">
                      <a:srgbClr val="17597F">
                        <a:alpha val="100000"/>
                      </a:srgbClr>
                    </a:gs>
                  </a:gsLst>
                  <a:lin ang="2700000"/>
                </a:gradFill>
                <a:latin typeface="Poppins"/>
                <a:ea typeface="Poppins"/>
                <a:cs typeface="Poppins"/>
                <a:sym typeface="Poppins"/>
              </a:rPr>
              <a:t> → Data transfer rate</a:t>
            </a:r>
          </a:p>
          <a:p>
            <a:pPr marL="423631" lvl="1" indent="-211816" algn="just">
              <a:lnSpc>
                <a:spcPts val="2747"/>
              </a:lnSpc>
              <a:buFont typeface="Arial"/>
              <a:buChar char="•"/>
            </a:pPr>
            <a:r>
              <a:rPr lang="en-US" dirty="0" err="1">
                <a:gradFill>
                  <a:gsLst>
                    <a:gs pos="0">
                      <a:srgbClr val="04153F">
                        <a:alpha val="100000"/>
                      </a:srgbClr>
                    </a:gs>
                    <a:gs pos="100000">
                      <a:srgbClr val="17597F">
                        <a:alpha val="100000"/>
                      </a:srgbClr>
                    </a:gs>
                  </a:gsLst>
                  <a:lin ang="2700000"/>
                </a:gradFill>
                <a:latin typeface="Poppins"/>
                <a:ea typeface="Poppins"/>
                <a:cs typeface="Poppins"/>
                <a:sym typeface="Poppins"/>
              </a:rPr>
              <a:t>sloss</a:t>
            </a:r>
            <a:r>
              <a:rPr lang="en-US" dirty="0">
                <a:gradFill>
                  <a:gsLst>
                    <a:gs pos="0">
                      <a:srgbClr val="04153F">
                        <a:alpha val="100000"/>
                      </a:srgbClr>
                    </a:gs>
                    <a:gs pos="100000">
                      <a:srgbClr val="17597F">
                        <a:alpha val="100000"/>
                      </a:srgbClr>
                    </a:gs>
                  </a:gsLst>
                  <a:lin ang="2700000"/>
                </a:gradFill>
                <a:latin typeface="Poppins"/>
                <a:ea typeface="Poppins"/>
                <a:cs typeface="Poppins"/>
                <a:sym typeface="Poppins"/>
              </a:rPr>
              <a:t>, </a:t>
            </a:r>
            <a:r>
              <a:rPr lang="en-US" dirty="0" err="1">
                <a:gradFill>
                  <a:gsLst>
                    <a:gs pos="0">
                      <a:srgbClr val="04153F">
                        <a:alpha val="100000"/>
                      </a:srgbClr>
                    </a:gs>
                    <a:gs pos="100000">
                      <a:srgbClr val="17597F">
                        <a:alpha val="100000"/>
                      </a:srgbClr>
                    </a:gs>
                  </a:gsLst>
                  <a:lin ang="2700000"/>
                </a:gradFill>
                <a:latin typeface="Poppins"/>
                <a:ea typeface="Poppins"/>
                <a:cs typeface="Poppins"/>
                <a:sym typeface="Poppins"/>
              </a:rPr>
              <a:t>dloss</a:t>
            </a:r>
            <a:r>
              <a:rPr lang="en-US" dirty="0">
                <a:gradFill>
                  <a:gsLst>
                    <a:gs pos="0">
                      <a:srgbClr val="04153F">
                        <a:alpha val="100000"/>
                      </a:srgbClr>
                    </a:gs>
                    <a:gs pos="100000">
                      <a:srgbClr val="17597F">
                        <a:alpha val="100000"/>
                      </a:srgbClr>
                    </a:gs>
                  </a:gsLst>
                  <a:lin ang="2700000"/>
                </a:gradFill>
                <a:latin typeface="Poppins"/>
                <a:ea typeface="Poppins"/>
                <a:cs typeface="Poppins"/>
                <a:sym typeface="Poppins"/>
              </a:rPr>
              <a:t> → Packet loss</a:t>
            </a:r>
          </a:p>
        </p:txBody>
      </p:sp>
      <p:sp>
        <p:nvSpPr>
          <p:cNvPr id="31" name="TextBox 31"/>
          <p:cNvSpPr txBox="1"/>
          <p:nvPr/>
        </p:nvSpPr>
        <p:spPr>
          <a:xfrm>
            <a:off x="10348615" y="7069884"/>
            <a:ext cx="1027303" cy="799332"/>
          </a:xfrm>
          <a:prstGeom prst="rect">
            <a:avLst/>
          </a:prstGeom>
        </p:spPr>
        <p:txBody>
          <a:bodyPr lIns="0" tIns="0" rIns="0" bIns="0" rtlCol="0" anchor="t">
            <a:spAutoFit/>
          </a:bodyPr>
          <a:lstStyle/>
          <a:p>
            <a:pPr marL="0" lvl="0" indent="0" algn="l">
              <a:lnSpc>
                <a:spcPts val="5458"/>
              </a:lnSpc>
            </a:pPr>
            <a:r>
              <a:rPr lang="en-US" sz="6064" spc="-181">
                <a:gradFill>
                  <a:gsLst>
                    <a:gs pos="0">
                      <a:srgbClr val="04153F">
                        <a:alpha val="100000"/>
                      </a:srgbClr>
                    </a:gs>
                    <a:gs pos="100000">
                      <a:srgbClr val="17597F">
                        <a:alpha val="100000"/>
                      </a:srgbClr>
                    </a:gs>
                  </a:gsLst>
                  <a:lin ang="2700000"/>
                </a:gradFill>
                <a:latin typeface="Poppins"/>
                <a:ea typeface="Poppins"/>
                <a:cs typeface="Poppins"/>
                <a:sym typeface="Poppins"/>
              </a:rPr>
              <a:t>04</a:t>
            </a:r>
          </a:p>
        </p:txBody>
      </p:sp>
      <p:grpSp>
        <p:nvGrpSpPr>
          <p:cNvPr id="32" name="Group 32"/>
          <p:cNvGrpSpPr/>
          <p:nvPr/>
        </p:nvGrpSpPr>
        <p:grpSpPr>
          <a:xfrm>
            <a:off x="3328400" y="865202"/>
            <a:ext cx="1106817" cy="851629"/>
            <a:chOff x="0" y="0"/>
            <a:chExt cx="306253" cy="235644"/>
          </a:xfrm>
        </p:grpSpPr>
        <p:sp>
          <p:nvSpPr>
            <p:cNvPr id="33" name="Freeform 33"/>
            <p:cNvSpPr/>
            <p:nvPr/>
          </p:nvSpPr>
          <p:spPr>
            <a:xfrm>
              <a:off x="0" y="0"/>
              <a:ext cx="306253" cy="235643"/>
            </a:xfrm>
            <a:custGeom>
              <a:avLst/>
              <a:gdLst/>
              <a:ahLst/>
              <a:cxnLst/>
              <a:rect l="l" t="t" r="r" b="b"/>
              <a:pathLst>
                <a:path w="306253" h="235643">
                  <a:moveTo>
                    <a:pt x="0" y="0"/>
                  </a:moveTo>
                  <a:lnTo>
                    <a:pt x="306253" y="0"/>
                  </a:lnTo>
                  <a:lnTo>
                    <a:pt x="306253" y="235643"/>
                  </a:lnTo>
                  <a:lnTo>
                    <a:pt x="0" y="235643"/>
                  </a:lnTo>
                  <a:close/>
                </a:path>
              </a:pathLst>
            </a:custGeom>
            <a:solidFill>
              <a:srgbClr val="91FFF9"/>
            </a:solidFill>
            <a:ln cap="sq">
              <a:noFill/>
              <a:prstDash val="solid"/>
              <a:miter/>
            </a:ln>
          </p:spPr>
        </p:sp>
        <p:sp>
          <p:nvSpPr>
            <p:cNvPr id="34" name="TextBox 34"/>
            <p:cNvSpPr txBox="1"/>
            <p:nvPr/>
          </p:nvSpPr>
          <p:spPr>
            <a:xfrm>
              <a:off x="0" y="-9525"/>
              <a:ext cx="306253" cy="245169"/>
            </a:xfrm>
            <a:prstGeom prst="rect">
              <a:avLst/>
            </a:prstGeom>
          </p:spPr>
          <p:txBody>
            <a:bodyPr lIns="50800" tIns="50800" rIns="50800" bIns="50800" rtlCol="0" anchor="ctr"/>
            <a:lstStyle/>
            <a:p>
              <a:pPr algn="ctr">
                <a:lnSpc>
                  <a:spcPts val="3459"/>
                </a:lnSpc>
              </a:pPr>
              <a:r>
                <a:rPr lang="en-US" sz="3117" b="1">
                  <a:gradFill>
                    <a:gsLst>
                      <a:gs pos="0">
                        <a:srgbClr val="04153F">
                          <a:alpha val="100000"/>
                        </a:srgbClr>
                      </a:gs>
                      <a:gs pos="100000">
                        <a:srgbClr val="17597F">
                          <a:alpha val="100000"/>
                        </a:srgbClr>
                      </a:gs>
                    </a:gsLst>
                    <a:lin ang="2700000"/>
                  </a:gradFill>
                  <a:latin typeface="Poppins Bold"/>
                  <a:ea typeface="Poppins Bold"/>
                  <a:cs typeface="Poppins Bold"/>
                  <a:sym typeface="Poppins Bold"/>
                </a:rPr>
                <a:t>01</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53F">
                <a:alpha val="100000"/>
              </a:srgbClr>
            </a:gs>
            <a:gs pos="100000">
              <a:srgbClr val="17597F">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5703714" y="1880569"/>
            <a:ext cx="6880572" cy="764215"/>
            <a:chOff x="0" y="0"/>
            <a:chExt cx="9174096" cy="1018954"/>
          </a:xfrm>
        </p:grpSpPr>
        <p:sp>
          <p:nvSpPr>
            <p:cNvPr id="3" name="TextBox 3"/>
            <p:cNvSpPr txBox="1"/>
            <p:nvPr/>
          </p:nvSpPr>
          <p:spPr>
            <a:xfrm>
              <a:off x="0" y="-50194"/>
              <a:ext cx="8876677" cy="636104"/>
            </a:xfrm>
            <a:prstGeom prst="rect">
              <a:avLst/>
            </a:prstGeom>
          </p:spPr>
          <p:txBody>
            <a:bodyPr lIns="0" tIns="0" rIns="0" bIns="0" rtlCol="0" anchor="t">
              <a:spAutoFit/>
            </a:bodyPr>
            <a:lstStyle/>
            <a:p>
              <a:pPr algn="l">
                <a:lnSpc>
                  <a:spcPts val="3845"/>
                </a:lnSpc>
              </a:pPr>
              <a:r>
                <a:rPr lang="en-US" sz="2746" spc="-68">
                  <a:solidFill>
                    <a:srgbClr val="FFFFFF"/>
                  </a:solidFill>
                  <a:latin typeface="Poppins"/>
                  <a:ea typeface="Poppins"/>
                  <a:cs typeface="Poppins"/>
                  <a:sym typeface="Poppins"/>
                </a:rPr>
                <a:t>Key Features of Network Traffic Data</a:t>
              </a:r>
            </a:p>
          </p:txBody>
        </p:sp>
        <p:sp>
          <p:nvSpPr>
            <p:cNvPr id="4" name="Freeform 4"/>
            <p:cNvSpPr/>
            <p:nvPr/>
          </p:nvSpPr>
          <p:spPr>
            <a:xfrm rot="-8687136">
              <a:off x="8806764" y="51933"/>
              <a:ext cx="292225" cy="353239"/>
            </a:xfrm>
            <a:custGeom>
              <a:avLst/>
              <a:gdLst/>
              <a:ahLst/>
              <a:cxnLst/>
              <a:rect l="l" t="t" r="r" b="b"/>
              <a:pathLst>
                <a:path w="292225" h="353239">
                  <a:moveTo>
                    <a:pt x="0" y="0"/>
                  </a:moveTo>
                  <a:lnTo>
                    <a:pt x="292225" y="0"/>
                  </a:lnTo>
                  <a:lnTo>
                    <a:pt x="292225" y="353238"/>
                  </a:lnTo>
                  <a:lnTo>
                    <a:pt x="0" y="35323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AutoShape 5"/>
            <p:cNvSpPr/>
            <p:nvPr/>
          </p:nvSpPr>
          <p:spPr>
            <a:xfrm>
              <a:off x="0" y="993554"/>
              <a:ext cx="9174096" cy="0"/>
            </a:xfrm>
            <a:prstGeom prst="line">
              <a:avLst/>
            </a:prstGeom>
            <a:ln w="50800" cap="rnd">
              <a:solidFill>
                <a:srgbClr val="FFFFFF"/>
              </a:solidFill>
              <a:prstDash val="solid"/>
              <a:headEnd type="none" w="sm" len="sm"/>
              <a:tailEnd type="none" w="sm" len="sm"/>
            </a:ln>
          </p:spPr>
        </p:sp>
      </p:grpSp>
      <p:grpSp>
        <p:nvGrpSpPr>
          <p:cNvPr id="6" name="Group 6"/>
          <p:cNvGrpSpPr/>
          <p:nvPr/>
        </p:nvGrpSpPr>
        <p:grpSpPr>
          <a:xfrm>
            <a:off x="1281142" y="4104532"/>
            <a:ext cx="7490431" cy="2744699"/>
            <a:chOff x="0" y="0"/>
            <a:chExt cx="2754311" cy="1009255"/>
          </a:xfrm>
        </p:grpSpPr>
        <p:sp>
          <p:nvSpPr>
            <p:cNvPr id="7" name="Freeform 7"/>
            <p:cNvSpPr/>
            <p:nvPr/>
          </p:nvSpPr>
          <p:spPr>
            <a:xfrm>
              <a:off x="0" y="0"/>
              <a:ext cx="2754311" cy="1009255"/>
            </a:xfrm>
            <a:custGeom>
              <a:avLst/>
              <a:gdLst/>
              <a:ahLst/>
              <a:cxnLst/>
              <a:rect l="l" t="t" r="r" b="b"/>
              <a:pathLst>
                <a:path w="2754311" h="1009255">
                  <a:moveTo>
                    <a:pt x="44444" y="0"/>
                  </a:moveTo>
                  <a:lnTo>
                    <a:pt x="2709867" y="0"/>
                  </a:lnTo>
                  <a:cubicBezTo>
                    <a:pt x="2721655" y="0"/>
                    <a:pt x="2732959" y="4682"/>
                    <a:pt x="2741294" y="13017"/>
                  </a:cubicBezTo>
                  <a:cubicBezTo>
                    <a:pt x="2749629" y="21352"/>
                    <a:pt x="2754311" y="32657"/>
                    <a:pt x="2754311" y="44444"/>
                  </a:cubicBezTo>
                  <a:lnTo>
                    <a:pt x="2754311" y="964811"/>
                  </a:lnTo>
                  <a:cubicBezTo>
                    <a:pt x="2754311" y="976598"/>
                    <a:pt x="2749629" y="987903"/>
                    <a:pt x="2741294" y="996238"/>
                  </a:cubicBezTo>
                  <a:cubicBezTo>
                    <a:pt x="2732959" y="1004572"/>
                    <a:pt x="2721655" y="1009255"/>
                    <a:pt x="2709867" y="1009255"/>
                  </a:cubicBezTo>
                  <a:lnTo>
                    <a:pt x="44444" y="1009255"/>
                  </a:lnTo>
                  <a:cubicBezTo>
                    <a:pt x="19898" y="1009255"/>
                    <a:pt x="0" y="989357"/>
                    <a:pt x="0" y="964811"/>
                  </a:cubicBezTo>
                  <a:lnTo>
                    <a:pt x="0" y="44444"/>
                  </a:lnTo>
                  <a:cubicBezTo>
                    <a:pt x="0" y="32657"/>
                    <a:pt x="4682" y="21352"/>
                    <a:pt x="13017" y="13017"/>
                  </a:cubicBezTo>
                  <a:cubicBezTo>
                    <a:pt x="21352" y="4682"/>
                    <a:pt x="32657" y="0"/>
                    <a:pt x="44444" y="0"/>
                  </a:cubicBezTo>
                  <a:close/>
                </a:path>
              </a:pathLst>
            </a:custGeom>
            <a:solidFill>
              <a:srgbClr val="91FFF9"/>
            </a:solidFill>
          </p:spPr>
        </p:sp>
        <p:sp>
          <p:nvSpPr>
            <p:cNvPr id="8" name="TextBox 8"/>
            <p:cNvSpPr txBox="1"/>
            <p:nvPr/>
          </p:nvSpPr>
          <p:spPr>
            <a:xfrm>
              <a:off x="0" y="-38100"/>
              <a:ext cx="2754311" cy="1047355"/>
            </a:xfrm>
            <a:prstGeom prst="rect">
              <a:avLst/>
            </a:prstGeom>
          </p:spPr>
          <p:txBody>
            <a:bodyPr lIns="34965" tIns="34965" rIns="34965" bIns="34965" rtlCol="0" anchor="ctr"/>
            <a:lstStyle/>
            <a:p>
              <a:pPr algn="ctr">
                <a:lnSpc>
                  <a:spcPts val="2660"/>
                </a:lnSpc>
                <a:spcBef>
                  <a:spcPct val="0"/>
                </a:spcBef>
              </a:pPr>
              <a:endParaRPr/>
            </a:p>
          </p:txBody>
        </p:sp>
      </p:grpSp>
      <p:grpSp>
        <p:nvGrpSpPr>
          <p:cNvPr id="9" name="Group 9"/>
          <p:cNvGrpSpPr/>
          <p:nvPr/>
        </p:nvGrpSpPr>
        <p:grpSpPr>
          <a:xfrm>
            <a:off x="9516427" y="4104532"/>
            <a:ext cx="7490431" cy="2744699"/>
            <a:chOff x="0" y="0"/>
            <a:chExt cx="2754311" cy="1009255"/>
          </a:xfrm>
        </p:grpSpPr>
        <p:sp>
          <p:nvSpPr>
            <p:cNvPr id="10" name="Freeform 10"/>
            <p:cNvSpPr/>
            <p:nvPr/>
          </p:nvSpPr>
          <p:spPr>
            <a:xfrm>
              <a:off x="0" y="0"/>
              <a:ext cx="2754311" cy="1009255"/>
            </a:xfrm>
            <a:custGeom>
              <a:avLst/>
              <a:gdLst/>
              <a:ahLst/>
              <a:cxnLst/>
              <a:rect l="l" t="t" r="r" b="b"/>
              <a:pathLst>
                <a:path w="2754311" h="1009255">
                  <a:moveTo>
                    <a:pt x="44444" y="0"/>
                  </a:moveTo>
                  <a:lnTo>
                    <a:pt x="2709867" y="0"/>
                  </a:lnTo>
                  <a:cubicBezTo>
                    <a:pt x="2721655" y="0"/>
                    <a:pt x="2732959" y="4682"/>
                    <a:pt x="2741294" y="13017"/>
                  </a:cubicBezTo>
                  <a:cubicBezTo>
                    <a:pt x="2749629" y="21352"/>
                    <a:pt x="2754311" y="32657"/>
                    <a:pt x="2754311" y="44444"/>
                  </a:cubicBezTo>
                  <a:lnTo>
                    <a:pt x="2754311" y="964811"/>
                  </a:lnTo>
                  <a:cubicBezTo>
                    <a:pt x="2754311" y="976598"/>
                    <a:pt x="2749629" y="987903"/>
                    <a:pt x="2741294" y="996238"/>
                  </a:cubicBezTo>
                  <a:cubicBezTo>
                    <a:pt x="2732959" y="1004572"/>
                    <a:pt x="2721655" y="1009255"/>
                    <a:pt x="2709867" y="1009255"/>
                  </a:cubicBezTo>
                  <a:lnTo>
                    <a:pt x="44444" y="1009255"/>
                  </a:lnTo>
                  <a:cubicBezTo>
                    <a:pt x="19898" y="1009255"/>
                    <a:pt x="0" y="989357"/>
                    <a:pt x="0" y="964811"/>
                  </a:cubicBezTo>
                  <a:lnTo>
                    <a:pt x="0" y="44444"/>
                  </a:lnTo>
                  <a:cubicBezTo>
                    <a:pt x="0" y="32657"/>
                    <a:pt x="4682" y="21352"/>
                    <a:pt x="13017" y="13017"/>
                  </a:cubicBezTo>
                  <a:cubicBezTo>
                    <a:pt x="21352" y="4682"/>
                    <a:pt x="32657" y="0"/>
                    <a:pt x="44444" y="0"/>
                  </a:cubicBezTo>
                  <a:close/>
                </a:path>
              </a:pathLst>
            </a:custGeom>
            <a:ln w="38100" cap="rnd">
              <a:solidFill>
                <a:srgbClr val="91FFF9"/>
              </a:solidFill>
              <a:prstDash val="solid"/>
              <a:round/>
            </a:ln>
          </p:spPr>
        </p:sp>
        <p:sp>
          <p:nvSpPr>
            <p:cNvPr id="11" name="TextBox 11"/>
            <p:cNvSpPr txBox="1"/>
            <p:nvPr/>
          </p:nvSpPr>
          <p:spPr>
            <a:xfrm>
              <a:off x="0" y="-38100"/>
              <a:ext cx="2754311" cy="1047355"/>
            </a:xfrm>
            <a:prstGeom prst="rect">
              <a:avLst/>
            </a:prstGeom>
          </p:spPr>
          <p:txBody>
            <a:bodyPr lIns="34965" tIns="34965" rIns="34965" bIns="34965" rtlCol="0" anchor="ctr"/>
            <a:lstStyle/>
            <a:p>
              <a:pPr algn="ctr">
                <a:lnSpc>
                  <a:spcPts val="2660"/>
                </a:lnSpc>
                <a:spcBef>
                  <a:spcPct val="0"/>
                </a:spcBef>
              </a:pPr>
              <a:endParaRPr/>
            </a:p>
          </p:txBody>
        </p:sp>
      </p:grpSp>
      <p:sp>
        <p:nvSpPr>
          <p:cNvPr id="12" name="TextBox 12"/>
          <p:cNvSpPr txBox="1"/>
          <p:nvPr/>
        </p:nvSpPr>
        <p:spPr>
          <a:xfrm>
            <a:off x="4840446" y="716031"/>
            <a:ext cx="2871554" cy="1169021"/>
          </a:xfrm>
          <a:prstGeom prst="rect">
            <a:avLst/>
          </a:prstGeom>
        </p:spPr>
        <p:txBody>
          <a:bodyPr lIns="0" tIns="0" rIns="0" bIns="0" rtlCol="0" anchor="t">
            <a:spAutoFit/>
          </a:bodyPr>
          <a:lstStyle/>
          <a:p>
            <a:pPr algn="l">
              <a:lnSpc>
                <a:spcPts val="8433"/>
              </a:lnSpc>
            </a:pPr>
            <a:r>
              <a:rPr lang="en-US" sz="7881" b="1">
                <a:solidFill>
                  <a:srgbClr val="FFFFFF"/>
                </a:solidFill>
                <a:latin typeface="Poppins Bold"/>
                <a:ea typeface="Poppins Bold"/>
                <a:cs typeface="Poppins Bold"/>
                <a:sym typeface="Poppins Bold"/>
              </a:rPr>
              <a:t>DATA</a:t>
            </a:r>
          </a:p>
        </p:txBody>
      </p:sp>
      <p:sp>
        <p:nvSpPr>
          <p:cNvPr id="13" name="TextBox 13"/>
          <p:cNvSpPr txBox="1"/>
          <p:nvPr/>
        </p:nvSpPr>
        <p:spPr>
          <a:xfrm>
            <a:off x="7806668" y="716031"/>
            <a:ext cx="6376297" cy="1177873"/>
          </a:xfrm>
          <a:prstGeom prst="rect">
            <a:avLst/>
          </a:prstGeom>
        </p:spPr>
        <p:txBody>
          <a:bodyPr lIns="0" tIns="0" rIns="0" bIns="0" rtlCol="0" anchor="t">
            <a:spAutoFit/>
          </a:bodyPr>
          <a:lstStyle/>
          <a:p>
            <a:pPr algn="l">
              <a:lnSpc>
                <a:spcPts val="8433"/>
              </a:lnSpc>
            </a:pPr>
            <a:r>
              <a:rPr lang="en-US" sz="7881" b="1">
                <a:solidFill>
                  <a:srgbClr val="91FFF9"/>
                </a:solidFill>
                <a:latin typeface="Poppins Bold"/>
                <a:ea typeface="Poppins Bold"/>
                <a:cs typeface="Poppins Bold"/>
                <a:sym typeface="Poppins Bold"/>
              </a:rPr>
              <a:t>SUMMARY</a:t>
            </a:r>
          </a:p>
        </p:txBody>
      </p:sp>
      <p:sp>
        <p:nvSpPr>
          <p:cNvPr id="14" name="TextBox 14"/>
          <p:cNvSpPr txBox="1"/>
          <p:nvPr/>
        </p:nvSpPr>
        <p:spPr>
          <a:xfrm>
            <a:off x="3129212" y="4342750"/>
            <a:ext cx="4624626" cy="494613"/>
          </a:xfrm>
          <a:prstGeom prst="rect">
            <a:avLst/>
          </a:prstGeom>
        </p:spPr>
        <p:txBody>
          <a:bodyPr lIns="0" tIns="0" rIns="0" bIns="0" rtlCol="0" anchor="t">
            <a:spAutoFit/>
          </a:bodyPr>
          <a:lstStyle/>
          <a:p>
            <a:pPr algn="just">
              <a:lnSpc>
                <a:spcPts val="3988"/>
              </a:lnSpc>
            </a:pPr>
            <a:r>
              <a:rPr lang="en-US" sz="2624" b="1">
                <a:gradFill>
                  <a:gsLst>
                    <a:gs pos="0">
                      <a:srgbClr val="04153F">
                        <a:alpha val="100000"/>
                      </a:srgbClr>
                    </a:gs>
                    <a:gs pos="100000">
                      <a:srgbClr val="17597F">
                        <a:alpha val="100000"/>
                      </a:srgbClr>
                    </a:gs>
                  </a:gsLst>
                  <a:lin ang="2700000"/>
                </a:gradFill>
                <a:latin typeface="Poppins Bold"/>
                <a:ea typeface="Poppins Bold"/>
                <a:cs typeface="Poppins Bold"/>
                <a:sym typeface="Poppins Bold"/>
              </a:rPr>
              <a:t>Statistical Features</a:t>
            </a:r>
          </a:p>
        </p:txBody>
      </p:sp>
      <p:sp>
        <p:nvSpPr>
          <p:cNvPr id="15" name="TextBox 15"/>
          <p:cNvSpPr txBox="1"/>
          <p:nvPr/>
        </p:nvSpPr>
        <p:spPr>
          <a:xfrm>
            <a:off x="2799205" y="4999359"/>
            <a:ext cx="6393372" cy="1036282"/>
          </a:xfrm>
          <a:prstGeom prst="rect">
            <a:avLst/>
          </a:prstGeom>
        </p:spPr>
        <p:txBody>
          <a:bodyPr lIns="0" tIns="0" rIns="0" bIns="0" rtlCol="0" anchor="t">
            <a:spAutoFit/>
          </a:bodyPr>
          <a:lstStyle/>
          <a:p>
            <a:pPr marL="421327" lvl="1" indent="-210664" algn="just">
              <a:lnSpc>
                <a:spcPts val="2732"/>
              </a:lnSpc>
              <a:buFont typeface="Arial"/>
              <a:buChar char="•"/>
            </a:pPr>
            <a:r>
              <a:rPr lang="en-US" sz="1951">
                <a:gradFill>
                  <a:gsLst>
                    <a:gs pos="0">
                      <a:srgbClr val="04153F">
                        <a:alpha val="100000"/>
                      </a:srgbClr>
                    </a:gs>
                    <a:gs pos="100000">
                      <a:srgbClr val="17597F">
                        <a:alpha val="100000"/>
                      </a:srgbClr>
                    </a:gs>
                  </a:gsLst>
                  <a:lin ang="2700000"/>
                </a:gradFill>
                <a:latin typeface="Poppins"/>
                <a:ea typeface="Poppins"/>
                <a:cs typeface="Poppins"/>
                <a:sym typeface="Poppins"/>
              </a:rPr>
              <a:t>smean, dmean → Average packet size</a:t>
            </a:r>
          </a:p>
          <a:p>
            <a:pPr marL="421327" lvl="1" indent="-210664" algn="just">
              <a:lnSpc>
                <a:spcPts val="2732"/>
              </a:lnSpc>
              <a:buFont typeface="Arial"/>
              <a:buChar char="•"/>
            </a:pPr>
            <a:r>
              <a:rPr lang="en-US" sz="1951">
                <a:gradFill>
                  <a:gsLst>
                    <a:gs pos="0">
                      <a:srgbClr val="04153F">
                        <a:alpha val="100000"/>
                      </a:srgbClr>
                    </a:gs>
                    <a:gs pos="100000">
                      <a:srgbClr val="17597F">
                        <a:alpha val="100000"/>
                      </a:srgbClr>
                    </a:gs>
                  </a:gsLst>
                  <a:lin ang="2700000"/>
                </a:gradFill>
                <a:latin typeface="Poppins"/>
                <a:ea typeface="Poppins"/>
                <a:cs typeface="Poppins"/>
                <a:sym typeface="Poppins"/>
              </a:rPr>
              <a:t>ct_* → Connection-based statistics</a:t>
            </a:r>
          </a:p>
          <a:p>
            <a:pPr algn="just">
              <a:lnSpc>
                <a:spcPts val="2732"/>
              </a:lnSpc>
            </a:pPr>
            <a:endParaRPr lang="en-US" sz="1951">
              <a:gradFill>
                <a:gsLst>
                  <a:gs pos="0">
                    <a:srgbClr val="04153F">
                      <a:alpha val="100000"/>
                    </a:srgbClr>
                  </a:gs>
                  <a:gs pos="100000">
                    <a:srgbClr val="17597F">
                      <a:alpha val="100000"/>
                    </a:srgbClr>
                  </a:gs>
                </a:gsLst>
                <a:lin ang="2700000"/>
              </a:gradFill>
              <a:latin typeface="Poppins"/>
              <a:ea typeface="Poppins"/>
              <a:cs typeface="Poppins"/>
              <a:sym typeface="Poppins"/>
            </a:endParaRPr>
          </a:p>
        </p:txBody>
      </p:sp>
      <p:sp>
        <p:nvSpPr>
          <p:cNvPr id="16" name="TextBox 16"/>
          <p:cNvSpPr txBox="1"/>
          <p:nvPr/>
        </p:nvSpPr>
        <p:spPr>
          <a:xfrm>
            <a:off x="1500868" y="4280638"/>
            <a:ext cx="1027303" cy="799332"/>
          </a:xfrm>
          <a:prstGeom prst="rect">
            <a:avLst/>
          </a:prstGeom>
        </p:spPr>
        <p:txBody>
          <a:bodyPr lIns="0" tIns="0" rIns="0" bIns="0" rtlCol="0" anchor="t">
            <a:spAutoFit/>
          </a:bodyPr>
          <a:lstStyle/>
          <a:p>
            <a:pPr marL="0" lvl="0" indent="0" algn="l">
              <a:lnSpc>
                <a:spcPts val="5458"/>
              </a:lnSpc>
            </a:pPr>
            <a:r>
              <a:rPr lang="en-US" sz="6064" spc="-181">
                <a:gradFill>
                  <a:gsLst>
                    <a:gs pos="0">
                      <a:srgbClr val="04153F">
                        <a:alpha val="100000"/>
                      </a:srgbClr>
                    </a:gs>
                    <a:gs pos="100000">
                      <a:srgbClr val="17597F">
                        <a:alpha val="100000"/>
                      </a:srgbClr>
                    </a:gs>
                  </a:gsLst>
                  <a:lin ang="2700000"/>
                </a:gradFill>
                <a:latin typeface="Poppins"/>
                <a:ea typeface="Poppins"/>
                <a:cs typeface="Poppins"/>
                <a:sym typeface="Poppins"/>
              </a:rPr>
              <a:t>05</a:t>
            </a:r>
          </a:p>
        </p:txBody>
      </p:sp>
      <p:sp>
        <p:nvSpPr>
          <p:cNvPr id="17" name="TextBox 17"/>
          <p:cNvSpPr txBox="1"/>
          <p:nvPr/>
        </p:nvSpPr>
        <p:spPr>
          <a:xfrm>
            <a:off x="11314331" y="4328222"/>
            <a:ext cx="3703133" cy="494613"/>
          </a:xfrm>
          <a:prstGeom prst="rect">
            <a:avLst/>
          </a:prstGeom>
        </p:spPr>
        <p:txBody>
          <a:bodyPr lIns="0" tIns="0" rIns="0" bIns="0" rtlCol="0" anchor="t">
            <a:spAutoFit/>
          </a:bodyPr>
          <a:lstStyle/>
          <a:p>
            <a:pPr algn="just">
              <a:lnSpc>
                <a:spcPts val="3988"/>
              </a:lnSpc>
            </a:pPr>
            <a:r>
              <a:rPr lang="en-US" sz="2624" b="1">
                <a:solidFill>
                  <a:srgbClr val="91FFF9"/>
                </a:solidFill>
                <a:latin typeface="Poppins Bold"/>
                <a:ea typeface="Poppins Bold"/>
                <a:cs typeface="Poppins Bold"/>
                <a:sym typeface="Poppins Bold"/>
              </a:rPr>
              <a:t>Target Variables</a:t>
            </a:r>
          </a:p>
        </p:txBody>
      </p:sp>
      <p:sp>
        <p:nvSpPr>
          <p:cNvPr id="18" name="TextBox 18"/>
          <p:cNvSpPr txBox="1"/>
          <p:nvPr/>
        </p:nvSpPr>
        <p:spPr>
          <a:xfrm>
            <a:off x="11314331" y="4885452"/>
            <a:ext cx="4862761" cy="1036282"/>
          </a:xfrm>
          <a:prstGeom prst="rect">
            <a:avLst/>
          </a:prstGeom>
        </p:spPr>
        <p:txBody>
          <a:bodyPr lIns="0" tIns="0" rIns="0" bIns="0" rtlCol="0" anchor="t">
            <a:spAutoFit/>
          </a:bodyPr>
          <a:lstStyle/>
          <a:p>
            <a:pPr marL="421327" lvl="1" indent="-210664" algn="just">
              <a:lnSpc>
                <a:spcPts val="2732"/>
              </a:lnSpc>
              <a:buFont typeface="Arial"/>
              <a:buChar char="•"/>
            </a:pPr>
            <a:r>
              <a:rPr lang="en-US" sz="1951">
                <a:solidFill>
                  <a:srgbClr val="91FFF9"/>
                </a:solidFill>
                <a:latin typeface="Poppins"/>
                <a:ea typeface="Poppins"/>
                <a:cs typeface="Poppins"/>
                <a:sym typeface="Poppins"/>
              </a:rPr>
              <a:t>attack_cat → Type of attack</a:t>
            </a:r>
          </a:p>
          <a:p>
            <a:pPr marL="421327" lvl="1" indent="-210664" algn="just">
              <a:lnSpc>
                <a:spcPts val="2732"/>
              </a:lnSpc>
              <a:buFont typeface="Arial"/>
              <a:buChar char="•"/>
            </a:pPr>
            <a:r>
              <a:rPr lang="en-US" sz="1951">
                <a:solidFill>
                  <a:srgbClr val="91FFF9"/>
                </a:solidFill>
                <a:latin typeface="Poppins"/>
                <a:ea typeface="Poppins"/>
                <a:cs typeface="Poppins"/>
                <a:sym typeface="Poppins"/>
              </a:rPr>
              <a:t>label → 0 = Normal, 1 = Attack</a:t>
            </a:r>
          </a:p>
          <a:p>
            <a:pPr algn="just">
              <a:lnSpc>
                <a:spcPts val="2732"/>
              </a:lnSpc>
            </a:pPr>
            <a:endParaRPr lang="en-US" sz="1951">
              <a:solidFill>
                <a:srgbClr val="91FFF9"/>
              </a:solidFill>
              <a:latin typeface="Poppins"/>
              <a:ea typeface="Poppins"/>
              <a:cs typeface="Poppins"/>
              <a:sym typeface="Poppins"/>
            </a:endParaRPr>
          </a:p>
        </p:txBody>
      </p:sp>
      <p:sp>
        <p:nvSpPr>
          <p:cNvPr id="19" name="TextBox 19"/>
          <p:cNvSpPr txBox="1"/>
          <p:nvPr/>
        </p:nvSpPr>
        <p:spPr>
          <a:xfrm>
            <a:off x="9967513" y="4344168"/>
            <a:ext cx="1027303" cy="799332"/>
          </a:xfrm>
          <a:prstGeom prst="rect">
            <a:avLst/>
          </a:prstGeom>
        </p:spPr>
        <p:txBody>
          <a:bodyPr lIns="0" tIns="0" rIns="0" bIns="0" rtlCol="0" anchor="t">
            <a:spAutoFit/>
          </a:bodyPr>
          <a:lstStyle/>
          <a:p>
            <a:pPr marL="0" lvl="0" indent="0" algn="l">
              <a:lnSpc>
                <a:spcPts val="5458"/>
              </a:lnSpc>
            </a:pPr>
            <a:r>
              <a:rPr lang="en-US" sz="6064" spc="-181">
                <a:solidFill>
                  <a:srgbClr val="91FFF9"/>
                </a:solidFill>
                <a:latin typeface="Poppins"/>
                <a:ea typeface="Poppins"/>
                <a:cs typeface="Poppins"/>
                <a:sym typeface="Poppins"/>
              </a:rPr>
              <a:t>06</a:t>
            </a:r>
          </a:p>
        </p:txBody>
      </p:sp>
      <p:grpSp>
        <p:nvGrpSpPr>
          <p:cNvPr id="20" name="Group 20"/>
          <p:cNvGrpSpPr/>
          <p:nvPr/>
        </p:nvGrpSpPr>
        <p:grpSpPr>
          <a:xfrm>
            <a:off x="3328400" y="865202"/>
            <a:ext cx="1106817" cy="851629"/>
            <a:chOff x="0" y="0"/>
            <a:chExt cx="306253" cy="235644"/>
          </a:xfrm>
        </p:grpSpPr>
        <p:sp>
          <p:nvSpPr>
            <p:cNvPr id="21" name="Freeform 21"/>
            <p:cNvSpPr/>
            <p:nvPr/>
          </p:nvSpPr>
          <p:spPr>
            <a:xfrm>
              <a:off x="0" y="0"/>
              <a:ext cx="306253" cy="235643"/>
            </a:xfrm>
            <a:custGeom>
              <a:avLst/>
              <a:gdLst/>
              <a:ahLst/>
              <a:cxnLst/>
              <a:rect l="l" t="t" r="r" b="b"/>
              <a:pathLst>
                <a:path w="306253" h="235643">
                  <a:moveTo>
                    <a:pt x="0" y="0"/>
                  </a:moveTo>
                  <a:lnTo>
                    <a:pt x="306253" y="0"/>
                  </a:lnTo>
                  <a:lnTo>
                    <a:pt x="306253" y="235643"/>
                  </a:lnTo>
                  <a:lnTo>
                    <a:pt x="0" y="235643"/>
                  </a:lnTo>
                  <a:close/>
                </a:path>
              </a:pathLst>
            </a:custGeom>
            <a:solidFill>
              <a:srgbClr val="91FFF9"/>
            </a:solidFill>
            <a:ln cap="sq">
              <a:noFill/>
              <a:prstDash val="solid"/>
              <a:miter/>
            </a:ln>
          </p:spPr>
        </p:sp>
        <p:sp>
          <p:nvSpPr>
            <p:cNvPr id="22" name="TextBox 22"/>
            <p:cNvSpPr txBox="1"/>
            <p:nvPr/>
          </p:nvSpPr>
          <p:spPr>
            <a:xfrm>
              <a:off x="0" y="-9525"/>
              <a:ext cx="306253" cy="245169"/>
            </a:xfrm>
            <a:prstGeom prst="rect">
              <a:avLst/>
            </a:prstGeom>
          </p:spPr>
          <p:txBody>
            <a:bodyPr lIns="50800" tIns="50800" rIns="50800" bIns="50800" rtlCol="0" anchor="ctr"/>
            <a:lstStyle/>
            <a:p>
              <a:pPr algn="ctr">
                <a:lnSpc>
                  <a:spcPts val="3459"/>
                </a:lnSpc>
              </a:pPr>
              <a:r>
                <a:rPr lang="en-US" sz="3117" b="1">
                  <a:gradFill>
                    <a:gsLst>
                      <a:gs pos="0">
                        <a:srgbClr val="04153F">
                          <a:alpha val="100000"/>
                        </a:srgbClr>
                      </a:gs>
                      <a:gs pos="100000">
                        <a:srgbClr val="17597F">
                          <a:alpha val="100000"/>
                        </a:srgbClr>
                      </a:gs>
                    </a:gsLst>
                    <a:lin ang="2700000"/>
                  </a:gradFill>
                  <a:latin typeface="Poppins Bold"/>
                  <a:ea typeface="Poppins Bold"/>
                  <a:cs typeface="Poppins Bold"/>
                  <a:sym typeface="Poppins Bold"/>
                </a:rPr>
                <a:t>02</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53F">
                <a:alpha val="100000"/>
              </a:srgbClr>
            </a:gs>
            <a:gs pos="100000">
              <a:srgbClr val="17597F">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5703714" y="1880569"/>
            <a:ext cx="6880572" cy="764215"/>
            <a:chOff x="0" y="0"/>
            <a:chExt cx="9174096" cy="1018954"/>
          </a:xfrm>
        </p:grpSpPr>
        <p:sp>
          <p:nvSpPr>
            <p:cNvPr id="3" name="TextBox 3"/>
            <p:cNvSpPr txBox="1"/>
            <p:nvPr/>
          </p:nvSpPr>
          <p:spPr>
            <a:xfrm>
              <a:off x="0" y="-50194"/>
              <a:ext cx="8876677" cy="636104"/>
            </a:xfrm>
            <a:prstGeom prst="rect">
              <a:avLst/>
            </a:prstGeom>
          </p:spPr>
          <p:txBody>
            <a:bodyPr lIns="0" tIns="0" rIns="0" bIns="0" rtlCol="0" anchor="t">
              <a:spAutoFit/>
            </a:bodyPr>
            <a:lstStyle/>
            <a:p>
              <a:pPr algn="l">
                <a:lnSpc>
                  <a:spcPts val="3845"/>
                </a:lnSpc>
              </a:pPr>
              <a:r>
                <a:rPr lang="en-US" sz="2746" spc="-68">
                  <a:solidFill>
                    <a:srgbClr val="FFFFFF"/>
                  </a:solidFill>
                  <a:latin typeface="Poppins"/>
                  <a:ea typeface="Poppins"/>
                  <a:cs typeface="Poppins"/>
                  <a:sym typeface="Poppins"/>
                </a:rPr>
                <a:t>Key Features of Network Traffic Data</a:t>
              </a:r>
            </a:p>
          </p:txBody>
        </p:sp>
        <p:sp>
          <p:nvSpPr>
            <p:cNvPr id="4" name="Freeform 4"/>
            <p:cNvSpPr/>
            <p:nvPr/>
          </p:nvSpPr>
          <p:spPr>
            <a:xfrm rot="-8687136">
              <a:off x="8806764" y="51933"/>
              <a:ext cx="292225" cy="353239"/>
            </a:xfrm>
            <a:custGeom>
              <a:avLst/>
              <a:gdLst/>
              <a:ahLst/>
              <a:cxnLst/>
              <a:rect l="l" t="t" r="r" b="b"/>
              <a:pathLst>
                <a:path w="292225" h="353239">
                  <a:moveTo>
                    <a:pt x="0" y="0"/>
                  </a:moveTo>
                  <a:lnTo>
                    <a:pt x="292225" y="0"/>
                  </a:lnTo>
                  <a:lnTo>
                    <a:pt x="292225" y="353238"/>
                  </a:lnTo>
                  <a:lnTo>
                    <a:pt x="0" y="35323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AutoShape 5"/>
            <p:cNvSpPr/>
            <p:nvPr/>
          </p:nvSpPr>
          <p:spPr>
            <a:xfrm>
              <a:off x="0" y="993554"/>
              <a:ext cx="9174096" cy="0"/>
            </a:xfrm>
            <a:prstGeom prst="line">
              <a:avLst/>
            </a:prstGeom>
            <a:ln w="50800" cap="rnd">
              <a:solidFill>
                <a:srgbClr val="FFFFFF"/>
              </a:solidFill>
              <a:prstDash val="solid"/>
              <a:headEnd type="none" w="sm" len="sm"/>
              <a:tailEnd type="none" w="sm" len="sm"/>
            </a:ln>
          </p:spPr>
        </p:sp>
      </p:grpSp>
      <p:graphicFrame>
        <p:nvGraphicFramePr>
          <p:cNvPr id="6" name="Table 6"/>
          <p:cNvGraphicFramePr>
            <a:graphicFrameLocks noGrp="1"/>
          </p:cNvGraphicFramePr>
          <p:nvPr/>
        </p:nvGraphicFramePr>
        <p:xfrm>
          <a:off x="2455239" y="3286125"/>
          <a:ext cx="13739780" cy="5972175"/>
        </p:xfrm>
        <a:graphic>
          <a:graphicData uri="http://schemas.openxmlformats.org/drawingml/2006/table">
            <a:tbl>
              <a:tblPr/>
              <a:tblGrid>
                <a:gridCol w="4198451">
                  <a:extLst>
                    <a:ext uri="{9D8B030D-6E8A-4147-A177-3AD203B41FA5}">
                      <a16:colId xmlns:a16="http://schemas.microsoft.com/office/drawing/2014/main" val="20000"/>
                    </a:ext>
                  </a:extLst>
                </a:gridCol>
                <a:gridCol w="4345769">
                  <a:extLst>
                    <a:ext uri="{9D8B030D-6E8A-4147-A177-3AD203B41FA5}">
                      <a16:colId xmlns:a16="http://schemas.microsoft.com/office/drawing/2014/main" val="20001"/>
                    </a:ext>
                  </a:extLst>
                </a:gridCol>
                <a:gridCol w="5195560">
                  <a:extLst>
                    <a:ext uri="{9D8B030D-6E8A-4147-A177-3AD203B41FA5}">
                      <a16:colId xmlns:a16="http://schemas.microsoft.com/office/drawing/2014/main" val="20002"/>
                    </a:ext>
                  </a:extLst>
                </a:gridCol>
              </a:tblGrid>
              <a:tr h="853168">
                <a:tc>
                  <a:txBody>
                    <a:bodyPr/>
                    <a:lstStyle/>
                    <a:p>
                      <a:pPr algn="ctr">
                        <a:lnSpc>
                          <a:spcPts val="3012"/>
                        </a:lnSpc>
                        <a:defRPr/>
                      </a:pPr>
                      <a:r>
                        <a:rPr lang="en-US" sz="2151" b="1">
                          <a:solidFill>
                            <a:srgbClr val="FFFFFF"/>
                          </a:solidFill>
                          <a:latin typeface="Poppins Bold"/>
                          <a:ea typeface="Poppins Bold"/>
                          <a:cs typeface="Poppins Bold"/>
                          <a:sym typeface="Poppins Bold"/>
                        </a:rPr>
                        <a:t>Feature</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12"/>
                        </a:lnSpc>
                        <a:defRPr/>
                      </a:pPr>
                      <a:r>
                        <a:rPr lang="en-US" sz="2151">
                          <a:solidFill>
                            <a:srgbClr val="FFFFFF"/>
                          </a:solidFill>
                          <a:latin typeface="Poppins"/>
                          <a:ea typeface="Poppins"/>
                          <a:cs typeface="Poppins"/>
                          <a:sym typeface="Poppins"/>
                        </a:rPr>
                        <a:t>Type</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12"/>
                        </a:lnSpc>
                        <a:defRPr/>
                      </a:pPr>
                      <a:r>
                        <a:rPr lang="en-US" sz="2151" b="1">
                          <a:solidFill>
                            <a:srgbClr val="FFFFFF"/>
                          </a:solidFill>
                          <a:latin typeface="Poppins Bold"/>
                          <a:ea typeface="Poppins Bold"/>
                          <a:cs typeface="Poppins Bold"/>
                          <a:sym typeface="Poppins Bold"/>
                        </a:rPr>
                        <a:t>Description</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853168">
                <a:tc>
                  <a:txBody>
                    <a:bodyPr/>
                    <a:lstStyle/>
                    <a:p>
                      <a:pPr algn="ctr">
                        <a:lnSpc>
                          <a:spcPts val="2732"/>
                        </a:lnSpc>
                        <a:defRPr/>
                      </a:pPr>
                      <a:r>
                        <a:rPr lang="en-US" sz="1951">
                          <a:solidFill>
                            <a:srgbClr val="FFFFFF"/>
                          </a:solidFill>
                          <a:latin typeface="Poppins"/>
                          <a:ea typeface="Poppins"/>
                          <a:cs typeface="Poppins"/>
                          <a:sym typeface="Poppins"/>
                        </a:rPr>
                        <a:t>proto</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Categorical</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Network protocol (TCP, UDP)</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853168">
                <a:tc>
                  <a:txBody>
                    <a:bodyPr/>
                    <a:lstStyle/>
                    <a:p>
                      <a:pPr algn="ctr">
                        <a:lnSpc>
                          <a:spcPts val="2732"/>
                        </a:lnSpc>
                        <a:defRPr/>
                      </a:pPr>
                      <a:r>
                        <a:rPr lang="en-US" sz="1951">
                          <a:solidFill>
                            <a:srgbClr val="FFFFFF"/>
                          </a:solidFill>
                          <a:latin typeface="Poppins"/>
                          <a:ea typeface="Poppins"/>
                          <a:cs typeface="Poppins"/>
                          <a:sym typeface="Poppins"/>
                        </a:rPr>
                        <a:t>service</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Categorical</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Application service (HTTP,FTP, DNS)</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853168">
                <a:tc>
                  <a:txBody>
                    <a:bodyPr/>
                    <a:lstStyle/>
                    <a:p>
                      <a:pPr algn="ctr">
                        <a:lnSpc>
                          <a:spcPts val="2732"/>
                        </a:lnSpc>
                        <a:defRPr/>
                      </a:pPr>
                      <a:r>
                        <a:rPr lang="en-US" sz="1951">
                          <a:solidFill>
                            <a:srgbClr val="FFFFFF"/>
                          </a:solidFill>
                          <a:latin typeface="Poppins"/>
                          <a:ea typeface="Poppins"/>
                          <a:cs typeface="Poppins"/>
                          <a:sym typeface="Poppins"/>
                        </a:rPr>
                        <a:t>dur</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Numerical</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Duration of connection</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853168">
                <a:tc>
                  <a:txBody>
                    <a:bodyPr/>
                    <a:lstStyle/>
                    <a:p>
                      <a:pPr algn="ctr">
                        <a:lnSpc>
                          <a:spcPts val="2732"/>
                        </a:lnSpc>
                        <a:defRPr/>
                      </a:pPr>
                      <a:r>
                        <a:rPr lang="en-US" sz="1951">
                          <a:solidFill>
                            <a:srgbClr val="FFFFFF"/>
                          </a:solidFill>
                          <a:latin typeface="Poppins"/>
                          <a:ea typeface="Poppins"/>
                          <a:cs typeface="Poppins"/>
                          <a:sym typeface="Poppins"/>
                        </a:rPr>
                        <a:t>sbytes</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Numerical</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Data sent from source</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853168">
                <a:tc>
                  <a:txBody>
                    <a:bodyPr/>
                    <a:lstStyle/>
                    <a:p>
                      <a:pPr algn="ctr">
                        <a:lnSpc>
                          <a:spcPts val="2732"/>
                        </a:lnSpc>
                        <a:defRPr/>
                      </a:pPr>
                      <a:r>
                        <a:rPr lang="en-US" sz="1951">
                          <a:solidFill>
                            <a:srgbClr val="FFFFFF"/>
                          </a:solidFill>
                          <a:latin typeface="Poppins"/>
                          <a:ea typeface="Poppins"/>
                          <a:cs typeface="Poppins"/>
                          <a:sym typeface="Poppins"/>
                        </a:rPr>
                        <a:t>dbytes</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Numerical</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Data received at destination</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r h="853168">
                <a:tc>
                  <a:txBody>
                    <a:bodyPr/>
                    <a:lstStyle/>
                    <a:p>
                      <a:pPr algn="ctr">
                        <a:lnSpc>
                          <a:spcPts val="2732"/>
                        </a:lnSpc>
                        <a:defRPr/>
                      </a:pPr>
                      <a:r>
                        <a:rPr lang="en-US" sz="1951">
                          <a:solidFill>
                            <a:srgbClr val="FFFFFF"/>
                          </a:solidFill>
                          <a:latin typeface="Poppins"/>
                          <a:ea typeface="Poppins"/>
                          <a:cs typeface="Poppins"/>
                          <a:sym typeface="Poppins"/>
                        </a:rPr>
                        <a:t>spkts</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Numerical</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Number of packets sent</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TextBox 7"/>
          <p:cNvSpPr txBox="1"/>
          <p:nvPr/>
        </p:nvSpPr>
        <p:spPr>
          <a:xfrm>
            <a:off x="4840446" y="716031"/>
            <a:ext cx="2871554" cy="1169021"/>
          </a:xfrm>
          <a:prstGeom prst="rect">
            <a:avLst/>
          </a:prstGeom>
        </p:spPr>
        <p:txBody>
          <a:bodyPr lIns="0" tIns="0" rIns="0" bIns="0" rtlCol="0" anchor="t">
            <a:spAutoFit/>
          </a:bodyPr>
          <a:lstStyle/>
          <a:p>
            <a:pPr algn="l">
              <a:lnSpc>
                <a:spcPts val="8433"/>
              </a:lnSpc>
            </a:pPr>
            <a:r>
              <a:rPr lang="en-US" sz="7881" b="1">
                <a:solidFill>
                  <a:srgbClr val="FFFFFF"/>
                </a:solidFill>
                <a:latin typeface="Poppins Bold"/>
                <a:ea typeface="Poppins Bold"/>
                <a:cs typeface="Poppins Bold"/>
                <a:sym typeface="Poppins Bold"/>
              </a:rPr>
              <a:t>DATA</a:t>
            </a:r>
          </a:p>
        </p:txBody>
      </p:sp>
      <p:sp>
        <p:nvSpPr>
          <p:cNvPr id="8" name="TextBox 8"/>
          <p:cNvSpPr txBox="1"/>
          <p:nvPr/>
        </p:nvSpPr>
        <p:spPr>
          <a:xfrm>
            <a:off x="7806668" y="716031"/>
            <a:ext cx="6376297" cy="1177873"/>
          </a:xfrm>
          <a:prstGeom prst="rect">
            <a:avLst/>
          </a:prstGeom>
        </p:spPr>
        <p:txBody>
          <a:bodyPr lIns="0" tIns="0" rIns="0" bIns="0" rtlCol="0" anchor="t">
            <a:spAutoFit/>
          </a:bodyPr>
          <a:lstStyle/>
          <a:p>
            <a:pPr algn="l">
              <a:lnSpc>
                <a:spcPts val="8433"/>
              </a:lnSpc>
            </a:pPr>
            <a:r>
              <a:rPr lang="en-US" sz="7881" b="1">
                <a:solidFill>
                  <a:srgbClr val="91FFF9"/>
                </a:solidFill>
                <a:latin typeface="Poppins Bold"/>
                <a:ea typeface="Poppins Bold"/>
                <a:cs typeface="Poppins Bold"/>
                <a:sym typeface="Poppins Bold"/>
              </a:rPr>
              <a:t>DICTIONARY</a:t>
            </a:r>
          </a:p>
        </p:txBody>
      </p:sp>
      <p:sp>
        <p:nvSpPr>
          <p:cNvPr id="9" name="TextBox 9"/>
          <p:cNvSpPr txBox="1"/>
          <p:nvPr/>
        </p:nvSpPr>
        <p:spPr>
          <a:xfrm>
            <a:off x="2455239" y="2935643"/>
            <a:ext cx="3646438" cy="350482"/>
          </a:xfrm>
          <a:prstGeom prst="rect">
            <a:avLst/>
          </a:prstGeom>
        </p:spPr>
        <p:txBody>
          <a:bodyPr lIns="0" tIns="0" rIns="0" bIns="0" rtlCol="0" anchor="t">
            <a:spAutoFit/>
          </a:bodyPr>
          <a:lstStyle/>
          <a:p>
            <a:pPr algn="ctr">
              <a:lnSpc>
                <a:spcPts val="2732"/>
              </a:lnSpc>
              <a:spcBef>
                <a:spcPct val="0"/>
              </a:spcBef>
            </a:pPr>
            <a:r>
              <a:rPr lang="en-US" sz="1951">
                <a:solidFill>
                  <a:srgbClr val="FFFFFF"/>
                </a:solidFill>
                <a:latin typeface="Poppins"/>
                <a:ea typeface="Poppins"/>
                <a:cs typeface="Poppins"/>
                <a:sym typeface="Poppins"/>
              </a:rPr>
              <a:t>unsw_nb15----(2540047, 49)</a:t>
            </a:r>
          </a:p>
        </p:txBody>
      </p:sp>
      <p:grpSp>
        <p:nvGrpSpPr>
          <p:cNvPr id="10" name="Group 10"/>
          <p:cNvGrpSpPr/>
          <p:nvPr/>
        </p:nvGrpSpPr>
        <p:grpSpPr>
          <a:xfrm>
            <a:off x="3328400" y="865202"/>
            <a:ext cx="1106817" cy="851629"/>
            <a:chOff x="0" y="0"/>
            <a:chExt cx="306253" cy="235644"/>
          </a:xfrm>
        </p:grpSpPr>
        <p:sp>
          <p:nvSpPr>
            <p:cNvPr id="11" name="Freeform 11"/>
            <p:cNvSpPr/>
            <p:nvPr/>
          </p:nvSpPr>
          <p:spPr>
            <a:xfrm>
              <a:off x="0" y="0"/>
              <a:ext cx="306253" cy="235643"/>
            </a:xfrm>
            <a:custGeom>
              <a:avLst/>
              <a:gdLst/>
              <a:ahLst/>
              <a:cxnLst/>
              <a:rect l="l" t="t" r="r" b="b"/>
              <a:pathLst>
                <a:path w="306253" h="235643">
                  <a:moveTo>
                    <a:pt x="0" y="0"/>
                  </a:moveTo>
                  <a:lnTo>
                    <a:pt x="306253" y="0"/>
                  </a:lnTo>
                  <a:lnTo>
                    <a:pt x="306253" y="235643"/>
                  </a:lnTo>
                  <a:lnTo>
                    <a:pt x="0" y="235643"/>
                  </a:lnTo>
                  <a:close/>
                </a:path>
              </a:pathLst>
            </a:custGeom>
            <a:solidFill>
              <a:srgbClr val="91FFF9"/>
            </a:solidFill>
            <a:ln cap="sq">
              <a:noFill/>
              <a:prstDash val="solid"/>
              <a:miter/>
            </a:ln>
          </p:spPr>
        </p:sp>
        <p:sp>
          <p:nvSpPr>
            <p:cNvPr id="12" name="TextBox 12"/>
            <p:cNvSpPr txBox="1"/>
            <p:nvPr/>
          </p:nvSpPr>
          <p:spPr>
            <a:xfrm>
              <a:off x="0" y="-9525"/>
              <a:ext cx="306253" cy="245169"/>
            </a:xfrm>
            <a:prstGeom prst="rect">
              <a:avLst/>
            </a:prstGeom>
          </p:spPr>
          <p:txBody>
            <a:bodyPr lIns="50800" tIns="50800" rIns="50800" bIns="50800" rtlCol="0" anchor="ctr"/>
            <a:lstStyle/>
            <a:p>
              <a:pPr algn="ctr">
                <a:lnSpc>
                  <a:spcPts val="3459"/>
                </a:lnSpc>
              </a:pPr>
              <a:r>
                <a:rPr lang="en-US" sz="3117" b="1">
                  <a:gradFill>
                    <a:gsLst>
                      <a:gs pos="0">
                        <a:srgbClr val="04153F">
                          <a:alpha val="100000"/>
                        </a:srgbClr>
                      </a:gs>
                      <a:gs pos="100000">
                        <a:srgbClr val="17597F">
                          <a:alpha val="100000"/>
                        </a:srgbClr>
                      </a:gs>
                    </a:gsLst>
                    <a:lin ang="2700000"/>
                  </a:gradFill>
                  <a:latin typeface="Poppins Bold"/>
                  <a:ea typeface="Poppins Bold"/>
                  <a:cs typeface="Poppins Bold"/>
                  <a:sym typeface="Poppins Bold"/>
                </a:rPr>
                <a:t>03</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53F">
                <a:alpha val="100000"/>
              </a:srgbClr>
            </a:gs>
            <a:gs pos="100000">
              <a:srgbClr val="17597F">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5703714" y="1880569"/>
            <a:ext cx="6880572" cy="764215"/>
            <a:chOff x="0" y="0"/>
            <a:chExt cx="9174096" cy="1018954"/>
          </a:xfrm>
        </p:grpSpPr>
        <p:sp>
          <p:nvSpPr>
            <p:cNvPr id="3" name="TextBox 3"/>
            <p:cNvSpPr txBox="1"/>
            <p:nvPr/>
          </p:nvSpPr>
          <p:spPr>
            <a:xfrm>
              <a:off x="0" y="-50194"/>
              <a:ext cx="8876677" cy="636104"/>
            </a:xfrm>
            <a:prstGeom prst="rect">
              <a:avLst/>
            </a:prstGeom>
          </p:spPr>
          <p:txBody>
            <a:bodyPr lIns="0" tIns="0" rIns="0" bIns="0" rtlCol="0" anchor="t">
              <a:spAutoFit/>
            </a:bodyPr>
            <a:lstStyle/>
            <a:p>
              <a:pPr algn="l">
                <a:lnSpc>
                  <a:spcPts val="3845"/>
                </a:lnSpc>
              </a:pPr>
              <a:r>
                <a:rPr lang="en-US" sz="2746" spc="-68">
                  <a:solidFill>
                    <a:srgbClr val="FFFFFF"/>
                  </a:solidFill>
                  <a:latin typeface="Poppins"/>
                  <a:ea typeface="Poppins"/>
                  <a:cs typeface="Poppins"/>
                  <a:sym typeface="Poppins"/>
                </a:rPr>
                <a:t>Key Features of Network Traffic Data</a:t>
              </a:r>
            </a:p>
          </p:txBody>
        </p:sp>
        <p:sp>
          <p:nvSpPr>
            <p:cNvPr id="4" name="Freeform 4"/>
            <p:cNvSpPr/>
            <p:nvPr/>
          </p:nvSpPr>
          <p:spPr>
            <a:xfrm rot="-8687136">
              <a:off x="8806764" y="51933"/>
              <a:ext cx="292225" cy="353239"/>
            </a:xfrm>
            <a:custGeom>
              <a:avLst/>
              <a:gdLst/>
              <a:ahLst/>
              <a:cxnLst/>
              <a:rect l="l" t="t" r="r" b="b"/>
              <a:pathLst>
                <a:path w="292225" h="353239">
                  <a:moveTo>
                    <a:pt x="0" y="0"/>
                  </a:moveTo>
                  <a:lnTo>
                    <a:pt x="292225" y="0"/>
                  </a:lnTo>
                  <a:lnTo>
                    <a:pt x="292225" y="353238"/>
                  </a:lnTo>
                  <a:lnTo>
                    <a:pt x="0" y="35323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AutoShape 5"/>
            <p:cNvSpPr/>
            <p:nvPr/>
          </p:nvSpPr>
          <p:spPr>
            <a:xfrm>
              <a:off x="0" y="993554"/>
              <a:ext cx="9174096" cy="0"/>
            </a:xfrm>
            <a:prstGeom prst="line">
              <a:avLst/>
            </a:prstGeom>
            <a:ln w="50800" cap="rnd">
              <a:solidFill>
                <a:srgbClr val="FFFFFF"/>
              </a:solidFill>
              <a:prstDash val="solid"/>
              <a:headEnd type="none" w="sm" len="sm"/>
              <a:tailEnd type="none" w="sm" len="sm"/>
            </a:ln>
          </p:spPr>
        </p:sp>
      </p:grpSp>
      <p:grpSp>
        <p:nvGrpSpPr>
          <p:cNvPr id="6" name="Group 6"/>
          <p:cNvGrpSpPr/>
          <p:nvPr/>
        </p:nvGrpSpPr>
        <p:grpSpPr>
          <a:xfrm>
            <a:off x="3328400" y="865202"/>
            <a:ext cx="1106817" cy="851629"/>
            <a:chOff x="0" y="0"/>
            <a:chExt cx="306253" cy="235644"/>
          </a:xfrm>
        </p:grpSpPr>
        <p:sp>
          <p:nvSpPr>
            <p:cNvPr id="7" name="Freeform 7"/>
            <p:cNvSpPr/>
            <p:nvPr/>
          </p:nvSpPr>
          <p:spPr>
            <a:xfrm>
              <a:off x="0" y="0"/>
              <a:ext cx="306253" cy="235643"/>
            </a:xfrm>
            <a:custGeom>
              <a:avLst/>
              <a:gdLst/>
              <a:ahLst/>
              <a:cxnLst/>
              <a:rect l="l" t="t" r="r" b="b"/>
              <a:pathLst>
                <a:path w="306253" h="235643">
                  <a:moveTo>
                    <a:pt x="0" y="0"/>
                  </a:moveTo>
                  <a:lnTo>
                    <a:pt x="306253" y="0"/>
                  </a:lnTo>
                  <a:lnTo>
                    <a:pt x="306253" y="235643"/>
                  </a:lnTo>
                  <a:lnTo>
                    <a:pt x="0" y="235643"/>
                  </a:lnTo>
                  <a:close/>
                </a:path>
              </a:pathLst>
            </a:custGeom>
            <a:solidFill>
              <a:srgbClr val="91FFF9"/>
            </a:solidFill>
            <a:ln cap="sq">
              <a:noFill/>
              <a:prstDash val="solid"/>
              <a:miter/>
            </a:ln>
          </p:spPr>
        </p:sp>
        <p:sp>
          <p:nvSpPr>
            <p:cNvPr id="8" name="TextBox 8"/>
            <p:cNvSpPr txBox="1"/>
            <p:nvPr/>
          </p:nvSpPr>
          <p:spPr>
            <a:xfrm>
              <a:off x="0" y="-9525"/>
              <a:ext cx="306253" cy="245169"/>
            </a:xfrm>
            <a:prstGeom prst="rect">
              <a:avLst/>
            </a:prstGeom>
          </p:spPr>
          <p:txBody>
            <a:bodyPr lIns="50800" tIns="50800" rIns="50800" bIns="50800" rtlCol="0" anchor="ctr"/>
            <a:lstStyle/>
            <a:p>
              <a:pPr algn="ctr">
                <a:lnSpc>
                  <a:spcPts val="3459"/>
                </a:lnSpc>
              </a:pPr>
              <a:r>
                <a:rPr lang="en-US" sz="3117" b="1">
                  <a:gradFill>
                    <a:gsLst>
                      <a:gs pos="0">
                        <a:srgbClr val="04153F">
                          <a:alpha val="100000"/>
                        </a:srgbClr>
                      </a:gs>
                      <a:gs pos="100000">
                        <a:srgbClr val="17597F">
                          <a:alpha val="100000"/>
                        </a:srgbClr>
                      </a:gs>
                    </a:gsLst>
                    <a:lin ang="2700000"/>
                  </a:gradFill>
                  <a:latin typeface="Poppins Bold"/>
                  <a:ea typeface="Poppins Bold"/>
                  <a:cs typeface="Poppins Bold"/>
                  <a:sym typeface="Poppins Bold"/>
                </a:rPr>
                <a:t>04</a:t>
              </a:r>
            </a:p>
          </p:txBody>
        </p:sp>
      </p:grpSp>
      <p:graphicFrame>
        <p:nvGraphicFramePr>
          <p:cNvPr id="9" name="Table 9"/>
          <p:cNvGraphicFramePr>
            <a:graphicFrameLocks noGrp="1"/>
          </p:cNvGraphicFramePr>
          <p:nvPr/>
        </p:nvGraphicFramePr>
        <p:xfrm>
          <a:off x="2455239" y="3286125"/>
          <a:ext cx="13739780" cy="5124450"/>
        </p:xfrm>
        <a:graphic>
          <a:graphicData uri="http://schemas.openxmlformats.org/drawingml/2006/table">
            <a:tbl>
              <a:tblPr/>
              <a:tblGrid>
                <a:gridCol w="4198451">
                  <a:extLst>
                    <a:ext uri="{9D8B030D-6E8A-4147-A177-3AD203B41FA5}">
                      <a16:colId xmlns:a16="http://schemas.microsoft.com/office/drawing/2014/main" val="20000"/>
                    </a:ext>
                  </a:extLst>
                </a:gridCol>
                <a:gridCol w="4345769">
                  <a:extLst>
                    <a:ext uri="{9D8B030D-6E8A-4147-A177-3AD203B41FA5}">
                      <a16:colId xmlns:a16="http://schemas.microsoft.com/office/drawing/2014/main" val="20001"/>
                    </a:ext>
                  </a:extLst>
                </a:gridCol>
                <a:gridCol w="5195560">
                  <a:extLst>
                    <a:ext uri="{9D8B030D-6E8A-4147-A177-3AD203B41FA5}">
                      <a16:colId xmlns:a16="http://schemas.microsoft.com/office/drawing/2014/main" val="20002"/>
                    </a:ext>
                  </a:extLst>
                </a:gridCol>
              </a:tblGrid>
              <a:tr h="854075">
                <a:tc>
                  <a:txBody>
                    <a:bodyPr/>
                    <a:lstStyle/>
                    <a:p>
                      <a:pPr algn="ctr">
                        <a:lnSpc>
                          <a:spcPts val="3012"/>
                        </a:lnSpc>
                        <a:defRPr/>
                      </a:pPr>
                      <a:r>
                        <a:rPr lang="en-US" sz="2151" b="1">
                          <a:solidFill>
                            <a:srgbClr val="FFFFFF"/>
                          </a:solidFill>
                          <a:latin typeface="Poppins Bold"/>
                          <a:ea typeface="Poppins Bold"/>
                          <a:cs typeface="Poppins Bold"/>
                          <a:sym typeface="Poppins Bold"/>
                        </a:rPr>
                        <a:t>Feature</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12"/>
                        </a:lnSpc>
                        <a:defRPr/>
                      </a:pPr>
                      <a:r>
                        <a:rPr lang="en-US" sz="2151">
                          <a:solidFill>
                            <a:srgbClr val="FFFFFF"/>
                          </a:solidFill>
                          <a:latin typeface="Poppins"/>
                          <a:ea typeface="Poppins"/>
                          <a:cs typeface="Poppins"/>
                          <a:sym typeface="Poppins"/>
                        </a:rPr>
                        <a:t>Type</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12"/>
                        </a:lnSpc>
                        <a:defRPr/>
                      </a:pPr>
                      <a:r>
                        <a:rPr lang="en-US" sz="2151" b="1">
                          <a:solidFill>
                            <a:srgbClr val="FFFFFF"/>
                          </a:solidFill>
                          <a:latin typeface="Poppins Bold"/>
                          <a:ea typeface="Poppins Bold"/>
                          <a:cs typeface="Poppins Bold"/>
                          <a:sym typeface="Poppins Bold"/>
                        </a:rPr>
                        <a:t>Description</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854075">
                <a:tc>
                  <a:txBody>
                    <a:bodyPr/>
                    <a:lstStyle/>
                    <a:p>
                      <a:pPr algn="ctr">
                        <a:lnSpc>
                          <a:spcPts val="2732"/>
                        </a:lnSpc>
                        <a:defRPr/>
                      </a:pPr>
                      <a:r>
                        <a:rPr lang="en-US" sz="1951">
                          <a:solidFill>
                            <a:srgbClr val="FFFFFF"/>
                          </a:solidFill>
                          <a:latin typeface="Poppins"/>
                          <a:ea typeface="Poppins"/>
                          <a:cs typeface="Poppins"/>
                          <a:sym typeface="Poppins"/>
                        </a:rPr>
                        <a:t>dpkts</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Numerical</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Data received at destination</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854075">
                <a:tc>
                  <a:txBody>
                    <a:bodyPr/>
                    <a:lstStyle/>
                    <a:p>
                      <a:pPr algn="ctr">
                        <a:lnSpc>
                          <a:spcPts val="2732"/>
                        </a:lnSpc>
                        <a:defRPr/>
                      </a:pPr>
                      <a:r>
                        <a:rPr lang="en-US" sz="1951">
                          <a:solidFill>
                            <a:srgbClr val="FFFFFF"/>
                          </a:solidFill>
                          <a:latin typeface="Poppins"/>
                          <a:ea typeface="Poppins"/>
                          <a:cs typeface="Poppins"/>
                          <a:sym typeface="Poppins"/>
                        </a:rPr>
                        <a:t>sttl</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Numerical</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Time-to-live value</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854075">
                <a:tc>
                  <a:txBody>
                    <a:bodyPr/>
                    <a:lstStyle/>
                    <a:p>
                      <a:pPr algn="ctr">
                        <a:lnSpc>
                          <a:spcPts val="2732"/>
                        </a:lnSpc>
                        <a:defRPr/>
                      </a:pPr>
                      <a:r>
                        <a:rPr lang="en-US" sz="1951">
                          <a:solidFill>
                            <a:srgbClr val="FFFFFF"/>
                          </a:solidFill>
                          <a:latin typeface="Poppins"/>
                          <a:ea typeface="Poppins"/>
                          <a:cs typeface="Poppins"/>
                          <a:sym typeface="Poppins"/>
                        </a:rPr>
                        <a:t>sload</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Numerical</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Data transfer rate</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854075">
                <a:tc>
                  <a:txBody>
                    <a:bodyPr/>
                    <a:lstStyle/>
                    <a:p>
                      <a:pPr algn="ctr">
                        <a:lnSpc>
                          <a:spcPts val="2732"/>
                        </a:lnSpc>
                        <a:defRPr/>
                      </a:pPr>
                      <a:r>
                        <a:rPr lang="en-US" sz="1951">
                          <a:solidFill>
                            <a:srgbClr val="FFFFFF"/>
                          </a:solidFill>
                          <a:latin typeface="Poppins"/>
                          <a:ea typeface="Poppins"/>
                          <a:cs typeface="Poppins"/>
                          <a:sym typeface="Poppins"/>
                        </a:rPr>
                        <a:t>attack_cat</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Categorical</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Type of attack</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854075">
                <a:tc>
                  <a:txBody>
                    <a:bodyPr/>
                    <a:lstStyle/>
                    <a:p>
                      <a:pPr algn="ctr">
                        <a:lnSpc>
                          <a:spcPts val="2732"/>
                        </a:lnSpc>
                        <a:defRPr/>
                      </a:pPr>
                      <a:r>
                        <a:rPr lang="en-US" sz="1951">
                          <a:solidFill>
                            <a:srgbClr val="FFFFFF"/>
                          </a:solidFill>
                          <a:latin typeface="Poppins"/>
                          <a:ea typeface="Poppins"/>
                          <a:cs typeface="Poppins"/>
                          <a:sym typeface="Poppins"/>
                        </a:rPr>
                        <a:t>label</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Binary</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2"/>
                        </a:lnSpc>
                        <a:defRPr/>
                      </a:pPr>
                      <a:r>
                        <a:rPr lang="en-US" sz="1951">
                          <a:solidFill>
                            <a:srgbClr val="FFFFFF"/>
                          </a:solidFill>
                          <a:latin typeface="Poppins"/>
                          <a:ea typeface="Poppins"/>
                          <a:cs typeface="Poppins"/>
                          <a:sym typeface="Poppins"/>
                        </a:rPr>
                        <a:t>Target (0= Normal, 1= Attack)</a:t>
                      </a:r>
                      <a:endParaRPr lang="en-US" sz="1100"/>
                    </a:p>
                  </a:txBody>
                  <a:tcPr marL="104775" marR="104775" marT="104775" marB="104775"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TextBox 10"/>
          <p:cNvSpPr txBox="1"/>
          <p:nvPr/>
        </p:nvSpPr>
        <p:spPr>
          <a:xfrm>
            <a:off x="4840446" y="716031"/>
            <a:ext cx="2871554" cy="1169021"/>
          </a:xfrm>
          <a:prstGeom prst="rect">
            <a:avLst/>
          </a:prstGeom>
        </p:spPr>
        <p:txBody>
          <a:bodyPr lIns="0" tIns="0" rIns="0" bIns="0" rtlCol="0" anchor="t">
            <a:spAutoFit/>
          </a:bodyPr>
          <a:lstStyle/>
          <a:p>
            <a:pPr algn="l">
              <a:lnSpc>
                <a:spcPts val="8433"/>
              </a:lnSpc>
            </a:pPr>
            <a:r>
              <a:rPr lang="en-US" sz="7881" b="1">
                <a:solidFill>
                  <a:srgbClr val="FFFFFF"/>
                </a:solidFill>
                <a:latin typeface="Poppins Bold"/>
                <a:ea typeface="Poppins Bold"/>
                <a:cs typeface="Poppins Bold"/>
                <a:sym typeface="Poppins Bold"/>
              </a:rPr>
              <a:t>DATA</a:t>
            </a:r>
          </a:p>
        </p:txBody>
      </p:sp>
      <p:sp>
        <p:nvSpPr>
          <p:cNvPr id="11" name="TextBox 11"/>
          <p:cNvSpPr txBox="1"/>
          <p:nvPr/>
        </p:nvSpPr>
        <p:spPr>
          <a:xfrm>
            <a:off x="7806668" y="716031"/>
            <a:ext cx="6376297" cy="1177873"/>
          </a:xfrm>
          <a:prstGeom prst="rect">
            <a:avLst/>
          </a:prstGeom>
        </p:spPr>
        <p:txBody>
          <a:bodyPr lIns="0" tIns="0" rIns="0" bIns="0" rtlCol="0" anchor="t">
            <a:spAutoFit/>
          </a:bodyPr>
          <a:lstStyle/>
          <a:p>
            <a:pPr algn="l">
              <a:lnSpc>
                <a:spcPts val="8433"/>
              </a:lnSpc>
            </a:pPr>
            <a:r>
              <a:rPr lang="en-US" sz="7881" b="1">
                <a:solidFill>
                  <a:srgbClr val="91FFF9"/>
                </a:solidFill>
                <a:latin typeface="Poppins Bold"/>
                <a:ea typeface="Poppins Bold"/>
                <a:cs typeface="Poppins Bold"/>
                <a:sym typeface="Poppins Bold"/>
              </a:rPr>
              <a:t>DICTIONARY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53F">
                <a:alpha val="100000"/>
              </a:srgbClr>
            </a:gs>
            <a:gs pos="100000">
              <a:srgbClr val="17597F">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229257" y="2236772"/>
            <a:ext cx="5813456" cy="5813456"/>
          </a:xfrm>
          <a:custGeom>
            <a:avLst/>
            <a:gdLst/>
            <a:ahLst/>
            <a:cxnLst/>
            <a:rect l="l" t="t" r="r" b="b"/>
            <a:pathLst>
              <a:path w="5813456" h="5813456">
                <a:moveTo>
                  <a:pt x="0" y="0"/>
                </a:moveTo>
                <a:lnTo>
                  <a:pt x="5813456" y="0"/>
                </a:lnTo>
                <a:lnTo>
                  <a:pt x="5813456" y="5813456"/>
                </a:lnTo>
                <a:lnTo>
                  <a:pt x="0" y="581345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8434776" y="783308"/>
            <a:ext cx="8994076" cy="2112841"/>
          </a:xfrm>
          <a:prstGeom prst="rect">
            <a:avLst/>
          </a:prstGeom>
        </p:spPr>
        <p:txBody>
          <a:bodyPr lIns="0" tIns="0" rIns="0" bIns="0" rtlCol="0" anchor="t">
            <a:spAutoFit/>
          </a:bodyPr>
          <a:lstStyle/>
          <a:p>
            <a:pPr algn="l">
              <a:lnSpc>
                <a:spcPts val="7914"/>
              </a:lnSpc>
            </a:pPr>
            <a:r>
              <a:rPr lang="en-US" sz="7396" b="1">
                <a:solidFill>
                  <a:srgbClr val="FFFFFF"/>
                </a:solidFill>
                <a:latin typeface="Poppins Bold"/>
                <a:ea typeface="Poppins Bold"/>
                <a:cs typeface="Poppins Bold"/>
                <a:sym typeface="Poppins Bold"/>
              </a:rPr>
              <a:t>Initial </a:t>
            </a:r>
            <a:r>
              <a:rPr lang="en-US" sz="7396" b="1">
                <a:solidFill>
                  <a:srgbClr val="6CE5E8"/>
                </a:solidFill>
                <a:latin typeface="Poppins Bold"/>
                <a:ea typeface="Poppins Bold"/>
                <a:cs typeface="Poppins Bold"/>
                <a:sym typeface="Poppins Bold"/>
              </a:rPr>
              <a:t>Observations</a:t>
            </a:r>
          </a:p>
        </p:txBody>
      </p:sp>
      <p:sp>
        <p:nvSpPr>
          <p:cNvPr id="4" name="TextBox 4"/>
          <p:cNvSpPr txBox="1"/>
          <p:nvPr/>
        </p:nvSpPr>
        <p:spPr>
          <a:xfrm>
            <a:off x="8434776" y="3101834"/>
            <a:ext cx="8623967" cy="3053651"/>
          </a:xfrm>
          <a:prstGeom prst="rect">
            <a:avLst/>
          </a:prstGeom>
        </p:spPr>
        <p:txBody>
          <a:bodyPr lIns="0" tIns="0" rIns="0" bIns="0" rtlCol="0" anchor="t">
            <a:spAutoFit/>
          </a:bodyPr>
          <a:lstStyle/>
          <a:p>
            <a:pPr marL="572273" lvl="1" indent="-286137" algn="just">
              <a:lnSpc>
                <a:spcPts val="3419"/>
              </a:lnSpc>
              <a:buFont typeface="Arial"/>
              <a:buChar char="•"/>
            </a:pPr>
            <a:r>
              <a:rPr lang="en-US" sz="2650">
                <a:solidFill>
                  <a:srgbClr val="FFFFFF"/>
                </a:solidFill>
                <a:latin typeface="Poppins"/>
                <a:ea typeface="Poppins"/>
                <a:cs typeface="Poppins"/>
                <a:sym typeface="Poppins"/>
              </a:rPr>
              <a:t>Dataset contains both normal and malicious traffic</a:t>
            </a:r>
          </a:p>
          <a:p>
            <a:pPr marL="572273" lvl="1" indent="-286137" algn="just">
              <a:lnSpc>
                <a:spcPts val="3419"/>
              </a:lnSpc>
              <a:buFont typeface="Arial"/>
              <a:buChar char="•"/>
            </a:pPr>
            <a:r>
              <a:rPr lang="en-US" sz="2650">
                <a:solidFill>
                  <a:srgbClr val="FFFFFF"/>
                </a:solidFill>
                <a:latin typeface="Poppins"/>
                <a:ea typeface="Poppins"/>
                <a:cs typeface="Poppins"/>
                <a:sym typeface="Poppins"/>
              </a:rPr>
              <a:t>Multiple attack categories are present</a:t>
            </a:r>
          </a:p>
          <a:p>
            <a:pPr marL="572273" lvl="1" indent="-286137" algn="just">
              <a:lnSpc>
                <a:spcPts val="3419"/>
              </a:lnSpc>
              <a:buFont typeface="Arial"/>
              <a:buChar char="•"/>
            </a:pPr>
            <a:r>
              <a:rPr lang="en-US" sz="2650">
                <a:solidFill>
                  <a:srgbClr val="FFFFFF"/>
                </a:solidFill>
                <a:latin typeface="Poppins"/>
                <a:ea typeface="Poppins"/>
                <a:cs typeface="Poppins"/>
                <a:sym typeface="Poppins"/>
              </a:rPr>
              <a:t>Network behavior varies between normal and attack traffic</a:t>
            </a:r>
          </a:p>
          <a:p>
            <a:pPr marL="572273" lvl="1" indent="-286137" algn="just">
              <a:lnSpc>
                <a:spcPts val="3419"/>
              </a:lnSpc>
              <a:buFont typeface="Arial"/>
              <a:buChar char="•"/>
            </a:pPr>
            <a:r>
              <a:rPr lang="en-US" sz="2650">
                <a:solidFill>
                  <a:srgbClr val="FFFFFF"/>
                </a:solidFill>
                <a:latin typeface="Poppins"/>
                <a:ea typeface="Poppins"/>
                <a:cs typeface="Poppins"/>
                <a:sym typeface="Poppins"/>
              </a:rPr>
              <a:t>Dataset is slightly imbalanced</a:t>
            </a:r>
          </a:p>
          <a:p>
            <a:pPr algn="just">
              <a:lnSpc>
                <a:spcPts val="3419"/>
              </a:lnSpc>
            </a:pPr>
            <a:endParaRPr lang="en-US" sz="2650">
              <a:solidFill>
                <a:srgbClr val="FFFFFF"/>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8679278" y="1619455"/>
            <a:ext cx="8406223" cy="1092140"/>
          </a:xfrm>
          <a:prstGeom prst="rect">
            <a:avLst/>
          </a:prstGeom>
        </p:spPr>
        <p:txBody>
          <a:bodyPr lIns="0" tIns="0" rIns="0" bIns="0" rtlCol="0" anchor="t">
            <a:spAutoFit/>
          </a:bodyPr>
          <a:lstStyle/>
          <a:p>
            <a:pPr algn="l">
              <a:lnSpc>
                <a:spcPts val="7815"/>
              </a:lnSpc>
            </a:pPr>
            <a:r>
              <a:rPr lang="en-US" sz="7304" b="1">
                <a:solidFill>
                  <a:srgbClr val="FFFFFF"/>
                </a:solidFill>
                <a:latin typeface="Poppins Bold"/>
                <a:ea typeface="Poppins Bold"/>
                <a:cs typeface="Poppins Bold"/>
                <a:sym typeface="Poppins Bold"/>
              </a:rPr>
              <a:t>DATA STRUCTURE</a:t>
            </a:r>
          </a:p>
        </p:txBody>
      </p:sp>
      <p:sp>
        <p:nvSpPr>
          <p:cNvPr id="4" name="Freeform 4"/>
          <p:cNvSpPr/>
          <p:nvPr/>
        </p:nvSpPr>
        <p:spPr>
          <a:xfrm>
            <a:off x="8679278" y="3403027"/>
            <a:ext cx="1049485" cy="1055241"/>
          </a:xfrm>
          <a:custGeom>
            <a:avLst/>
            <a:gdLst/>
            <a:ahLst/>
            <a:cxnLst/>
            <a:rect l="l" t="t" r="r" b="b"/>
            <a:pathLst>
              <a:path w="1049485" h="1055241">
                <a:moveTo>
                  <a:pt x="0" y="0"/>
                </a:moveTo>
                <a:lnTo>
                  <a:pt x="1049485" y="0"/>
                </a:lnTo>
                <a:lnTo>
                  <a:pt x="1049485" y="1055241"/>
                </a:lnTo>
                <a:lnTo>
                  <a:pt x="0" y="105524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8679278" y="4965127"/>
            <a:ext cx="1049485" cy="1055241"/>
          </a:xfrm>
          <a:custGeom>
            <a:avLst/>
            <a:gdLst/>
            <a:ahLst/>
            <a:cxnLst/>
            <a:rect l="l" t="t" r="r" b="b"/>
            <a:pathLst>
              <a:path w="1049485" h="1055241">
                <a:moveTo>
                  <a:pt x="0" y="0"/>
                </a:moveTo>
                <a:lnTo>
                  <a:pt x="1049485" y="0"/>
                </a:lnTo>
                <a:lnTo>
                  <a:pt x="1049485" y="1055241"/>
                </a:lnTo>
                <a:lnTo>
                  <a:pt x="0" y="105524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8679278" y="6527227"/>
            <a:ext cx="1049485" cy="1055241"/>
          </a:xfrm>
          <a:custGeom>
            <a:avLst/>
            <a:gdLst/>
            <a:ahLst/>
            <a:cxnLst/>
            <a:rect l="l" t="t" r="r" b="b"/>
            <a:pathLst>
              <a:path w="1049485" h="1055241">
                <a:moveTo>
                  <a:pt x="0" y="0"/>
                </a:moveTo>
                <a:lnTo>
                  <a:pt x="1049485" y="0"/>
                </a:lnTo>
                <a:lnTo>
                  <a:pt x="1049485" y="1055241"/>
                </a:lnTo>
                <a:lnTo>
                  <a:pt x="0" y="105524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8679278" y="8089327"/>
            <a:ext cx="1049485" cy="1055241"/>
          </a:xfrm>
          <a:custGeom>
            <a:avLst/>
            <a:gdLst/>
            <a:ahLst/>
            <a:cxnLst/>
            <a:rect l="l" t="t" r="r" b="b"/>
            <a:pathLst>
              <a:path w="1049485" h="1055241">
                <a:moveTo>
                  <a:pt x="0" y="0"/>
                </a:moveTo>
                <a:lnTo>
                  <a:pt x="1049485" y="0"/>
                </a:lnTo>
                <a:lnTo>
                  <a:pt x="1049485" y="1055241"/>
                </a:lnTo>
                <a:lnTo>
                  <a:pt x="0" y="105524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0251310" y="3658870"/>
            <a:ext cx="6096435" cy="418398"/>
          </a:xfrm>
          <a:prstGeom prst="rect">
            <a:avLst/>
          </a:prstGeom>
        </p:spPr>
        <p:txBody>
          <a:bodyPr lIns="0" tIns="0" rIns="0" bIns="0" rtlCol="0" anchor="t">
            <a:spAutoFit/>
          </a:bodyPr>
          <a:lstStyle/>
          <a:p>
            <a:pPr algn="l">
              <a:lnSpc>
                <a:spcPts val="3072"/>
              </a:lnSpc>
            </a:pPr>
            <a:r>
              <a:rPr lang="en-US" sz="2743">
                <a:solidFill>
                  <a:srgbClr val="FFFFFF"/>
                </a:solidFill>
                <a:latin typeface="Poppins"/>
                <a:ea typeface="Poppins"/>
                <a:cs typeface="Poppins"/>
                <a:sym typeface="Poppins"/>
              </a:rPr>
              <a:t>Raw data split into multiple files</a:t>
            </a:r>
          </a:p>
        </p:txBody>
      </p:sp>
      <p:sp>
        <p:nvSpPr>
          <p:cNvPr id="9" name="TextBox 9"/>
          <p:cNvSpPr txBox="1"/>
          <p:nvPr/>
        </p:nvSpPr>
        <p:spPr>
          <a:xfrm>
            <a:off x="10251310" y="5220970"/>
            <a:ext cx="5829652" cy="418398"/>
          </a:xfrm>
          <a:prstGeom prst="rect">
            <a:avLst/>
          </a:prstGeom>
        </p:spPr>
        <p:txBody>
          <a:bodyPr lIns="0" tIns="0" rIns="0" bIns="0" rtlCol="0" anchor="t">
            <a:spAutoFit/>
          </a:bodyPr>
          <a:lstStyle/>
          <a:p>
            <a:pPr algn="l">
              <a:lnSpc>
                <a:spcPts val="3072"/>
              </a:lnSpc>
            </a:pPr>
            <a:r>
              <a:rPr lang="en-US" sz="2743">
                <a:solidFill>
                  <a:srgbClr val="FFFFFF"/>
                </a:solidFill>
                <a:latin typeface="Poppins"/>
                <a:ea typeface="Poppins"/>
                <a:cs typeface="Poppins"/>
                <a:sym typeface="Poppins"/>
              </a:rPr>
              <a:t>Combined into a single dataset</a:t>
            </a:r>
          </a:p>
        </p:txBody>
      </p:sp>
      <p:sp>
        <p:nvSpPr>
          <p:cNvPr id="10" name="TextBox 10"/>
          <p:cNvSpPr txBox="1"/>
          <p:nvPr/>
        </p:nvSpPr>
        <p:spPr>
          <a:xfrm>
            <a:off x="10251310" y="6783070"/>
            <a:ext cx="5982609" cy="418398"/>
          </a:xfrm>
          <a:prstGeom prst="rect">
            <a:avLst/>
          </a:prstGeom>
        </p:spPr>
        <p:txBody>
          <a:bodyPr lIns="0" tIns="0" rIns="0" bIns="0" rtlCol="0" anchor="t">
            <a:spAutoFit/>
          </a:bodyPr>
          <a:lstStyle/>
          <a:p>
            <a:pPr algn="l">
              <a:lnSpc>
                <a:spcPts val="3072"/>
              </a:lnSpc>
            </a:pPr>
            <a:r>
              <a:rPr lang="en-US" sz="2743">
                <a:solidFill>
                  <a:srgbClr val="FFFFFF"/>
                </a:solidFill>
                <a:latin typeface="Poppins"/>
                <a:ea typeface="Poppins"/>
                <a:cs typeface="Poppins"/>
                <a:sym typeface="Poppins"/>
              </a:rPr>
              <a:t>Contains network flow records</a:t>
            </a:r>
          </a:p>
        </p:txBody>
      </p:sp>
      <p:sp>
        <p:nvSpPr>
          <p:cNvPr id="11" name="TextBox 11"/>
          <p:cNvSpPr txBox="1"/>
          <p:nvPr/>
        </p:nvSpPr>
        <p:spPr>
          <a:xfrm>
            <a:off x="10251310" y="8345170"/>
            <a:ext cx="6551740" cy="418398"/>
          </a:xfrm>
          <a:prstGeom prst="rect">
            <a:avLst/>
          </a:prstGeom>
        </p:spPr>
        <p:txBody>
          <a:bodyPr lIns="0" tIns="0" rIns="0" bIns="0" rtlCol="0" anchor="t">
            <a:spAutoFit/>
          </a:bodyPr>
          <a:lstStyle/>
          <a:p>
            <a:pPr algn="l">
              <a:lnSpc>
                <a:spcPts val="3072"/>
              </a:lnSpc>
            </a:pPr>
            <a:r>
              <a:rPr lang="en-US" sz="2743">
                <a:solidFill>
                  <a:srgbClr val="FFFFFF"/>
                </a:solidFill>
                <a:latin typeface="Poppins"/>
                <a:ea typeface="Poppins"/>
                <a:cs typeface="Poppins"/>
                <a:sym typeface="Poppins"/>
              </a:rPr>
              <a:t>Each row = one network connection</a:t>
            </a:r>
          </a:p>
        </p:txBody>
      </p:sp>
      <p:sp>
        <p:nvSpPr>
          <p:cNvPr id="12" name="Freeform 12"/>
          <p:cNvSpPr/>
          <p:nvPr/>
        </p:nvSpPr>
        <p:spPr>
          <a:xfrm flipH="1">
            <a:off x="-996316" y="680947"/>
            <a:ext cx="9675594" cy="11692560"/>
          </a:xfrm>
          <a:custGeom>
            <a:avLst/>
            <a:gdLst/>
            <a:ahLst/>
            <a:cxnLst/>
            <a:rect l="l" t="t" r="r" b="b"/>
            <a:pathLst>
              <a:path w="9675594" h="11692560">
                <a:moveTo>
                  <a:pt x="9675594" y="0"/>
                </a:moveTo>
                <a:lnTo>
                  <a:pt x="0" y="0"/>
                </a:lnTo>
                <a:lnTo>
                  <a:pt x="0" y="11692560"/>
                </a:lnTo>
                <a:lnTo>
                  <a:pt x="9675594" y="11692560"/>
                </a:lnTo>
                <a:lnTo>
                  <a:pt x="9675594" y="0"/>
                </a:lnTo>
                <a:close/>
              </a:path>
            </a:pathLst>
          </a:custGeom>
          <a:blipFill>
            <a:blip r:embed="rId4"/>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8679278" y="1619455"/>
            <a:ext cx="8406223" cy="1092140"/>
          </a:xfrm>
          <a:prstGeom prst="rect">
            <a:avLst/>
          </a:prstGeom>
        </p:spPr>
        <p:txBody>
          <a:bodyPr lIns="0" tIns="0" rIns="0" bIns="0" rtlCol="0" anchor="t">
            <a:spAutoFit/>
          </a:bodyPr>
          <a:lstStyle/>
          <a:p>
            <a:pPr algn="l">
              <a:lnSpc>
                <a:spcPts val="7815"/>
              </a:lnSpc>
            </a:pPr>
            <a:r>
              <a:rPr lang="en-US" sz="7304" b="1">
                <a:solidFill>
                  <a:srgbClr val="FFFFFF"/>
                </a:solidFill>
                <a:latin typeface="Poppins Bold"/>
                <a:ea typeface="Poppins Bold"/>
                <a:cs typeface="Poppins Bold"/>
                <a:sym typeface="Poppins Bold"/>
              </a:rPr>
              <a:t>DATA CLEANING</a:t>
            </a:r>
          </a:p>
        </p:txBody>
      </p:sp>
      <p:sp>
        <p:nvSpPr>
          <p:cNvPr id="4" name="Freeform 4"/>
          <p:cNvSpPr/>
          <p:nvPr/>
        </p:nvSpPr>
        <p:spPr>
          <a:xfrm>
            <a:off x="8679278" y="3403027"/>
            <a:ext cx="1049485" cy="1055241"/>
          </a:xfrm>
          <a:custGeom>
            <a:avLst/>
            <a:gdLst/>
            <a:ahLst/>
            <a:cxnLst/>
            <a:rect l="l" t="t" r="r" b="b"/>
            <a:pathLst>
              <a:path w="1049485" h="1055241">
                <a:moveTo>
                  <a:pt x="0" y="0"/>
                </a:moveTo>
                <a:lnTo>
                  <a:pt x="1049485" y="0"/>
                </a:lnTo>
                <a:lnTo>
                  <a:pt x="1049485" y="1055241"/>
                </a:lnTo>
                <a:lnTo>
                  <a:pt x="0" y="105524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8679278" y="4965127"/>
            <a:ext cx="1049485" cy="1055241"/>
          </a:xfrm>
          <a:custGeom>
            <a:avLst/>
            <a:gdLst/>
            <a:ahLst/>
            <a:cxnLst/>
            <a:rect l="l" t="t" r="r" b="b"/>
            <a:pathLst>
              <a:path w="1049485" h="1055241">
                <a:moveTo>
                  <a:pt x="0" y="0"/>
                </a:moveTo>
                <a:lnTo>
                  <a:pt x="1049485" y="0"/>
                </a:lnTo>
                <a:lnTo>
                  <a:pt x="1049485" y="1055241"/>
                </a:lnTo>
                <a:lnTo>
                  <a:pt x="0" y="105524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8679278" y="6527227"/>
            <a:ext cx="1049485" cy="1055241"/>
          </a:xfrm>
          <a:custGeom>
            <a:avLst/>
            <a:gdLst/>
            <a:ahLst/>
            <a:cxnLst/>
            <a:rect l="l" t="t" r="r" b="b"/>
            <a:pathLst>
              <a:path w="1049485" h="1055241">
                <a:moveTo>
                  <a:pt x="0" y="0"/>
                </a:moveTo>
                <a:lnTo>
                  <a:pt x="1049485" y="0"/>
                </a:lnTo>
                <a:lnTo>
                  <a:pt x="1049485" y="1055241"/>
                </a:lnTo>
                <a:lnTo>
                  <a:pt x="0" y="105524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8679278" y="8089327"/>
            <a:ext cx="1049485" cy="1055241"/>
          </a:xfrm>
          <a:custGeom>
            <a:avLst/>
            <a:gdLst/>
            <a:ahLst/>
            <a:cxnLst/>
            <a:rect l="l" t="t" r="r" b="b"/>
            <a:pathLst>
              <a:path w="1049485" h="1055241">
                <a:moveTo>
                  <a:pt x="0" y="0"/>
                </a:moveTo>
                <a:lnTo>
                  <a:pt x="1049485" y="0"/>
                </a:lnTo>
                <a:lnTo>
                  <a:pt x="1049485" y="1055241"/>
                </a:lnTo>
                <a:lnTo>
                  <a:pt x="0" y="105524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0251310" y="3658870"/>
            <a:ext cx="6096435" cy="418398"/>
          </a:xfrm>
          <a:prstGeom prst="rect">
            <a:avLst/>
          </a:prstGeom>
        </p:spPr>
        <p:txBody>
          <a:bodyPr lIns="0" tIns="0" rIns="0" bIns="0" rtlCol="0" anchor="t">
            <a:spAutoFit/>
          </a:bodyPr>
          <a:lstStyle/>
          <a:p>
            <a:pPr algn="l">
              <a:lnSpc>
                <a:spcPts val="3072"/>
              </a:lnSpc>
            </a:pPr>
            <a:r>
              <a:rPr lang="en-US" sz="2743">
                <a:solidFill>
                  <a:srgbClr val="FFFFFF"/>
                </a:solidFill>
                <a:latin typeface="Poppins"/>
                <a:ea typeface="Poppins"/>
                <a:cs typeface="Poppins"/>
                <a:sym typeface="Poppins"/>
              </a:rPr>
              <a:t>Added column names to raw data</a:t>
            </a:r>
          </a:p>
        </p:txBody>
      </p:sp>
      <p:sp>
        <p:nvSpPr>
          <p:cNvPr id="9" name="TextBox 9"/>
          <p:cNvSpPr txBox="1"/>
          <p:nvPr/>
        </p:nvSpPr>
        <p:spPr>
          <a:xfrm>
            <a:off x="10251310" y="5220970"/>
            <a:ext cx="5829652" cy="418398"/>
          </a:xfrm>
          <a:prstGeom prst="rect">
            <a:avLst/>
          </a:prstGeom>
        </p:spPr>
        <p:txBody>
          <a:bodyPr lIns="0" tIns="0" rIns="0" bIns="0" rtlCol="0" anchor="t">
            <a:spAutoFit/>
          </a:bodyPr>
          <a:lstStyle/>
          <a:p>
            <a:pPr algn="l">
              <a:lnSpc>
                <a:spcPts val="3072"/>
              </a:lnSpc>
            </a:pPr>
            <a:r>
              <a:rPr lang="en-US" sz="2743">
                <a:solidFill>
                  <a:srgbClr val="FFFFFF"/>
                </a:solidFill>
                <a:latin typeface="Poppins"/>
                <a:ea typeface="Poppins"/>
                <a:cs typeface="Poppins"/>
                <a:sym typeface="Poppins"/>
              </a:rPr>
              <a:t>Merged multiple files</a:t>
            </a:r>
          </a:p>
        </p:txBody>
      </p:sp>
      <p:sp>
        <p:nvSpPr>
          <p:cNvPr id="10" name="TextBox 10"/>
          <p:cNvSpPr txBox="1"/>
          <p:nvPr/>
        </p:nvSpPr>
        <p:spPr>
          <a:xfrm>
            <a:off x="10251310" y="6783070"/>
            <a:ext cx="5982609" cy="799398"/>
          </a:xfrm>
          <a:prstGeom prst="rect">
            <a:avLst/>
          </a:prstGeom>
        </p:spPr>
        <p:txBody>
          <a:bodyPr lIns="0" tIns="0" rIns="0" bIns="0" rtlCol="0" anchor="t">
            <a:spAutoFit/>
          </a:bodyPr>
          <a:lstStyle/>
          <a:p>
            <a:pPr algn="l">
              <a:lnSpc>
                <a:spcPts val="3072"/>
              </a:lnSpc>
            </a:pPr>
            <a:r>
              <a:rPr lang="en-US" sz="2743">
                <a:solidFill>
                  <a:srgbClr val="FFFFFF"/>
                </a:solidFill>
                <a:latin typeface="Poppins"/>
                <a:ea typeface="Poppins"/>
                <a:cs typeface="Poppins"/>
                <a:sym typeface="Poppins"/>
              </a:rPr>
              <a:t>Removed unnecessary features (IP, ports)</a:t>
            </a:r>
          </a:p>
        </p:txBody>
      </p:sp>
      <p:sp>
        <p:nvSpPr>
          <p:cNvPr id="11" name="TextBox 11"/>
          <p:cNvSpPr txBox="1"/>
          <p:nvPr/>
        </p:nvSpPr>
        <p:spPr>
          <a:xfrm>
            <a:off x="10251310" y="8345170"/>
            <a:ext cx="6551740" cy="418398"/>
          </a:xfrm>
          <a:prstGeom prst="rect">
            <a:avLst/>
          </a:prstGeom>
        </p:spPr>
        <p:txBody>
          <a:bodyPr lIns="0" tIns="0" rIns="0" bIns="0" rtlCol="0" anchor="t">
            <a:spAutoFit/>
          </a:bodyPr>
          <a:lstStyle/>
          <a:p>
            <a:pPr algn="l">
              <a:lnSpc>
                <a:spcPts val="3072"/>
              </a:lnSpc>
            </a:pPr>
            <a:r>
              <a:rPr lang="en-US" sz="2743">
                <a:solidFill>
                  <a:srgbClr val="FFFFFF"/>
                </a:solidFill>
                <a:latin typeface="Poppins"/>
                <a:ea typeface="Poppins"/>
                <a:cs typeface="Poppins"/>
                <a:sym typeface="Poppins"/>
              </a:rPr>
              <a:t>Handled data consistency</a:t>
            </a:r>
          </a:p>
        </p:txBody>
      </p:sp>
      <p:grpSp>
        <p:nvGrpSpPr>
          <p:cNvPr id="12" name="Group 12"/>
          <p:cNvGrpSpPr/>
          <p:nvPr/>
        </p:nvGrpSpPr>
        <p:grpSpPr>
          <a:xfrm>
            <a:off x="851306" y="2406111"/>
            <a:ext cx="6326327" cy="632632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597F"/>
            </a:solidFill>
            <a:ln w="85725" cap="sq">
              <a:gradFill>
                <a:gsLst>
                  <a:gs pos="0">
                    <a:srgbClr val="356C8A">
                      <a:alpha val="100000"/>
                    </a:srgbClr>
                  </a:gs>
                  <a:gs pos="50000">
                    <a:srgbClr val="468BCA">
                      <a:alpha val="6500"/>
                    </a:srgbClr>
                  </a:gs>
                  <a:gs pos="100000">
                    <a:srgbClr val="193F61">
                      <a:alpha val="12500"/>
                    </a:srgbClr>
                  </a:gs>
                </a:gsLst>
                <a:lin ang="0"/>
              </a:gradFill>
              <a:prstDash val="solid"/>
              <a:miter/>
            </a:ln>
          </p:spPr>
        </p:sp>
        <p:sp>
          <p:nvSpPr>
            <p:cNvPr id="14" name="TextBox 1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3135333" y="2298133"/>
            <a:ext cx="5281192" cy="6542284"/>
          </a:xfrm>
          <a:custGeom>
            <a:avLst/>
            <a:gdLst/>
            <a:ahLst/>
            <a:cxnLst/>
            <a:rect l="l" t="t" r="r" b="b"/>
            <a:pathLst>
              <a:path w="5281192" h="6542284">
                <a:moveTo>
                  <a:pt x="0" y="0"/>
                </a:moveTo>
                <a:lnTo>
                  <a:pt x="5281193" y="0"/>
                </a:lnTo>
                <a:lnTo>
                  <a:pt x="5281193" y="6542284"/>
                </a:lnTo>
                <a:lnTo>
                  <a:pt x="0" y="6542284"/>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53F">
                <a:alpha val="100000"/>
              </a:srgbClr>
            </a:gs>
            <a:gs pos="100000">
              <a:srgbClr val="17597F">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5621631" y="3481454"/>
            <a:ext cx="8308468" cy="432448"/>
          </a:xfrm>
          <a:prstGeom prst="rect">
            <a:avLst/>
          </a:prstGeom>
        </p:spPr>
        <p:txBody>
          <a:bodyPr lIns="0" tIns="0" rIns="0" bIns="0" rtlCol="0" anchor="t">
            <a:spAutoFit/>
          </a:bodyPr>
          <a:lstStyle/>
          <a:p>
            <a:pPr algn="l">
              <a:lnSpc>
                <a:spcPts val="3318"/>
              </a:lnSpc>
            </a:pPr>
            <a:r>
              <a:rPr lang="en-US" sz="2370" spc="-59">
                <a:solidFill>
                  <a:srgbClr val="FFFFFF"/>
                </a:solidFill>
                <a:latin typeface="Poppins"/>
                <a:ea typeface="Poppins"/>
                <a:cs typeface="Poppins"/>
                <a:sym typeface="Poppins"/>
              </a:rPr>
              <a:t>Key Advantages of the UNSW-NB15 Dataset</a:t>
            </a:r>
          </a:p>
        </p:txBody>
      </p:sp>
      <p:sp>
        <p:nvSpPr>
          <p:cNvPr id="3" name="Freeform 3"/>
          <p:cNvSpPr/>
          <p:nvPr/>
        </p:nvSpPr>
        <p:spPr>
          <a:xfrm rot="-8687136">
            <a:off x="12002364" y="3363047"/>
            <a:ext cx="321986" cy="389214"/>
          </a:xfrm>
          <a:custGeom>
            <a:avLst/>
            <a:gdLst/>
            <a:ahLst/>
            <a:cxnLst/>
            <a:rect l="l" t="t" r="r" b="b"/>
            <a:pathLst>
              <a:path w="321986" h="389214">
                <a:moveTo>
                  <a:pt x="0" y="0"/>
                </a:moveTo>
                <a:lnTo>
                  <a:pt x="321986" y="0"/>
                </a:lnTo>
                <a:lnTo>
                  <a:pt x="321986" y="389214"/>
                </a:lnTo>
                <a:lnTo>
                  <a:pt x="0" y="38921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AutoShape 4"/>
          <p:cNvSpPr/>
          <p:nvPr/>
        </p:nvSpPr>
        <p:spPr>
          <a:xfrm>
            <a:off x="5621631" y="4075827"/>
            <a:ext cx="6541726" cy="0"/>
          </a:xfrm>
          <a:prstGeom prst="line">
            <a:avLst/>
          </a:prstGeom>
          <a:ln w="19050" cap="rnd">
            <a:solidFill>
              <a:srgbClr val="FFFFFF"/>
            </a:solidFill>
            <a:prstDash val="solid"/>
            <a:headEnd type="none" w="sm" len="sm"/>
            <a:tailEnd type="none" w="sm" len="sm"/>
          </a:ln>
        </p:spPr>
      </p:sp>
      <p:grpSp>
        <p:nvGrpSpPr>
          <p:cNvPr id="5" name="Group 5"/>
          <p:cNvGrpSpPr/>
          <p:nvPr/>
        </p:nvGrpSpPr>
        <p:grpSpPr>
          <a:xfrm>
            <a:off x="1463921" y="5221039"/>
            <a:ext cx="3746706" cy="374670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153F">
                    <a:alpha val="100000"/>
                  </a:srgbClr>
                </a:gs>
                <a:gs pos="100000">
                  <a:srgbClr val="17597F">
                    <a:alpha val="100000"/>
                  </a:srgbClr>
                </a:gs>
              </a:gsLst>
              <a:lin ang="2700000"/>
            </a:gradFill>
            <a:ln w="28575" cap="sq">
              <a:solidFill>
                <a:srgbClr val="FFFFFF"/>
              </a:solidFill>
              <a:prstDash val="solid"/>
              <a:miter/>
            </a:ln>
          </p:spPr>
        </p:sp>
        <p:sp>
          <p:nvSpPr>
            <p:cNvPr id="7" name="TextBox 7"/>
            <p:cNvSpPr txBox="1"/>
            <p:nvPr/>
          </p:nvSpPr>
          <p:spPr>
            <a:xfrm>
              <a:off x="76200" y="38100"/>
              <a:ext cx="660400" cy="698500"/>
            </a:xfrm>
            <a:prstGeom prst="rect">
              <a:avLst/>
            </a:prstGeom>
          </p:spPr>
          <p:txBody>
            <a:bodyPr lIns="40108" tIns="40108" rIns="40108" bIns="40108" rtlCol="0" anchor="ctr"/>
            <a:lstStyle/>
            <a:p>
              <a:pPr algn="ctr">
                <a:lnSpc>
                  <a:spcPts val="2659"/>
                </a:lnSpc>
              </a:pPr>
              <a:endParaRPr/>
            </a:p>
          </p:txBody>
        </p:sp>
      </p:grpSp>
      <p:grpSp>
        <p:nvGrpSpPr>
          <p:cNvPr id="8" name="Group 8"/>
          <p:cNvGrpSpPr/>
          <p:nvPr/>
        </p:nvGrpSpPr>
        <p:grpSpPr>
          <a:xfrm>
            <a:off x="5334452" y="5221039"/>
            <a:ext cx="3746706" cy="374670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1FFF9"/>
            </a:solidFill>
            <a:ln cap="sq">
              <a:noFill/>
              <a:prstDash val="solid"/>
              <a:miter/>
            </a:ln>
          </p:spPr>
        </p:sp>
        <p:sp>
          <p:nvSpPr>
            <p:cNvPr id="10" name="TextBox 10"/>
            <p:cNvSpPr txBox="1"/>
            <p:nvPr/>
          </p:nvSpPr>
          <p:spPr>
            <a:xfrm>
              <a:off x="76200" y="38100"/>
              <a:ext cx="660400" cy="698500"/>
            </a:xfrm>
            <a:prstGeom prst="rect">
              <a:avLst/>
            </a:prstGeom>
          </p:spPr>
          <p:txBody>
            <a:bodyPr lIns="40108" tIns="40108" rIns="40108" bIns="40108" rtlCol="0" anchor="ctr"/>
            <a:lstStyle/>
            <a:p>
              <a:pPr algn="ctr">
                <a:lnSpc>
                  <a:spcPts val="2659"/>
                </a:lnSpc>
              </a:pPr>
              <a:endParaRPr/>
            </a:p>
          </p:txBody>
        </p:sp>
      </p:grpSp>
      <p:grpSp>
        <p:nvGrpSpPr>
          <p:cNvPr id="11" name="Group 11"/>
          <p:cNvGrpSpPr/>
          <p:nvPr/>
        </p:nvGrpSpPr>
        <p:grpSpPr>
          <a:xfrm>
            <a:off x="9205912" y="5221039"/>
            <a:ext cx="3746706" cy="374670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153F">
                    <a:alpha val="100000"/>
                  </a:srgbClr>
                </a:gs>
                <a:gs pos="100000">
                  <a:srgbClr val="17597F">
                    <a:alpha val="100000"/>
                  </a:srgbClr>
                </a:gs>
              </a:gsLst>
              <a:lin ang="2700000"/>
            </a:gradFill>
            <a:ln w="28575" cap="sq">
              <a:solidFill>
                <a:srgbClr val="FFFFFF"/>
              </a:solidFill>
              <a:prstDash val="solid"/>
              <a:miter/>
            </a:ln>
          </p:spPr>
        </p:sp>
        <p:sp>
          <p:nvSpPr>
            <p:cNvPr id="13" name="TextBox 13"/>
            <p:cNvSpPr txBox="1"/>
            <p:nvPr/>
          </p:nvSpPr>
          <p:spPr>
            <a:xfrm>
              <a:off x="76200" y="38100"/>
              <a:ext cx="660400" cy="698500"/>
            </a:xfrm>
            <a:prstGeom prst="rect">
              <a:avLst/>
            </a:prstGeom>
          </p:spPr>
          <p:txBody>
            <a:bodyPr lIns="40108" tIns="40108" rIns="40108" bIns="40108" rtlCol="0" anchor="ctr"/>
            <a:lstStyle/>
            <a:p>
              <a:pPr algn="ctr">
                <a:lnSpc>
                  <a:spcPts val="2659"/>
                </a:lnSpc>
              </a:pPr>
              <a:endParaRPr/>
            </a:p>
          </p:txBody>
        </p:sp>
      </p:grpSp>
      <p:grpSp>
        <p:nvGrpSpPr>
          <p:cNvPr id="14" name="Group 14"/>
          <p:cNvGrpSpPr/>
          <p:nvPr/>
        </p:nvGrpSpPr>
        <p:grpSpPr>
          <a:xfrm>
            <a:off x="13077373" y="5221039"/>
            <a:ext cx="3746706" cy="3746706"/>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1FFF9"/>
            </a:solidFill>
            <a:ln cap="sq">
              <a:noFill/>
              <a:prstDash val="solid"/>
              <a:miter/>
            </a:ln>
          </p:spPr>
        </p:sp>
        <p:sp>
          <p:nvSpPr>
            <p:cNvPr id="16" name="TextBox 16"/>
            <p:cNvSpPr txBox="1"/>
            <p:nvPr/>
          </p:nvSpPr>
          <p:spPr>
            <a:xfrm>
              <a:off x="76200" y="38100"/>
              <a:ext cx="660400" cy="698500"/>
            </a:xfrm>
            <a:prstGeom prst="rect">
              <a:avLst/>
            </a:prstGeom>
          </p:spPr>
          <p:txBody>
            <a:bodyPr lIns="40108" tIns="40108" rIns="40108" bIns="40108" rtlCol="0" anchor="ctr"/>
            <a:lstStyle/>
            <a:p>
              <a:pPr algn="ctr">
                <a:lnSpc>
                  <a:spcPts val="2659"/>
                </a:lnSpc>
              </a:pPr>
              <a:endParaRPr/>
            </a:p>
          </p:txBody>
        </p:sp>
      </p:grpSp>
      <p:grpSp>
        <p:nvGrpSpPr>
          <p:cNvPr id="17" name="Group 17"/>
          <p:cNvGrpSpPr/>
          <p:nvPr/>
        </p:nvGrpSpPr>
        <p:grpSpPr>
          <a:xfrm>
            <a:off x="4176506" y="5221039"/>
            <a:ext cx="746986" cy="746986"/>
            <a:chOff x="0" y="0"/>
            <a:chExt cx="995981" cy="995981"/>
          </a:xfrm>
        </p:grpSpPr>
        <p:grpSp>
          <p:nvGrpSpPr>
            <p:cNvPr id="18" name="Group 18"/>
            <p:cNvGrpSpPr/>
            <p:nvPr/>
          </p:nvGrpSpPr>
          <p:grpSpPr>
            <a:xfrm>
              <a:off x="0" y="0"/>
              <a:ext cx="995981" cy="99598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1FFF9"/>
              </a:solidFill>
              <a:ln cap="sq">
                <a:noFill/>
                <a:prstDash val="solid"/>
                <a:miter/>
              </a:ln>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175623" y="235561"/>
              <a:ext cx="644736" cy="486759"/>
            </a:xfrm>
            <a:prstGeom prst="rect">
              <a:avLst/>
            </a:prstGeom>
          </p:spPr>
          <p:txBody>
            <a:bodyPr lIns="0" tIns="0" rIns="0" bIns="0" rtlCol="0" anchor="t">
              <a:spAutoFit/>
            </a:bodyPr>
            <a:lstStyle/>
            <a:p>
              <a:pPr algn="ctr">
                <a:lnSpc>
                  <a:spcPts val="2872"/>
                </a:lnSpc>
              </a:pPr>
              <a:r>
                <a:rPr lang="en-US" sz="2227" spc="-6">
                  <a:gradFill>
                    <a:gsLst>
                      <a:gs pos="0">
                        <a:srgbClr val="04153F">
                          <a:alpha val="100000"/>
                        </a:srgbClr>
                      </a:gs>
                      <a:gs pos="100000">
                        <a:srgbClr val="17597F">
                          <a:alpha val="100000"/>
                        </a:srgbClr>
                      </a:gs>
                    </a:gsLst>
                    <a:lin ang="2700000"/>
                  </a:gradFill>
                  <a:latin typeface="Poppins"/>
                  <a:ea typeface="Poppins"/>
                  <a:cs typeface="Poppins"/>
                  <a:sym typeface="Poppins"/>
                </a:rPr>
                <a:t>01</a:t>
              </a:r>
            </a:p>
          </p:txBody>
        </p:sp>
      </p:grpSp>
      <p:grpSp>
        <p:nvGrpSpPr>
          <p:cNvPr id="22" name="Group 22"/>
          <p:cNvGrpSpPr/>
          <p:nvPr/>
        </p:nvGrpSpPr>
        <p:grpSpPr>
          <a:xfrm>
            <a:off x="8047037" y="5221039"/>
            <a:ext cx="746986" cy="746986"/>
            <a:chOff x="0" y="0"/>
            <a:chExt cx="995981" cy="995981"/>
          </a:xfrm>
        </p:grpSpPr>
        <p:grpSp>
          <p:nvGrpSpPr>
            <p:cNvPr id="23" name="Group 23"/>
            <p:cNvGrpSpPr/>
            <p:nvPr/>
          </p:nvGrpSpPr>
          <p:grpSpPr>
            <a:xfrm>
              <a:off x="0" y="0"/>
              <a:ext cx="995981" cy="995981"/>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153F">
                      <a:alpha val="100000"/>
                    </a:srgbClr>
                  </a:gs>
                  <a:gs pos="100000">
                    <a:srgbClr val="17597F">
                      <a:alpha val="100000"/>
                    </a:srgbClr>
                  </a:gs>
                </a:gsLst>
                <a:lin ang="2700000"/>
              </a:gradFill>
              <a:ln w="47625" cap="sq">
                <a:solidFill>
                  <a:srgbClr val="91FFF9"/>
                </a:solidFill>
                <a:prstDash val="solid"/>
                <a:miter/>
              </a:ln>
            </p:spPr>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175623" y="235561"/>
              <a:ext cx="644736" cy="486759"/>
            </a:xfrm>
            <a:prstGeom prst="rect">
              <a:avLst/>
            </a:prstGeom>
          </p:spPr>
          <p:txBody>
            <a:bodyPr lIns="0" tIns="0" rIns="0" bIns="0" rtlCol="0" anchor="t">
              <a:spAutoFit/>
            </a:bodyPr>
            <a:lstStyle/>
            <a:p>
              <a:pPr algn="ctr">
                <a:lnSpc>
                  <a:spcPts val="2872"/>
                </a:lnSpc>
              </a:pPr>
              <a:r>
                <a:rPr lang="en-US" sz="2227" spc="-6">
                  <a:solidFill>
                    <a:srgbClr val="91FFF9"/>
                  </a:solidFill>
                  <a:latin typeface="Poppins"/>
                  <a:ea typeface="Poppins"/>
                  <a:cs typeface="Poppins"/>
                  <a:sym typeface="Poppins"/>
                </a:rPr>
                <a:t>02</a:t>
              </a:r>
            </a:p>
          </p:txBody>
        </p:sp>
      </p:grpSp>
      <p:grpSp>
        <p:nvGrpSpPr>
          <p:cNvPr id="27" name="Group 27"/>
          <p:cNvGrpSpPr/>
          <p:nvPr/>
        </p:nvGrpSpPr>
        <p:grpSpPr>
          <a:xfrm>
            <a:off x="11919608" y="5221039"/>
            <a:ext cx="746986" cy="746986"/>
            <a:chOff x="0" y="0"/>
            <a:chExt cx="995981" cy="995981"/>
          </a:xfrm>
        </p:grpSpPr>
        <p:grpSp>
          <p:nvGrpSpPr>
            <p:cNvPr id="28" name="Group 28"/>
            <p:cNvGrpSpPr/>
            <p:nvPr/>
          </p:nvGrpSpPr>
          <p:grpSpPr>
            <a:xfrm>
              <a:off x="0" y="0"/>
              <a:ext cx="995981" cy="995981"/>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1FFF9"/>
              </a:solidFill>
              <a:ln cap="sq">
                <a:noFill/>
                <a:prstDash val="solid"/>
                <a:miter/>
              </a:ln>
            </p:spPr>
          </p:sp>
          <p:sp>
            <p:nvSpPr>
              <p:cNvPr id="30" name="TextBox 3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175623" y="235561"/>
              <a:ext cx="644736" cy="486759"/>
            </a:xfrm>
            <a:prstGeom prst="rect">
              <a:avLst/>
            </a:prstGeom>
          </p:spPr>
          <p:txBody>
            <a:bodyPr lIns="0" tIns="0" rIns="0" bIns="0" rtlCol="0" anchor="t">
              <a:spAutoFit/>
            </a:bodyPr>
            <a:lstStyle/>
            <a:p>
              <a:pPr algn="ctr">
                <a:lnSpc>
                  <a:spcPts val="2872"/>
                </a:lnSpc>
              </a:pPr>
              <a:r>
                <a:rPr lang="en-US" sz="2227" spc="-6">
                  <a:gradFill>
                    <a:gsLst>
                      <a:gs pos="0">
                        <a:srgbClr val="04153F">
                          <a:alpha val="100000"/>
                        </a:srgbClr>
                      </a:gs>
                      <a:gs pos="100000">
                        <a:srgbClr val="17597F">
                          <a:alpha val="100000"/>
                        </a:srgbClr>
                      </a:gs>
                    </a:gsLst>
                    <a:lin ang="2700000"/>
                  </a:gradFill>
                  <a:latin typeface="Poppins"/>
                  <a:ea typeface="Poppins"/>
                  <a:cs typeface="Poppins"/>
                  <a:sym typeface="Poppins"/>
                </a:rPr>
                <a:t>03</a:t>
              </a:r>
            </a:p>
          </p:txBody>
        </p:sp>
      </p:grpSp>
      <p:grpSp>
        <p:nvGrpSpPr>
          <p:cNvPr id="32" name="Group 32"/>
          <p:cNvGrpSpPr/>
          <p:nvPr/>
        </p:nvGrpSpPr>
        <p:grpSpPr>
          <a:xfrm>
            <a:off x="15791068" y="5221039"/>
            <a:ext cx="746986" cy="746986"/>
            <a:chOff x="0" y="0"/>
            <a:chExt cx="995981" cy="995981"/>
          </a:xfrm>
        </p:grpSpPr>
        <p:grpSp>
          <p:nvGrpSpPr>
            <p:cNvPr id="33" name="Group 33"/>
            <p:cNvGrpSpPr/>
            <p:nvPr/>
          </p:nvGrpSpPr>
          <p:grpSpPr>
            <a:xfrm>
              <a:off x="0" y="0"/>
              <a:ext cx="995981" cy="995981"/>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4153F">
                      <a:alpha val="100000"/>
                    </a:srgbClr>
                  </a:gs>
                  <a:gs pos="100000">
                    <a:srgbClr val="17597F">
                      <a:alpha val="100000"/>
                    </a:srgbClr>
                  </a:gs>
                </a:gsLst>
                <a:lin ang="2700000"/>
              </a:gradFill>
              <a:ln w="47625" cap="sq">
                <a:solidFill>
                  <a:srgbClr val="91FFF9"/>
                </a:solidFill>
                <a:prstDash val="solid"/>
                <a:miter/>
              </a:ln>
            </p:spPr>
          </p:sp>
          <p:sp>
            <p:nvSpPr>
              <p:cNvPr id="35" name="TextBox 3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6" name="TextBox 36"/>
            <p:cNvSpPr txBox="1"/>
            <p:nvPr/>
          </p:nvSpPr>
          <p:spPr>
            <a:xfrm>
              <a:off x="175623" y="235561"/>
              <a:ext cx="644736" cy="486759"/>
            </a:xfrm>
            <a:prstGeom prst="rect">
              <a:avLst/>
            </a:prstGeom>
          </p:spPr>
          <p:txBody>
            <a:bodyPr lIns="0" tIns="0" rIns="0" bIns="0" rtlCol="0" anchor="t">
              <a:spAutoFit/>
            </a:bodyPr>
            <a:lstStyle/>
            <a:p>
              <a:pPr algn="ctr">
                <a:lnSpc>
                  <a:spcPts val="2872"/>
                </a:lnSpc>
              </a:pPr>
              <a:r>
                <a:rPr lang="en-US" sz="2227" spc="-6">
                  <a:solidFill>
                    <a:srgbClr val="91FFF9"/>
                  </a:solidFill>
                  <a:latin typeface="Poppins"/>
                  <a:ea typeface="Poppins"/>
                  <a:cs typeface="Poppins"/>
                  <a:sym typeface="Poppins"/>
                </a:rPr>
                <a:t>04</a:t>
              </a:r>
            </a:p>
          </p:txBody>
        </p:sp>
      </p:grpSp>
      <p:sp>
        <p:nvSpPr>
          <p:cNvPr id="37" name="TextBox 37"/>
          <p:cNvSpPr txBox="1"/>
          <p:nvPr/>
        </p:nvSpPr>
        <p:spPr>
          <a:xfrm>
            <a:off x="5534818" y="1328780"/>
            <a:ext cx="7218364" cy="1070188"/>
          </a:xfrm>
          <a:prstGeom prst="rect">
            <a:avLst/>
          </a:prstGeom>
        </p:spPr>
        <p:txBody>
          <a:bodyPr lIns="0" tIns="0" rIns="0" bIns="0" rtlCol="0" anchor="t">
            <a:spAutoFit/>
          </a:bodyPr>
          <a:lstStyle/>
          <a:p>
            <a:pPr algn="ctr">
              <a:lnSpc>
                <a:spcPts val="7627"/>
              </a:lnSpc>
            </a:pPr>
            <a:r>
              <a:rPr lang="en-US" sz="7128" b="1">
                <a:solidFill>
                  <a:srgbClr val="FFFFFF"/>
                </a:solidFill>
                <a:latin typeface="Poppins Bold"/>
                <a:ea typeface="Poppins Bold"/>
                <a:cs typeface="Poppins Bold"/>
                <a:sym typeface="Poppins Bold"/>
              </a:rPr>
              <a:t>WHY THIS </a:t>
            </a:r>
          </a:p>
        </p:txBody>
      </p:sp>
      <p:sp>
        <p:nvSpPr>
          <p:cNvPr id="38" name="TextBox 38"/>
          <p:cNvSpPr txBox="1"/>
          <p:nvPr/>
        </p:nvSpPr>
        <p:spPr>
          <a:xfrm>
            <a:off x="5534818" y="2209331"/>
            <a:ext cx="7218364" cy="1070188"/>
          </a:xfrm>
          <a:prstGeom prst="rect">
            <a:avLst/>
          </a:prstGeom>
        </p:spPr>
        <p:txBody>
          <a:bodyPr lIns="0" tIns="0" rIns="0" bIns="0" rtlCol="0" anchor="t">
            <a:spAutoFit/>
          </a:bodyPr>
          <a:lstStyle/>
          <a:p>
            <a:pPr algn="ctr">
              <a:lnSpc>
                <a:spcPts val="7627"/>
              </a:lnSpc>
            </a:pPr>
            <a:r>
              <a:rPr lang="en-US" sz="7128" b="1">
                <a:solidFill>
                  <a:srgbClr val="91FFF9"/>
                </a:solidFill>
                <a:latin typeface="Poppins Bold"/>
                <a:ea typeface="Poppins Bold"/>
                <a:cs typeface="Poppins Bold"/>
                <a:sym typeface="Poppins Bold"/>
              </a:rPr>
              <a:t>DATASET</a:t>
            </a:r>
          </a:p>
        </p:txBody>
      </p:sp>
      <p:sp>
        <p:nvSpPr>
          <p:cNvPr id="39" name="TextBox 39"/>
          <p:cNvSpPr txBox="1"/>
          <p:nvPr/>
        </p:nvSpPr>
        <p:spPr>
          <a:xfrm>
            <a:off x="2345222" y="6110011"/>
            <a:ext cx="1984104" cy="744979"/>
          </a:xfrm>
          <a:prstGeom prst="rect">
            <a:avLst/>
          </a:prstGeom>
        </p:spPr>
        <p:txBody>
          <a:bodyPr lIns="0" tIns="0" rIns="0" bIns="0" rtlCol="0" anchor="t">
            <a:spAutoFit/>
          </a:bodyPr>
          <a:lstStyle/>
          <a:p>
            <a:pPr algn="ctr">
              <a:lnSpc>
                <a:spcPts val="2897"/>
              </a:lnSpc>
            </a:pPr>
            <a:r>
              <a:rPr lang="en-US" sz="2246" b="1" spc="-6">
                <a:solidFill>
                  <a:srgbClr val="91FFF9"/>
                </a:solidFill>
                <a:latin typeface="Poppins Bold"/>
                <a:ea typeface="Poppins Bold"/>
                <a:cs typeface="Poppins Bold"/>
                <a:sym typeface="Poppins Bold"/>
              </a:rPr>
              <a:t>REAL-WORLD DATA</a:t>
            </a:r>
          </a:p>
        </p:txBody>
      </p:sp>
      <p:sp>
        <p:nvSpPr>
          <p:cNvPr id="40" name="TextBox 40"/>
          <p:cNvSpPr txBox="1"/>
          <p:nvPr/>
        </p:nvSpPr>
        <p:spPr>
          <a:xfrm>
            <a:off x="2124549" y="7083590"/>
            <a:ext cx="2425450" cy="1113734"/>
          </a:xfrm>
          <a:prstGeom prst="rect">
            <a:avLst/>
          </a:prstGeom>
        </p:spPr>
        <p:txBody>
          <a:bodyPr lIns="0" tIns="0" rIns="0" bIns="0" rtlCol="0" anchor="t">
            <a:spAutoFit/>
          </a:bodyPr>
          <a:lstStyle/>
          <a:p>
            <a:pPr algn="ctr">
              <a:lnSpc>
                <a:spcPts val="2227"/>
              </a:lnSpc>
            </a:pPr>
            <a:r>
              <a:rPr lang="en-US" sz="1727" spc="-5">
                <a:solidFill>
                  <a:srgbClr val="91FFF9"/>
                </a:solidFill>
                <a:latin typeface="Poppins"/>
                <a:ea typeface="Poppins"/>
                <a:cs typeface="Poppins"/>
                <a:sym typeface="Poppins"/>
              </a:rPr>
              <a:t>Captures real network traffic with actual cyber attack scenarios</a:t>
            </a:r>
          </a:p>
        </p:txBody>
      </p:sp>
      <p:sp>
        <p:nvSpPr>
          <p:cNvPr id="41" name="TextBox 41"/>
          <p:cNvSpPr txBox="1"/>
          <p:nvPr/>
        </p:nvSpPr>
        <p:spPr>
          <a:xfrm>
            <a:off x="6215753" y="6110011"/>
            <a:ext cx="1984104" cy="744979"/>
          </a:xfrm>
          <a:prstGeom prst="rect">
            <a:avLst/>
          </a:prstGeom>
        </p:spPr>
        <p:txBody>
          <a:bodyPr lIns="0" tIns="0" rIns="0" bIns="0" rtlCol="0" anchor="t">
            <a:spAutoFit/>
          </a:bodyPr>
          <a:lstStyle/>
          <a:p>
            <a:pPr algn="ctr">
              <a:lnSpc>
                <a:spcPts val="2897"/>
              </a:lnSpc>
            </a:pPr>
            <a:r>
              <a:rPr lang="en-US" sz="2246" b="1" spc="-6">
                <a:gradFill>
                  <a:gsLst>
                    <a:gs pos="0">
                      <a:srgbClr val="04153F">
                        <a:alpha val="100000"/>
                      </a:srgbClr>
                    </a:gs>
                    <a:gs pos="100000">
                      <a:srgbClr val="17597F">
                        <a:alpha val="100000"/>
                      </a:srgbClr>
                    </a:gs>
                  </a:gsLst>
                  <a:lin ang="2700000"/>
                </a:gradFill>
                <a:latin typeface="Poppins Bold"/>
                <a:ea typeface="Poppins Bold"/>
                <a:cs typeface="Poppins Bold"/>
                <a:sym typeface="Poppins Bold"/>
              </a:rPr>
              <a:t>RICH FEATURES</a:t>
            </a:r>
          </a:p>
        </p:txBody>
      </p:sp>
      <p:sp>
        <p:nvSpPr>
          <p:cNvPr id="42" name="TextBox 42"/>
          <p:cNvSpPr txBox="1"/>
          <p:nvPr/>
        </p:nvSpPr>
        <p:spPr>
          <a:xfrm>
            <a:off x="5995080" y="7007390"/>
            <a:ext cx="2425450" cy="1113734"/>
          </a:xfrm>
          <a:prstGeom prst="rect">
            <a:avLst/>
          </a:prstGeom>
        </p:spPr>
        <p:txBody>
          <a:bodyPr lIns="0" tIns="0" rIns="0" bIns="0" rtlCol="0" anchor="t">
            <a:spAutoFit/>
          </a:bodyPr>
          <a:lstStyle/>
          <a:p>
            <a:pPr algn="ctr">
              <a:lnSpc>
                <a:spcPts val="2227"/>
              </a:lnSpc>
            </a:pPr>
            <a:r>
              <a:rPr lang="en-US" sz="1727" spc="-5">
                <a:gradFill>
                  <a:gsLst>
                    <a:gs pos="0">
                      <a:srgbClr val="04153F">
                        <a:alpha val="100000"/>
                      </a:srgbClr>
                    </a:gs>
                    <a:gs pos="100000">
                      <a:srgbClr val="17597F">
                        <a:alpha val="100000"/>
                      </a:srgbClr>
                    </a:gs>
                  </a:gsLst>
                  <a:lin ang="2700000"/>
                </a:gradFill>
                <a:latin typeface="Poppins"/>
                <a:ea typeface="Poppins"/>
                <a:cs typeface="Poppins"/>
                <a:sym typeface="Poppins"/>
              </a:rPr>
              <a:t>Includes multiple features describing network behavior and traffic patterns</a:t>
            </a:r>
          </a:p>
        </p:txBody>
      </p:sp>
      <p:sp>
        <p:nvSpPr>
          <p:cNvPr id="43" name="TextBox 43"/>
          <p:cNvSpPr txBox="1"/>
          <p:nvPr/>
        </p:nvSpPr>
        <p:spPr>
          <a:xfrm>
            <a:off x="9901910" y="6110011"/>
            <a:ext cx="2354710" cy="744979"/>
          </a:xfrm>
          <a:prstGeom prst="rect">
            <a:avLst/>
          </a:prstGeom>
        </p:spPr>
        <p:txBody>
          <a:bodyPr lIns="0" tIns="0" rIns="0" bIns="0" rtlCol="0" anchor="t">
            <a:spAutoFit/>
          </a:bodyPr>
          <a:lstStyle/>
          <a:p>
            <a:pPr algn="ctr">
              <a:lnSpc>
                <a:spcPts val="2897"/>
              </a:lnSpc>
            </a:pPr>
            <a:r>
              <a:rPr lang="en-US" sz="2246" b="1" spc="-6">
                <a:solidFill>
                  <a:srgbClr val="91FFF9"/>
                </a:solidFill>
                <a:latin typeface="Poppins Bold"/>
                <a:ea typeface="Poppins Bold"/>
                <a:cs typeface="Poppins Bold"/>
                <a:sym typeface="Poppins Bold"/>
              </a:rPr>
              <a:t>DIVERSE ATTACKS</a:t>
            </a:r>
          </a:p>
        </p:txBody>
      </p:sp>
      <p:sp>
        <p:nvSpPr>
          <p:cNvPr id="44" name="TextBox 44"/>
          <p:cNvSpPr txBox="1"/>
          <p:nvPr/>
        </p:nvSpPr>
        <p:spPr>
          <a:xfrm>
            <a:off x="9866540" y="7065817"/>
            <a:ext cx="2425450" cy="1113734"/>
          </a:xfrm>
          <a:prstGeom prst="rect">
            <a:avLst/>
          </a:prstGeom>
        </p:spPr>
        <p:txBody>
          <a:bodyPr lIns="0" tIns="0" rIns="0" bIns="0" rtlCol="0" anchor="t">
            <a:spAutoFit/>
          </a:bodyPr>
          <a:lstStyle/>
          <a:p>
            <a:pPr algn="ctr">
              <a:lnSpc>
                <a:spcPts val="2227"/>
              </a:lnSpc>
            </a:pPr>
            <a:r>
              <a:rPr lang="en-US" sz="1727" spc="-5">
                <a:solidFill>
                  <a:srgbClr val="91FFF9"/>
                </a:solidFill>
                <a:latin typeface="Poppins"/>
                <a:ea typeface="Poppins"/>
                <a:cs typeface="Poppins"/>
                <a:sym typeface="Poppins"/>
              </a:rPr>
              <a:t>Contains various attack categories (DoS, Exploits, Fuzzers, etc.)</a:t>
            </a:r>
          </a:p>
        </p:txBody>
      </p:sp>
      <p:sp>
        <p:nvSpPr>
          <p:cNvPr id="45" name="TextBox 45"/>
          <p:cNvSpPr txBox="1"/>
          <p:nvPr/>
        </p:nvSpPr>
        <p:spPr>
          <a:xfrm>
            <a:off x="13958674" y="6476289"/>
            <a:ext cx="1984104" cy="378701"/>
          </a:xfrm>
          <a:prstGeom prst="rect">
            <a:avLst/>
          </a:prstGeom>
        </p:spPr>
        <p:txBody>
          <a:bodyPr lIns="0" tIns="0" rIns="0" bIns="0" rtlCol="0" anchor="t">
            <a:spAutoFit/>
          </a:bodyPr>
          <a:lstStyle/>
          <a:p>
            <a:pPr algn="ctr">
              <a:lnSpc>
                <a:spcPts val="2897"/>
              </a:lnSpc>
            </a:pPr>
            <a:r>
              <a:rPr lang="en-US" sz="2246" b="1" spc="-6">
                <a:gradFill>
                  <a:gsLst>
                    <a:gs pos="0">
                      <a:srgbClr val="04153F">
                        <a:alpha val="100000"/>
                      </a:srgbClr>
                    </a:gs>
                    <a:gs pos="100000">
                      <a:srgbClr val="17597F">
                        <a:alpha val="100000"/>
                      </a:srgbClr>
                    </a:gs>
                  </a:gsLst>
                  <a:lin ang="2700000"/>
                </a:gradFill>
                <a:latin typeface="Poppins Bold"/>
                <a:ea typeface="Poppins Bold"/>
                <a:cs typeface="Poppins Bold"/>
                <a:sym typeface="Poppins Bold"/>
              </a:rPr>
              <a:t>ML READY</a:t>
            </a:r>
          </a:p>
        </p:txBody>
      </p:sp>
      <p:sp>
        <p:nvSpPr>
          <p:cNvPr id="46" name="TextBox 46"/>
          <p:cNvSpPr txBox="1"/>
          <p:nvPr/>
        </p:nvSpPr>
        <p:spPr>
          <a:xfrm>
            <a:off x="13733668" y="7007390"/>
            <a:ext cx="2425450" cy="1113734"/>
          </a:xfrm>
          <a:prstGeom prst="rect">
            <a:avLst/>
          </a:prstGeom>
        </p:spPr>
        <p:txBody>
          <a:bodyPr lIns="0" tIns="0" rIns="0" bIns="0" rtlCol="0" anchor="t">
            <a:spAutoFit/>
          </a:bodyPr>
          <a:lstStyle/>
          <a:p>
            <a:pPr algn="ctr">
              <a:lnSpc>
                <a:spcPts val="2227"/>
              </a:lnSpc>
            </a:pPr>
            <a:r>
              <a:rPr lang="en-US" sz="1727" spc="-5">
                <a:gradFill>
                  <a:gsLst>
                    <a:gs pos="0">
                      <a:srgbClr val="04153F">
                        <a:alpha val="100000"/>
                      </a:srgbClr>
                    </a:gs>
                    <a:gs pos="100000">
                      <a:srgbClr val="17597F">
                        <a:alpha val="100000"/>
                      </a:srgbClr>
                    </a:gs>
                  </a:gsLst>
                  <a:lin ang="2700000"/>
                </a:gradFill>
                <a:latin typeface="Poppins"/>
                <a:ea typeface="Poppins"/>
                <a:cs typeface="Poppins"/>
                <a:sym typeface="Poppins"/>
              </a:rPr>
              <a:t>Suitable for classification and machine learning applications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514350" y="438150"/>
            <a:ext cx="19792949" cy="1447800"/>
            <a:chOff x="0" y="0"/>
            <a:chExt cx="5212958" cy="381314"/>
          </a:xfrm>
        </p:grpSpPr>
        <p:sp>
          <p:nvSpPr>
            <p:cNvPr id="4" name="Freeform 4"/>
            <p:cNvSpPr/>
            <p:nvPr/>
          </p:nvSpPr>
          <p:spPr>
            <a:xfrm>
              <a:off x="0" y="0"/>
              <a:ext cx="5212958" cy="381314"/>
            </a:xfrm>
            <a:custGeom>
              <a:avLst/>
              <a:gdLst/>
              <a:ahLst/>
              <a:cxnLst/>
              <a:rect l="l" t="t" r="r" b="b"/>
              <a:pathLst>
                <a:path w="5212958" h="381314">
                  <a:moveTo>
                    <a:pt x="0" y="0"/>
                  </a:moveTo>
                  <a:lnTo>
                    <a:pt x="5212958" y="0"/>
                  </a:lnTo>
                  <a:lnTo>
                    <a:pt x="5212958" y="381314"/>
                  </a:lnTo>
                  <a:lnTo>
                    <a:pt x="0" y="381314"/>
                  </a:lnTo>
                  <a:close/>
                </a:path>
              </a:pathLst>
            </a:custGeom>
            <a:solidFill>
              <a:srgbClr val="0C2E56"/>
            </a:solidFill>
          </p:spPr>
        </p:sp>
        <p:sp>
          <p:nvSpPr>
            <p:cNvPr id="5" name="TextBox 5"/>
            <p:cNvSpPr txBox="1"/>
            <p:nvPr/>
          </p:nvSpPr>
          <p:spPr>
            <a:xfrm>
              <a:off x="0" y="-38100"/>
              <a:ext cx="5212958" cy="419414"/>
            </a:xfrm>
            <a:prstGeom prst="rect">
              <a:avLst/>
            </a:prstGeom>
          </p:spPr>
          <p:txBody>
            <a:bodyPr lIns="50800" tIns="50800" rIns="50800" bIns="50800" rtlCol="0" anchor="ctr"/>
            <a:lstStyle/>
            <a:p>
              <a:pPr algn="ctr">
                <a:lnSpc>
                  <a:spcPts val="2075"/>
                </a:lnSpc>
              </a:pPr>
              <a:endParaRPr/>
            </a:p>
          </p:txBody>
        </p:sp>
      </p:grpSp>
      <p:grpSp>
        <p:nvGrpSpPr>
          <p:cNvPr id="6" name="Group 6"/>
          <p:cNvGrpSpPr>
            <a:grpSpLocks noChangeAspect="1"/>
          </p:cNvGrpSpPr>
          <p:nvPr/>
        </p:nvGrpSpPr>
        <p:grpSpPr>
          <a:xfrm>
            <a:off x="1763669" y="2626180"/>
            <a:ext cx="5073779" cy="10039343"/>
            <a:chOff x="0" y="0"/>
            <a:chExt cx="2620010" cy="5184140"/>
          </a:xfrm>
        </p:grpSpPr>
        <p:sp>
          <p:nvSpPr>
            <p:cNvPr id="7" name="Freeform 7"/>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C2E56"/>
            </a:solidFill>
          </p:spPr>
        </p:sp>
        <p:sp>
          <p:nvSpPr>
            <p:cNvPr id="8" name="Freeform 8"/>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112379" r="-112379"/>
              </a:stretch>
            </a:blipFill>
          </p:spPr>
        </p:sp>
        <p:sp>
          <p:nvSpPr>
            <p:cNvPr id="9" name="Freeform 9"/>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FFFFFF"/>
            </a:solidFill>
          </p:spPr>
        </p:sp>
        <p:sp>
          <p:nvSpPr>
            <p:cNvPr id="10" name="Freeform 10"/>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FFFFFF"/>
            </a:solidFill>
          </p:spPr>
        </p:sp>
        <p:sp>
          <p:nvSpPr>
            <p:cNvPr id="11" name="Freeform 11"/>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04153F"/>
            </a:solidFill>
          </p:spPr>
        </p:sp>
        <p:sp>
          <p:nvSpPr>
            <p:cNvPr id="12" name="Freeform 12"/>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04153F"/>
            </a:solidFill>
          </p:spPr>
        </p:sp>
        <p:sp>
          <p:nvSpPr>
            <p:cNvPr id="13" name="Freeform 13"/>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04153F"/>
            </a:solidFill>
          </p:spPr>
        </p:sp>
        <p:sp>
          <p:nvSpPr>
            <p:cNvPr id="14" name="Freeform 14"/>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04153F"/>
            </a:solidFill>
          </p:spPr>
        </p:sp>
        <p:sp>
          <p:nvSpPr>
            <p:cNvPr id="15" name="Freeform 15"/>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FFFFFF"/>
            </a:solidFill>
          </p:spPr>
        </p:sp>
      </p:grpSp>
      <p:sp>
        <p:nvSpPr>
          <p:cNvPr id="16" name="Freeform 16"/>
          <p:cNvSpPr/>
          <p:nvPr/>
        </p:nvSpPr>
        <p:spPr>
          <a:xfrm>
            <a:off x="1426832" y="9258300"/>
            <a:ext cx="673674" cy="433601"/>
          </a:xfrm>
          <a:custGeom>
            <a:avLst/>
            <a:gdLst/>
            <a:ahLst/>
            <a:cxnLst/>
            <a:rect l="l" t="t" r="r" b="b"/>
            <a:pathLst>
              <a:path w="673674" h="433601">
                <a:moveTo>
                  <a:pt x="0" y="0"/>
                </a:moveTo>
                <a:lnTo>
                  <a:pt x="673675" y="0"/>
                </a:lnTo>
                <a:lnTo>
                  <a:pt x="673675" y="433601"/>
                </a:lnTo>
                <a:lnTo>
                  <a:pt x="0" y="43360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7" name="TextBox 17"/>
          <p:cNvSpPr txBox="1"/>
          <p:nvPr/>
        </p:nvSpPr>
        <p:spPr>
          <a:xfrm>
            <a:off x="7592391" y="2416630"/>
            <a:ext cx="10464032" cy="1286964"/>
          </a:xfrm>
          <a:prstGeom prst="rect">
            <a:avLst/>
          </a:prstGeom>
        </p:spPr>
        <p:txBody>
          <a:bodyPr lIns="0" tIns="0" rIns="0" bIns="0" rtlCol="0" anchor="t">
            <a:spAutoFit/>
          </a:bodyPr>
          <a:lstStyle/>
          <a:p>
            <a:pPr algn="l">
              <a:lnSpc>
                <a:spcPts val="9914"/>
              </a:lnSpc>
              <a:spcBef>
                <a:spcPct val="0"/>
              </a:spcBef>
            </a:pPr>
            <a:r>
              <a:rPr lang="en-US" sz="7082" b="1">
                <a:solidFill>
                  <a:srgbClr val="FFFFFF"/>
                </a:solidFill>
                <a:latin typeface="Poppins Bold"/>
                <a:ea typeface="Poppins Bold"/>
                <a:cs typeface="Poppins Bold"/>
                <a:sym typeface="Poppins Bold"/>
              </a:rPr>
              <a:t>PROBLEM FRAMING</a:t>
            </a:r>
          </a:p>
        </p:txBody>
      </p:sp>
      <p:sp>
        <p:nvSpPr>
          <p:cNvPr id="18" name="TextBox 18"/>
          <p:cNvSpPr txBox="1"/>
          <p:nvPr/>
        </p:nvSpPr>
        <p:spPr>
          <a:xfrm>
            <a:off x="7592391" y="3332227"/>
            <a:ext cx="10268152" cy="1544145"/>
          </a:xfrm>
          <a:prstGeom prst="rect">
            <a:avLst/>
          </a:prstGeom>
        </p:spPr>
        <p:txBody>
          <a:bodyPr lIns="0" tIns="0" rIns="0" bIns="0" rtlCol="0" anchor="t">
            <a:spAutoFit/>
          </a:bodyPr>
          <a:lstStyle/>
          <a:p>
            <a:pPr algn="l">
              <a:lnSpc>
                <a:spcPts val="12014"/>
              </a:lnSpc>
              <a:spcBef>
                <a:spcPct val="0"/>
              </a:spcBef>
            </a:pPr>
            <a:r>
              <a:rPr lang="en-US" sz="8581" b="1">
                <a:solidFill>
                  <a:srgbClr val="FFFFFF"/>
                </a:solidFill>
                <a:latin typeface="Poppins Bold"/>
                <a:ea typeface="Poppins Bold"/>
                <a:cs typeface="Poppins Bold"/>
                <a:sym typeface="Poppins Bold"/>
              </a:rPr>
              <a:t>&amp; CHALLENGES</a:t>
            </a:r>
          </a:p>
        </p:txBody>
      </p:sp>
      <p:sp>
        <p:nvSpPr>
          <p:cNvPr id="19" name="TextBox 19"/>
          <p:cNvSpPr txBox="1"/>
          <p:nvPr/>
        </p:nvSpPr>
        <p:spPr>
          <a:xfrm>
            <a:off x="7592391" y="5019675"/>
            <a:ext cx="9424500" cy="1284510"/>
          </a:xfrm>
          <a:prstGeom prst="rect">
            <a:avLst/>
          </a:prstGeom>
        </p:spPr>
        <p:txBody>
          <a:bodyPr lIns="0" tIns="0" rIns="0" bIns="0" rtlCol="0" anchor="t">
            <a:spAutoFit/>
          </a:bodyPr>
          <a:lstStyle/>
          <a:p>
            <a:pPr algn="just">
              <a:lnSpc>
                <a:spcPts val="3050"/>
              </a:lnSpc>
              <a:spcBef>
                <a:spcPct val="0"/>
              </a:spcBef>
            </a:pPr>
            <a:r>
              <a:rPr lang="en-US" sz="2178">
                <a:solidFill>
                  <a:srgbClr val="FFFFFF"/>
                </a:solidFill>
                <a:latin typeface="Poppins"/>
                <a:ea typeface="Poppins"/>
                <a:cs typeface="Poppins"/>
                <a:sym typeface="Poppins"/>
              </a:rPr>
              <a:t>P</a:t>
            </a:r>
            <a:r>
              <a:rPr lang="en-US" sz="2178" b="1">
                <a:solidFill>
                  <a:srgbClr val="FFFFFF"/>
                </a:solidFill>
                <a:latin typeface="Poppins Bold"/>
                <a:ea typeface="Poppins Bold"/>
                <a:cs typeface="Poppins Bold"/>
                <a:sym typeface="Poppins Bold"/>
              </a:rPr>
              <a:t>roblem Formulation</a:t>
            </a:r>
          </a:p>
          <a:p>
            <a:pPr marL="362445" lvl="1" indent="-181222" algn="just">
              <a:lnSpc>
                <a:spcPts val="2350"/>
              </a:lnSpc>
              <a:spcBef>
                <a:spcPct val="0"/>
              </a:spcBef>
              <a:buFont typeface="Arial"/>
              <a:buChar char="•"/>
            </a:pPr>
            <a:r>
              <a:rPr lang="en-US" sz="1678">
                <a:solidFill>
                  <a:srgbClr val="FFFFFF"/>
                </a:solidFill>
                <a:latin typeface="Poppins"/>
                <a:ea typeface="Poppins"/>
                <a:cs typeface="Poppins"/>
                <a:sym typeface="Poppins"/>
              </a:rPr>
              <a:t>Binary classification problem</a:t>
            </a:r>
          </a:p>
          <a:p>
            <a:pPr marL="362445" lvl="1" indent="-181222" algn="just">
              <a:lnSpc>
                <a:spcPts val="2350"/>
              </a:lnSpc>
              <a:spcBef>
                <a:spcPct val="0"/>
              </a:spcBef>
              <a:buFont typeface="Arial"/>
              <a:buChar char="•"/>
            </a:pPr>
            <a:r>
              <a:rPr lang="en-US" sz="1678">
                <a:solidFill>
                  <a:srgbClr val="FFFFFF"/>
                </a:solidFill>
                <a:latin typeface="Poppins"/>
                <a:ea typeface="Poppins"/>
                <a:cs typeface="Poppins"/>
                <a:sym typeface="Poppins"/>
              </a:rPr>
              <a:t>Target: label (0 = Normal, 1 = Attack)</a:t>
            </a:r>
          </a:p>
          <a:p>
            <a:pPr marL="362445" lvl="1" indent="-181222" algn="just">
              <a:lnSpc>
                <a:spcPts val="2350"/>
              </a:lnSpc>
              <a:spcBef>
                <a:spcPct val="0"/>
              </a:spcBef>
              <a:buFont typeface="Arial"/>
              <a:buChar char="•"/>
            </a:pPr>
            <a:r>
              <a:rPr lang="en-US" sz="1678">
                <a:solidFill>
                  <a:srgbClr val="FFFFFF"/>
                </a:solidFill>
                <a:latin typeface="Poppins"/>
                <a:ea typeface="Poppins"/>
                <a:cs typeface="Poppins"/>
                <a:sym typeface="Poppins"/>
              </a:rPr>
              <a:t>Goal: Detect malicious network traffic</a:t>
            </a:r>
          </a:p>
        </p:txBody>
      </p:sp>
      <p:sp>
        <p:nvSpPr>
          <p:cNvPr id="20" name="TextBox 20"/>
          <p:cNvSpPr txBox="1"/>
          <p:nvPr/>
        </p:nvSpPr>
        <p:spPr>
          <a:xfrm>
            <a:off x="7592391" y="7196554"/>
            <a:ext cx="9424500" cy="1579785"/>
          </a:xfrm>
          <a:prstGeom prst="rect">
            <a:avLst/>
          </a:prstGeom>
        </p:spPr>
        <p:txBody>
          <a:bodyPr lIns="0" tIns="0" rIns="0" bIns="0" rtlCol="0" anchor="t">
            <a:spAutoFit/>
          </a:bodyPr>
          <a:lstStyle/>
          <a:p>
            <a:pPr algn="just">
              <a:lnSpc>
                <a:spcPts val="3050"/>
              </a:lnSpc>
              <a:spcBef>
                <a:spcPct val="0"/>
              </a:spcBef>
            </a:pPr>
            <a:r>
              <a:rPr lang="en-US" sz="2178" b="1">
                <a:solidFill>
                  <a:srgbClr val="FFFFFF"/>
                </a:solidFill>
                <a:latin typeface="Poppins Bold"/>
                <a:ea typeface="Poppins Bold"/>
                <a:cs typeface="Poppins Bold"/>
                <a:sym typeface="Poppins Bold"/>
              </a:rPr>
              <a:t>Challenges in Dataset</a:t>
            </a:r>
          </a:p>
          <a:p>
            <a:pPr marL="362445" lvl="1" indent="-181222" algn="just">
              <a:lnSpc>
                <a:spcPts val="2350"/>
              </a:lnSpc>
              <a:spcBef>
                <a:spcPct val="0"/>
              </a:spcBef>
              <a:buFont typeface="Arial"/>
              <a:buChar char="•"/>
            </a:pPr>
            <a:r>
              <a:rPr lang="en-US" sz="1678">
                <a:solidFill>
                  <a:srgbClr val="FFFFFF"/>
                </a:solidFill>
                <a:latin typeface="Poppins"/>
                <a:ea typeface="Poppins"/>
                <a:cs typeface="Poppins"/>
                <a:sym typeface="Poppins"/>
              </a:rPr>
              <a:t>Class imbalance (Normal &gt;&gt; Attack)</a:t>
            </a:r>
          </a:p>
          <a:p>
            <a:pPr marL="362445" lvl="1" indent="-181222" algn="just">
              <a:lnSpc>
                <a:spcPts val="2350"/>
              </a:lnSpc>
              <a:spcBef>
                <a:spcPct val="0"/>
              </a:spcBef>
              <a:buFont typeface="Arial"/>
              <a:buChar char="•"/>
            </a:pPr>
            <a:r>
              <a:rPr lang="en-US" sz="1678">
                <a:solidFill>
                  <a:srgbClr val="FFFFFF"/>
                </a:solidFill>
                <a:latin typeface="Poppins"/>
                <a:ea typeface="Poppins"/>
                <a:cs typeface="Poppins"/>
                <a:sym typeface="Poppins"/>
              </a:rPr>
              <a:t>High dimensional features</a:t>
            </a:r>
          </a:p>
          <a:p>
            <a:pPr marL="362445" lvl="1" indent="-181222" algn="just">
              <a:lnSpc>
                <a:spcPts val="2350"/>
              </a:lnSpc>
              <a:spcBef>
                <a:spcPct val="0"/>
              </a:spcBef>
              <a:buFont typeface="Arial"/>
              <a:buChar char="•"/>
            </a:pPr>
            <a:r>
              <a:rPr lang="en-US" sz="1678">
                <a:solidFill>
                  <a:srgbClr val="FFFFFF"/>
                </a:solidFill>
                <a:latin typeface="Poppins"/>
                <a:ea typeface="Poppins"/>
                <a:cs typeface="Poppins"/>
                <a:sym typeface="Poppins"/>
              </a:rPr>
              <a:t>Multiple attack categories</a:t>
            </a:r>
          </a:p>
          <a:p>
            <a:pPr marL="362445" lvl="1" indent="-181222" algn="just">
              <a:lnSpc>
                <a:spcPts val="2350"/>
              </a:lnSpc>
              <a:spcBef>
                <a:spcPct val="0"/>
              </a:spcBef>
              <a:buFont typeface="Arial"/>
              <a:buChar char="•"/>
            </a:pPr>
            <a:r>
              <a:rPr lang="en-US" sz="1678">
                <a:solidFill>
                  <a:srgbClr val="FFFFFF"/>
                </a:solidFill>
                <a:latin typeface="Poppins"/>
                <a:ea typeface="Poppins"/>
                <a:cs typeface="Poppins"/>
                <a:sym typeface="Poppins"/>
              </a:rPr>
              <a:t>Complex network behavior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53F">
                <a:alpha val="100000"/>
              </a:srgbClr>
            </a:gs>
            <a:gs pos="100000">
              <a:srgbClr val="17597F">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4105455" y="-3428311"/>
            <a:ext cx="13249455" cy="17143622"/>
            <a:chOff x="0" y="0"/>
            <a:chExt cx="815349" cy="1054990"/>
          </a:xfrm>
        </p:grpSpPr>
        <p:sp>
          <p:nvSpPr>
            <p:cNvPr id="3" name="Freeform 3"/>
            <p:cNvSpPr/>
            <p:nvPr/>
          </p:nvSpPr>
          <p:spPr>
            <a:xfrm flipH="1">
              <a:off x="0" y="0"/>
              <a:ext cx="815349" cy="1054990"/>
            </a:xfrm>
            <a:custGeom>
              <a:avLst/>
              <a:gdLst/>
              <a:ahLst/>
              <a:cxnLst/>
              <a:rect l="l" t="t" r="r" b="b"/>
              <a:pathLst>
                <a:path w="815349" h="1054990">
                  <a:moveTo>
                    <a:pt x="407675" y="0"/>
                  </a:moveTo>
                  <a:cubicBezTo>
                    <a:pt x="632827" y="0"/>
                    <a:pt x="815349" y="236168"/>
                    <a:pt x="815349" y="527495"/>
                  </a:cubicBezTo>
                  <a:cubicBezTo>
                    <a:pt x="815349" y="818822"/>
                    <a:pt x="632827" y="1054990"/>
                    <a:pt x="407675" y="1054990"/>
                  </a:cubicBezTo>
                  <a:cubicBezTo>
                    <a:pt x="182522" y="1054990"/>
                    <a:pt x="0" y="818822"/>
                    <a:pt x="0" y="527495"/>
                  </a:cubicBezTo>
                  <a:cubicBezTo>
                    <a:pt x="0" y="236168"/>
                    <a:pt x="182522" y="0"/>
                    <a:pt x="407675" y="0"/>
                  </a:cubicBezTo>
                  <a:close/>
                </a:path>
              </a:pathLst>
            </a:custGeom>
            <a:blipFill>
              <a:blip r:embed="rId2"/>
              <a:stretch>
                <a:fillRect l="-28491" t="-41687" r="-178995" b="-16739"/>
              </a:stretch>
            </a:blipFill>
            <a:ln cap="sq">
              <a:noFill/>
              <a:prstDash val="solid"/>
              <a:miter/>
            </a:ln>
          </p:spPr>
        </p:sp>
      </p:grpSp>
      <p:sp>
        <p:nvSpPr>
          <p:cNvPr id="4" name="Freeform 4"/>
          <p:cNvSpPr/>
          <p:nvPr/>
        </p:nvSpPr>
        <p:spPr>
          <a:xfrm>
            <a:off x="5063216" y="1116395"/>
            <a:ext cx="5157756" cy="10698026"/>
          </a:xfrm>
          <a:custGeom>
            <a:avLst/>
            <a:gdLst/>
            <a:ahLst/>
            <a:cxnLst/>
            <a:rect l="l" t="t" r="r" b="b"/>
            <a:pathLst>
              <a:path w="5157756" h="10698026">
                <a:moveTo>
                  <a:pt x="0" y="0"/>
                </a:moveTo>
                <a:lnTo>
                  <a:pt x="5157756" y="0"/>
                </a:lnTo>
                <a:lnTo>
                  <a:pt x="5157756" y="10698025"/>
                </a:lnTo>
                <a:lnTo>
                  <a:pt x="0" y="10698025"/>
                </a:lnTo>
                <a:lnTo>
                  <a:pt x="0" y="0"/>
                </a:lnTo>
                <a:close/>
              </a:path>
            </a:pathLst>
          </a:custGeom>
          <a:blipFill>
            <a:blip r:embed="rId3"/>
            <a:stretch>
              <a:fillRect/>
            </a:stretch>
          </a:blipFill>
        </p:spPr>
      </p:sp>
      <p:sp>
        <p:nvSpPr>
          <p:cNvPr id="5" name="TextBox 5"/>
          <p:cNvSpPr txBox="1"/>
          <p:nvPr/>
        </p:nvSpPr>
        <p:spPr>
          <a:xfrm>
            <a:off x="11408818" y="3375406"/>
            <a:ext cx="5850482" cy="1601120"/>
          </a:xfrm>
          <a:prstGeom prst="rect">
            <a:avLst/>
          </a:prstGeom>
        </p:spPr>
        <p:txBody>
          <a:bodyPr lIns="0" tIns="0" rIns="0" bIns="0" rtlCol="0" anchor="t">
            <a:spAutoFit/>
          </a:bodyPr>
          <a:lstStyle/>
          <a:p>
            <a:pPr algn="l">
              <a:lnSpc>
                <a:spcPts val="11491"/>
              </a:lnSpc>
            </a:pPr>
            <a:r>
              <a:rPr lang="en-US" sz="10739" b="1" spc="-268">
                <a:solidFill>
                  <a:srgbClr val="FFFFFF"/>
                </a:solidFill>
                <a:latin typeface="Poppins Bold"/>
                <a:ea typeface="Poppins Bold"/>
                <a:cs typeface="Poppins Bold"/>
                <a:sym typeface="Poppins Bold"/>
              </a:rPr>
              <a:t>THANK</a:t>
            </a:r>
          </a:p>
        </p:txBody>
      </p:sp>
      <p:sp>
        <p:nvSpPr>
          <p:cNvPr id="6" name="TextBox 6"/>
          <p:cNvSpPr txBox="1"/>
          <p:nvPr/>
        </p:nvSpPr>
        <p:spPr>
          <a:xfrm>
            <a:off x="11408818" y="4840424"/>
            <a:ext cx="5850482" cy="1601120"/>
          </a:xfrm>
          <a:prstGeom prst="rect">
            <a:avLst/>
          </a:prstGeom>
        </p:spPr>
        <p:txBody>
          <a:bodyPr lIns="0" tIns="0" rIns="0" bIns="0" rtlCol="0" anchor="t">
            <a:spAutoFit/>
          </a:bodyPr>
          <a:lstStyle/>
          <a:p>
            <a:pPr algn="l">
              <a:lnSpc>
                <a:spcPts val="11491"/>
              </a:lnSpc>
            </a:pPr>
            <a:r>
              <a:rPr lang="en-US" sz="10739" b="1" spc="-268">
                <a:solidFill>
                  <a:srgbClr val="91FFF9"/>
                </a:solidFill>
                <a:latin typeface="Poppins Bold"/>
                <a:ea typeface="Poppins Bold"/>
                <a:cs typeface="Poppins Bold"/>
                <a:sym typeface="Poppins Bold"/>
              </a:rPr>
              <a:t>YOU!</a:t>
            </a:r>
          </a:p>
        </p:txBody>
      </p:sp>
      <p:sp>
        <p:nvSpPr>
          <p:cNvPr id="7" name="Freeform 7"/>
          <p:cNvSpPr/>
          <p:nvPr/>
        </p:nvSpPr>
        <p:spPr>
          <a:xfrm rot="-8687136">
            <a:off x="14983570" y="4907287"/>
            <a:ext cx="537030" cy="649158"/>
          </a:xfrm>
          <a:custGeom>
            <a:avLst/>
            <a:gdLst/>
            <a:ahLst/>
            <a:cxnLst/>
            <a:rect l="l" t="t" r="r" b="b"/>
            <a:pathLst>
              <a:path w="537030" h="649158">
                <a:moveTo>
                  <a:pt x="0" y="0"/>
                </a:moveTo>
                <a:lnTo>
                  <a:pt x="537030" y="0"/>
                </a:lnTo>
                <a:lnTo>
                  <a:pt x="537030" y="649158"/>
                </a:lnTo>
                <a:lnTo>
                  <a:pt x="0" y="649158"/>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1059</Words>
  <Application>Microsoft Office PowerPoint</Application>
  <PresentationFormat>Custom</PresentationFormat>
  <Paragraphs>225</Paragraphs>
  <Slides>19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Poppins Italics</vt:lpstr>
      <vt:lpstr>Poppins Bold Italics</vt:lpstr>
      <vt:lpstr>Poppins</vt:lpstr>
      <vt:lpstr>Calibri</vt:lpstr>
      <vt:lpstr>Poppins Bold</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dc:title>
  <cp:lastModifiedBy>Abhishek Kumar Pandey</cp:lastModifiedBy>
  <cp:revision>2</cp:revision>
  <dcterms:created xsi:type="dcterms:W3CDTF">2006-08-16T00:00:00Z</dcterms:created>
  <dcterms:modified xsi:type="dcterms:W3CDTF">2026-05-04T08:01:20Z</dcterms:modified>
  <dc:identifier>DAHIKb2Ie3c</dc:identifier>
</cp:coreProperties>
</file>