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Canva Sans" panose="020B0604020202020204" charset="0"/>
      <p:regular r:id="rId26"/>
    </p:embeddedFont>
    <p:embeddedFont>
      <p:font typeface="Inter" panose="020B0604020202020204" charset="0"/>
      <p:regular r:id="rId27"/>
    </p:embeddedFont>
    <p:embeddedFont>
      <p:font typeface="Inter Bold" panose="020B0604020202020204" charset="0"/>
      <p:regular r:id="rId28"/>
    </p:embeddedFont>
    <p:embeddedFont>
      <p:font typeface="Inter Bold Italics" panose="020B0604020202020204" charset="0"/>
      <p:regular r:id="rId29"/>
    </p:embeddedFont>
    <p:embeddedFont>
      <p:font typeface="Inter Italics" panose="020B0604020202020204" charset="0"/>
      <p:regular r:id="rId30"/>
    </p:embeddedFont>
    <p:embeddedFont>
      <p:font typeface="Neue Machina Ultra-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6" d="100"/>
          <a:sy n="66" d="100"/>
        </p:scale>
        <p:origin x="384" y="-52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1068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6.sv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9.jpeg"/><Relationship Id="rId7" Type="http://schemas.openxmlformats.org/officeDocument/2006/relationships/image" Target="../media/image4.sv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svg"/><Relationship Id="rId4" Type="http://schemas.openxmlformats.org/officeDocument/2006/relationships/image" Target="../media/image10.jpeg"/><Relationship Id="rId9"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6.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14.sv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3.svg"/><Relationship Id="rId7"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 Id="rId9" Type="http://schemas.openxmlformats.org/officeDocument/2006/relationships/image" Target="../media/image18.svg"/></Relationships>
</file>

<file path=ppt/slides/_rels/slide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0.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1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2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5.sv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2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5.sv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2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26.svg"/><Relationship Id="rId7" Type="http://schemas.openxmlformats.org/officeDocument/2006/relationships/image" Target="../media/image22.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8.svg"/><Relationship Id="rId4" Type="http://schemas.openxmlformats.org/officeDocument/2006/relationships/image" Target="../media/image27.svg"/><Relationship Id="rId9" Type="http://schemas.openxmlformats.org/officeDocument/2006/relationships/image" Target="../media/image24.svg"/></Relationships>
</file>

<file path=ppt/slides/_rels/slide2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30.svg"/><Relationship Id="rId7" Type="http://schemas.openxmlformats.org/officeDocument/2006/relationships/image" Target="../media/image23.svg"/><Relationship Id="rId2" Type="http://schemas.openxmlformats.org/officeDocument/2006/relationships/image" Target="../media/image29.sv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31.svg"/></Relationships>
</file>

<file path=ppt/slides/_rels/slide2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24.svg"/><Relationship Id="rId2" Type="http://schemas.openxmlformats.org/officeDocument/2006/relationships/image" Target="../media/image32.jpeg"/><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737190" y="5652397"/>
            <a:ext cx="6615830" cy="661583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7396"/>
            </a:solidFill>
          </p:spPr>
        </p:sp>
        <p:sp>
          <p:nvSpPr>
            <p:cNvPr id="4" name="TextBox 4"/>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0860152" y="-5210428"/>
            <a:ext cx="12798295" cy="1279829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334A"/>
            </a:solidFill>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sp>
        <p:nvSpPr>
          <p:cNvPr id="8" name="Freeform 8"/>
          <p:cNvSpPr/>
          <p:nvPr/>
        </p:nvSpPr>
        <p:spPr>
          <a:xfrm>
            <a:off x="17045105" y="0"/>
            <a:ext cx="2485790" cy="1898240"/>
          </a:xfrm>
          <a:custGeom>
            <a:avLst/>
            <a:gdLst/>
            <a:ahLst/>
            <a:cxnLst/>
            <a:rect l="l" t="t" r="r" b="b"/>
            <a:pathLst>
              <a:path w="2485790" h="1898240">
                <a:moveTo>
                  <a:pt x="0" y="0"/>
                </a:moveTo>
                <a:lnTo>
                  <a:pt x="2485790" y="0"/>
                </a:lnTo>
                <a:lnTo>
                  <a:pt x="2485790" y="1898240"/>
                </a:lnTo>
                <a:lnTo>
                  <a:pt x="0" y="189824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9297242" y="1197760"/>
            <a:ext cx="7962058" cy="796205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t="-24931" b="-24931"/>
              </a:stretch>
            </a:blipFill>
            <a:ln w="180975" cap="sq">
              <a:solidFill>
                <a:srgbClr val="5E7396"/>
              </a:solidFill>
              <a:prstDash val="solid"/>
              <a:miter/>
            </a:ln>
          </p:spPr>
        </p:sp>
      </p:grpSp>
      <p:sp>
        <p:nvSpPr>
          <p:cNvPr id="11" name="AutoShape 11"/>
          <p:cNvSpPr/>
          <p:nvPr/>
        </p:nvSpPr>
        <p:spPr>
          <a:xfrm flipV="1">
            <a:off x="3840480" y="9324975"/>
            <a:ext cx="3246120" cy="0"/>
          </a:xfrm>
          <a:prstGeom prst="line">
            <a:avLst/>
          </a:prstGeom>
          <a:ln w="38100" cap="flat">
            <a:solidFill>
              <a:srgbClr val="000000"/>
            </a:solidFill>
            <a:prstDash val="solid"/>
            <a:headEnd type="none" w="sm" len="sm"/>
            <a:tailEnd type="oval" w="lg" len="lg"/>
          </a:ln>
        </p:spPr>
      </p:sp>
      <p:grpSp>
        <p:nvGrpSpPr>
          <p:cNvPr id="12" name="Group 12"/>
          <p:cNvGrpSpPr/>
          <p:nvPr/>
        </p:nvGrpSpPr>
        <p:grpSpPr>
          <a:xfrm>
            <a:off x="-821310" y="8757161"/>
            <a:ext cx="5282784" cy="1002278"/>
            <a:chOff x="0" y="0"/>
            <a:chExt cx="2142045" cy="406400"/>
          </a:xfrm>
        </p:grpSpPr>
        <p:sp>
          <p:nvSpPr>
            <p:cNvPr id="13" name="Freeform 13"/>
            <p:cNvSpPr/>
            <p:nvPr/>
          </p:nvSpPr>
          <p:spPr>
            <a:xfrm>
              <a:off x="0" y="0"/>
              <a:ext cx="2142045" cy="406400"/>
            </a:xfrm>
            <a:custGeom>
              <a:avLst/>
              <a:gdLst/>
              <a:ahLst/>
              <a:cxnLst/>
              <a:rect l="l" t="t" r="r" b="b"/>
              <a:pathLst>
                <a:path w="2142045" h="406400">
                  <a:moveTo>
                    <a:pt x="1938845" y="0"/>
                  </a:moveTo>
                  <a:cubicBezTo>
                    <a:pt x="2051069" y="0"/>
                    <a:pt x="2142045" y="90976"/>
                    <a:pt x="2142045" y="203200"/>
                  </a:cubicBezTo>
                  <a:cubicBezTo>
                    <a:pt x="2142045" y="315424"/>
                    <a:pt x="2051069" y="406400"/>
                    <a:pt x="1938845" y="406400"/>
                  </a:cubicBezTo>
                  <a:lnTo>
                    <a:pt x="203200" y="406400"/>
                  </a:lnTo>
                  <a:cubicBezTo>
                    <a:pt x="90976" y="406400"/>
                    <a:pt x="0" y="315424"/>
                    <a:pt x="0" y="203200"/>
                  </a:cubicBezTo>
                  <a:cubicBezTo>
                    <a:pt x="0" y="90976"/>
                    <a:pt x="90976" y="0"/>
                    <a:pt x="203200" y="0"/>
                  </a:cubicBezTo>
                  <a:close/>
                </a:path>
              </a:pathLst>
            </a:custGeom>
            <a:solidFill>
              <a:srgbClr val="5E7396"/>
            </a:solidFill>
          </p:spPr>
        </p:sp>
        <p:sp>
          <p:nvSpPr>
            <p:cNvPr id="14" name="TextBox 14"/>
            <p:cNvSpPr txBox="1"/>
            <p:nvPr/>
          </p:nvSpPr>
          <p:spPr>
            <a:xfrm>
              <a:off x="0" y="38100"/>
              <a:ext cx="2142045" cy="368300"/>
            </a:xfrm>
            <a:prstGeom prst="rect">
              <a:avLst/>
            </a:prstGeom>
          </p:spPr>
          <p:txBody>
            <a:bodyPr lIns="50800" tIns="50800" rIns="50800" bIns="50800" rtlCol="0" anchor="ctr"/>
            <a:lstStyle/>
            <a:p>
              <a:pPr algn="ctr">
                <a:lnSpc>
                  <a:spcPts val="2100"/>
                </a:lnSpc>
              </a:pPr>
              <a:endParaRPr/>
            </a:p>
          </p:txBody>
        </p:sp>
      </p:grpSp>
      <p:sp>
        <p:nvSpPr>
          <p:cNvPr id="15" name="Freeform 15"/>
          <p:cNvSpPr/>
          <p:nvPr/>
        </p:nvSpPr>
        <p:spPr>
          <a:xfrm>
            <a:off x="-660612" y="1408026"/>
            <a:ext cx="1321225" cy="554394"/>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4"/>
                </a:ext>
              </a:extLst>
            </a:blip>
            <a:stretch>
              <a:fillRect r="-71029" b="-123065"/>
            </a:stretch>
          </a:blipFill>
        </p:spPr>
      </p:sp>
      <p:sp>
        <p:nvSpPr>
          <p:cNvPr id="16" name="Freeform 16"/>
          <p:cNvSpPr/>
          <p:nvPr/>
        </p:nvSpPr>
        <p:spPr>
          <a:xfrm>
            <a:off x="17259300" y="8893847"/>
            <a:ext cx="1864644" cy="728906"/>
          </a:xfrm>
          <a:custGeom>
            <a:avLst/>
            <a:gdLst/>
            <a:ahLst/>
            <a:cxnLst/>
            <a:rect l="l" t="t" r="r" b="b"/>
            <a:pathLst>
              <a:path w="1864644" h="728906">
                <a:moveTo>
                  <a:pt x="0" y="0"/>
                </a:moveTo>
                <a:lnTo>
                  <a:pt x="1864644" y="0"/>
                </a:lnTo>
                <a:lnTo>
                  <a:pt x="1864644" y="728906"/>
                </a:lnTo>
                <a:lnTo>
                  <a:pt x="0" y="72890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7" name="Freeform 17"/>
          <p:cNvSpPr/>
          <p:nvPr/>
        </p:nvSpPr>
        <p:spPr>
          <a:xfrm>
            <a:off x="7387330" y="-849959"/>
            <a:ext cx="1909912" cy="1878659"/>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8" name="Freeform 18"/>
          <p:cNvSpPr/>
          <p:nvPr/>
        </p:nvSpPr>
        <p:spPr>
          <a:xfrm rot="5400000">
            <a:off x="8242110" y="8455437"/>
            <a:ext cx="550257" cy="1560007"/>
          </a:xfrm>
          <a:custGeom>
            <a:avLst/>
            <a:gdLst/>
            <a:ahLst/>
            <a:cxnLst/>
            <a:rect l="l" t="t" r="r" b="b"/>
            <a:pathLst>
              <a:path w="550257" h="1560007">
                <a:moveTo>
                  <a:pt x="0" y="0"/>
                </a:moveTo>
                <a:lnTo>
                  <a:pt x="550257" y="0"/>
                </a:lnTo>
                <a:lnTo>
                  <a:pt x="550257" y="1560006"/>
                </a:lnTo>
                <a:lnTo>
                  <a:pt x="0" y="156000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9" name="TextBox 19"/>
          <p:cNvSpPr txBox="1"/>
          <p:nvPr/>
        </p:nvSpPr>
        <p:spPr>
          <a:xfrm>
            <a:off x="1028700" y="2827856"/>
            <a:ext cx="8268542" cy="2153928"/>
          </a:xfrm>
          <a:prstGeom prst="rect">
            <a:avLst/>
          </a:prstGeom>
        </p:spPr>
        <p:txBody>
          <a:bodyPr lIns="0" tIns="0" rIns="0" bIns="0" rtlCol="0" anchor="t">
            <a:spAutoFit/>
          </a:bodyPr>
          <a:lstStyle/>
          <a:p>
            <a:pPr marL="0" lvl="1" indent="0" algn="l">
              <a:lnSpc>
                <a:spcPts val="8300"/>
              </a:lnSpc>
              <a:spcBef>
                <a:spcPct val="0"/>
              </a:spcBef>
            </a:pPr>
            <a:r>
              <a:rPr lang="en-US" sz="8300" b="1">
                <a:solidFill>
                  <a:srgbClr val="5E7396"/>
                </a:solidFill>
                <a:latin typeface="Neue Machina Ultra-Bold"/>
                <a:ea typeface="Neue Machina Ultra-Bold"/>
                <a:cs typeface="Neue Machina Ultra-Bold"/>
                <a:sym typeface="Neue Machina Ultra-Bold"/>
              </a:rPr>
              <a:t>HOME CREDIT DEFAULT RISK</a:t>
            </a:r>
          </a:p>
        </p:txBody>
      </p:sp>
      <p:sp>
        <p:nvSpPr>
          <p:cNvPr id="20" name="TextBox 20"/>
          <p:cNvSpPr txBox="1"/>
          <p:nvPr/>
        </p:nvSpPr>
        <p:spPr>
          <a:xfrm>
            <a:off x="1028700" y="9126855"/>
            <a:ext cx="3186739" cy="245745"/>
          </a:xfrm>
          <a:prstGeom prst="rect">
            <a:avLst/>
          </a:prstGeom>
        </p:spPr>
        <p:txBody>
          <a:bodyPr lIns="0" tIns="0" rIns="0" bIns="0" rtlCol="0" anchor="t">
            <a:spAutoFit/>
          </a:bodyPr>
          <a:lstStyle/>
          <a:p>
            <a:pPr algn="l">
              <a:lnSpc>
                <a:spcPts val="1800"/>
              </a:lnSpc>
              <a:spcBef>
                <a:spcPct val="0"/>
              </a:spcBef>
            </a:pPr>
            <a:r>
              <a:rPr lang="en-US" sz="1800">
                <a:solidFill>
                  <a:srgbClr val="FFFFFF"/>
                </a:solidFill>
                <a:latin typeface="Inter"/>
                <a:ea typeface="Inter"/>
                <a:cs typeface="Inter"/>
                <a:sym typeface="Inter"/>
              </a:rPr>
              <a:t>www.scaletrix.ai</a:t>
            </a:r>
          </a:p>
        </p:txBody>
      </p:sp>
      <p:sp>
        <p:nvSpPr>
          <p:cNvPr id="21" name="TextBox 21"/>
          <p:cNvSpPr txBox="1"/>
          <p:nvPr/>
        </p:nvSpPr>
        <p:spPr>
          <a:xfrm>
            <a:off x="1028700" y="6664853"/>
            <a:ext cx="7285947" cy="1017270"/>
          </a:xfrm>
          <a:prstGeom prst="rect">
            <a:avLst/>
          </a:prstGeom>
        </p:spPr>
        <p:txBody>
          <a:bodyPr lIns="0" tIns="0" rIns="0" bIns="0" rtlCol="0" anchor="t">
            <a:spAutoFit/>
          </a:bodyPr>
          <a:lstStyle/>
          <a:p>
            <a:pPr algn="l">
              <a:lnSpc>
                <a:spcPts val="2700"/>
              </a:lnSpc>
            </a:pPr>
            <a:r>
              <a:rPr lang="en-US" sz="1800">
                <a:solidFill>
                  <a:srgbClr val="000000"/>
                </a:solidFill>
                <a:latin typeface="Inter"/>
                <a:ea typeface="Inter"/>
                <a:cs typeface="Inter"/>
                <a:sym typeface="Inter"/>
              </a:rPr>
              <a:t>A Comprehensive Analysis of Customer Credit Risk Using Multi-Table Financial and Behavioral Data to Identify Default Patterns and Risk Drivers</a:t>
            </a:r>
          </a:p>
        </p:txBody>
      </p:sp>
      <p:grpSp>
        <p:nvGrpSpPr>
          <p:cNvPr id="22" name="Group 22"/>
          <p:cNvGrpSpPr/>
          <p:nvPr/>
        </p:nvGrpSpPr>
        <p:grpSpPr>
          <a:xfrm>
            <a:off x="1028700" y="5357696"/>
            <a:ext cx="6555293" cy="953452"/>
            <a:chOff x="0" y="0"/>
            <a:chExt cx="1726497" cy="251115"/>
          </a:xfrm>
        </p:grpSpPr>
        <p:sp>
          <p:nvSpPr>
            <p:cNvPr id="23" name="Freeform 23"/>
            <p:cNvSpPr/>
            <p:nvPr/>
          </p:nvSpPr>
          <p:spPr>
            <a:xfrm>
              <a:off x="0" y="0"/>
              <a:ext cx="1726497" cy="251115"/>
            </a:xfrm>
            <a:custGeom>
              <a:avLst/>
              <a:gdLst/>
              <a:ahLst/>
              <a:cxnLst/>
              <a:rect l="l" t="t" r="r" b="b"/>
              <a:pathLst>
                <a:path w="1726497" h="251115">
                  <a:moveTo>
                    <a:pt x="118102" y="0"/>
                  </a:moveTo>
                  <a:lnTo>
                    <a:pt x="1608395" y="0"/>
                  </a:lnTo>
                  <a:cubicBezTo>
                    <a:pt x="1673621" y="0"/>
                    <a:pt x="1726497" y="52876"/>
                    <a:pt x="1726497" y="118102"/>
                  </a:cubicBezTo>
                  <a:lnTo>
                    <a:pt x="1726497" y="133013"/>
                  </a:lnTo>
                  <a:cubicBezTo>
                    <a:pt x="1726497" y="198239"/>
                    <a:pt x="1673621" y="251115"/>
                    <a:pt x="1608395" y="251115"/>
                  </a:cubicBezTo>
                  <a:lnTo>
                    <a:pt x="118102" y="251115"/>
                  </a:lnTo>
                  <a:cubicBezTo>
                    <a:pt x="52876" y="251115"/>
                    <a:pt x="0" y="198239"/>
                    <a:pt x="0" y="133013"/>
                  </a:cubicBezTo>
                  <a:lnTo>
                    <a:pt x="0" y="118102"/>
                  </a:lnTo>
                  <a:cubicBezTo>
                    <a:pt x="0" y="52876"/>
                    <a:pt x="52876" y="0"/>
                    <a:pt x="118102" y="0"/>
                  </a:cubicBezTo>
                  <a:close/>
                </a:path>
              </a:pathLst>
            </a:custGeom>
            <a:solidFill>
              <a:srgbClr val="C79E76"/>
            </a:solidFill>
          </p:spPr>
        </p:sp>
        <p:sp>
          <p:nvSpPr>
            <p:cNvPr id="24" name="TextBox 24"/>
            <p:cNvSpPr txBox="1"/>
            <p:nvPr/>
          </p:nvSpPr>
          <p:spPr>
            <a:xfrm>
              <a:off x="0" y="-47625"/>
              <a:ext cx="1726497" cy="298740"/>
            </a:xfrm>
            <a:prstGeom prst="rect">
              <a:avLst/>
            </a:prstGeom>
          </p:spPr>
          <p:txBody>
            <a:bodyPr lIns="50800" tIns="50800" rIns="50800" bIns="50800" rtlCol="0" anchor="ctr"/>
            <a:lstStyle/>
            <a:p>
              <a:pPr algn="ctr">
                <a:lnSpc>
                  <a:spcPts val="3359"/>
                </a:lnSpc>
                <a:spcBef>
                  <a:spcPct val="0"/>
                </a:spcBef>
              </a:pPr>
              <a:r>
                <a:rPr lang="en-US" sz="2399">
                  <a:solidFill>
                    <a:srgbClr val="FFFFFF"/>
                  </a:solidFill>
                  <a:latin typeface="Inter"/>
                  <a:ea typeface="Inter"/>
                  <a:cs typeface="Inter"/>
                  <a:sym typeface="Inter"/>
                </a:rPr>
                <a:t>Presented by: Abhishek Kumar Pandey</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954190" y="-1394052"/>
            <a:ext cx="7613361" cy="76133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334A"/>
            </a:solidFill>
          </p:spPr>
        </p:sp>
        <p:sp>
          <p:nvSpPr>
            <p:cNvPr id="4" name="TextBox 4"/>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0746349" y="1028700"/>
            <a:ext cx="6512951" cy="651295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4931" r="-24931"/>
              </a:stretch>
            </a:blipFill>
            <a:ln w="180975" cap="sq">
              <a:solidFill>
                <a:srgbClr val="5E7396"/>
              </a:solidFill>
              <a:prstDash val="solid"/>
              <a:miter/>
            </a:ln>
          </p:spPr>
        </p:sp>
      </p:grpSp>
      <p:grpSp>
        <p:nvGrpSpPr>
          <p:cNvPr id="7" name="Group 7"/>
          <p:cNvGrpSpPr/>
          <p:nvPr/>
        </p:nvGrpSpPr>
        <p:grpSpPr>
          <a:xfrm>
            <a:off x="1028700" y="6203221"/>
            <a:ext cx="5065654" cy="907647"/>
            <a:chOff x="0" y="0"/>
            <a:chExt cx="2674173" cy="479150"/>
          </a:xfrm>
        </p:grpSpPr>
        <p:sp>
          <p:nvSpPr>
            <p:cNvPr id="8" name="Freeform 8"/>
            <p:cNvSpPr/>
            <p:nvPr/>
          </p:nvSpPr>
          <p:spPr>
            <a:xfrm>
              <a:off x="0" y="0"/>
              <a:ext cx="2674173" cy="479150"/>
            </a:xfrm>
            <a:custGeom>
              <a:avLst/>
              <a:gdLst/>
              <a:ahLst/>
              <a:cxnLst/>
              <a:rect l="l" t="t" r="r" b="b"/>
              <a:pathLst>
                <a:path w="2674173" h="479150">
                  <a:moveTo>
                    <a:pt x="2470973" y="0"/>
                  </a:moveTo>
                  <a:cubicBezTo>
                    <a:pt x="2583197" y="0"/>
                    <a:pt x="2674173" y="107261"/>
                    <a:pt x="2674173" y="239575"/>
                  </a:cubicBezTo>
                  <a:cubicBezTo>
                    <a:pt x="2674173" y="371888"/>
                    <a:pt x="2583197" y="479150"/>
                    <a:pt x="2470973" y="479150"/>
                  </a:cubicBezTo>
                  <a:lnTo>
                    <a:pt x="203200" y="479150"/>
                  </a:lnTo>
                  <a:cubicBezTo>
                    <a:pt x="90976" y="479150"/>
                    <a:pt x="0" y="371888"/>
                    <a:pt x="0" y="239575"/>
                  </a:cubicBezTo>
                  <a:cubicBezTo>
                    <a:pt x="0" y="107261"/>
                    <a:pt x="90976" y="0"/>
                    <a:pt x="203200" y="0"/>
                  </a:cubicBezTo>
                  <a:close/>
                </a:path>
              </a:pathLst>
            </a:custGeom>
            <a:solidFill>
              <a:srgbClr val="5E7396"/>
            </a:solidFill>
          </p:spPr>
        </p:sp>
        <p:sp>
          <p:nvSpPr>
            <p:cNvPr id="9" name="TextBox 9"/>
            <p:cNvSpPr txBox="1"/>
            <p:nvPr/>
          </p:nvSpPr>
          <p:spPr>
            <a:xfrm>
              <a:off x="0" y="38100"/>
              <a:ext cx="2674173" cy="441050"/>
            </a:xfrm>
            <a:prstGeom prst="rect">
              <a:avLst/>
            </a:prstGeom>
          </p:spPr>
          <p:txBody>
            <a:bodyPr lIns="50800" tIns="50800" rIns="50800" bIns="50800" rtlCol="0" anchor="ctr"/>
            <a:lstStyle/>
            <a:p>
              <a:pPr algn="ctr">
                <a:lnSpc>
                  <a:spcPts val="2100"/>
                </a:lnSpc>
              </a:pPr>
              <a:r>
                <a:rPr lang="en-US" sz="2100">
                  <a:solidFill>
                    <a:srgbClr val="FFFFFF"/>
                  </a:solidFill>
                  <a:latin typeface="Inter"/>
                  <a:ea typeface="Inter"/>
                  <a:cs typeface="Inter"/>
                  <a:sym typeface="Inter"/>
                </a:rPr>
                <a:t>Customer Financial Profile</a:t>
              </a:r>
            </a:p>
          </p:txBody>
        </p:sp>
      </p:grpSp>
      <p:grpSp>
        <p:nvGrpSpPr>
          <p:cNvPr id="10" name="Group 10"/>
          <p:cNvGrpSpPr/>
          <p:nvPr/>
        </p:nvGrpSpPr>
        <p:grpSpPr>
          <a:xfrm>
            <a:off x="6189604" y="6203221"/>
            <a:ext cx="5065654" cy="907647"/>
            <a:chOff x="0" y="0"/>
            <a:chExt cx="2674173" cy="479150"/>
          </a:xfrm>
        </p:grpSpPr>
        <p:sp>
          <p:nvSpPr>
            <p:cNvPr id="11" name="Freeform 11"/>
            <p:cNvSpPr/>
            <p:nvPr/>
          </p:nvSpPr>
          <p:spPr>
            <a:xfrm>
              <a:off x="0" y="0"/>
              <a:ext cx="2674173" cy="479150"/>
            </a:xfrm>
            <a:custGeom>
              <a:avLst/>
              <a:gdLst/>
              <a:ahLst/>
              <a:cxnLst/>
              <a:rect l="l" t="t" r="r" b="b"/>
              <a:pathLst>
                <a:path w="2674173" h="479150">
                  <a:moveTo>
                    <a:pt x="2470973" y="0"/>
                  </a:moveTo>
                  <a:cubicBezTo>
                    <a:pt x="2583197" y="0"/>
                    <a:pt x="2674173" y="107261"/>
                    <a:pt x="2674173" y="239575"/>
                  </a:cubicBezTo>
                  <a:cubicBezTo>
                    <a:pt x="2674173" y="371888"/>
                    <a:pt x="2583197" y="479150"/>
                    <a:pt x="2470973" y="479150"/>
                  </a:cubicBezTo>
                  <a:lnTo>
                    <a:pt x="203200" y="479150"/>
                  </a:lnTo>
                  <a:cubicBezTo>
                    <a:pt x="90976" y="479150"/>
                    <a:pt x="0" y="371888"/>
                    <a:pt x="0" y="239575"/>
                  </a:cubicBezTo>
                  <a:cubicBezTo>
                    <a:pt x="0" y="107261"/>
                    <a:pt x="90976" y="0"/>
                    <a:pt x="203200" y="0"/>
                  </a:cubicBezTo>
                  <a:close/>
                </a:path>
              </a:pathLst>
            </a:custGeom>
            <a:solidFill>
              <a:srgbClr val="5E7396"/>
            </a:solidFill>
          </p:spPr>
        </p:sp>
        <p:sp>
          <p:nvSpPr>
            <p:cNvPr id="12" name="TextBox 12"/>
            <p:cNvSpPr txBox="1"/>
            <p:nvPr/>
          </p:nvSpPr>
          <p:spPr>
            <a:xfrm>
              <a:off x="0" y="38100"/>
              <a:ext cx="2674173" cy="441050"/>
            </a:xfrm>
            <a:prstGeom prst="rect">
              <a:avLst/>
            </a:prstGeom>
          </p:spPr>
          <p:txBody>
            <a:bodyPr lIns="50800" tIns="50800" rIns="50800" bIns="50800" rtlCol="0" anchor="ctr"/>
            <a:lstStyle/>
            <a:p>
              <a:pPr algn="ctr">
                <a:lnSpc>
                  <a:spcPts val="2100"/>
                </a:lnSpc>
              </a:pPr>
              <a:r>
                <a:rPr lang="en-US" sz="2100">
                  <a:solidFill>
                    <a:srgbClr val="FFFFFF"/>
                  </a:solidFill>
                  <a:latin typeface="Inter"/>
                  <a:ea typeface="Inter"/>
                  <a:cs typeface="Inter"/>
                  <a:sym typeface="Inter"/>
                </a:rPr>
                <a:t>Credit History Evaluation</a:t>
              </a:r>
            </a:p>
          </p:txBody>
        </p:sp>
      </p:grpSp>
      <p:grpSp>
        <p:nvGrpSpPr>
          <p:cNvPr id="13" name="Group 13"/>
          <p:cNvGrpSpPr/>
          <p:nvPr/>
        </p:nvGrpSpPr>
        <p:grpSpPr>
          <a:xfrm>
            <a:off x="1028700" y="7256860"/>
            <a:ext cx="5065654" cy="907647"/>
            <a:chOff x="0" y="0"/>
            <a:chExt cx="2674173" cy="479150"/>
          </a:xfrm>
        </p:grpSpPr>
        <p:sp>
          <p:nvSpPr>
            <p:cNvPr id="14" name="Freeform 14"/>
            <p:cNvSpPr/>
            <p:nvPr/>
          </p:nvSpPr>
          <p:spPr>
            <a:xfrm>
              <a:off x="0" y="0"/>
              <a:ext cx="2674173" cy="479150"/>
            </a:xfrm>
            <a:custGeom>
              <a:avLst/>
              <a:gdLst/>
              <a:ahLst/>
              <a:cxnLst/>
              <a:rect l="l" t="t" r="r" b="b"/>
              <a:pathLst>
                <a:path w="2674173" h="479150">
                  <a:moveTo>
                    <a:pt x="2470973" y="0"/>
                  </a:moveTo>
                  <a:cubicBezTo>
                    <a:pt x="2583197" y="0"/>
                    <a:pt x="2674173" y="107261"/>
                    <a:pt x="2674173" y="239575"/>
                  </a:cubicBezTo>
                  <a:cubicBezTo>
                    <a:pt x="2674173" y="371888"/>
                    <a:pt x="2583197" y="479150"/>
                    <a:pt x="2470973" y="479150"/>
                  </a:cubicBezTo>
                  <a:lnTo>
                    <a:pt x="203200" y="479150"/>
                  </a:lnTo>
                  <a:cubicBezTo>
                    <a:pt x="90976" y="479150"/>
                    <a:pt x="0" y="371888"/>
                    <a:pt x="0" y="239575"/>
                  </a:cubicBezTo>
                  <a:cubicBezTo>
                    <a:pt x="0" y="107261"/>
                    <a:pt x="90976" y="0"/>
                    <a:pt x="203200" y="0"/>
                  </a:cubicBezTo>
                  <a:close/>
                </a:path>
              </a:pathLst>
            </a:custGeom>
            <a:solidFill>
              <a:srgbClr val="5E7396"/>
            </a:solidFill>
          </p:spPr>
        </p:sp>
        <p:sp>
          <p:nvSpPr>
            <p:cNvPr id="15" name="TextBox 15"/>
            <p:cNvSpPr txBox="1"/>
            <p:nvPr/>
          </p:nvSpPr>
          <p:spPr>
            <a:xfrm>
              <a:off x="0" y="38100"/>
              <a:ext cx="2674173" cy="441050"/>
            </a:xfrm>
            <a:prstGeom prst="rect">
              <a:avLst/>
            </a:prstGeom>
          </p:spPr>
          <p:txBody>
            <a:bodyPr lIns="50800" tIns="50800" rIns="50800" bIns="50800" rtlCol="0" anchor="ctr"/>
            <a:lstStyle/>
            <a:p>
              <a:pPr algn="ctr">
                <a:lnSpc>
                  <a:spcPts val="2100"/>
                </a:lnSpc>
              </a:pPr>
              <a:r>
                <a:rPr lang="en-US" sz="2100">
                  <a:solidFill>
                    <a:srgbClr val="FFFFFF"/>
                  </a:solidFill>
                  <a:latin typeface="Inter"/>
                  <a:ea typeface="Inter"/>
                  <a:cs typeface="Inter"/>
                  <a:sym typeface="Inter"/>
                </a:rPr>
                <a:t>Payment Behavior Analysis</a:t>
              </a:r>
            </a:p>
          </p:txBody>
        </p:sp>
      </p:grpSp>
      <p:grpSp>
        <p:nvGrpSpPr>
          <p:cNvPr id="16" name="Group 16"/>
          <p:cNvGrpSpPr/>
          <p:nvPr/>
        </p:nvGrpSpPr>
        <p:grpSpPr>
          <a:xfrm>
            <a:off x="6189604" y="7256860"/>
            <a:ext cx="5065654" cy="907647"/>
            <a:chOff x="0" y="0"/>
            <a:chExt cx="2674173" cy="479150"/>
          </a:xfrm>
        </p:grpSpPr>
        <p:sp>
          <p:nvSpPr>
            <p:cNvPr id="17" name="Freeform 17"/>
            <p:cNvSpPr/>
            <p:nvPr/>
          </p:nvSpPr>
          <p:spPr>
            <a:xfrm>
              <a:off x="0" y="0"/>
              <a:ext cx="2674173" cy="479150"/>
            </a:xfrm>
            <a:custGeom>
              <a:avLst/>
              <a:gdLst/>
              <a:ahLst/>
              <a:cxnLst/>
              <a:rect l="l" t="t" r="r" b="b"/>
              <a:pathLst>
                <a:path w="2674173" h="479150">
                  <a:moveTo>
                    <a:pt x="2470973" y="0"/>
                  </a:moveTo>
                  <a:cubicBezTo>
                    <a:pt x="2583197" y="0"/>
                    <a:pt x="2674173" y="107261"/>
                    <a:pt x="2674173" y="239575"/>
                  </a:cubicBezTo>
                  <a:cubicBezTo>
                    <a:pt x="2674173" y="371888"/>
                    <a:pt x="2583197" y="479150"/>
                    <a:pt x="2470973" y="479150"/>
                  </a:cubicBezTo>
                  <a:lnTo>
                    <a:pt x="203200" y="479150"/>
                  </a:lnTo>
                  <a:cubicBezTo>
                    <a:pt x="90976" y="479150"/>
                    <a:pt x="0" y="371888"/>
                    <a:pt x="0" y="239575"/>
                  </a:cubicBezTo>
                  <a:cubicBezTo>
                    <a:pt x="0" y="107261"/>
                    <a:pt x="90976" y="0"/>
                    <a:pt x="203200" y="0"/>
                  </a:cubicBezTo>
                  <a:close/>
                </a:path>
              </a:pathLst>
            </a:custGeom>
            <a:solidFill>
              <a:srgbClr val="5E7396"/>
            </a:solidFill>
          </p:spPr>
        </p:sp>
        <p:sp>
          <p:nvSpPr>
            <p:cNvPr id="18" name="TextBox 18"/>
            <p:cNvSpPr txBox="1"/>
            <p:nvPr/>
          </p:nvSpPr>
          <p:spPr>
            <a:xfrm>
              <a:off x="0" y="38100"/>
              <a:ext cx="2674173" cy="441050"/>
            </a:xfrm>
            <a:prstGeom prst="rect">
              <a:avLst/>
            </a:prstGeom>
          </p:spPr>
          <p:txBody>
            <a:bodyPr lIns="50800" tIns="50800" rIns="50800" bIns="50800" rtlCol="0" anchor="ctr"/>
            <a:lstStyle/>
            <a:p>
              <a:pPr algn="ctr">
                <a:lnSpc>
                  <a:spcPts val="2100"/>
                </a:lnSpc>
              </a:pPr>
              <a:r>
                <a:rPr lang="en-US" sz="2100">
                  <a:solidFill>
                    <a:srgbClr val="FFFFFF"/>
                  </a:solidFill>
                  <a:latin typeface="Inter"/>
                  <a:ea typeface="Inter"/>
                  <a:cs typeface="Inter"/>
                  <a:sym typeface="Inter"/>
                </a:rPr>
                <a:t>Default Risk Identification</a:t>
              </a:r>
            </a:p>
          </p:txBody>
        </p:sp>
      </p:grpSp>
      <p:sp>
        <p:nvSpPr>
          <p:cNvPr id="19" name="TextBox 19"/>
          <p:cNvSpPr txBox="1"/>
          <p:nvPr/>
        </p:nvSpPr>
        <p:spPr>
          <a:xfrm>
            <a:off x="1028700" y="2121918"/>
            <a:ext cx="8895303" cy="848360"/>
          </a:xfrm>
          <a:prstGeom prst="rect">
            <a:avLst/>
          </a:prstGeom>
        </p:spPr>
        <p:txBody>
          <a:bodyPr lIns="0" tIns="0" rIns="0" bIns="0" rtlCol="0" anchor="t">
            <a:spAutoFit/>
          </a:bodyPr>
          <a:lstStyle/>
          <a:p>
            <a:pPr algn="l">
              <a:lnSpc>
                <a:spcPts val="6399"/>
              </a:lnSpc>
            </a:pPr>
            <a:r>
              <a:rPr lang="en-US" sz="6399" b="1">
                <a:solidFill>
                  <a:srgbClr val="000000"/>
                </a:solidFill>
                <a:latin typeface="Neue Machina Ultra-Bold"/>
                <a:ea typeface="Neue Machina Ultra-Bold"/>
                <a:cs typeface="Neue Machina Ultra-Bold"/>
                <a:sym typeface="Neue Machina Ultra-Bold"/>
              </a:rPr>
              <a:t>Introduction</a:t>
            </a:r>
          </a:p>
        </p:txBody>
      </p:sp>
      <p:sp>
        <p:nvSpPr>
          <p:cNvPr id="20" name="TextBox 20"/>
          <p:cNvSpPr txBox="1"/>
          <p:nvPr/>
        </p:nvSpPr>
        <p:spPr>
          <a:xfrm>
            <a:off x="1028700" y="3094751"/>
            <a:ext cx="8309902" cy="2314174"/>
          </a:xfrm>
          <a:prstGeom prst="rect">
            <a:avLst/>
          </a:prstGeom>
        </p:spPr>
        <p:txBody>
          <a:bodyPr lIns="0" tIns="0" rIns="0" bIns="0" rtlCol="0" anchor="t">
            <a:spAutoFit/>
          </a:bodyPr>
          <a:lstStyle/>
          <a:p>
            <a:pPr algn="l">
              <a:lnSpc>
                <a:spcPts val="2640"/>
              </a:lnSpc>
            </a:pPr>
            <a:r>
              <a:rPr lang="en-US" sz="1760">
                <a:solidFill>
                  <a:srgbClr val="000000"/>
                </a:solidFill>
                <a:latin typeface="Inter"/>
                <a:ea typeface="Inter"/>
                <a:cs typeface="Inter"/>
                <a:sym typeface="Inter"/>
              </a:rPr>
              <a:t>Financial institutions face significant challenges in assessing customer creditworthiness before loan approval.</a:t>
            </a:r>
          </a:p>
          <a:p>
            <a:pPr algn="l">
              <a:lnSpc>
                <a:spcPts val="2640"/>
              </a:lnSpc>
            </a:pPr>
            <a:r>
              <a:rPr lang="en-US" sz="1760">
                <a:solidFill>
                  <a:srgbClr val="000000"/>
                </a:solidFill>
                <a:latin typeface="Inter"/>
                <a:ea typeface="Inter"/>
                <a:cs typeface="Inter"/>
                <a:sym typeface="Inter"/>
              </a:rPr>
              <a:t> Incorrect risk evaluation can lead to high default rates and financial losses.</a:t>
            </a:r>
          </a:p>
          <a:p>
            <a:pPr algn="l">
              <a:lnSpc>
                <a:spcPts val="2640"/>
              </a:lnSpc>
            </a:pPr>
            <a:r>
              <a:rPr lang="en-US" sz="1760">
                <a:solidFill>
                  <a:srgbClr val="000000"/>
                </a:solidFill>
                <a:latin typeface="Inter"/>
                <a:ea typeface="Inter"/>
                <a:cs typeface="Inter"/>
                <a:sym typeface="Inter"/>
              </a:rPr>
              <a:t>The Home Credit Default Risk dataset provides a comprehensive view of customer financial profiles and behavioral history, enabling deeper understanding of default patterns.</a:t>
            </a:r>
          </a:p>
          <a:p>
            <a:pPr algn="l">
              <a:lnSpc>
                <a:spcPts val="2640"/>
              </a:lnSpc>
            </a:pPr>
            <a:endParaRPr lang="en-US" sz="1760">
              <a:solidFill>
                <a:srgbClr val="000000"/>
              </a:solidFill>
              <a:latin typeface="Inter"/>
              <a:ea typeface="Inter"/>
              <a:cs typeface="Inter"/>
              <a:sym typeface="Inter"/>
            </a:endParaRPr>
          </a:p>
        </p:txBody>
      </p:sp>
      <p:sp>
        <p:nvSpPr>
          <p:cNvPr id="21" name="TextBox 21"/>
          <p:cNvSpPr txBox="1"/>
          <p:nvPr/>
        </p:nvSpPr>
        <p:spPr>
          <a:xfrm>
            <a:off x="1028700" y="5513700"/>
            <a:ext cx="6130690" cy="422911"/>
          </a:xfrm>
          <a:prstGeom prst="rect">
            <a:avLst/>
          </a:prstGeom>
        </p:spPr>
        <p:txBody>
          <a:bodyPr lIns="0" tIns="0" rIns="0" bIns="0" rtlCol="0" anchor="t">
            <a:spAutoFit/>
          </a:bodyPr>
          <a:lstStyle/>
          <a:p>
            <a:pPr algn="l">
              <a:lnSpc>
                <a:spcPts val="3599"/>
              </a:lnSpc>
            </a:pPr>
            <a:r>
              <a:rPr lang="en-US" sz="2399" b="1">
                <a:solidFill>
                  <a:srgbClr val="000000"/>
                </a:solidFill>
                <a:latin typeface="Inter Bold"/>
                <a:ea typeface="Inter Bold"/>
                <a:cs typeface="Inter Bold"/>
                <a:sym typeface="Inter Bold"/>
              </a:rPr>
              <a:t>This analysis focuses on:</a:t>
            </a:r>
          </a:p>
        </p:txBody>
      </p:sp>
      <p:sp>
        <p:nvSpPr>
          <p:cNvPr id="22" name="Freeform 22"/>
          <p:cNvSpPr/>
          <p:nvPr/>
        </p:nvSpPr>
        <p:spPr>
          <a:xfrm>
            <a:off x="17217954" y="-210504"/>
            <a:ext cx="2140092" cy="1634252"/>
          </a:xfrm>
          <a:custGeom>
            <a:avLst/>
            <a:gdLst/>
            <a:ahLst/>
            <a:cxnLst/>
            <a:rect l="l" t="t" r="r" b="b"/>
            <a:pathLst>
              <a:path w="2140092" h="1634252">
                <a:moveTo>
                  <a:pt x="0" y="0"/>
                </a:moveTo>
                <a:lnTo>
                  <a:pt x="2140092" y="0"/>
                </a:lnTo>
                <a:lnTo>
                  <a:pt x="2140092" y="1634253"/>
                </a:lnTo>
                <a:lnTo>
                  <a:pt x="0" y="1634253"/>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23" name="Freeform 23"/>
          <p:cNvSpPr/>
          <p:nvPr/>
        </p:nvSpPr>
        <p:spPr>
          <a:xfrm>
            <a:off x="-660612" y="1408026"/>
            <a:ext cx="1321225" cy="554394"/>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4"/>
                </a:ext>
              </a:extLst>
            </a:blip>
            <a:stretch>
              <a:fillRect r="-71029" b="-123065"/>
            </a:stretch>
          </a:blipFill>
        </p:spPr>
      </p:sp>
      <p:sp>
        <p:nvSpPr>
          <p:cNvPr id="24" name="Freeform 24"/>
          <p:cNvSpPr/>
          <p:nvPr/>
        </p:nvSpPr>
        <p:spPr>
          <a:xfrm>
            <a:off x="17259300" y="9064355"/>
            <a:ext cx="1864644" cy="728906"/>
          </a:xfrm>
          <a:custGeom>
            <a:avLst/>
            <a:gdLst/>
            <a:ahLst/>
            <a:cxnLst/>
            <a:rect l="l" t="t" r="r" b="b"/>
            <a:pathLst>
              <a:path w="1864644" h="728906">
                <a:moveTo>
                  <a:pt x="0" y="0"/>
                </a:moveTo>
                <a:lnTo>
                  <a:pt x="1864644" y="0"/>
                </a:lnTo>
                <a:lnTo>
                  <a:pt x="1864644" y="728906"/>
                </a:lnTo>
                <a:lnTo>
                  <a:pt x="0" y="728906"/>
                </a:lnTo>
                <a:lnTo>
                  <a:pt x="0" y="0"/>
                </a:lnTo>
                <a:close/>
              </a:path>
            </a:pathLst>
          </a:custGeom>
          <a:blipFill>
            <a:blip>
              <a:alphaModFix amt="39000"/>
              <a:extLst>
                <a:ext uri="{96DAC541-7B7A-43D3-8B79-37D633B846F1}">
                  <asvg:svgBlip xmlns:asvg="http://schemas.microsoft.com/office/drawing/2016/SVG/main" r:embed="rId5"/>
                </a:ext>
              </a:extLst>
            </a:blip>
            <a:stretch>
              <a:fillRect/>
            </a:stretch>
          </a:blipFill>
        </p:spPr>
      </p:sp>
      <p:sp>
        <p:nvSpPr>
          <p:cNvPr id="25" name="Freeform 25"/>
          <p:cNvSpPr/>
          <p:nvPr/>
        </p:nvSpPr>
        <p:spPr>
          <a:xfrm>
            <a:off x="-954956" y="9258300"/>
            <a:ext cx="1909912" cy="1878659"/>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6"/>
                </a:ext>
              </a:extLst>
            </a:blip>
            <a:stretch>
              <a:fillRect/>
            </a:stretch>
          </a:blipFill>
        </p:spPr>
      </p:sp>
      <p:sp>
        <p:nvSpPr>
          <p:cNvPr id="26" name="Freeform 26"/>
          <p:cNvSpPr/>
          <p:nvPr/>
        </p:nvSpPr>
        <p:spPr>
          <a:xfrm rot="5400000">
            <a:off x="8868872" y="918874"/>
            <a:ext cx="550257" cy="1560007"/>
          </a:xfrm>
          <a:custGeom>
            <a:avLst/>
            <a:gdLst/>
            <a:ahLst/>
            <a:cxnLst/>
            <a:rect l="l" t="t" r="r" b="b"/>
            <a:pathLst>
              <a:path w="550257" h="1560007">
                <a:moveTo>
                  <a:pt x="0" y="0"/>
                </a:moveTo>
                <a:lnTo>
                  <a:pt x="550256" y="0"/>
                </a:lnTo>
                <a:lnTo>
                  <a:pt x="550256" y="1560006"/>
                </a:lnTo>
                <a:lnTo>
                  <a:pt x="0" y="1560006"/>
                </a:lnTo>
                <a:lnTo>
                  <a:pt x="0" y="0"/>
                </a:lnTo>
                <a:close/>
              </a:path>
            </a:pathLst>
          </a:custGeom>
          <a:blipFill>
            <a:blip>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467210" y="-4166463"/>
            <a:ext cx="7613361" cy="76133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334A"/>
            </a:solidFill>
          </p:spPr>
        </p:sp>
        <p:sp>
          <p:nvSpPr>
            <p:cNvPr id="4" name="TextBox 4"/>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3231154" y="-1155768"/>
            <a:ext cx="6512951" cy="651295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4931" r="-24931"/>
              </a:stretch>
            </a:blipFill>
            <a:ln w="180975" cap="sq">
              <a:solidFill>
                <a:srgbClr val="5E7396"/>
              </a:solidFill>
              <a:prstDash val="solid"/>
              <a:miter/>
            </a:ln>
          </p:spPr>
        </p:sp>
      </p:grpSp>
      <p:grpSp>
        <p:nvGrpSpPr>
          <p:cNvPr id="7" name="Group 7"/>
          <p:cNvGrpSpPr/>
          <p:nvPr/>
        </p:nvGrpSpPr>
        <p:grpSpPr>
          <a:xfrm>
            <a:off x="-1236156" y="6338257"/>
            <a:ext cx="6512951" cy="651295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4931" r="-24931"/>
              </a:stretch>
            </a:blipFill>
            <a:ln w="180975" cap="sq">
              <a:solidFill>
                <a:srgbClr val="5E7396"/>
              </a:solidFill>
              <a:prstDash val="solid"/>
              <a:miter/>
            </a:ln>
          </p:spPr>
        </p:sp>
      </p:grpSp>
      <p:grpSp>
        <p:nvGrpSpPr>
          <p:cNvPr id="9" name="Group 9"/>
          <p:cNvGrpSpPr/>
          <p:nvPr/>
        </p:nvGrpSpPr>
        <p:grpSpPr>
          <a:xfrm>
            <a:off x="4292183" y="6643641"/>
            <a:ext cx="3380437" cy="338043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4931" r="-24931"/>
              </a:stretch>
            </a:blipFill>
            <a:ln w="133350" cap="sq">
              <a:solidFill>
                <a:srgbClr val="5E7396"/>
              </a:solidFill>
              <a:prstDash val="solid"/>
              <a:miter/>
            </a:ln>
          </p:spPr>
        </p:sp>
      </p:grpSp>
      <p:grpSp>
        <p:nvGrpSpPr>
          <p:cNvPr id="11" name="Group 11"/>
          <p:cNvGrpSpPr/>
          <p:nvPr/>
        </p:nvGrpSpPr>
        <p:grpSpPr>
          <a:xfrm>
            <a:off x="8933411" y="5690480"/>
            <a:ext cx="7369899" cy="787628"/>
            <a:chOff x="0" y="0"/>
            <a:chExt cx="4405434" cy="470813"/>
          </a:xfrm>
        </p:grpSpPr>
        <p:sp>
          <p:nvSpPr>
            <p:cNvPr id="12" name="Freeform 12"/>
            <p:cNvSpPr/>
            <p:nvPr/>
          </p:nvSpPr>
          <p:spPr>
            <a:xfrm>
              <a:off x="0" y="0"/>
              <a:ext cx="4405434" cy="470813"/>
            </a:xfrm>
            <a:custGeom>
              <a:avLst/>
              <a:gdLst/>
              <a:ahLst/>
              <a:cxnLst/>
              <a:rect l="l" t="t" r="r" b="b"/>
              <a:pathLst>
                <a:path w="4405434" h="470813">
                  <a:moveTo>
                    <a:pt x="4202234" y="0"/>
                  </a:moveTo>
                  <a:cubicBezTo>
                    <a:pt x="4314458" y="0"/>
                    <a:pt x="4405434" y="105395"/>
                    <a:pt x="4405434" y="235407"/>
                  </a:cubicBezTo>
                  <a:cubicBezTo>
                    <a:pt x="4405434" y="365418"/>
                    <a:pt x="4314458" y="470813"/>
                    <a:pt x="4202234" y="470813"/>
                  </a:cubicBezTo>
                  <a:lnTo>
                    <a:pt x="203200" y="470813"/>
                  </a:lnTo>
                  <a:cubicBezTo>
                    <a:pt x="90976" y="470813"/>
                    <a:pt x="0" y="365418"/>
                    <a:pt x="0" y="235407"/>
                  </a:cubicBezTo>
                  <a:cubicBezTo>
                    <a:pt x="0" y="105395"/>
                    <a:pt x="90976" y="0"/>
                    <a:pt x="203200" y="0"/>
                  </a:cubicBezTo>
                  <a:close/>
                </a:path>
              </a:pathLst>
            </a:custGeom>
            <a:solidFill>
              <a:srgbClr val="5E7396"/>
            </a:solidFill>
          </p:spPr>
        </p:sp>
        <p:sp>
          <p:nvSpPr>
            <p:cNvPr id="13" name="TextBox 13"/>
            <p:cNvSpPr txBox="1"/>
            <p:nvPr/>
          </p:nvSpPr>
          <p:spPr>
            <a:xfrm>
              <a:off x="0" y="38100"/>
              <a:ext cx="4405434" cy="432713"/>
            </a:xfrm>
            <a:prstGeom prst="rect">
              <a:avLst/>
            </a:prstGeom>
          </p:spPr>
          <p:txBody>
            <a:bodyPr lIns="50800" tIns="50800" rIns="50800" bIns="50800" rtlCol="0" anchor="ctr"/>
            <a:lstStyle/>
            <a:p>
              <a:pPr algn="ctr">
                <a:lnSpc>
                  <a:spcPts val="2100"/>
                </a:lnSpc>
              </a:pPr>
              <a:r>
                <a:rPr lang="en-US" sz="2100">
                  <a:solidFill>
                    <a:srgbClr val="FFFFFF"/>
                  </a:solidFill>
                  <a:latin typeface="Inter"/>
                  <a:ea typeface="Inter"/>
                  <a:cs typeface="Inter"/>
                  <a:sym typeface="Inter"/>
                </a:rPr>
                <a:t>Analyze customer financial profile and credit exposure</a:t>
              </a:r>
            </a:p>
          </p:txBody>
        </p:sp>
      </p:grpSp>
      <p:grpSp>
        <p:nvGrpSpPr>
          <p:cNvPr id="14" name="Group 14"/>
          <p:cNvGrpSpPr/>
          <p:nvPr/>
        </p:nvGrpSpPr>
        <p:grpSpPr>
          <a:xfrm>
            <a:off x="8933411" y="7406800"/>
            <a:ext cx="7369899" cy="787628"/>
            <a:chOff x="0" y="0"/>
            <a:chExt cx="4405434" cy="470813"/>
          </a:xfrm>
        </p:grpSpPr>
        <p:sp>
          <p:nvSpPr>
            <p:cNvPr id="15" name="Freeform 15"/>
            <p:cNvSpPr/>
            <p:nvPr/>
          </p:nvSpPr>
          <p:spPr>
            <a:xfrm>
              <a:off x="0" y="0"/>
              <a:ext cx="4405434" cy="470813"/>
            </a:xfrm>
            <a:custGeom>
              <a:avLst/>
              <a:gdLst/>
              <a:ahLst/>
              <a:cxnLst/>
              <a:rect l="l" t="t" r="r" b="b"/>
              <a:pathLst>
                <a:path w="4405434" h="470813">
                  <a:moveTo>
                    <a:pt x="4202234" y="0"/>
                  </a:moveTo>
                  <a:cubicBezTo>
                    <a:pt x="4314458" y="0"/>
                    <a:pt x="4405434" y="105395"/>
                    <a:pt x="4405434" y="235407"/>
                  </a:cubicBezTo>
                  <a:cubicBezTo>
                    <a:pt x="4405434" y="365418"/>
                    <a:pt x="4314458" y="470813"/>
                    <a:pt x="4202234" y="470813"/>
                  </a:cubicBezTo>
                  <a:lnTo>
                    <a:pt x="203200" y="470813"/>
                  </a:lnTo>
                  <a:cubicBezTo>
                    <a:pt x="90976" y="470813"/>
                    <a:pt x="0" y="365418"/>
                    <a:pt x="0" y="235407"/>
                  </a:cubicBezTo>
                  <a:cubicBezTo>
                    <a:pt x="0" y="105395"/>
                    <a:pt x="90976" y="0"/>
                    <a:pt x="203200" y="0"/>
                  </a:cubicBezTo>
                  <a:close/>
                </a:path>
              </a:pathLst>
            </a:custGeom>
            <a:solidFill>
              <a:srgbClr val="5E7396"/>
            </a:solidFill>
          </p:spPr>
        </p:sp>
        <p:sp>
          <p:nvSpPr>
            <p:cNvPr id="16" name="TextBox 16"/>
            <p:cNvSpPr txBox="1"/>
            <p:nvPr/>
          </p:nvSpPr>
          <p:spPr>
            <a:xfrm>
              <a:off x="0" y="38100"/>
              <a:ext cx="4405434" cy="432713"/>
            </a:xfrm>
            <a:prstGeom prst="rect">
              <a:avLst/>
            </a:prstGeom>
          </p:spPr>
          <p:txBody>
            <a:bodyPr lIns="50800" tIns="50800" rIns="50800" bIns="50800" rtlCol="0" anchor="ctr"/>
            <a:lstStyle/>
            <a:p>
              <a:pPr algn="ctr">
                <a:lnSpc>
                  <a:spcPts val="2100"/>
                </a:lnSpc>
              </a:pPr>
              <a:r>
                <a:rPr lang="en-US" sz="2100">
                  <a:solidFill>
                    <a:srgbClr val="FFFFFF"/>
                  </a:solidFill>
                  <a:latin typeface="Inter"/>
                  <a:ea typeface="Inter"/>
                  <a:cs typeface="Inter"/>
                  <a:sym typeface="Inter"/>
                </a:rPr>
                <a:t>Evaluate repayment patterns and payment delays</a:t>
              </a:r>
            </a:p>
          </p:txBody>
        </p:sp>
      </p:grpSp>
      <p:grpSp>
        <p:nvGrpSpPr>
          <p:cNvPr id="17" name="Group 17"/>
          <p:cNvGrpSpPr/>
          <p:nvPr/>
        </p:nvGrpSpPr>
        <p:grpSpPr>
          <a:xfrm>
            <a:off x="8933411" y="6548640"/>
            <a:ext cx="7369899" cy="787628"/>
            <a:chOff x="0" y="0"/>
            <a:chExt cx="4405434" cy="470813"/>
          </a:xfrm>
        </p:grpSpPr>
        <p:sp>
          <p:nvSpPr>
            <p:cNvPr id="18" name="Freeform 18"/>
            <p:cNvSpPr/>
            <p:nvPr/>
          </p:nvSpPr>
          <p:spPr>
            <a:xfrm>
              <a:off x="0" y="0"/>
              <a:ext cx="4405434" cy="470813"/>
            </a:xfrm>
            <a:custGeom>
              <a:avLst/>
              <a:gdLst/>
              <a:ahLst/>
              <a:cxnLst/>
              <a:rect l="l" t="t" r="r" b="b"/>
              <a:pathLst>
                <a:path w="4405434" h="470813">
                  <a:moveTo>
                    <a:pt x="4202234" y="0"/>
                  </a:moveTo>
                  <a:cubicBezTo>
                    <a:pt x="4314458" y="0"/>
                    <a:pt x="4405434" y="105395"/>
                    <a:pt x="4405434" y="235407"/>
                  </a:cubicBezTo>
                  <a:cubicBezTo>
                    <a:pt x="4405434" y="365418"/>
                    <a:pt x="4314458" y="470813"/>
                    <a:pt x="4202234" y="470813"/>
                  </a:cubicBezTo>
                  <a:lnTo>
                    <a:pt x="203200" y="470813"/>
                  </a:lnTo>
                  <a:cubicBezTo>
                    <a:pt x="90976" y="470813"/>
                    <a:pt x="0" y="365418"/>
                    <a:pt x="0" y="235407"/>
                  </a:cubicBezTo>
                  <a:cubicBezTo>
                    <a:pt x="0" y="105395"/>
                    <a:pt x="90976" y="0"/>
                    <a:pt x="203200" y="0"/>
                  </a:cubicBezTo>
                  <a:close/>
                </a:path>
              </a:pathLst>
            </a:custGeom>
            <a:solidFill>
              <a:srgbClr val="5E7396"/>
            </a:solidFill>
          </p:spPr>
        </p:sp>
        <p:sp>
          <p:nvSpPr>
            <p:cNvPr id="19" name="TextBox 19"/>
            <p:cNvSpPr txBox="1"/>
            <p:nvPr/>
          </p:nvSpPr>
          <p:spPr>
            <a:xfrm>
              <a:off x="0" y="38100"/>
              <a:ext cx="4405434" cy="432713"/>
            </a:xfrm>
            <a:prstGeom prst="rect">
              <a:avLst/>
            </a:prstGeom>
          </p:spPr>
          <p:txBody>
            <a:bodyPr lIns="50800" tIns="50800" rIns="50800" bIns="50800" rtlCol="0" anchor="ctr"/>
            <a:lstStyle/>
            <a:p>
              <a:pPr algn="ctr">
                <a:lnSpc>
                  <a:spcPts val="2100"/>
                </a:lnSpc>
              </a:pPr>
              <a:r>
                <a:rPr lang="en-US" sz="2100">
                  <a:solidFill>
                    <a:srgbClr val="FFFFFF"/>
                  </a:solidFill>
                  <a:latin typeface="Inter"/>
                  <a:ea typeface="Inter"/>
                  <a:cs typeface="Inter"/>
                  <a:sym typeface="Inter"/>
                </a:rPr>
                <a:t>Examine historical credit behavior and loan records</a:t>
              </a:r>
            </a:p>
          </p:txBody>
        </p:sp>
      </p:grpSp>
      <p:grpSp>
        <p:nvGrpSpPr>
          <p:cNvPr id="20" name="Group 20"/>
          <p:cNvGrpSpPr/>
          <p:nvPr/>
        </p:nvGrpSpPr>
        <p:grpSpPr>
          <a:xfrm>
            <a:off x="8933411" y="8264960"/>
            <a:ext cx="7369899" cy="787628"/>
            <a:chOff x="0" y="0"/>
            <a:chExt cx="4405434" cy="470813"/>
          </a:xfrm>
        </p:grpSpPr>
        <p:sp>
          <p:nvSpPr>
            <p:cNvPr id="21" name="Freeform 21"/>
            <p:cNvSpPr/>
            <p:nvPr/>
          </p:nvSpPr>
          <p:spPr>
            <a:xfrm>
              <a:off x="0" y="0"/>
              <a:ext cx="4405434" cy="470813"/>
            </a:xfrm>
            <a:custGeom>
              <a:avLst/>
              <a:gdLst/>
              <a:ahLst/>
              <a:cxnLst/>
              <a:rect l="l" t="t" r="r" b="b"/>
              <a:pathLst>
                <a:path w="4405434" h="470813">
                  <a:moveTo>
                    <a:pt x="4202234" y="0"/>
                  </a:moveTo>
                  <a:cubicBezTo>
                    <a:pt x="4314458" y="0"/>
                    <a:pt x="4405434" y="105395"/>
                    <a:pt x="4405434" y="235407"/>
                  </a:cubicBezTo>
                  <a:cubicBezTo>
                    <a:pt x="4405434" y="365418"/>
                    <a:pt x="4314458" y="470813"/>
                    <a:pt x="4202234" y="470813"/>
                  </a:cubicBezTo>
                  <a:lnTo>
                    <a:pt x="203200" y="470813"/>
                  </a:lnTo>
                  <a:cubicBezTo>
                    <a:pt x="90976" y="470813"/>
                    <a:pt x="0" y="365418"/>
                    <a:pt x="0" y="235407"/>
                  </a:cubicBezTo>
                  <a:cubicBezTo>
                    <a:pt x="0" y="105395"/>
                    <a:pt x="90976" y="0"/>
                    <a:pt x="203200" y="0"/>
                  </a:cubicBezTo>
                  <a:close/>
                </a:path>
              </a:pathLst>
            </a:custGeom>
            <a:solidFill>
              <a:srgbClr val="5E7396"/>
            </a:solidFill>
          </p:spPr>
        </p:sp>
        <p:sp>
          <p:nvSpPr>
            <p:cNvPr id="22" name="TextBox 22"/>
            <p:cNvSpPr txBox="1"/>
            <p:nvPr/>
          </p:nvSpPr>
          <p:spPr>
            <a:xfrm>
              <a:off x="0" y="38100"/>
              <a:ext cx="4405434" cy="432713"/>
            </a:xfrm>
            <a:prstGeom prst="rect">
              <a:avLst/>
            </a:prstGeom>
          </p:spPr>
          <p:txBody>
            <a:bodyPr lIns="50800" tIns="50800" rIns="50800" bIns="50800" rtlCol="0" anchor="ctr"/>
            <a:lstStyle/>
            <a:p>
              <a:pPr algn="ctr">
                <a:lnSpc>
                  <a:spcPts val="2100"/>
                </a:lnSpc>
              </a:pPr>
              <a:r>
                <a:rPr lang="en-US" sz="2100">
                  <a:solidFill>
                    <a:srgbClr val="FFFFFF"/>
                  </a:solidFill>
                  <a:latin typeface="Inter"/>
                  <a:ea typeface="Inter"/>
                  <a:cs typeface="Inter"/>
                  <a:sym typeface="Inter"/>
                </a:rPr>
                <a:t>Identify key risk drivers contributing to loan default</a:t>
              </a:r>
            </a:p>
          </p:txBody>
        </p:sp>
      </p:grpSp>
      <p:sp>
        <p:nvSpPr>
          <p:cNvPr id="23" name="TextBox 23"/>
          <p:cNvSpPr txBox="1"/>
          <p:nvPr/>
        </p:nvSpPr>
        <p:spPr>
          <a:xfrm>
            <a:off x="1116160" y="2254780"/>
            <a:ext cx="7629924" cy="821690"/>
          </a:xfrm>
          <a:prstGeom prst="rect">
            <a:avLst/>
          </a:prstGeom>
        </p:spPr>
        <p:txBody>
          <a:bodyPr lIns="0" tIns="0" rIns="0" bIns="0" rtlCol="0" anchor="t">
            <a:spAutoFit/>
          </a:bodyPr>
          <a:lstStyle/>
          <a:p>
            <a:pPr algn="l">
              <a:lnSpc>
                <a:spcPts val="6100"/>
              </a:lnSpc>
            </a:pPr>
            <a:r>
              <a:rPr lang="en-US" sz="6100" b="1" dirty="0">
                <a:solidFill>
                  <a:srgbClr val="000000"/>
                </a:solidFill>
                <a:latin typeface="Neue Machina Ultra-Bold"/>
                <a:ea typeface="Neue Machina Ultra-Bold"/>
                <a:cs typeface="Neue Machina Ultra-Bold"/>
                <a:sym typeface="Neue Machina Ultra-Bold"/>
              </a:rPr>
              <a:t>Project Objectives</a:t>
            </a:r>
          </a:p>
        </p:txBody>
      </p:sp>
      <p:sp>
        <p:nvSpPr>
          <p:cNvPr id="24" name="TextBox 24"/>
          <p:cNvSpPr txBox="1"/>
          <p:nvPr/>
        </p:nvSpPr>
        <p:spPr>
          <a:xfrm>
            <a:off x="1028700" y="3796666"/>
            <a:ext cx="6975424" cy="1017270"/>
          </a:xfrm>
          <a:prstGeom prst="rect">
            <a:avLst/>
          </a:prstGeom>
        </p:spPr>
        <p:txBody>
          <a:bodyPr lIns="0" tIns="0" rIns="0" bIns="0" rtlCol="0" anchor="t">
            <a:spAutoFit/>
          </a:bodyPr>
          <a:lstStyle/>
          <a:p>
            <a:pPr algn="l">
              <a:lnSpc>
                <a:spcPts val="2700"/>
              </a:lnSpc>
            </a:pPr>
            <a:r>
              <a:rPr lang="en-US" sz="1800" dirty="0">
                <a:solidFill>
                  <a:srgbClr val="000000"/>
                </a:solidFill>
                <a:latin typeface="Inter"/>
                <a:ea typeface="Inter"/>
                <a:cs typeface="Inter"/>
                <a:sym typeface="Inter"/>
              </a:rPr>
              <a:t>The primary objective of this analysis is to understand and identify key factors influencing customer loan default using multi-table financial data.</a:t>
            </a:r>
          </a:p>
        </p:txBody>
      </p:sp>
      <p:sp>
        <p:nvSpPr>
          <p:cNvPr id="25" name="TextBox 25"/>
          <p:cNvSpPr txBox="1"/>
          <p:nvPr/>
        </p:nvSpPr>
        <p:spPr>
          <a:xfrm>
            <a:off x="8933411" y="5172075"/>
            <a:ext cx="6963893" cy="371754"/>
          </a:xfrm>
          <a:prstGeom prst="rect">
            <a:avLst/>
          </a:prstGeom>
        </p:spPr>
        <p:txBody>
          <a:bodyPr lIns="0" tIns="0" rIns="0" bIns="0" rtlCol="0" anchor="t">
            <a:spAutoFit/>
          </a:bodyPr>
          <a:lstStyle/>
          <a:p>
            <a:pPr algn="l">
              <a:lnSpc>
                <a:spcPts val="3179"/>
              </a:lnSpc>
            </a:pPr>
            <a:r>
              <a:rPr lang="en-US" sz="2119" b="1">
                <a:solidFill>
                  <a:srgbClr val="000000"/>
                </a:solidFill>
                <a:latin typeface="Inter Bold"/>
                <a:ea typeface="Inter Bold"/>
                <a:cs typeface="Inter Bold"/>
                <a:sym typeface="Inter Bold"/>
              </a:rPr>
              <a:t>Key objectives include:</a:t>
            </a:r>
          </a:p>
        </p:txBody>
      </p:sp>
      <p:sp>
        <p:nvSpPr>
          <p:cNvPr id="26" name="Freeform 26"/>
          <p:cNvSpPr/>
          <p:nvPr/>
        </p:nvSpPr>
        <p:spPr>
          <a:xfrm>
            <a:off x="17082184" y="-314182"/>
            <a:ext cx="2411631" cy="1841609"/>
          </a:xfrm>
          <a:custGeom>
            <a:avLst/>
            <a:gdLst/>
            <a:ahLst/>
            <a:cxnLst/>
            <a:rect l="l" t="t" r="r" b="b"/>
            <a:pathLst>
              <a:path w="2411631" h="1841609">
                <a:moveTo>
                  <a:pt x="0" y="0"/>
                </a:moveTo>
                <a:lnTo>
                  <a:pt x="2411632" y="0"/>
                </a:lnTo>
                <a:lnTo>
                  <a:pt x="2411632" y="1841609"/>
                </a:lnTo>
                <a:lnTo>
                  <a:pt x="0" y="1841609"/>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sp>
      <p:sp>
        <p:nvSpPr>
          <p:cNvPr id="27" name="Freeform 27"/>
          <p:cNvSpPr/>
          <p:nvPr/>
        </p:nvSpPr>
        <p:spPr>
          <a:xfrm>
            <a:off x="-660612" y="1408026"/>
            <a:ext cx="1321225" cy="554394"/>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6"/>
                </a:ext>
              </a:extLst>
            </a:blip>
            <a:stretch>
              <a:fillRect r="-71029" b="-123065"/>
            </a:stretch>
          </a:blipFill>
        </p:spPr>
      </p:sp>
      <p:sp>
        <p:nvSpPr>
          <p:cNvPr id="28" name="Freeform 28"/>
          <p:cNvSpPr/>
          <p:nvPr/>
        </p:nvSpPr>
        <p:spPr>
          <a:xfrm>
            <a:off x="17259300" y="9064355"/>
            <a:ext cx="1864644" cy="728906"/>
          </a:xfrm>
          <a:custGeom>
            <a:avLst/>
            <a:gdLst/>
            <a:ahLst/>
            <a:cxnLst/>
            <a:rect l="l" t="t" r="r" b="b"/>
            <a:pathLst>
              <a:path w="1864644" h="728906">
                <a:moveTo>
                  <a:pt x="0" y="0"/>
                </a:moveTo>
                <a:lnTo>
                  <a:pt x="1864644" y="0"/>
                </a:lnTo>
                <a:lnTo>
                  <a:pt x="1864644" y="728906"/>
                </a:lnTo>
                <a:lnTo>
                  <a:pt x="0" y="728906"/>
                </a:lnTo>
                <a:lnTo>
                  <a:pt x="0" y="0"/>
                </a:lnTo>
                <a:close/>
              </a:path>
            </a:pathLst>
          </a:custGeom>
          <a:blipFill>
            <a:blip>
              <a:alphaModFix amt="39000"/>
              <a:extLst>
                <a:ext uri="{96DAC541-7B7A-43D3-8B79-37D633B846F1}">
                  <asvg:svgBlip xmlns:asvg="http://schemas.microsoft.com/office/drawing/2016/SVG/main" r:embed="rId7"/>
                </a:ext>
              </a:extLst>
            </a:blip>
            <a:stretch>
              <a:fillRect/>
            </a:stretch>
          </a:blipFill>
        </p:spPr>
      </p:sp>
      <p:sp>
        <p:nvSpPr>
          <p:cNvPr id="29" name="Freeform 29"/>
          <p:cNvSpPr/>
          <p:nvPr/>
        </p:nvSpPr>
        <p:spPr>
          <a:xfrm>
            <a:off x="-954956" y="9258300"/>
            <a:ext cx="1909912" cy="1878659"/>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8"/>
                </a:ext>
              </a:extLst>
            </a:blip>
            <a:stretch>
              <a:fillRect/>
            </a:stretch>
          </a:blipFill>
        </p:spPr>
      </p:sp>
      <p:sp>
        <p:nvSpPr>
          <p:cNvPr id="30" name="Freeform 30"/>
          <p:cNvSpPr/>
          <p:nvPr/>
        </p:nvSpPr>
        <p:spPr>
          <a:xfrm rot="5400000">
            <a:off x="9250959" y="747424"/>
            <a:ext cx="550257" cy="1560007"/>
          </a:xfrm>
          <a:custGeom>
            <a:avLst/>
            <a:gdLst/>
            <a:ahLst/>
            <a:cxnLst/>
            <a:rect l="l" t="t" r="r" b="b"/>
            <a:pathLst>
              <a:path w="550257" h="1560007">
                <a:moveTo>
                  <a:pt x="0" y="0"/>
                </a:moveTo>
                <a:lnTo>
                  <a:pt x="550257" y="0"/>
                </a:lnTo>
                <a:lnTo>
                  <a:pt x="550257" y="1560006"/>
                </a:lnTo>
                <a:lnTo>
                  <a:pt x="0" y="1560006"/>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31" name="Group 31"/>
          <p:cNvGrpSpPr/>
          <p:nvPr/>
        </p:nvGrpSpPr>
        <p:grpSpPr>
          <a:xfrm>
            <a:off x="8933411" y="9119883"/>
            <a:ext cx="7369899" cy="787628"/>
            <a:chOff x="0" y="0"/>
            <a:chExt cx="4405434" cy="470813"/>
          </a:xfrm>
        </p:grpSpPr>
        <p:sp>
          <p:nvSpPr>
            <p:cNvPr id="32" name="Freeform 32"/>
            <p:cNvSpPr/>
            <p:nvPr/>
          </p:nvSpPr>
          <p:spPr>
            <a:xfrm>
              <a:off x="0" y="0"/>
              <a:ext cx="4405434" cy="470813"/>
            </a:xfrm>
            <a:custGeom>
              <a:avLst/>
              <a:gdLst/>
              <a:ahLst/>
              <a:cxnLst/>
              <a:rect l="l" t="t" r="r" b="b"/>
              <a:pathLst>
                <a:path w="4405434" h="470813">
                  <a:moveTo>
                    <a:pt x="4202234" y="0"/>
                  </a:moveTo>
                  <a:cubicBezTo>
                    <a:pt x="4314458" y="0"/>
                    <a:pt x="4405434" y="105395"/>
                    <a:pt x="4405434" y="235407"/>
                  </a:cubicBezTo>
                  <a:cubicBezTo>
                    <a:pt x="4405434" y="365418"/>
                    <a:pt x="4314458" y="470813"/>
                    <a:pt x="4202234" y="470813"/>
                  </a:cubicBezTo>
                  <a:lnTo>
                    <a:pt x="203200" y="470813"/>
                  </a:lnTo>
                  <a:cubicBezTo>
                    <a:pt x="90976" y="470813"/>
                    <a:pt x="0" y="365418"/>
                    <a:pt x="0" y="235407"/>
                  </a:cubicBezTo>
                  <a:cubicBezTo>
                    <a:pt x="0" y="105395"/>
                    <a:pt x="90976" y="0"/>
                    <a:pt x="203200" y="0"/>
                  </a:cubicBezTo>
                  <a:close/>
                </a:path>
              </a:pathLst>
            </a:custGeom>
            <a:solidFill>
              <a:srgbClr val="5E7396"/>
            </a:solidFill>
          </p:spPr>
        </p:sp>
        <p:sp>
          <p:nvSpPr>
            <p:cNvPr id="33" name="TextBox 33"/>
            <p:cNvSpPr txBox="1"/>
            <p:nvPr/>
          </p:nvSpPr>
          <p:spPr>
            <a:xfrm>
              <a:off x="0" y="38100"/>
              <a:ext cx="4405434" cy="432713"/>
            </a:xfrm>
            <a:prstGeom prst="rect">
              <a:avLst/>
            </a:prstGeom>
          </p:spPr>
          <p:txBody>
            <a:bodyPr lIns="50800" tIns="50800" rIns="50800" bIns="50800" rtlCol="0" anchor="ctr"/>
            <a:lstStyle/>
            <a:p>
              <a:pPr algn="ctr">
                <a:lnSpc>
                  <a:spcPts val="2100"/>
                </a:lnSpc>
              </a:pPr>
              <a:r>
                <a:rPr lang="en-US" sz="2100">
                  <a:solidFill>
                    <a:srgbClr val="FFFFFF"/>
                  </a:solidFill>
                  <a:latin typeface="Inter"/>
                  <a:ea typeface="Inter"/>
                  <a:cs typeface="Inter"/>
                  <a:sym typeface="Inter"/>
                </a:rPr>
                <a:t>Prepare dataset for predictive modeling of default risk</a:t>
              </a:r>
            </a:p>
            <a:p>
              <a:pPr algn="ctr">
                <a:lnSpc>
                  <a:spcPts val="2100"/>
                </a:lnSpc>
              </a:pPr>
              <a:endParaRPr lang="en-US" sz="2100">
                <a:solidFill>
                  <a:srgbClr val="FFFFFF"/>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1028700" y="1123950"/>
            <a:ext cx="8840462" cy="1291971"/>
          </a:xfrm>
          <a:prstGeom prst="rect">
            <a:avLst/>
          </a:prstGeom>
        </p:spPr>
        <p:txBody>
          <a:bodyPr lIns="0" tIns="0" rIns="0" bIns="0" rtlCol="0" anchor="t">
            <a:spAutoFit/>
          </a:bodyPr>
          <a:lstStyle/>
          <a:p>
            <a:pPr algn="l">
              <a:lnSpc>
                <a:spcPts val="4947"/>
              </a:lnSpc>
            </a:pPr>
            <a:r>
              <a:rPr lang="en-US" sz="5100" b="1">
                <a:solidFill>
                  <a:srgbClr val="000000"/>
                </a:solidFill>
                <a:latin typeface="Neue Machina Ultra-Bold"/>
                <a:ea typeface="Neue Machina Ultra-Bold"/>
                <a:cs typeface="Neue Machina Ultra-Bold"/>
                <a:sym typeface="Neue Machina Ultra-Bold"/>
              </a:rPr>
              <a:t>Business Problem: Credit Risk in Lending</a:t>
            </a:r>
          </a:p>
        </p:txBody>
      </p:sp>
      <p:sp>
        <p:nvSpPr>
          <p:cNvPr id="4" name="TextBox 4"/>
          <p:cNvSpPr txBox="1"/>
          <p:nvPr/>
        </p:nvSpPr>
        <p:spPr>
          <a:xfrm>
            <a:off x="1028700" y="2606301"/>
            <a:ext cx="6921283" cy="1360170"/>
          </a:xfrm>
          <a:prstGeom prst="rect">
            <a:avLst/>
          </a:prstGeom>
        </p:spPr>
        <p:txBody>
          <a:bodyPr lIns="0" tIns="0" rIns="0" bIns="0" rtlCol="0" anchor="t">
            <a:spAutoFit/>
          </a:bodyPr>
          <a:lstStyle/>
          <a:p>
            <a:pPr algn="l">
              <a:lnSpc>
                <a:spcPts val="2700"/>
              </a:lnSpc>
            </a:pPr>
            <a:r>
              <a:rPr lang="en-US" sz="1800">
                <a:solidFill>
                  <a:srgbClr val="000000"/>
                </a:solidFill>
                <a:latin typeface="Inter"/>
                <a:ea typeface="Inter"/>
                <a:cs typeface="Inter"/>
                <a:sym typeface="Inter"/>
              </a:rPr>
              <a:t>Financial institutions operate in a highly competitive and risk-sensitive environment where accurate credit risk assessment is critical. When approving loans, banks must balance minimizing default risk while maximizing customer acquisition and revenue.</a:t>
            </a:r>
          </a:p>
        </p:txBody>
      </p:sp>
      <p:sp>
        <p:nvSpPr>
          <p:cNvPr id="5" name="TextBox 5"/>
          <p:cNvSpPr txBox="1"/>
          <p:nvPr/>
        </p:nvSpPr>
        <p:spPr>
          <a:xfrm>
            <a:off x="1028700" y="4595240"/>
            <a:ext cx="6921283" cy="1703070"/>
          </a:xfrm>
          <a:prstGeom prst="rect">
            <a:avLst/>
          </a:prstGeom>
        </p:spPr>
        <p:txBody>
          <a:bodyPr lIns="0" tIns="0" rIns="0" bIns="0" rtlCol="0" anchor="t">
            <a:spAutoFit/>
          </a:bodyPr>
          <a:lstStyle/>
          <a:p>
            <a:pPr algn="l">
              <a:lnSpc>
                <a:spcPts val="2700"/>
              </a:lnSpc>
            </a:pPr>
            <a:r>
              <a:rPr lang="en-US" sz="1800">
                <a:solidFill>
                  <a:srgbClr val="000000"/>
                </a:solidFill>
                <a:latin typeface="Inter"/>
                <a:ea typeface="Inter"/>
                <a:cs typeface="Inter"/>
                <a:sym typeface="Inter"/>
              </a:rPr>
              <a:t>Approving high-risk applicants can lead to financial losses, whereas rejecting low-risk applicants results in missed opportunities and reduced growth. Traditional credit evaluation methods often fail to capture complex customer behavior and financial patterns.</a:t>
            </a:r>
          </a:p>
        </p:txBody>
      </p:sp>
      <p:sp>
        <p:nvSpPr>
          <p:cNvPr id="6" name="TextBox 6"/>
          <p:cNvSpPr txBox="1"/>
          <p:nvPr/>
        </p:nvSpPr>
        <p:spPr>
          <a:xfrm>
            <a:off x="1028700" y="6926960"/>
            <a:ext cx="6921283" cy="1703070"/>
          </a:xfrm>
          <a:prstGeom prst="rect">
            <a:avLst/>
          </a:prstGeom>
        </p:spPr>
        <p:txBody>
          <a:bodyPr lIns="0" tIns="0" rIns="0" bIns="0" rtlCol="0" anchor="t">
            <a:spAutoFit/>
          </a:bodyPr>
          <a:lstStyle/>
          <a:p>
            <a:pPr algn="l">
              <a:lnSpc>
                <a:spcPts val="2700"/>
              </a:lnSpc>
            </a:pPr>
            <a:r>
              <a:rPr lang="en-US" sz="1800">
                <a:solidFill>
                  <a:srgbClr val="000000"/>
                </a:solidFill>
                <a:latin typeface="Inter"/>
                <a:ea typeface="Inter"/>
                <a:cs typeface="Inter"/>
                <a:sym typeface="Inter"/>
              </a:rPr>
              <a:t>With the availability of large-scale customer data, there is a growing need for data-driven approaches. Analyzing customer demographics, financial information, and credit history enables organizations to improve decision-making and better manage risk.</a:t>
            </a:r>
          </a:p>
        </p:txBody>
      </p:sp>
      <p:grpSp>
        <p:nvGrpSpPr>
          <p:cNvPr id="7" name="Group 7"/>
          <p:cNvGrpSpPr/>
          <p:nvPr/>
        </p:nvGrpSpPr>
        <p:grpSpPr>
          <a:xfrm>
            <a:off x="9474085" y="6862796"/>
            <a:ext cx="5634049" cy="787628"/>
            <a:chOff x="0" y="0"/>
            <a:chExt cx="3367812" cy="470813"/>
          </a:xfrm>
        </p:grpSpPr>
        <p:sp>
          <p:nvSpPr>
            <p:cNvPr id="8" name="Freeform 8"/>
            <p:cNvSpPr/>
            <p:nvPr/>
          </p:nvSpPr>
          <p:spPr>
            <a:xfrm>
              <a:off x="0" y="0"/>
              <a:ext cx="3367811" cy="470813"/>
            </a:xfrm>
            <a:custGeom>
              <a:avLst/>
              <a:gdLst/>
              <a:ahLst/>
              <a:cxnLst/>
              <a:rect l="l" t="t" r="r" b="b"/>
              <a:pathLst>
                <a:path w="3367811" h="470813">
                  <a:moveTo>
                    <a:pt x="3164612" y="0"/>
                  </a:moveTo>
                  <a:cubicBezTo>
                    <a:pt x="3276836" y="0"/>
                    <a:pt x="3367811" y="105395"/>
                    <a:pt x="3367811" y="235407"/>
                  </a:cubicBezTo>
                  <a:cubicBezTo>
                    <a:pt x="3367811" y="365418"/>
                    <a:pt x="3276836" y="470813"/>
                    <a:pt x="3164612" y="470813"/>
                  </a:cubicBezTo>
                  <a:lnTo>
                    <a:pt x="203200" y="470813"/>
                  </a:lnTo>
                  <a:cubicBezTo>
                    <a:pt x="90976" y="470813"/>
                    <a:pt x="0" y="365418"/>
                    <a:pt x="0" y="235407"/>
                  </a:cubicBezTo>
                  <a:cubicBezTo>
                    <a:pt x="0" y="105395"/>
                    <a:pt x="90976" y="0"/>
                    <a:pt x="203200" y="0"/>
                  </a:cubicBezTo>
                  <a:close/>
                </a:path>
              </a:pathLst>
            </a:custGeom>
            <a:solidFill>
              <a:srgbClr val="5E7396"/>
            </a:solidFill>
          </p:spPr>
        </p:sp>
        <p:sp>
          <p:nvSpPr>
            <p:cNvPr id="9" name="TextBox 9"/>
            <p:cNvSpPr txBox="1"/>
            <p:nvPr/>
          </p:nvSpPr>
          <p:spPr>
            <a:xfrm>
              <a:off x="0" y="38100"/>
              <a:ext cx="3367812" cy="432713"/>
            </a:xfrm>
            <a:prstGeom prst="rect">
              <a:avLst/>
            </a:prstGeom>
          </p:spPr>
          <p:txBody>
            <a:bodyPr lIns="50800" tIns="50800" rIns="50800" bIns="50800" rtlCol="0" anchor="ctr"/>
            <a:lstStyle/>
            <a:p>
              <a:pPr algn="ctr">
                <a:lnSpc>
                  <a:spcPts val="2100"/>
                </a:lnSpc>
              </a:pPr>
              <a:r>
                <a:rPr lang="en-US" sz="2100">
                  <a:solidFill>
                    <a:srgbClr val="FFFFFF"/>
                  </a:solidFill>
                  <a:latin typeface="Inter"/>
                  <a:ea typeface="Inter"/>
                  <a:cs typeface="Inter"/>
                  <a:sym typeface="Inter"/>
                </a:rPr>
                <a:t>Identifying high-risk vs low-risk customers</a:t>
              </a:r>
            </a:p>
          </p:txBody>
        </p:sp>
      </p:grpSp>
      <p:grpSp>
        <p:nvGrpSpPr>
          <p:cNvPr id="10" name="Group 10"/>
          <p:cNvGrpSpPr/>
          <p:nvPr/>
        </p:nvGrpSpPr>
        <p:grpSpPr>
          <a:xfrm>
            <a:off x="9474085" y="8579116"/>
            <a:ext cx="5634049" cy="787628"/>
            <a:chOff x="0" y="0"/>
            <a:chExt cx="3367812" cy="470813"/>
          </a:xfrm>
        </p:grpSpPr>
        <p:sp>
          <p:nvSpPr>
            <p:cNvPr id="11" name="Freeform 11"/>
            <p:cNvSpPr/>
            <p:nvPr/>
          </p:nvSpPr>
          <p:spPr>
            <a:xfrm>
              <a:off x="0" y="0"/>
              <a:ext cx="3367811" cy="470813"/>
            </a:xfrm>
            <a:custGeom>
              <a:avLst/>
              <a:gdLst/>
              <a:ahLst/>
              <a:cxnLst/>
              <a:rect l="l" t="t" r="r" b="b"/>
              <a:pathLst>
                <a:path w="3367811" h="470813">
                  <a:moveTo>
                    <a:pt x="3164612" y="0"/>
                  </a:moveTo>
                  <a:cubicBezTo>
                    <a:pt x="3276836" y="0"/>
                    <a:pt x="3367811" y="105395"/>
                    <a:pt x="3367811" y="235407"/>
                  </a:cubicBezTo>
                  <a:cubicBezTo>
                    <a:pt x="3367811" y="365418"/>
                    <a:pt x="3276836" y="470813"/>
                    <a:pt x="3164612" y="470813"/>
                  </a:cubicBezTo>
                  <a:lnTo>
                    <a:pt x="203200" y="470813"/>
                  </a:lnTo>
                  <a:cubicBezTo>
                    <a:pt x="90976" y="470813"/>
                    <a:pt x="0" y="365418"/>
                    <a:pt x="0" y="235407"/>
                  </a:cubicBezTo>
                  <a:cubicBezTo>
                    <a:pt x="0" y="105395"/>
                    <a:pt x="90976" y="0"/>
                    <a:pt x="203200" y="0"/>
                  </a:cubicBezTo>
                  <a:close/>
                </a:path>
              </a:pathLst>
            </a:custGeom>
            <a:solidFill>
              <a:srgbClr val="5E7396"/>
            </a:solidFill>
          </p:spPr>
        </p:sp>
        <p:sp>
          <p:nvSpPr>
            <p:cNvPr id="12" name="TextBox 12"/>
            <p:cNvSpPr txBox="1"/>
            <p:nvPr/>
          </p:nvSpPr>
          <p:spPr>
            <a:xfrm>
              <a:off x="0" y="38100"/>
              <a:ext cx="3367812" cy="432713"/>
            </a:xfrm>
            <a:prstGeom prst="rect">
              <a:avLst/>
            </a:prstGeom>
          </p:spPr>
          <p:txBody>
            <a:bodyPr lIns="50800" tIns="50800" rIns="50800" bIns="50800" rtlCol="0" anchor="ctr"/>
            <a:lstStyle/>
            <a:p>
              <a:pPr algn="ctr">
                <a:lnSpc>
                  <a:spcPts val="2100"/>
                </a:lnSpc>
              </a:pPr>
              <a:r>
                <a:rPr lang="en-US" sz="2100">
                  <a:solidFill>
                    <a:srgbClr val="FFFFFF"/>
                  </a:solidFill>
                  <a:latin typeface="Inter"/>
                  <a:ea typeface="Inter"/>
                  <a:cs typeface="Inter"/>
                  <a:sym typeface="Inter"/>
                </a:rPr>
                <a:t>Avoiding rejection of eligible applicants</a:t>
              </a:r>
            </a:p>
          </p:txBody>
        </p:sp>
      </p:grpSp>
      <p:grpSp>
        <p:nvGrpSpPr>
          <p:cNvPr id="13" name="Group 13"/>
          <p:cNvGrpSpPr/>
          <p:nvPr/>
        </p:nvGrpSpPr>
        <p:grpSpPr>
          <a:xfrm>
            <a:off x="9474085" y="7720956"/>
            <a:ext cx="5634049" cy="787628"/>
            <a:chOff x="0" y="0"/>
            <a:chExt cx="3367812" cy="470813"/>
          </a:xfrm>
        </p:grpSpPr>
        <p:sp>
          <p:nvSpPr>
            <p:cNvPr id="14" name="Freeform 14"/>
            <p:cNvSpPr/>
            <p:nvPr/>
          </p:nvSpPr>
          <p:spPr>
            <a:xfrm>
              <a:off x="0" y="0"/>
              <a:ext cx="3367811" cy="470813"/>
            </a:xfrm>
            <a:custGeom>
              <a:avLst/>
              <a:gdLst/>
              <a:ahLst/>
              <a:cxnLst/>
              <a:rect l="l" t="t" r="r" b="b"/>
              <a:pathLst>
                <a:path w="3367811" h="470813">
                  <a:moveTo>
                    <a:pt x="3164612" y="0"/>
                  </a:moveTo>
                  <a:cubicBezTo>
                    <a:pt x="3276836" y="0"/>
                    <a:pt x="3367811" y="105395"/>
                    <a:pt x="3367811" y="235407"/>
                  </a:cubicBezTo>
                  <a:cubicBezTo>
                    <a:pt x="3367811" y="365418"/>
                    <a:pt x="3276836" y="470813"/>
                    <a:pt x="3164612" y="470813"/>
                  </a:cubicBezTo>
                  <a:lnTo>
                    <a:pt x="203200" y="470813"/>
                  </a:lnTo>
                  <a:cubicBezTo>
                    <a:pt x="90976" y="470813"/>
                    <a:pt x="0" y="365418"/>
                    <a:pt x="0" y="235407"/>
                  </a:cubicBezTo>
                  <a:cubicBezTo>
                    <a:pt x="0" y="105395"/>
                    <a:pt x="90976" y="0"/>
                    <a:pt x="203200" y="0"/>
                  </a:cubicBezTo>
                  <a:close/>
                </a:path>
              </a:pathLst>
            </a:custGeom>
            <a:solidFill>
              <a:srgbClr val="5E7396"/>
            </a:solidFill>
          </p:spPr>
        </p:sp>
        <p:sp>
          <p:nvSpPr>
            <p:cNvPr id="15" name="TextBox 15"/>
            <p:cNvSpPr txBox="1"/>
            <p:nvPr/>
          </p:nvSpPr>
          <p:spPr>
            <a:xfrm>
              <a:off x="0" y="38100"/>
              <a:ext cx="3367812" cy="432713"/>
            </a:xfrm>
            <a:prstGeom prst="rect">
              <a:avLst/>
            </a:prstGeom>
          </p:spPr>
          <p:txBody>
            <a:bodyPr lIns="50800" tIns="50800" rIns="50800" bIns="50800" rtlCol="0" anchor="ctr"/>
            <a:lstStyle/>
            <a:p>
              <a:pPr algn="ctr">
                <a:lnSpc>
                  <a:spcPts val="2100"/>
                </a:lnSpc>
              </a:pPr>
              <a:r>
                <a:rPr lang="en-US" sz="2100">
                  <a:solidFill>
                    <a:srgbClr val="FFFFFF"/>
                  </a:solidFill>
                  <a:latin typeface="Inter"/>
                  <a:ea typeface="Inter"/>
                  <a:cs typeface="Inter"/>
                  <a:sym typeface="Inter"/>
                </a:rPr>
                <a:t>Reducing loan defaults</a:t>
              </a:r>
            </a:p>
          </p:txBody>
        </p:sp>
      </p:grpSp>
      <p:grpSp>
        <p:nvGrpSpPr>
          <p:cNvPr id="16" name="Group 16"/>
          <p:cNvGrpSpPr/>
          <p:nvPr/>
        </p:nvGrpSpPr>
        <p:grpSpPr>
          <a:xfrm>
            <a:off x="9474085" y="9437275"/>
            <a:ext cx="5634049" cy="787628"/>
            <a:chOff x="0" y="0"/>
            <a:chExt cx="3367812" cy="470813"/>
          </a:xfrm>
        </p:grpSpPr>
        <p:sp>
          <p:nvSpPr>
            <p:cNvPr id="17" name="Freeform 17"/>
            <p:cNvSpPr/>
            <p:nvPr/>
          </p:nvSpPr>
          <p:spPr>
            <a:xfrm>
              <a:off x="0" y="0"/>
              <a:ext cx="3367811" cy="470813"/>
            </a:xfrm>
            <a:custGeom>
              <a:avLst/>
              <a:gdLst/>
              <a:ahLst/>
              <a:cxnLst/>
              <a:rect l="l" t="t" r="r" b="b"/>
              <a:pathLst>
                <a:path w="3367811" h="470813">
                  <a:moveTo>
                    <a:pt x="3164612" y="0"/>
                  </a:moveTo>
                  <a:cubicBezTo>
                    <a:pt x="3276836" y="0"/>
                    <a:pt x="3367811" y="105395"/>
                    <a:pt x="3367811" y="235407"/>
                  </a:cubicBezTo>
                  <a:cubicBezTo>
                    <a:pt x="3367811" y="365418"/>
                    <a:pt x="3276836" y="470813"/>
                    <a:pt x="3164612" y="470813"/>
                  </a:cubicBezTo>
                  <a:lnTo>
                    <a:pt x="203200" y="470813"/>
                  </a:lnTo>
                  <a:cubicBezTo>
                    <a:pt x="90976" y="470813"/>
                    <a:pt x="0" y="365418"/>
                    <a:pt x="0" y="235407"/>
                  </a:cubicBezTo>
                  <a:cubicBezTo>
                    <a:pt x="0" y="105395"/>
                    <a:pt x="90976" y="0"/>
                    <a:pt x="203200" y="0"/>
                  </a:cubicBezTo>
                  <a:close/>
                </a:path>
              </a:pathLst>
            </a:custGeom>
            <a:solidFill>
              <a:srgbClr val="5E7396"/>
            </a:solidFill>
          </p:spPr>
        </p:sp>
        <p:sp>
          <p:nvSpPr>
            <p:cNvPr id="18" name="TextBox 18"/>
            <p:cNvSpPr txBox="1"/>
            <p:nvPr/>
          </p:nvSpPr>
          <p:spPr>
            <a:xfrm>
              <a:off x="0" y="38100"/>
              <a:ext cx="3367812" cy="432713"/>
            </a:xfrm>
            <a:prstGeom prst="rect">
              <a:avLst/>
            </a:prstGeom>
          </p:spPr>
          <p:txBody>
            <a:bodyPr lIns="50800" tIns="50800" rIns="50800" bIns="50800" rtlCol="0" anchor="ctr"/>
            <a:lstStyle/>
            <a:p>
              <a:pPr algn="ctr">
                <a:lnSpc>
                  <a:spcPts val="2100"/>
                </a:lnSpc>
              </a:pPr>
              <a:r>
                <a:rPr lang="en-US" sz="2100">
                  <a:solidFill>
                    <a:srgbClr val="FFFFFF"/>
                  </a:solidFill>
                  <a:latin typeface="Inter"/>
                  <a:ea typeface="Inter"/>
                  <a:cs typeface="Inter"/>
                  <a:sym typeface="Inter"/>
                </a:rPr>
                <a:t>Improving decision accuracy using data</a:t>
              </a:r>
            </a:p>
          </p:txBody>
        </p:sp>
      </p:grpSp>
      <p:sp>
        <p:nvSpPr>
          <p:cNvPr id="19" name="TextBox 19"/>
          <p:cNvSpPr txBox="1"/>
          <p:nvPr/>
        </p:nvSpPr>
        <p:spPr>
          <a:xfrm>
            <a:off x="9474085" y="6344391"/>
            <a:ext cx="6963893" cy="371754"/>
          </a:xfrm>
          <a:prstGeom prst="rect">
            <a:avLst/>
          </a:prstGeom>
        </p:spPr>
        <p:txBody>
          <a:bodyPr lIns="0" tIns="0" rIns="0" bIns="0" rtlCol="0" anchor="t">
            <a:spAutoFit/>
          </a:bodyPr>
          <a:lstStyle/>
          <a:p>
            <a:pPr algn="l">
              <a:lnSpc>
                <a:spcPts val="3179"/>
              </a:lnSpc>
            </a:pPr>
            <a:r>
              <a:rPr lang="en-US" sz="2119" b="1">
                <a:solidFill>
                  <a:srgbClr val="000000"/>
                </a:solidFill>
                <a:latin typeface="Inter Bold"/>
                <a:ea typeface="Inter Bold"/>
                <a:cs typeface="Inter Bold"/>
                <a:sym typeface="Inter Bold"/>
              </a:rPr>
              <a:t>Key Challenges:</a:t>
            </a:r>
          </a:p>
        </p:txBody>
      </p:sp>
      <p:grpSp>
        <p:nvGrpSpPr>
          <p:cNvPr id="20" name="Group 20"/>
          <p:cNvGrpSpPr/>
          <p:nvPr/>
        </p:nvGrpSpPr>
        <p:grpSpPr>
          <a:xfrm>
            <a:off x="8957031" y="-6239453"/>
            <a:ext cx="12798295" cy="1279829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334A"/>
            </a:solidFill>
          </p:spPr>
        </p:sp>
        <p:sp>
          <p:nvSpPr>
            <p:cNvPr id="22" name="TextBox 22"/>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grpSp>
        <p:nvGrpSpPr>
          <p:cNvPr id="23" name="Group 23"/>
          <p:cNvGrpSpPr/>
          <p:nvPr/>
        </p:nvGrpSpPr>
        <p:grpSpPr>
          <a:xfrm>
            <a:off x="9299699" y="250316"/>
            <a:ext cx="5933593" cy="5814271"/>
            <a:chOff x="0" y="0"/>
            <a:chExt cx="829480" cy="812800"/>
          </a:xfrm>
        </p:grpSpPr>
        <p:sp>
          <p:nvSpPr>
            <p:cNvPr id="24" name="Freeform 24"/>
            <p:cNvSpPr/>
            <p:nvPr/>
          </p:nvSpPr>
          <p:spPr>
            <a:xfrm>
              <a:off x="0" y="0"/>
              <a:ext cx="829480" cy="812800"/>
            </a:xfrm>
            <a:custGeom>
              <a:avLst/>
              <a:gdLst/>
              <a:ahLst/>
              <a:cxnLst/>
              <a:rect l="l" t="t" r="r" b="b"/>
              <a:pathLst>
                <a:path w="829480" h="812800">
                  <a:moveTo>
                    <a:pt x="414740" y="0"/>
                  </a:moveTo>
                  <a:cubicBezTo>
                    <a:pt x="185686" y="0"/>
                    <a:pt x="0" y="181951"/>
                    <a:pt x="0" y="406400"/>
                  </a:cubicBezTo>
                  <a:cubicBezTo>
                    <a:pt x="0" y="630849"/>
                    <a:pt x="185686" y="812800"/>
                    <a:pt x="414740" y="812800"/>
                  </a:cubicBezTo>
                  <a:cubicBezTo>
                    <a:pt x="643795" y="812800"/>
                    <a:pt x="829480" y="630849"/>
                    <a:pt x="829480" y="406400"/>
                  </a:cubicBezTo>
                  <a:cubicBezTo>
                    <a:pt x="829480" y="181951"/>
                    <a:pt x="643795" y="0"/>
                    <a:pt x="414740" y="0"/>
                  </a:cubicBezTo>
                  <a:close/>
                </a:path>
              </a:pathLst>
            </a:custGeom>
            <a:blipFill>
              <a:blip r:embed="rId3"/>
              <a:stretch>
                <a:fillRect l="-23425" r="-23425"/>
              </a:stretch>
            </a:blipFill>
            <a:ln w="180975" cap="sq">
              <a:solidFill>
                <a:srgbClr val="5E7396"/>
              </a:solidFill>
              <a:prstDash val="solid"/>
              <a:miter/>
            </a:ln>
          </p:spPr>
        </p:sp>
      </p:grpSp>
      <p:sp>
        <p:nvSpPr>
          <p:cNvPr id="25" name="Freeform 25"/>
          <p:cNvSpPr/>
          <p:nvPr/>
        </p:nvSpPr>
        <p:spPr>
          <a:xfrm>
            <a:off x="16950418" y="-94979"/>
            <a:ext cx="2694214" cy="2057400"/>
          </a:xfrm>
          <a:custGeom>
            <a:avLst/>
            <a:gdLst/>
            <a:ahLst/>
            <a:cxnLst/>
            <a:rect l="l" t="t" r="r" b="b"/>
            <a:pathLst>
              <a:path w="2694214" h="2057400">
                <a:moveTo>
                  <a:pt x="0" y="0"/>
                </a:moveTo>
                <a:lnTo>
                  <a:pt x="2694214" y="0"/>
                </a:lnTo>
                <a:lnTo>
                  <a:pt x="2694214"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606061" y="-1766020"/>
            <a:ext cx="12761668" cy="13819041"/>
            <a:chOff x="0" y="0"/>
            <a:chExt cx="750608" cy="812800"/>
          </a:xfrm>
        </p:grpSpPr>
        <p:sp>
          <p:nvSpPr>
            <p:cNvPr id="3" name="Freeform 3"/>
            <p:cNvSpPr/>
            <p:nvPr/>
          </p:nvSpPr>
          <p:spPr>
            <a:xfrm>
              <a:off x="0" y="0"/>
              <a:ext cx="750608" cy="812800"/>
            </a:xfrm>
            <a:custGeom>
              <a:avLst/>
              <a:gdLst/>
              <a:ahLst/>
              <a:cxnLst/>
              <a:rect l="l" t="t" r="r" b="b"/>
              <a:pathLst>
                <a:path w="750608" h="812800">
                  <a:moveTo>
                    <a:pt x="375304" y="0"/>
                  </a:moveTo>
                  <a:cubicBezTo>
                    <a:pt x="168029" y="0"/>
                    <a:pt x="0" y="181951"/>
                    <a:pt x="0" y="406400"/>
                  </a:cubicBezTo>
                  <a:cubicBezTo>
                    <a:pt x="0" y="630849"/>
                    <a:pt x="168029" y="812800"/>
                    <a:pt x="375304" y="812800"/>
                  </a:cubicBezTo>
                  <a:cubicBezTo>
                    <a:pt x="582579" y="812800"/>
                    <a:pt x="750608" y="630849"/>
                    <a:pt x="750608" y="406400"/>
                  </a:cubicBezTo>
                  <a:cubicBezTo>
                    <a:pt x="750608" y="181951"/>
                    <a:pt x="582579" y="0"/>
                    <a:pt x="375304" y="0"/>
                  </a:cubicBezTo>
                  <a:close/>
                </a:path>
              </a:pathLst>
            </a:custGeom>
            <a:solidFill>
              <a:srgbClr val="20334A"/>
            </a:solidFill>
          </p:spPr>
        </p:sp>
        <p:sp>
          <p:nvSpPr>
            <p:cNvPr id="4" name="TextBox 4"/>
            <p:cNvSpPr txBox="1"/>
            <p:nvPr/>
          </p:nvSpPr>
          <p:spPr>
            <a:xfrm>
              <a:off x="70370" y="114300"/>
              <a:ext cx="609869" cy="622300"/>
            </a:xfrm>
            <a:prstGeom prst="rect">
              <a:avLst/>
            </a:prstGeom>
          </p:spPr>
          <p:txBody>
            <a:bodyPr lIns="50800" tIns="50800" rIns="50800" bIns="50800" rtlCol="0" anchor="ctr"/>
            <a:lstStyle/>
            <a:p>
              <a:pPr algn="ctr">
                <a:lnSpc>
                  <a:spcPts val="2100"/>
                </a:lnSpc>
              </a:pPr>
              <a:endParaRPr/>
            </a:p>
          </p:txBody>
        </p:sp>
      </p:grpSp>
      <p:sp>
        <p:nvSpPr>
          <p:cNvPr id="5" name="TextBox 5"/>
          <p:cNvSpPr txBox="1"/>
          <p:nvPr/>
        </p:nvSpPr>
        <p:spPr>
          <a:xfrm>
            <a:off x="1028700" y="1799524"/>
            <a:ext cx="6921283" cy="1657985"/>
          </a:xfrm>
          <a:prstGeom prst="rect">
            <a:avLst/>
          </a:prstGeom>
        </p:spPr>
        <p:txBody>
          <a:bodyPr lIns="0" tIns="0" rIns="0" bIns="0" rtlCol="0" anchor="t">
            <a:spAutoFit/>
          </a:bodyPr>
          <a:lstStyle/>
          <a:p>
            <a:pPr algn="l">
              <a:lnSpc>
                <a:spcPts val="6399"/>
              </a:lnSpc>
            </a:pPr>
            <a:r>
              <a:rPr lang="en-US" sz="6399" b="1">
                <a:solidFill>
                  <a:srgbClr val="000000"/>
                </a:solidFill>
                <a:latin typeface="Neue Machina Ultra-Bold"/>
                <a:ea typeface="Neue Machina Ultra-Bold"/>
                <a:cs typeface="Neue Machina Ultra-Bold"/>
                <a:sym typeface="Neue Machina Ultra-Bold"/>
              </a:rPr>
              <a:t>Problem Statement</a:t>
            </a:r>
          </a:p>
        </p:txBody>
      </p:sp>
      <p:sp>
        <p:nvSpPr>
          <p:cNvPr id="6" name="TextBox 6"/>
          <p:cNvSpPr txBox="1"/>
          <p:nvPr/>
        </p:nvSpPr>
        <p:spPr>
          <a:xfrm>
            <a:off x="1028700" y="3603071"/>
            <a:ext cx="6921283" cy="2045970"/>
          </a:xfrm>
          <a:prstGeom prst="rect">
            <a:avLst/>
          </a:prstGeom>
        </p:spPr>
        <p:txBody>
          <a:bodyPr lIns="0" tIns="0" rIns="0" bIns="0" rtlCol="0" anchor="t">
            <a:spAutoFit/>
          </a:bodyPr>
          <a:lstStyle/>
          <a:p>
            <a:pPr algn="l">
              <a:lnSpc>
                <a:spcPts val="2700"/>
              </a:lnSpc>
            </a:pPr>
            <a:r>
              <a:rPr lang="en-US" sz="1800">
                <a:solidFill>
                  <a:srgbClr val="000000"/>
                </a:solidFill>
                <a:latin typeface="Inter"/>
                <a:ea typeface="Inter"/>
                <a:cs typeface="Inter"/>
                <a:sym typeface="Inter"/>
              </a:rPr>
              <a:t>Financial institutions face significant challenges in accurately assessing the creditworthiness of loan applicants. Incorrect risk evaluation can result in high default rates, financial losses, and inefficient allocation of resources. With the availability of large-scale, multi-table financial data, it becomes essential to derive meaningful insights that support better decision-making.</a:t>
            </a:r>
          </a:p>
        </p:txBody>
      </p:sp>
      <p:sp>
        <p:nvSpPr>
          <p:cNvPr id="7" name="TextBox 7"/>
          <p:cNvSpPr txBox="1"/>
          <p:nvPr/>
        </p:nvSpPr>
        <p:spPr>
          <a:xfrm>
            <a:off x="1028700" y="5791916"/>
            <a:ext cx="6921283" cy="2045970"/>
          </a:xfrm>
          <a:prstGeom prst="rect">
            <a:avLst/>
          </a:prstGeom>
        </p:spPr>
        <p:txBody>
          <a:bodyPr lIns="0" tIns="0" rIns="0" bIns="0" rtlCol="0" anchor="t">
            <a:spAutoFit/>
          </a:bodyPr>
          <a:lstStyle/>
          <a:p>
            <a:pPr algn="l">
              <a:lnSpc>
                <a:spcPts val="2700"/>
              </a:lnSpc>
            </a:pPr>
            <a:r>
              <a:rPr lang="en-US" sz="1800">
                <a:solidFill>
                  <a:srgbClr val="000000"/>
                </a:solidFill>
                <a:latin typeface="Inter"/>
                <a:ea typeface="Inter"/>
                <a:cs typeface="Inter"/>
                <a:sym typeface="Inter"/>
              </a:rPr>
              <a:t>From an </a:t>
            </a:r>
            <a:r>
              <a:rPr lang="en-US" sz="1800" b="1">
                <a:solidFill>
                  <a:srgbClr val="000000"/>
                </a:solidFill>
                <a:latin typeface="Inter Bold"/>
                <a:ea typeface="Inter Bold"/>
                <a:cs typeface="Inter Bold"/>
                <a:sym typeface="Inter Bold"/>
              </a:rPr>
              <a:t>Exploratory Data Analysis (EDA)</a:t>
            </a:r>
            <a:r>
              <a:rPr lang="en-US" sz="1800">
                <a:solidFill>
                  <a:srgbClr val="000000"/>
                </a:solidFill>
                <a:latin typeface="Inter"/>
                <a:ea typeface="Inter"/>
                <a:cs typeface="Inter"/>
                <a:sym typeface="Inter"/>
              </a:rPr>
              <a:t> perspective, the objective is to analyze customer demographics, financial attributes, credit history, and behavioral patterns to identify key factors influencing loan default. This involves understanding relationships, trends, and risk indicators embedded across multiple interconnected tables.</a:t>
            </a:r>
          </a:p>
        </p:txBody>
      </p:sp>
      <p:pic>
        <p:nvPicPr>
          <p:cNvPr id="8" name="Picture 8"/>
          <p:cNvPicPr>
            <a:picLocks noChangeAspect="1"/>
          </p:cNvPicPr>
          <p:nvPr/>
        </p:nvPicPr>
        <p:blipFill>
          <a:blip r:embed="rId2"/>
          <a:stretch>
            <a:fillRect/>
          </a:stretch>
        </p:blipFill>
        <p:spPr>
          <a:xfrm>
            <a:off x="9505008" y="918468"/>
            <a:ext cx="8459227" cy="8450062"/>
          </a:xfrm>
          <a:prstGeom prst="rect">
            <a:avLst/>
          </a:prstGeom>
        </p:spPr>
      </p:pic>
      <p:sp>
        <p:nvSpPr>
          <p:cNvPr id="9" name="Freeform 9"/>
          <p:cNvSpPr/>
          <p:nvPr/>
        </p:nvSpPr>
        <p:spPr>
          <a:xfrm>
            <a:off x="17238542" y="-194781"/>
            <a:ext cx="2098915" cy="1602808"/>
          </a:xfrm>
          <a:custGeom>
            <a:avLst/>
            <a:gdLst/>
            <a:ahLst/>
            <a:cxnLst/>
            <a:rect l="l" t="t" r="r" b="b"/>
            <a:pathLst>
              <a:path w="2098915" h="1602808">
                <a:moveTo>
                  <a:pt x="0" y="0"/>
                </a:moveTo>
                <a:lnTo>
                  <a:pt x="2098916" y="0"/>
                </a:lnTo>
                <a:lnTo>
                  <a:pt x="2098916" y="1602807"/>
                </a:lnTo>
                <a:lnTo>
                  <a:pt x="0" y="1602807"/>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10" name="Freeform 10"/>
          <p:cNvSpPr/>
          <p:nvPr/>
        </p:nvSpPr>
        <p:spPr>
          <a:xfrm>
            <a:off x="-660612" y="1408026"/>
            <a:ext cx="1321225" cy="554394"/>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4"/>
                </a:ext>
              </a:extLst>
            </a:blip>
            <a:stretch>
              <a:fillRect r="-71029" b="-123065"/>
            </a:stretch>
          </a:blipFill>
        </p:spPr>
      </p:sp>
      <p:sp>
        <p:nvSpPr>
          <p:cNvPr id="11" name="Freeform 11"/>
          <p:cNvSpPr/>
          <p:nvPr/>
        </p:nvSpPr>
        <p:spPr>
          <a:xfrm>
            <a:off x="17259300" y="9064355"/>
            <a:ext cx="1864644" cy="728906"/>
          </a:xfrm>
          <a:custGeom>
            <a:avLst/>
            <a:gdLst/>
            <a:ahLst/>
            <a:cxnLst/>
            <a:rect l="l" t="t" r="r" b="b"/>
            <a:pathLst>
              <a:path w="1864644" h="728906">
                <a:moveTo>
                  <a:pt x="0" y="0"/>
                </a:moveTo>
                <a:lnTo>
                  <a:pt x="1864644" y="0"/>
                </a:lnTo>
                <a:lnTo>
                  <a:pt x="1864644" y="728906"/>
                </a:lnTo>
                <a:lnTo>
                  <a:pt x="0" y="728906"/>
                </a:lnTo>
                <a:lnTo>
                  <a:pt x="0" y="0"/>
                </a:lnTo>
                <a:close/>
              </a:path>
            </a:pathLst>
          </a:custGeom>
          <a:blipFill>
            <a:blip>
              <a:alphaModFix amt="39000"/>
              <a:extLst>
                <a:ext uri="{96DAC541-7B7A-43D3-8B79-37D633B846F1}">
                  <asvg:svgBlip xmlns:asvg="http://schemas.microsoft.com/office/drawing/2016/SVG/main" r:embed="rId5"/>
                </a:ext>
              </a:extLst>
            </a:blip>
            <a:stretch>
              <a:fillRect/>
            </a:stretch>
          </a:blipFill>
          <a:ln cap="sq">
            <a:noFill/>
            <a:prstDash val="solid"/>
            <a:miter/>
          </a:ln>
        </p:spPr>
      </p:sp>
      <p:sp>
        <p:nvSpPr>
          <p:cNvPr id="12" name="Freeform 12"/>
          <p:cNvSpPr/>
          <p:nvPr/>
        </p:nvSpPr>
        <p:spPr>
          <a:xfrm>
            <a:off x="-954956" y="9258300"/>
            <a:ext cx="1909912" cy="1878659"/>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6"/>
                </a:ext>
              </a:extLst>
            </a:blip>
            <a:stretch>
              <a:fillRect/>
            </a:stretch>
          </a:blipFill>
        </p:spPr>
      </p:sp>
      <p:sp>
        <p:nvSpPr>
          <p:cNvPr id="13" name="Freeform 13"/>
          <p:cNvSpPr/>
          <p:nvPr/>
        </p:nvSpPr>
        <p:spPr>
          <a:xfrm rot="5400000">
            <a:off x="6894851" y="1089594"/>
            <a:ext cx="550257" cy="1560007"/>
          </a:xfrm>
          <a:custGeom>
            <a:avLst/>
            <a:gdLst/>
            <a:ahLst/>
            <a:cxnLst/>
            <a:rect l="l" t="t" r="r" b="b"/>
            <a:pathLst>
              <a:path w="550257" h="1560007">
                <a:moveTo>
                  <a:pt x="0" y="0"/>
                </a:moveTo>
                <a:lnTo>
                  <a:pt x="550257" y="0"/>
                </a:lnTo>
                <a:lnTo>
                  <a:pt x="550257" y="1560007"/>
                </a:lnTo>
                <a:lnTo>
                  <a:pt x="0" y="1560007"/>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4" name="TextBox 14"/>
          <p:cNvSpPr txBox="1"/>
          <p:nvPr/>
        </p:nvSpPr>
        <p:spPr>
          <a:xfrm>
            <a:off x="1028700" y="7980761"/>
            <a:ext cx="6921283" cy="2045970"/>
          </a:xfrm>
          <a:prstGeom prst="rect">
            <a:avLst/>
          </a:prstGeom>
        </p:spPr>
        <p:txBody>
          <a:bodyPr lIns="0" tIns="0" rIns="0" bIns="0" rtlCol="0" anchor="t">
            <a:spAutoFit/>
          </a:bodyPr>
          <a:lstStyle/>
          <a:p>
            <a:pPr algn="l">
              <a:lnSpc>
                <a:spcPts val="2700"/>
              </a:lnSpc>
            </a:pPr>
            <a:r>
              <a:rPr lang="en-US" sz="1800">
                <a:solidFill>
                  <a:srgbClr val="000000"/>
                </a:solidFill>
                <a:latin typeface="Inter"/>
                <a:ea typeface="Inter"/>
                <a:cs typeface="Inter"/>
                <a:sym typeface="Inter"/>
              </a:rPr>
              <a:t>From a </a:t>
            </a:r>
            <a:r>
              <a:rPr lang="en-US" sz="1800" b="1">
                <a:solidFill>
                  <a:srgbClr val="000000"/>
                </a:solidFill>
                <a:latin typeface="Inter Bold"/>
                <a:ea typeface="Inter Bold"/>
                <a:cs typeface="Inter Bold"/>
                <a:sym typeface="Inter Bold"/>
              </a:rPr>
              <a:t>Machine Learning (ML)</a:t>
            </a:r>
            <a:r>
              <a:rPr lang="en-US" sz="1800">
                <a:solidFill>
                  <a:srgbClr val="000000"/>
                </a:solidFill>
                <a:latin typeface="Inter"/>
                <a:ea typeface="Inter"/>
                <a:cs typeface="Inter"/>
                <a:sym typeface="Inter"/>
              </a:rPr>
              <a:t> perspective, the goal is to develop a predictive model that can accurately classify whether a customer is likely to default on a loan (TARGET = 1) or not (TARGET = 0). The major challenge lies in transforming complex relational data into meaningful features that enhance both interpretability and predictive performance.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8200" y="3640561"/>
            <a:ext cx="5772059" cy="577205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334A"/>
            </a:solidFill>
          </p:spPr>
        </p:sp>
        <p:sp>
          <p:nvSpPr>
            <p:cNvPr id="4" name="TextBox 4"/>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1681569" y="3640561"/>
            <a:ext cx="5772059" cy="577205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9E76"/>
            </a:solidFill>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grpSp>
        <p:nvGrpSpPr>
          <p:cNvPr id="8" name="Group 8"/>
          <p:cNvGrpSpPr/>
          <p:nvPr/>
        </p:nvGrpSpPr>
        <p:grpSpPr>
          <a:xfrm>
            <a:off x="5827220" y="3209811"/>
            <a:ext cx="6633560" cy="663356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7396"/>
            </a:solidFill>
          </p:spPr>
        </p:sp>
        <p:sp>
          <p:nvSpPr>
            <p:cNvPr id="10" name="TextBox 10"/>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grpSp>
        <p:nvGrpSpPr>
          <p:cNvPr id="11" name="Group 11"/>
          <p:cNvGrpSpPr/>
          <p:nvPr/>
        </p:nvGrpSpPr>
        <p:grpSpPr>
          <a:xfrm>
            <a:off x="3132255" y="4109839"/>
            <a:ext cx="1183949" cy="118394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3" name="TextBox 13"/>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grpSp>
        <p:nvGrpSpPr>
          <p:cNvPr id="14" name="Group 14"/>
          <p:cNvGrpSpPr/>
          <p:nvPr/>
        </p:nvGrpSpPr>
        <p:grpSpPr>
          <a:xfrm>
            <a:off x="8553939" y="4216878"/>
            <a:ext cx="1183949" cy="118394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6" name="TextBox 16"/>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grpSp>
        <p:nvGrpSpPr>
          <p:cNvPr id="17" name="Group 17"/>
          <p:cNvGrpSpPr/>
          <p:nvPr/>
        </p:nvGrpSpPr>
        <p:grpSpPr>
          <a:xfrm>
            <a:off x="13975255" y="4109839"/>
            <a:ext cx="1183949" cy="1183949"/>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9" name="TextBox 19"/>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sp>
        <p:nvSpPr>
          <p:cNvPr id="20" name="TextBox 20"/>
          <p:cNvSpPr txBox="1"/>
          <p:nvPr/>
        </p:nvSpPr>
        <p:spPr>
          <a:xfrm>
            <a:off x="1028700" y="1120757"/>
            <a:ext cx="12398922" cy="1444626"/>
          </a:xfrm>
          <a:prstGeom prst="rect">
            <a:avLst/>
          </a:prstGeom>
        </p:spPr>
        <p:txBody>
          <a:bodyPr lIns="0" tIns="0" rIns="0" bIns="0" rtlCol="0" anchor="t">
            <a:spAutoFit/>
          </a:bodyPr>
          <a:lstStyle/>
          <a:p>
            <a:pPr algn="l">
              <a:lnSpc>
                <a:spcPts val="5500"/>
              </a:lnSpc>
            </a:pPr>
            <a:r>
              <a:rPr lang="en-US" sz="5500" b="1">
                <a:solidFill>
                  <a:srgbClr val="000000"/>
                </a:solidFill>
                <a:latin typeface="Neue Machina Ultra-Bold"/>
                <a:ea typeface="Neue Machina Ultra-Bold"/>
                <a:cs typeface="Neue Machina Ultra-Bold"/>
                <a:sym typeface="Neue Machina Ultra-Bold"/>
              </a:rPr>
              <a:t>Key Stakeholders in Credit Risk Analysis</a:t>
            </a:r>
          </a:p>
        </p:txBody>
      </p:sp>
      <p:sp>
        <p:nvSpPr>
          <p:cNvPr id="21" name="Freeform 21"/>
          <p:cNvSpPr/>
          <p:nvPr/>
        </p:nvSpPr>
        <p:spPr>
          <a:xfrm>
            <a:off x="17346115" y="-112635"/>
            <a:ext cx="1883770" cy="1438515"/>
          </a:xfrm>
          <a:custGeom>
            <a:avLst/>
            <a:gdLst/>
            <a:ahLst/>
            <a:cxnLst/>
            <a:rect l="l" t="t" r="r" b="b"/>
            <a:pathLst>
              <a:path w="1883770" h="1438515">
                <a:moveTo>
                  <a:pt x="0" y="0"/>
                </a:moveTo>
                <a:lnTo>
                  <a:pt x="1883770" y="0"/>
                </a:lnTo>
                <a:lnTo>
                  <a:pt x="1883770" y="1438515"/>
                </a:lnTo>
                <a:lnTo>
                  <a:pt x="0" y="1438515"/>
                </a:lnTo>
                <a:lnTo>
                  <a:pt x="0" y="0"/>
                </a:lnTo>
                <a:close/>
              </a:path>
            </a:pathLst>
          </a:custGeom>
          <a:blipFill>
            <a:blip>
              <a:alphaModFix amt="39000"/>
              <a:extLst>
                <a:ext uri="{96DAC541-7B7A-43D3-8B79-37D633B846F1}">
                  <asvg:svgBlip xmlns:asvg="http://schemas.microsoft.com/office/drawing/2016/SVG/main" r:embed="rId2"/>
                </a:ext>
              </a:extLst>
            </a:blip>
            <a:stretch>
              <a:fillRect/>
            </a:stretch>
          </a:blipFill>
          <a:ln cap="sq">
            <a:noFill/>
            <a:prstDash val="solid"/>
            <a:miter/>
          </a:ln>
        </p:spPr>
      </p:sp>
      <p:sp>
        <p:nvSpPr>
          <p:cNvPr id="22" name="Freeform 22"/>
          <p:cNvSpPr/>
          <p:nvPr/>
        </p:nvSpPr>
        <p:spPr>
          <a:xfrm>
            <a:off x="-660612" y="1408026"/>
            <a:ext cx="1321225" cy="554394"/>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3"/>
                </a:ext>
              </a:extLst>
            </a:blip>
            <a:stretch>
              <a:fillRect r="-71029" b="-123065"/>
            </a:stretch>
          </a:blipFill>
        </p:spPr>
      </p:sp>
      <p:sp>
        <p:nvSpPr>
          <p:cNvPr id="23" name="Freeform 23"/>
          <p:cNvSpPr/>
          <p:nvPr/>
        </p:nvSpPr>
        <p:spPr>
          <a:xfrm>
            <a:off x="17259300" y="9064355"/>
            <a:ext cx="1864644" cy="728906"/>
          </a:xfrm>
          <a:custGeom>
            <a:avLst/>
            <a:gdLst/>
            <a:ahLst/>
            <a:cxnLst/>
            <a:rect l="l" t="t" r="r" b="b"/>
            <a:pathLst>
              <a:path w="1864644" h="728906">
                <a:moveTo>
                  <a:pt x="0" y="0"/>
                </a:moveTo>
                <a:lnTo>
                  <a:pt x="1864644" y="0"/>
                </a:lnTo>
                <a:lnTo>
                  <a:pt x="1864644" y="728906"/>
                </a:lnTo>
                <a:lnTo>
                  <a:pt x="0" y="728906"/>
                </a:lnTo>
                <a:lnTo>
                  <a:pt x="0" y="0"/>
                </a:lnTo>
                <a:close/>
              </a:path>
            </a:pathLst>
          </a:custGeom>
          <a:blipFill>
            <a:blip>
              <a:alphaModFix amt="39000"/>
              <a:extLst>
                <a:ext uri="{96DAC541-7B7A-43D3-8B79-37D633B846F1}">
                  <asvg:svgBlip xmlns:asvg="http://schemas.microsoft.com/office/drawing/2016/SVG/main" r:embed="rId4"/>
                </a:ext>
              </a:extLst>
            </a:blip>
            <a:stretch>
              <a:fillRect/>
            </a:stretch>
          </a:blipFill>
        </p:spPr>
      </p:sp>
      <p:sp>
        <p:nvSpPr>
          <p:cNvPr id="24" name="Freeform 24"/>
          <p:cNvSpPr/>
          <p:nvPr/>
        </p:nvSpPr>
        <p:spPr>
          <a:xfrm>
            <a:off x="-954956" y="9258300"/>
            <a:ext cx="1909912" cy="1878659"/>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5"/>
                </a:ext>
              </a:extLst>
            </a:blip>
            <a:stretch>
              <a:fillRect/>
            </a:stretch>
          </a:blipFill>
        </p:spPr>
      </p:sp>
      <p:sp>
        <p:nvSpPr>
          <p:cNvPr id="25" name="Freeform 25"/>
          <p:cNvSpPr/>
          <p:nvPr/>
        </p:nvSpPr>
        <p:spPr>
          <a:xfrm rot="5400000">
            <a:off x="13412764" y="1457546"/>
            <a:ext cx="550257" cy="1560007"/>
          </a:xfrm>
          <a:custGeom>
            <a:avLst/>
            <a:gdLst/>
            <a:ahLst/>
            <a:cxnLst/>
            <a:rect l="l" t="t" r="r" b="b"/>
            <a:pathLst>
              <a:path w="550257" h="1560007">
                <a:moveTo>
                  <a:pt x="0" y="0"/>
                </a:moveTo>
                <a:lnTo>
                  <a:pt x="550257" y="0"/>
                </a:lnTo>
                <a:lnTo>
                  <a:pt x="550257" y="1560007"/>
                </a:lnTo>
                <a:lnTo>
                  <a:pt x="0" y="156000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6" name="Freeform 26"/>
          <p:cNvSpPr/>
          <p:nvPr/>
        </p:nvSpPr>
        <p:spPr>
          <a:xfrm>
            <a:off x="3393313" y="4435568"/>
            <a:ext cx="661833" cy="532492"/>
          </a:xfrm>
          <a:custGeom>
            <a:avLst/>
            <a:gdLst/>
            <a:ahLst/>
            <a:cxnLst/>
            <a:rect l="l" t="t" r="r" b="b"/>
            <a:pathLst>
              <a:path w="661833" h="532492">
                <a:moveTo>
                  <a:pt x="0" y="0"/>
                </a:moveTo>
                <a:lnTo>
                  <a:pt x="661833" y="0"/>
                </a:lnTo>
                <a:lnTo>
                  <a:pt x="661833" y="532492"/>
                </a:lnTo>
                <a:lnTo>
                  <a:pt x="0" y="53249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7" name="Freeform 27"/>
          <p:cNvSpPr/>
          <p:nvPr/>
        </p:nvSpPr>
        <p:spPr>
          <a:xfrm>
            <a:off x="8788263" y="4445093"/>
            <a:ext cx="696348" cy="707932"/>
          </a:xfrm>
          <a:custGeom>
            <a:avLst/>
            <a:gdLst/>
            <a:ahLst/>
            <a:cxnLst/>
            <a:rect l="l" t="t" r="r" b="b"/>
            <a:pathLst>
              <a:path w="696348" h="707932">
                <a:moveTo>
                  <a:pt x="0" y="0"/>
                </a:moveTo>
                <a:lnTo>
                  <a:pt x="696348" y="0"/>
                </a:lnTo>
                <a:lnTo>
                  <a:pt x="696348" y="707932"/>
                </a:lnTo>
                <a:lnTo>
                  <a:pt x="0" y="70793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8" name="Freeform 28"/>
          <p:cNvSpPr/>
          <p:nvPr/>
        </p:nvSpPr>
        <p:spPr>
          <a:xfrm>
            <a:off x="14236705" y="4382953"/>
            <a:ext cx="661788" cy="637723"/>
          </a:xfrm>
          <a:custGeom>
            <a:avLst/>
            <a:gdLst/>
            <a:ahLst/>
            <a:cxnLst/>
            <a:rect l="l" t="t" r="r" b="b"/>
            <a:pathLst>
              <a:path w="661788" h="637723">
                <a:moveTo>
                  <a:pt x="0" y="0"/>
                </a:moveTo>
                <a:lnTo>
                  <a:pt x="661787" y="0"/>
                </a:lnTo>
                <a:lnTo>
                  <a:pt x="661787" y="637722"/>
                </a:lnTo>
                <a:lnTo>
                  <a:pt x="0" y="637722"/>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29" name="TextBox 29"/>
          <p:cNvSpPr txBox="1"/>
          <p:nvPr/>
        </p:nvSpPr>
        <p:spPr>
          <a:xfrm>
            <a:off x="12907889" y="5655739"/>
            <a:ext cx="3608288" cy="422911"/>
          </a:xfrm>
          <a:prstGeom prst="rect">
            <a:avLst/>
          </a:prstGeom>
        </p:spPr>
        <p:txBody>
          <a:bodyPr lIns="0" tIns="0" rIns="0" bIns="0" rtlCol="0" anchor="t">
            <a:spAutoFit/>
          </a:bodyPr>
          <a:lstStyle/>
          <a:p>
            <a:pPr algn="ctr">
              <a:lnSpc>
                <a:spcPts val="3599"/>
              </a:lnSpc>
            </a:pPr>
            <a:r>
              <a:rPr lang="en-US" sz="2399" b="1">
                <a:solidFill>
                  <a:srgbClr val="000000"/>
                </a:solidFill>
                <a:latin typeface="Inter Bold"/>
                <a:ea typeface="Inter Bold"/>
                <a:cs typeface="Inter Bold"/>
                <a:sym typeface="Inter Bold"/>
              </a:rPr>
              <a:t>Data Scientist / Analyst</a:t>
            </a:r>
          </a:p>
        </p:txBody>
      </p:sp>
      <p:sp>
        <p:nvSpPr>
          <p:cNvPr id="30" name="TextBox 30"/>
          <p:cNvSpPr txBox="1"/>
          <p:nvPr/>
        </p:nvSpPr>
        <p:spPr>
          <a:xfrm>
            <a:off x="2032636" y="5728129"/>
            <a:ext cx="3608288" cy="422911"/>
          </a:xfrm>
          <a:prstGeom prst="rect">
            <a:avLst/>
          </a:prstGeom>
        </p:spPr>
        <p:txBody>
          <a:bodyPr lIns="0" tIns="0" rIns="0" bIns="0" rtlCol="0" anchor="t">
            <a:spAutoFit/>
          </a:bodyPr>
          <a:lstStyle/>
          <a:p>
            <a:pPr algn="ctr">
              <a:lnSpc>
                <a:spcPts val="3599"/>
              </a:lnSpc>
            </a:pPr>
            <a:r>
              <a:rPr lang="en-US" sz="2399" b="1">
                <a:solidFill>
                  <a:srgbClr val="FFFFFF"/>
                </a:solidFill>
                <a:latin typeface="Inter Bold"/>
                <a:ea typeface="Inter Bold"/>
                <a:cs typeface="Inter Bold"/>
                <a:sym typeface="Inter Bold"/>
              </a:rPr>
              <a:t>Risk Analyst</a:t>
            </a:r>
          </a:p>
        </p:txBody>
      </p:sp>
      <p:sp>
        <p:nvSpPr>
          <p:cNvPr id="31" name="TextBox 31"/>
          <p:cNvSpPr txBox="1"/>
          <p:nvPr/>
        </p:nvSpPr>
        <p:spPr>
          <a:xfrm>
            <a:off x="7335094" y="5906246"/>
            <a:ext cx="3878625" cy="422911"/>
          </a:xfrm>
          <a:prstGeom prst="rect">
            <a:avLst/>
          </a:prstGeom>
        </p:spPr>
        <p:txBody>
          <a:bodyPr lIns="0" tIns="0" rIns="0" bIns="0" rtlCol="0" anchor="t">
            <a:spAutoFit/>
          </a:bodyPr>
          <a:lstStyle/>
          <a:p>
            <a:pPr algn="ctr">
              <a:lnSpc>
                <a:spcPts val="3599"/>
              </a:lnSpc>
            </a:pPr>
            <a:r>
              <a:rPr lang="en-US" sz="2399" b="1">
                <a:solidFill>
                  <a:srgbClr val="FFFFFF"/>
                </a:solidFill>
                <a:latin typeface="Inter Bold"/>
                <a:ea typeface="Inter Bold"/>
                <a:cs typeface="Inter Bold"/>
                <a:sym typeface="Inter Bold"/>
              </a:rPr>
              <a:t>Business / Loan Manager</a:t>
            </a:r>
          </a:p>
        </p:txBody>
      </p:sp>
      <p:sp>
        <p:nvSpPr>
          <p:cNvPr id="32" name="TextBox 32"/>
          <p:cNvSpPr txBox="1"/>
          <p:nvPr/>
        </p:nvSpPr>
        <p:spPr>
          <a:xfrm>
            <a:off x="12907889" y="6255586"/>
            <a:ext cx="3978223" cy="1394460"/>
          </a:xfrm>
          <a:prstGeom prst="rect">
            <a:avLst/>
          </a:prstGeom>
        </p:spPr>
        <p:txBody>
          <a:bodyPr lIns="0" tIns="0" rIns="0" bIns="0" rtlCol="0" anchor="t">
            <a:spAutoFit/>
          </a:bodyPr>
          <a:lstStyle/>
          <a:p>
            <a:pPr marL="410209" lvl="1" indent="-205105" algn="l">
              <a:lnSpc>
                <a:spcPts val="2849"/>
              </a:lnSpc>
              <a:buFont typeface="Arial"/>
              <a:buChar char="•"/>
            </a:pPr>
            <a:r>
              <a:rPr lang="en-US" sz="1899">
                <a:solidFill>
                  <a:srgbClr val="000000"/>
                </a:solidFill>
                <a:latin typeface="Inter"/>
                <a:ea typeface="Inter"/>
                <a:cs typeface="Inter"/>
                <a:sym typeface="Inter"/>
              </a:rPr>
              <a:t>Performs EDA and feature engineering</a:t>
            </a:r>
          </a:p>
          <a:p>
            <a:pPr marL="410209" lvl="1" indent="-205105" algn="l">
              <a:lnSpc>
                <a:spcPts val="2849"/>
              </a:lnSpc>
              <a:buFont typeface="Arial"/>
              <a:buChar char="•"/>
            </a:pPr>
            <a:r>
              <a:rPr lang="en-US" sz="1899">
                <a:solidFill>
                  <a:srgbClr val="000000"/>
                </a:solidFill>
                <a:latin typeface="Inter"/>
                <a:ea typeface="Inter"/>
                <a:cs typeface="Inter"/>
                <a:sym typeface="Inter"/>
              </a:rPr>
              <a:t>Builds predictive models</a:t>
            </a:r>
          </a:p>
          <a:p>
            <a:pPr marL="410209" lvl="1" indent="-205105" algn="l">
              <a:lnSpc>
                <a:spcPts val="2849"/>
              </a:lnSpc>
              <a:buFont typeface="Arial"/>
              <a:buChar char="•"/>
            </a:pPr>
            <a:r>
              <a:rPr lang="en-US" sz="1899">
                <a:solidFill>
                  <a:srgbClr val="000000"/>
                </a:solidFill>
                <a:latin typeface="Inter"/>
                <a:ea typeface="Inter"/>
                <a:cs typeface="Inter"/>
                <a:sym typeface="Inter"/>
              </a:rPr>
              <a:t>Generates actionable insights</a:t>
            </a:r>
          </a:p>
        </p:txBody>
      </p:sp>
      <p:sp>
        <p:nvSpPr>
          <p:cNvPr id="33" name="TextBox 33"/>
          <p:cNvSpPr txBox="1"/>
          <p:nvPr/>
        </p:nvSpPr>
        <p:spPr>
          <a:xfrm>
            <a:off x="2185499" y="6327976"/>
            <a:ext cx="3641720" cy="1746885"/>
          </a:xfrm>
          <a:prstGeom prst="rect">
            <a:avLst/>
          </a:prstGeom>
        </p:spPr>
        <p:txBody>
          <a:bodyPr lIns="0" tIns="0" rIns="0" bIns="0" rtlCol="0" anchor="t">
            <a:spAutoFit/>
          </a:bodyPr>
          <a:lstStyle/>
          <a:p>
            <a:pPr marL="410209" lvl="1" indent="-205105" algn="l">
              <a:lnSpc>
                <a:spcPts val="2849"/>
              </a:lnSpc>
              <a:buFont typeface="Arial"/>
              <a:buChar char="•"/>
            </a:pPr>
            <a:r>
              <a:rPr lang="en-US" sz="1899">
                <a:solidFill>
                  <a:srgbClr val="FFFFFF"/>
                </a:solidFill>
                <a:latin typeface="Inter"/>
                <a:ea typeface="Inter"/>
                <a:cs typeface="Inter"/>
                <a:sym typeface="Inter"/>
              </a:rPr>
              <a:t>Evaluates customer creditworthiness </a:t>
            </a:r>
          </a:p>
          <a:p>
            <a:pPr marL="410209" lvl="1" indent="-205105" algn="l">
              <a:lnSpc>
                <a:spcPts val="2849"/>
              </a:lnSpc>
              <a:buFont typeface="Arial"/>
              <a:buChar char="•"/>
            </a:pPr>
            <a:r>
              <a:rPr lang="en-US" sz="1899">
                <a:solidFill>
                  <a:srgbClr val="FFFFFF"/>
                </a:solidFill>
                <a:latin typeface="Inter"/>
                <a:ea typeface="Inter"/>
                <a:cs typeface="Inter"/>
                <a:sym typeface="Inter"/>
              </a:rPr>
              <a:t>Identifies high-risk applicants</a:t>
            </a:r>
          </a:p>
          <a:p>
            <a:pPr marL="410209" lvl="1" indent="-205105" algn="l">
              <a:lnSpc>
                <a:spcPts val="2849"/>
              </a:lnSpc>
              <a:buFont typeface="Arial"/>
              <a:buChar char="•"/>
            </a:pPr>
            <a:r>
              <a:rPr lang="en-US" sz="1899">
                <a:solidFill>
                  <a:srgbClr val="FFFFFF"/>
                </a:solidFill>
                <a:latin typeface="Inter"/>
                <a:ea typeface="Inter"/>
                <a:cs typeface="Inter"/>
                <a:sym typeface="Inter"/>
              </a:rPr>
              <a:t> Monitors default patterns</a:t>
            </a:r>
          </a:p>
        </p:txBody>
      </p:sp>
      <p:sp>
        <p:nvSpPr>
          <p:cNvPr id="34" name="TextBox 34"/>
          <p:cNvSpPr txBox="1"/>
          <p:nvPr/>
        </p:nvSpPr>
        <p:spPr>
          <a:xfrm>
            <a:off x="7156803" y="6362624"/>
            <a:ext cx="4270340" cy="1394460"/>
          </a:xfrm>
          <a:prstGeom prst="rect">
            <a:avLst/>
          </a:prstGeom>
        </p:spPr>
        <p:txBody>
          <a:bodyPr lIns="0" tIns="0" rIns="0" bIns="0" rtlCol="0" anchor="t">
            <a:spAutoFit/>
          </a:bodyPr>
          <a:lstStyle/>
          <a:p>
            <a:pPr marL="410209" lvl="1" indent="-205105" algn="l">
              <a:lnSpc>
                <a:spcPts val="2849"/>
              </a:lnSpc>
              <a:buFont typeface="Arial"/>
              <a:buChar char="•"/>
            </a:pPr>
            <a:r>
              <a:rPr lang="en-US" sz="1899">
                <a:solidFill>
                  <a:srgbClr val="FFFFFF"/>
                </a:solidFill>
                <a:latin typeface="Inter"/>
                <a:ea typeface="Inter"/>
                <a:cs typeface="Inter"/>
                <a:sym typeface="Inter"/>
              </a:rPr>
              <a:t>Makes loan approval decisions</a:t>
            </a:r>
          </a:p>
          <a:p>
            <a:pPr marL="410209" lvl="1" indent="-205105" algn="l">
              <a:lnSpc>
                <a:spcPts val="2849"/>
              </a:lnSpc>
              <a:buFont typeface="Arial"/>
              <a:buChar char="•"/>
            </a:pPr>
            <a:r>
              <a:rPr lang="en-US" sz="1899">
                <a:solidFill>
                  <a:srgbClr val="FFFFFF"/>
                </a:solidFill>
                <a:latin typeface="Inter"/>
                <a:ea typeface="Inter"/>
                <a:cs typeface="Inter"/>
                <a:sym typeface="Inter"/>
              </a:rPr>
              <a:t> Balances risk and profitability</a:t>
            </a:r>
          </a:p>
          <a:p>
            <a:pPr marL="410209" lvl="1" indent="-205105" algn="l">
              <a:lnSpc>
                <a:spcPts val="2849"/>
              </a:lnSpc>
              <a:buFont typeface="Arial"/>
              <a:buChar char="•"/>
            </a:pPr>
            <a:r>
              <a:rPr lang="en-US" sz="1899">
                <a:solidFill>
                  <a:srgbClr val="FFFFFF"/>
                </a:solidFill>
                <a:latin typeface="Inter"/>
                <a:ea typeface="Inter"/>
                <a:cs typeface="Inter"/>
                <a:sym typeface="Inter"/>
              </a:rPr>
              <a:t> Uses insights for strategic actions</a:t>
            </a:r>
          </a:p>
          <a:p>
            <a:pPr algn="ctr">
              <a:lnSpc>
                <a:spcPts val="2849"/>
              </a:lnSpc>
            </a:pPr>
            <a:endParaRPr lang="en-US" sz="1899">
              <a:solidFill>
                <a:srgbClr val="FFFFFF"/>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3432540" y="4353126"/>
            <a:ext cx="11558062" cy="1418823"/>
          </a:xfrm>
          <a:prstGeom prst="rect">
            <a:avLst/>
          </a:prstGeom>
        </p:spPr>
        <p:txBody>
          <a:bodyPr lIns="0" tIns="0" rIns="0" bIns="0" rtlCol="0" anchor="t">
            <a:spAutoFit/>
          </a:bodyPr>
          <a:lstStyle/>
          <a:p>
            <a:pPr algn="ctr">
              <a:lnSpc>
                <a:spcPts val="11572"/>
              </a:lnSpc>
            </a:pPr>
            <a:r>
              <a:rPr lang="en-US" sz="8265" b="1">
                <a:solidFill>
                  <a:srgbClr val="000000"/>
                </a:solidFill>
                <a:latin typeface="Neue Machina Ultra-Bold"/>
                <a:ea typeface="Neue Machina Ultra-Bold"/>
                <a:cs typeface="Neue Machina Ultra-Bold"/>
                <a:sym typeface="Neue Machina Ultra-Bold"/>
              </a:rPr>
              <a:t>Data Overview </a:t>
            </a:r>
          </a:p>
        </p:txBody>
      </p:sp>
      <p:grpSp>
        <p:nvGrpSpPr>
          <p:cNvPr id="4" name="Group 4"/>
          <p:cNvGrpSpPr/>
          <p:nvPr/>
        </p:nvGrpSpPr>
        <p:grpSpPr>
          <a:xfrm>
            <a:off x="-1130300" y="4057750"/>
            <a:ext cx="3086100" cy="2171499"/>
            <a:chOff x="0" y="0"/>
            <a:chExt cx="812800" cy="571917"/>
          </a:xfrm>
        </p:grpSpPr>
        <p:sp>
          <p:nvSpPr>
            <p:cNvPr id="5" name="Freeform 5"/>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20334A"/>
            </a:solidFill>
          </p:spPr>
        </p:sp>
        <p:sp>
          <p:nvSpPr>
            <p:cNvPr id="6" name="TextBox 6"/>
            <p:cNvSpPr txBox="1"/>
            <p:nvPr/>
          </p:nvSpPr>
          <p:spPr>
            <a:xfrm>
              <a:off x="0" y="-38100"/>
              <a:ext cx="812800" cy="610017"/>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467343" y="4057750"/>
            <a:ext cx="3086100" cy="2171499"/>
            <a:chOff x="0" y="0"/>
            <a:chExt cx="812800" cy="571917"/>
          </a:xfrm>
        </p:grpSpPr>
        <p:sp>
          <p:nvSpPr>
            <p:cNvPr id="8" name="Freeform 8"/>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20334A"/>
            </a:solidFill>
          </p:spPr>
        </p:sp>
        <p:sp>
          <p:nvSpPr>
            <p:cNvPr id="9" name="TextBox 9"/>
            <p:cNvSpPr txBox="1"/>
            <p:nvPr/>
          </p:nvSpPr>
          <p:spPr>
            <a:xfrm>
              <a:off x="0" y="-38100"/>
              <a:ext cx="812800" cy="610017"/>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4561136" y="7667363"/>
            <a:ext cx="9165729" cy="281940"/>
          </a:xfrm>
          <a:prstGeom prst="rect">
            <a:avLst/>
          </a:prstGeom>
        </p:spPr>
        <p:txBody>
          <a:bodyPr lIns="0" tIns="0" rIns="0" bIns="0" rtlCol="0" anchor="t">
            <a:spAutoFit/>
          </a:bodyPr>
          <a:lstStyle/>
          <a:p>
            <a:pPr algn="ctr">
              <a:lnSpc>
                <a:spcPts val="2100"/>
              </a:lnSpc>
              <a:spcBef>
                <a:spcPct val="0"/>
              </a:spcBef>
            </a:pPr>
            <a:r>
              <a:rPr lang="en-US" sz="2100">
                <a:solidFill>
                  <a:srgbClr val="000000"/>
                </a:solidFill>
                <a:latin typeface="Inter"/>
                <a:ea typeface="Inter"/>
                <a:cs typeface="Inter"/>
                <a:sym typeface="Inter"/>
              </a:rPr>
              <a:t>Understanding the structure, features, and relationships within the dataset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295400"/>
            <a:ext cx="12398922" cy="848360"/>
          </a:xfrm>
          <a:prstGeom prst="rect">
            <a:avLst/>
          </a:prstGeom>
        </p:spPr>
        <p:txBody>
          <a:bodyPr lIns="0" tIns="0" rIns="0" bIns="0" rtlCol="0" anchor="t">
            <a:spAutoFit/>
          </a:bodyPr>
          <a:lstStyle/>
          <a:p>
            <a:pPr algn="l">
              <a:lnSpc>
                <a:spcPts val="6399"/>
              </a:lnSpc>
            </a:pPr>
            <a:r>
              <a:rPr lang="en-US" sz="6399" b="1">
                <a:solidFill>
                  <a:srgbClr val="000000"/>
                </a:solidFill>
                <a:latin typeface="Neue Machina Ultra-Bold"/>
                <a:ea typeface="Neue Machina Ultra-Bold"/>
                <a:cs typeface="Neue Machina Ultra-Bold"/>
                <a:sym typeface="Neue Machina Ultra-Bold"/>
              </a:rPr>
              <a:t>Star Schema</a:t>
            </a:r>
          </a:p>
        </p:txBody>
      </p:sp>
      <p:sp>
        <p:nvSpPr>
          <p:cNvPr id="3" name="Freeform 3"/>
          <p:cNvSpPr/>
          <p:nvPr/>
        </p:nvSpPr>
        <p:spPr>
          <a:xfrm>
            <a:off x="17316179" y="-135495"/>
            <a:ext cx="1943641" cy="1484235"/>
          </a:xfrm>
          <a:custGeom>
            <a:avLst/>
            <a:gdLst/>
            <a:ahLst/>
            <a:cxnLst/>
            <a:rect l="l" t="t" r="r" b="b"/>
            <a:pathLst>
              <a:path w="1943641" h="1484235">
                <a:moveTo>
                  <a:pt x="0" y="0"/>
                </a:moveTo>
                <a:lnTo>
                  <a:pt x="1943642" y="0"/>
                </a:lnTo>
                <a:lnTo>
                  <a:pt x="1943642" y="1484235"/>
                </a:lnTo>
                <a:lnTo>
                  <a:pt x="0" y="1484235"/>
                </a:lnTo>
                <a:lnTo>
                  <a:pt x="0" y="0"/>
                </a:lnTo>
                <a:close/>
              </a:path>
            </a:pathLst>
          </a:custGeom>
          <a:blipFill>
            <a:blip>
              <a:alphaModFix amt="39000"/>
              <a:extLst>
                <a:ext uri="{96DAC541-7B7A-43D3-8B79-37D633B846F1}">
                  <asvg:svgBlip xmlns:asvg="http://schemas.microsoft.com/office/drawing/2016/SVG/main" r:embed="rId2"/>
                </a:ext>
              </a:extLst>
            </a:blip>
            <a:stretch>
              <a:fillRect/>
            </a:stretch>
          </a:blipFill>
          <a:ln cap="sq">
            <a:noFill/>
            <a:prstDash val="solid"/>
            <a:miter/>
          </a:ln>
        </p:spPr>
      </p:sp>
      <p:sp>
        <p:nvSpPr>
          <p:cNvPr id="4" name="Freeform 4"/>
          <p:cNvSpPr/>
          <p:nvPr/>
        </p:nvSpPr>
        <p:spPr>
          <a:xfrm>
            <a:off x="-660612" y="1408026"/>
            <a:ext cx="1321225" cy="554394"/>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3"/>
                </a:ext>
              </a:extLst>
            </a:blip>
            <a:stretch>
              <a:fillRect r="-71029" b="-123065"/>
            </a:stretch>
          </a:blipFill>
        </p:spPr>
      </p:sp>
      <p:sp>
        <p:nvSpPr>
          <p:cNvPr id="5" name="Freeform 5"/>
          <p:cNvSpPr/>
          <p:nvPr/>
        </p:nvSpPr>
        <p:spPr>
          <a:xfrm>
            <a:off x="17259300" y="9064355"/>
            <a:ext cx="1864644" cy="728906"/>
          </a:xfrm>
          <a:custGeom>
            <a:avLst/>
            <a:gdLst/>
            <a:ahLst/>
            <a:cxnLst/>
            <a:rect l="l" t="t" r="r" b="b"/>
            <a:pathLst>
              <a:path w="1864644" h="728906">
                <a:moveTo>
                  <a:pt x="0" y="0"/>
                </a:moveTo>
                <a:lnTo>
                  <a:pt x="1864644" y="0"/>
                </a:lnTo>
                <a:lnTo>
                  <a:pt x="1864644" y="728906"/>
                </a:lnTo>
                <a:lnTo>
                  <a:pt x="0" y="728906"/>
                </a:lnTo>
                <a:lnTo>
                  <a:pt x="0" y="0"/>
                </a:lnTo>
                <a:close/>
              </a:path>
            </a:pathLst>
          </a:custGeom>
          <a:blipFill>
            <a:blip>
              <a:alphaModFix amt="39000"/>
              <a:extLst>
                <a:ext uri="{96DAC541-7B7A-43D3-8B79-37D633B846F1}">
                  <asvg:svgBlip xmlns:asvg="http://schemas.microsoft.com/office/drawing/2016/SVG/main" r:embed="rId4"/>
                </a:ext>
              </a:extLst>
            </a:blip>
            <a:stretch>
              <a:fillRect/>
            </a:stretch>
          </a:blipFill>
        </p:spPr>
      </p:sp>
      <p:sp>
        <p:nvSpPr>
          <p:cNvPr id="6" name="Freeform 6"/>
          <p:cNvSpPr/>
          <p:nvPr/>
        </p:nvSpPr>
        <p:spPr>
          <a:xfrm>
            <a:off x="-954956" y="9258300"/>
            <a:ext cx="1909912" cy="1878659"/>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5"/>
                </a:ext>
              </a:extLst>
            </a:blip>
            <a:stretch>
              <a:fillRect/>
            </a:stretch>
          </a:blipFill>
        </p:spPr>
      </p:sp>
      <p:sp>
        <p:nvSpPr>
          <p:cNvPr id="7" name="Freeform 7"/>
          <p:cNvSpPr/>
          <p:nvPr/>
        </p:nvSpPr>
        <p:spPr>
          <a:xfrm rot="5400000">
            <a:off x="12311137" y="1088628"/>
            <a:ext cx="550257" cy="1560007"/>
          </a:xfrm>
          <a:custGeom>
            <a:avLst/>
            <a:gdLst/>
            <a:ahLst/>
            <a:cxnLst/>
            <a:rect l="l" t="t" r="r" b="b"/>
            <a:pathLst>
              <a:path w="550257" h="1560007">
                <a:moveTo>
                  <a:pt x="0" y="0"/>
                </a:moveTo>
                <a:lnTo>
                  <a:pt x="550257" y="0"/>
                </a:lnTo>
                <a:lnTo>
                  <a:pt x="550257" y="1560007"/>
                </a:lnTo>
                <a:lnTo>
                  <a:pt x="0" y="1560007"/>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8" name="Group 8"/>
          <p:cNvGrpSpPr/>
          <p:nvPr/>
        </p:nvGrpSpPr>
        <p:grpSpPr>
          <a:xfrm>
            <a:off x="6724435" y="4220670"/>
            <a:ext cx="3486693" cy="2453753"/>
            <a:chOff x="0" y="0"/>
            <a:chExt cx="1030696" cy="725183"/>
          </a:xfrm>
        </p:grpSpPr>
        <p:sp>
          <p:nvSpPr>
            <p:cNvPr id="9" name="Freeform 9"/>
            <p:cNvSpPr/>
            <p:nvPr/>
          </p:nvSpPr>
          <p:spPr>
            <a:xfrm>
              <a:off x="0" y="0"/>
              <a:ext cx="1030696" cy="725183"/>
            </a:xfrm>
            <a:custGeom>
              <a:avLst/>
              <a:gdLst/>
              <a:ahLst/>
              <a:cxnLst/>
              <a:rect l="l" t="t" r="r" b="b"/>
              <a:pathLst>
                <a:path w="1030696" h="725183">
                  <a:moveTo>
                    <a:pt x="1030696" y="99919"/>
                  </a:moveTo>
                  <a:lnTo>
                    <a:pt x="1030696" y="625264"/>
                  </a:lnTo>
                  <a:cubicBezTo>
                    <a:pt x="1030696" y="651764"/>
                    <a:pt x="1020169" y="677179"/>
                    <a:pt x="1001431" y="695918"/>
                  </a:cubicBezTo>
                  <a:cubicBezTo>
                    <a:pt x="982692" y="714656"/>
                    <a:pt x="957278" y="725183"/>
                    <a:pt x="930777" y="725183"/>
                  </a:cubicBezTo>
                  <a:lnTo>
                    <a:pt x="99919" y="725183"/>
                  </a:lnTo>
                  <a:cubicBezTo>
                    <a:pt x="73419" y="725183"/>
                    <a:pt x="48004" y="714656"/>
                    <a:pt x="29266" y="695918"/>
                  </a:cubicBezTo>
                  <a:cubicBezTo>
                    <a:pt x="10527" y="677179"/>
                    <a:pt x="0" y="651764"/>
                    <a:pt x="0" y="625264"/>
                  </a:cubicBezTo>
                  <a:lnTo>
                    <a:pt x="0" y="99919"/>
                  </a:lnTo>
                  <a:cubicBezTo>
                    <a:pt x="0" y="73419"/>
                    <a:pt x="10527" y="48004"/>
                    <a:pt x="29266" y="29266"/>
                  </a:cubicBezTo>
                  <a:cubicBezTo>
                    <a:pt x="48004" y="10527"/>
                    <a:pt x="73419" y="0"/>
                    <a:pt x="99919" y="0"/>
                  </a:cubicBezTo>
                  <a:lnTo>
                    <a:pt x="930777" y="0"/>
                  </a:lnTo>
                  <a:cubicBezTo>
                    <a:pt x="985961" y="0"/>
                    <a:pt x="1030696" y="44735"/>
                    <a:pt x="1030696" y="99919"/>
                  </a:cubicBezTo>
                  <a:close/>
                </a:path>
              </a:pathLst>
            </a:custGeom>
            <a:solidFill>
              <a:srgbClr val="5E7396"/>
            </a:solidFill>
          </p:spPr>
        </p:sp>
        <p:sp>
          <p:nvSpPr>
            <p:cNvPr id="10" name="TextBox 10"/>
            <p:cNvSpPr txBox="1"/>
            <p:nvPr/>
          </p:nvSpPr>
          <p:spPr>
            <a:xfrm>
              <a:off x="0" y="38100"/>
              <a:ext cx="1030696" cy="687083"/>
            </a:xfrm>
            <a:prstGeom prst="rect">
              <a:avLst/>
            </a:prstGeom>
          </p:spPr>
          <p:txBody>
            <a:bodyPr lIns="50800" tIns="50800" rIns="50800" bIns="50800" rtlCol="0" anchor="ctr"/>
            <a:lstStyle/>
            <a:p>
              <a:pPr algn="ctr">
                <a:lnSpc>
                  <a:spcPts val="2100"/>
                </a:lnSpc>
              </a:pPr>
              <a:r>
                <a:rPr lang="en-US" sz="2100" b="1">
                  <a:solidFill>
                    <a:srgbClr val="FFFFFF"/>
                  </a:solidFill>
                  <a:latin typeface="Inter Bold"/>
                  <a:ea typeface="Inter Bold"/>
                  <a:cs typeface="Inter Bold"/>
                  <a:sym typeface="Inter Bold"/>
                </a:rPr>
                <a:t>APPLICATION_TRAIN</a:t>
              </a:r>
            </a:p>
            <a:p>
              <a:pPr marL="388622" lvl="1" indent="-194311" algn="l">
                <a:lnSpc>
                  <a:spcPts val="1800"/>
                </a:lnSpc>
                <a:buFont typeface="Arial"/>
                <a:buChar char="•"/>
              </a:pPr>
              <a:r>
                <a:rPr lang="en-US" sz="1800">
                  <a:solidFill>
                    <a:srgbClr val="FFFFFF"/>
                  </a:solidFill>
                  <a:latin typeface="Inter"/>
                  <a:ea typeface="Inter"/>
                  <a:cs typeface="Inter"/>
                  <a:sym typeface="Inter"/>
                </a:rPr>
                <a:t>Primary Key: SK_ID_CURR </a:t>
              </a:r>
            </a:p>
            <a:p>
              <a:pPr marL="388622" lvl="1" indent="-194311" algn="l">
                <a:lnSpc>
                  <a:spcPts val="1800"/>
                </a:lnSpc>
                <a:buFont typeface="Arial"/>
                <a:buChar char="•"/>
              </a:pPr>
              <a:r>
                <a:rPr lang="en-US" sz="1800">
                  <a:solidFill>
                    <a:srgbClr val="FFFFFF"/>
                  </a:solidFill>
                  <a:latin typeface="Inter"/>
                  <a:ea typeface="Inter"/>
                  <a:cs typeface="Inter"/>
                  <a:sym typeface="Inter"/>
                </a:rPr>
                <a:t>Target Variable: Default (0/1)</a:t>
              </a:r>
            </a:p>
          </p:txBody>
        </p:sp>
      </p:grpSp>
      <p:grpSp>
        <p:nvGrpSpPr>
          <p:cNvPr id="11" name="Group 11"/>
          <p:cNvGrpSpPr/>
          <p:nvPr/>
        </p:nvGrpSpPr>
        <p:grpSpPr>
          <a:xfrm>
            <a:off x="2021704" y="4220670"/>
            <a:ext cx="3486693" cy="2012439"/>
            <a:chOff x="0" y="0"/>
            <a:chExt cx="1030696" cy="594894"/>
          </a:xfrm>
        </p:grpSpPr>
        <p:sp>
          <p:nvSpPr>
            <p:cNvPr id="12" name="Freeform 12"/>
            <p:cNvSpPr/>
            <p:nvPr/>
          </p:nvSpPr>
          <p:spPr>
            <a:xfrm>
              <a:off x="0" y="0"/>
              <a:ext cx="1030696" cy="594894"/>
            </a:xfrm>
            <a:custGeom>
              <a:avLst/>
              <a:gdLst/>
              <a:ahLst/>
              <a:cxnLst/>
              <a:rect l="l" t="t" r="r" b="b"/>
              <a:pathLst>
                <a:path w="1030696" h="594894">
                  <a:moveTo>
                    <a:pt x="99919" y="0"/>
                  </a:moveTo>
                  <a:lnTo>
                    <a:pt x="930777" y="0"/>
                  </a:lnTo>
                  <a:cubicBezTo>
                    <a:pt x="985961" y="0"/>
                    <a:pt x="1030696" y="44735"/>
                    <a:pt x="1030696" y="99919"/>
                  </a:cubicBezTo>
                  <a:lnTo>
                    <a:pt x="1030696" y="494975"/>
                  </a:lnTo>
                  <a:cubicBezTo>
                    <a:pt x="1030696" y="521476"/>
                    <a:pt x="1020169" y="546890"/>
                    <a:pt x="1001431" y="565629"/>
                  </a:cubicBezTo>
                  <a:cubicBezTo>
                    <a:pt x="982692" y="584367"/>
                    <a:pt x="957278" y="594894"/>
                    <a:pt x="930777" y="594894"/>
                  </a:cubicBezTo>
                  <a:lnTo>
                    <a:pt x="99919" y="594894"/>
                  </a:lnTo>
                  <a:cubicBezTo>
                    <a:pt x="44735" y="594894"/>
                    <a:pt x="0" y="550159"/>
                    <a:pt x="0" y="494975"/>
                  </a:cubicBezTo>
                  <a:lnTo>
                    <a:pt x="0" y="99919"/>
                  </a:lnTo>
                  <a:cubicBezTo>
                    <a:pt x="0" y="73419"/>
                    <a:pt x="10527" y="48004"/>
                    <a:pt x="29266" y="29266"/>
                  </a:cubicBezTo>
                  <a:cubicBezTo>
                    <a:pt x="48004" y="10527"/>
                    <a:pt x="73419" y="0"/>
                    <a:pt x="99919" y="0"/>
                  </a:cubicBezTo>
                  <a:close/>
                </a:path>
              </a:pathLst>
            </a:custGeom>
            <a:solidFill>
              <a:srgbClr val="C79E76"/>
            </a:solidFill>
          </p:spPr>
        </p:sp>
        <p:sp>
          <p:nvSpPr>
            <p:cNvPr id="13" name="TextBox 13"/>
            <p:cNvSpPr txBox="1"/>
            <p:nvPr/>
          </p:nvSpPr>
          <p:spPr>
            <a:xfrm>
              <a:off x="0" y="38100"/>
              <a:ext cx="1030696" cy="556794"/>
            </a:xfrm>
            <a:prstGeom prst="rect">
              <a:avLst/>
            </a:prstGeom>
          </p:spPr>
          <p:txBody>
            <a:bodyPr lIns="50800" tIns="50800" rIns="50800" bIns="50800" rtlCol="0" anchor="ctr"/>
            <a:lstStyle/>
            <a:p>
              <a:pPr algn="ctr">
                <a:lnSpc>
                  <a:spcPts val="2100"/>
                </a:lnSpc>
              </a:pPr>
              <a:r>
                <a:rPr lang="en-US" sz="2100" b="1">
                  <a:solidFill>
                    <a:srgbClr val="FFFFFF"/>
                  </a:solidFill>
                  <a:latin typeface="Inter Bold"/>
                  <a:ea typeface="Inter Bold"/>
                  <a:cs typeface="Inter Bold"/>
                  <a:sym typeface="Inter Bold"/>
                </a:rPr>
                <a:t>bureau</a:t>
              </a:r>
            </a:p>
            <a:p>
              <a:pPr algn="ctr">
                <a:lnSpc>
                  <a:spcPts val="1800"/>
                </a:lnSpc>
              </a:pPr>
              <a:r>
                <a:rPr lang="en-US" sz="1800" b="1">
                  <a:solidFill>
                    <a:srgbClr val="FFFFFF"/>
                  </a:solidFill>
                  <a:latin typeface="Inter Bold"/>
                  <a:ea typeface="Inter Bold"/>
                  <a:cs typeface="Inter Bold"/>
                  <a:sym typeface="Inter Bold"/>
                </a:rPr>
                <a:t>(External Credit History)</a:t>
              </a:r>
            </a:p>
          </p:txBody>
        </p:sp>
      </p:grpSp>
      <p:grpSp>
        <p:nvGrpSpPr>
          <p:cNvPr id="14" name="Group 14"/>
          <p:cNvGrpSpPr/>
          <p:nvPr/>
        </p:nvGrpSpPr>
        <p:grpSpPr>
          <a:xfrm>
            <a:off x="11427243" y="4220670"/>
            <a:ext cx="3486693" cy="2012439"/>
            <a:chOff x="0" y="0"/>
            <a:chExt cx="1030696" cy="594894"/>
          </a:xfrm>
        </p:grpSpPr>
        <p:sp>
          <p:nvSpPr>
            <p:cNvPr id="15" name="Freeform 15"/>
            <p:cNvSpPr/>
            <p:nvPr/>
          </p:nvSpPr>
          <p:spPr>
            <a:xfrm>
              <a:off x="0" y="0"/>
              <a:ext cx="1030696" cy="594894"/>
            </a:xfrm>
            <a:custGeom>
              <a:avLst/>
              <a:gdLst/>
              <a:ahLst/>
              <a:cxnLst/>
              <a:rect l="l" t="t" r="r" b="b"/>
              <a:pathLst>
                <a:path w="1030696" h="594894">
                  <a:moveTo>
                    <a:pt x="99919" y="0"/>
                  </a:moveTo>
                  <a:lnTo>
                    <a:pt x="930777" y="0"/>
                  </a:lnTo>
                  <a:cubicBezTo>
                    <a:pt x="985961" y="0"/>
                    <a:pt x="1030696" y="44735"/>
                    <a:pt x="1030696" y="99919"/>
                  </a:cubicBezTo>
                  <a:lnTo>
                    <a:pt x="1030696" y="494975"/>
                  </a:lnTo>
                  <a:cubicBezTo>
                    <a:pt x="1030696" y="521476"/>
                    <a:pt x="1020169" y="546890"/>
                    <a:pt x="1001431" y="565629"/>
                  </a:cubicBezTo>
                  <a:cubicBezTo>
                    <a:pt x="982692" y="584367"/>
                    <a:pt x="957278" y="594894"/>
                    <a:pt x="930777" y="594894"/>
                  </a:cubicBezTo>
                  <a:lnTo>
                    <a:pt x="99919" y="594894"/>
                  </a:lnTo>
                  <a:cubicBezTo>
                    <a:pt x="44735" y="594894"/>
                    <a:pt x="0" y="550159"/>
                    <a:pt x="0" y="494975"/>
                  </a:cubicBezTo>
                  <a:lnTo>
                    <a:pt x="0" y="99919"/>
                  </a:lnTo>
                  <a:cubicBezTo>
                    <a:pt x="0" y="73419"/>
                    <a:pt x="10527" y="48004"/>
                    <a:pt x="29266" y="29266"/>
                  </a:cubicBezTo>
                  <a:cubicBezTo>
                    <a:pt x="48004" y="10527"/>
                    <a:pt x="73419" y="0"/>
                    <a:pt x="99919" y="0"/>
                  </a:cubicBezTo>
                  <a:close/>
                </a:path>
              </a:pathLst>
            </a:custGeom>
            <a:solidFill>
              <a:srgbClr val="857666"/>
            </a:solidFill>
          </p:spPr>
        </p:sp>
        <p:sp>
          <p:nvSpPr>
            <p:cNvPr id="16" name="TextBox 16"/>
            <p:cNvSpPr txBox="1"/>
            <p:nvPr/>
          </p:nvSpPr>
          <p:spPr>
            <a:xfrm>
              <a:off x="0" y="38100"/>
              <a:ext cx="1030696" cy="556794"/>
            </a:xfrm>
            <a:prstGeom prst="rect">
              <a:avLst/>
            </a:prstGeom>
          </p:spPr>
          <p:txBody>
            <a:bodyPr lIns="50800" tIns="50800" rIns="50800" bIns="50800" rtlCol="0" anchor="ctr"/>
            <a:lstStyle/>
            <a:p>
              <a:pPr algn="ctr">
                <a:lnSpc>
                  <a:spcPts val="2100"/>
                </a:lnSpc>
              </a:pPr>
              <a:r>
                <a:rPr lang="en-US" sz="2100" b="1">
                  <a:solidFill>
                    <a:srgbClr val="FFFFFF"/>
                  </a:solidFill>
                  <a:latin typeface="Inter Bold"/>
                  <a:ea typeface="Inter Bold"/>
                  <a:cs typeface="Inter Bold"/>
                  <a:sym typeface="Inter Bold"/>
                </a:rPr>
                <a:t>previous_application</a:t>
              </a:r>
            </a:p>
            <a:p>
              <a:pPr algn="ctr">
                <a:lnSpc>
                  <a:spcPts val="1800"/>
                </a:lnSpc>
              </a:pPr>
              <a:r>
                <a:rPr lang="en-US" sz="1800">
                  <a:solidFill>
                    <a:srgbClr val="FFFFFF"/>
                  </a:solidFill>
                  <a:latin typeface="Inter"/>
                  <a:ea typeface="Inter"/>
                  <a:cs typeface="Inter"/>
                  <a:sym typeface="Inter"/>
                </a:rPr>
                <a:t>(Past Loan Applications)</a:t>
              </a:r>
            </a:p>
          </p:txBody>
        </p:sp>
      </p:grpSp>
      <p:grpSp>
        <p:nvGrpSpPr>
          <p:cNvPr id="17" name="Group 17"/>
          <p:cNvGrpSpPr/>
          <p:nvPr/>
        </p:nvGrpSpPr>
        <p:grpSpPr>
          <a:xfrm>
            <a:off x="6724435" y="7041918"/>
            <a:ext cx="3486693" cy="1709415"/>
            <a:chOff x="0" y="0"/>
            <a:chExt cx="1030696" cy="505318"/>
          </a:xfrm>
        </p:grpSpPr>
        <p:sp>
          <p:nvSpPr>
            <p:cNvPr id="18" name="Freeform 18"/>
            <p:cNvSpPr/>
            <p:nvPr/>
          </p:nvSpPr>
          <p:spPr>
            <a:xfrm>
              <a:off x="0" y="0"/>
              <a:ext cx="1030696" cy="505318"/>
            </a:xfrm>
            <a:custGeom>
              <a:avLst/>
              <a:gdLst/>
              <a:ahLst/>
              <a:cxnLst/>
              <a:rect l="l" t="t" r="r" b="b"/>
              <a:pathLst>
                <a:path w="1030696" h="505318">
                  <a:moveTo>
                    <a:pt x="99919" y="0"/>
                  </a:moveTo>
                  <a:lnTo>
                    <a:pt x="930777" y="0"/>
                  </a:lnTo>
                  <a:cubicBezTo>
                    <a:pt x="985961" y="0"/>
                    <a:pt x="1030696" y="44735"/>
                    <a:pt x="1030696" y="99919"/>
                  </a:cubicBezTo>
                  <a:lnTo>
                    <a:pt x="1030696" y="405399"/>
                  </a:lnTo>
                  <a:cubicBezTo>
                    <a:pt x="1030696" y="431899"/>
                    <a:pt x="1020169" y="457314"/>
                    <a:pt x="1001431" y="476052"/>
                  </a:cubicBezTo>
                  <a:cubicBezTo>
                    <a:pt x="982692" y="494791"/>
                    <a:pt x="957278" y="505318"/>
                    <a:pt x="930777" y="505318"/>
                  </a:cubicBezTo>
                  <a:lnTo>
                    <a:pt x="99919" y="505318"/>
                  </a:lnTo>
                  <a:cubicBezTo>
                    <a:pt x="73419" y="505318"/>
                    <a:pt x="48004" y="494791"/>
                    <a:pt x="29266" y="476052"/>
                  </a:cubicBezTo>
                  <a:cubicBezTo>
                    <a:pt x="10527" y="457314"/>
                    <a:pt x="0" y="431899"/>
                    <a:pt x="0" y="405399"/>
                  </a:cubicBezTo>
                  <a:lnTo>
                    <a:pt x="0" y="99919"/>
                  </a:lnTo>
                  <a:cubicBezTo>
                    <a:pt x="0" y="73419"/>
                    <a:pt x="10527" y="48004"/>
                    <a:pt x="29266" y="29266"/>
                  </a:cubicBezTo>
                  <a:cubicBezTo>
                    <a:pt x="48004" y="10527"/>
                    <a:pt x="73419" y="0"/>
                    <a:pt x="99919" y="0"/>
                  </a:cubicBezTo>
                  <a:close/>
                </a:path>
              </a:pathLst>
            </a:custGeom>
            <a:solidFill>
              <a:srgbClr val="C79E76"/>
            </a:solidFill>
          </p:spPr>
        </p:sp>
        <p:sp>
          <p:nvSpPr>
            <p:cNvPr id="19" name="TextBox 19"/>
            <p:cNvSpPr txBox="1"/>
            <p:nvPr/>
          </p:nvSpPr>
          <p:spPr>
            <a:xfrm>
              <a:off x="0" y="38100"/>
              <a:ext cx="1030696" cy="467218"/>
            </a:xfrm>
            <a:prstGeom prst="rect">
              <a:avLst/>
            </a:prstGeom>
          </p:spPr>
          <p:txBody>
            <a:bodyPr lIns="50800" tIns="50800" rIns="50800" bIns="50800" rtlCol="0" anchor="ctr"/>
            <a:lstStyle/>
            <a:p>
              <a:pPr algn="ctr">
                <a:lnSpc>
                  <a:spcPts val="2100"/>
                </a:lnSpc>
              </a:pPr>
              <a:r>
                <a:rPr lang="en-US" sz="2100" b="1">
                  <a:solidFill>
                    <a:srgbClr val="FFFFFF"/>
                  </a:solidFill>
                  <a:latin typeface="Inter Bold"/>
                  <a:ea typeface="Inter Bold"/>
                  <a:cs typeface="Inter Bold"/>
                  <a:sym typeface="Inter Bold"/>
                </a:rPr>
                <a:t>credit_card_balance</a:t>
              </a:r>
            </a:p>
            <a:p>
              <a:pPr algn="ctr">
                <a:lnSpc>
                  <a:spcPts val="1800"/>
                </a:lnSpc>
              </a:pPr>
              <a:r>
                <a:rPr lang="en-US" sz="1800" b="1">
                  <a:solidFill>
                    <a:srgbClr val="FFFFFF"/>
                  </a:solidFill>
                  <a:latin typeface="Inter Bold"/>
                  <a:ea typeface="Inter Bold"/>
                  <a:cs typeface="Inter Bold"/>
                  <a:sym typeface="Inter Bold"/>
                </a:rPr>
                <a:t>(Spending Behavior)</a:t>
              </a:r>
            </a:p>
          </p:txBody>
        </p:sp>
      </p:grpSp>
      <p:grpSp>
        <p:nvGrpSpPr>
          <p:cNvPr id="20" name="Group 20"/>
          <p:cNvGrpSpPr/>
          <p:nvPr/>
        </p:nvGrpSpPr>
        <p:grpSpPr>
          <a:xfrm>
            <a:off x="6724435" y="2143760"/>
            <a:ext cx="3486693" cy="1709415"/>
            <a:chOff x="0" y="0"/>
            <a:chExt cx="1030696" cy="505318"/>
          </a:xfrm>
        </p:grpSpPr>
        <p:sp>
          <p:nvSpPr>
            <p:cNvPr id="21" name="Freeform 21"/>
            <p:cNvSpPr/>
            <p:nvPr/>
          </p:nvSpPr>
          <p:spPr>
            <a:xfrm>
              <a:off x="0" y="0"/>
              <a:ext cx="1030696" cy="505318"/>
            </a:xfrm>
            <a:custGeom>
              <a:avLst/>
              <a:gdLst/>
              <a:ahLst/>
              <a:cxnLst/>
              <a:rect l="l" t="t" r="r" b="b"/>
              <a:pathLst>
                <a:path w="1030696" h="505318">
                  <a:moveTo>
                    <a:pt x="99919" y="0"/>
                  </a:moveTo>
                  <a:lnTo>
                    <a:pt x="930777" y="0"/>
                  </a:lnTo>
                  <a:cubicBezTo>
                    <a:pt x="985961" y="0"/>
                    <a:pt x="1030696" y="44735"/>
                    <a:pt x="1030696" y="99919"/>
                  </a:cubicBezTo>
                  <a:lnTo>
                    <a:pt x="1030696" y="405399"/>
                  </a:lnTo>
                  <a:cubicBezTo>
                    <a:pt x="1030696" y="431899"/>
                    <a:pt x="1020169" y="457314"/>
                    <a:pt x="1001431" y="476052"/>
                  </a:cubicBezTo>
                  <a:cubicBezTo>
                    <a:pt x="982692" y="494791"/>
                    <a:pt x="957278" y="505318"/>
                    <a:pt x="930777" y="505318"/>
                  </a:cubicBezTo>
                  <a:lnTo>
                    <a:pt x="99919" y="505318"/>
                  </a:lnTo>
                  <a:cubicBezTo>
                    <a:pt x="73419" y="505318"/>
                    <a:pt x="48004" y="494791"/>
                    <a:pt x="29266" y="476052"/>
                  </a:cubicBezTo>
                  <a:cubicBezTo>
                    <a:pt x="10527" y="457314"/>
                    <a:pt x="0" y="431899"/>
                    <a:pt x="0" y="405399"/>
                  </a:cubicBezTo>
                  <a:lnTo>
                    <a:pt x="0" y="99919"/>
                  </a:lnTo>
                  <a:cubicBezTo>
                    <a:pt x="0" y="73419"/>
                    <a:pt x="10527" y="48004"/>
                    <a:pt x="29266" y="29266"/>
                  </a:cubicBezTo>
                  <a:cubicBezTo>
                    <a:pt x="48004" y="10527"/>
                    <a:pt x="73419" y="0"/>
                    <a:pt x="99919" y="0"/>
                  </a:cubicBezTo>
                  <a:close/>
                </a:path>
              </a:pathLst>
            </a:custGeom>
            <a:solidFill>
              <a:srgbClr val="0097B2"/>
            </a:solidFill>
          </p:spPr>
        </p:sp>
        <p:sp>
          <p:nvSpPr>
            <p:cNvPr id="22" name="TextBox 22"/>
            <p:cNvSpPr txBox="1"/>
            <p:nvPr/>
          </p:nvSpPr>
          <p:spPr>
            <a:xfrm>
              <a:off x="0" y="38100"/>
              <a:ext cx="1030696" cy="467218"/>
            </a:xfrm>
            <a:prstGeom prst="rect">
              <a:avLst/>
            </a:prstGeom>
          </p:spPr>
          <p:txBody>
            <a:bodyPr lIns="50800" tIns="50800" rIns="50800" bIns="50800" rtlCol="0" anchor="ctr"/>
            <a:lstStyle/>
            <a:p>
              <a:pPr algn="ctr">
                <a:lnSpc>
                  <a:spcPts val="2100"/>
                </a:lnSpc>
              </a:pPr>
              <a:r>
                <a:rPr lang="en-US" sz="2100" b="1">
                  <a:solidFill>
                    <a:srgbClr val="FFFFFF"/>
                  </a:solidFill>
                  <a:latin typeface="Inter Bold"/>
                  <a:ea typeface="Inter Bold"/>
                  <a:cs typeface="Inter Bold"/>
                  <a:sym typeface="Inter Bold"/>
                </a:rPr>
                <a:t>installments_payments</a:t>
              </a:r>
            </a:p>
            <a:p>
              <a:pPr algn="ctr">
                <a:lnSpc>
                  <a:spcPts val="1800"/>
                </a:lnSpc>
              </a:pPr>
              <a:r>
                <a:rPr lang="en-US" sz="1800" b="1">
                  <a:solidFill>
                    <a:srgbClr val="FFFFFF"/>
                  </a:solidFill>
                  <a:latin typeface="Inter Bold"/>
                  <a:ea typeface="Inter Bold"/>
                  <a:cs typeface="Inter Bold"/>
                  <a:sym typeface="Inter Bold"/>
                </a:rPr>
                <a:t>(Repayment Behavior)</a:t>
              </a:r>
            </a:p>
          </p:txBody>
        </p:sp>
      </p:grpSp>
      <p:grpSp>
        <p:nvGrpSpPr>
          <p:cNvPr id="23" name="Group 23"/>
          <p:cNvGrpSpPr/>
          <p:nvPr/>
        </p:nvGrpSpPr>
        <p:grpSpPr>
          <a:xfrm>
            <a:off x="11427243" y="7041918"/>
            <a:ext cx="3486693" cy="1709415"/>
            <a:chOff x="0" y="0"/>
            <a:chExt cx="1030696" cy="505318"/>
          </a:xfrm>
        </p:grpSpPr>
        <p:sp>
          <p:nvSpPr>
            <p:cNvPr id="24" name="Freeform 24"/>
            <p:cNvSpPr/>
            <p:nvPr/>
          </p:nvSpPr>
          <p:spPr>
            <a:xfrm>
              <a:off x="0" y="0"/>
              <a:ext cx="1030696" cy="505318"/>
            </a:xfrm>
            <a:custGeom>
              <a:avLst/>
              <a:gdLst/>
              <a:ahLst/>
              <a:cxnLst/>
              <a:rect l="l" t="t" r="r" b="b"/>
              <a:pathLst>
                <a:path w="1030696" h="505318">
                  <a:moveTo>
                    <a:pt x="99919" y="0"/>
                  </a:moveTo>
                  <a:lnTo>
                    <a:pt x="930777" y="0"/>
                  </a:lnTo>
                  <a:cubicBezTo>
                    <a:pt x="985961" y="0"/>
                    <a:pt x="1030696" y="44735"/>
                    <a:pt x="1030696" y="99919"/>
                  </a:cubicBezTo>
                  <a:lnTo>
                    <a:pt x="1030696" y="405399"/>
                  </a:lnTo>
                  <a:cubicBezTo>
                    <a:pt x="1030696" y="431899"/>
                    <a:pt x="1020169" y="457314"/>
                    <a:pt x="1001431" y="476052"/>
                  </a:cubicBezTo>
                  <a:cubicBezTo>
                    <a:pt x="982692" y="494791"/>
                    <a:pt x="957278" y="505318"/>
                    <a:pt x="930777" y="505318"/>
                  </a:cubicBezTo>
                  <a:lnTo>
                    <a:pt x="99919" y="505318"/>
                  </a:lnTo>
                  <a:cubicBezTo>
                    <a:pt x="73419" y="505318"/>
                    <a:pt x="48004" y="494791"/>
                    <a:pt x="29266" y="476052"/>
                  </a:cubicBezTo>
                  <a:cubicBezTo>
                    <a:pt x="10527" y="457314"/>
                    <a:pt x="0" y="431899"/>
                    <a:pt x="0" y="405399"/>
                  </a:cubicBezTo>
                  <a:lnTo>
                    <a:pt x="0" y="99919"/>
                  </a:lnTo>
                  <a:cubicBezTo>
                    <a:pt x="0" y="73419"/>
                    <a:pt x="10527" y="48004"/>
                    <a:pt x="29266" y="29266"/>
                  </a:cubicBezTo>
                  <a:cubicBezTo>
                    <a:pt x="48004" y="10527"/>
                    <a:pt x="73419" y="0"/>
                    <a:pt x="99919" y="0"/>
                  </a:cubicBezTo>
                  <a:close/>
                </a:path>
              </a:pathLst>
            </a:custGeom>
            <a:solidFill>
              <a:srgbClr val="CFC9C4"/>
            </a:solidFill>
          </p:spPr>
        </p:sp>
        <p:sp>
          <p:nvSpPr>
            <p:cNvPr id="25" name="TextBox 25"/>
            <p:cNvSpPr txBox="1"/>
            <p:nvPr/>
          </p:nvSpPr>
          <p:spPr>
            <a:xfrm>
              <a:off x="0" y="38100"/>
              <a:ext cx="1030696" cy="467218"/>
            </a:xfrm>
            <a:prstGeom prst="rect">
              <a:avLst/>
            </a:prstGeom>
          </p:spPr>
          <p:txBody>
            <a:bodyPr lIns="50800" tIns="50800" rIns="50800" bIns="50800" rtlCol="0" anchor="ctr"/>
            <a:lstStyle/>
            <a:p>
              <a:pPr algn="ctr">
                <a:lnSpc>
                  <a:spcPts val="2100"/>
                </a:lnSpc>
              </a:pPr>
              <a:r>
                <a:rPr lang="en-US" sz="2100" b="1">
                  <a:solidFill>
                    <a:srgbClr val="282638"/>
                  </a:solidFill>
                  <a:latin typeface="Inter Bold"/>
                  <a:ea typeface="Inter Bold"/>
                  <a:cs typeface="Inter Bold"/>
                  <a:sym typeface="Inter Bold"/>
                </a:rPr>
                <a:t>POS_CASH_balance</a:t>
              </a:r>
            </a:p>
            <a:p>
              <a:pPr algn="ctr">
                <a:lnSpc>
                  <a:spcPts val="1800"/>
                </a:lnSpc>
              </a:pPr>
              <a:r>
                <a:rPr lang="en-US" sz="1800" b="1">
                  <a:solidFill>
                    <a:srgbClr val="282638"/>
                  </a:solidFill>
                  <a:latin typeface="Inter Bold"/>
                  <a:ea typeface="Inter Bold"/>
                  <a:cs typeface="Inter Bold"/>
                  <a:sym typeface="Inter Bold"/>
                </a:rPr>
                <a:t>(Short-term Loans)</a:t>
              </a:r>
            </a:p>
          </p:txBody>
        </p:sp>
      </p:grpSp>
      <p:grpSp>
        <p:nvGrpSpPr>
          <p:cNvPr id="26" name="Group 26"/>
          <p:cNvGrpSpPr/>
          <p:nvPr/>
        </p:nvGrpSpPr>
        <p:grpSpPr>
          <a:xfrm>
            <a:off x="2021704" y="7041918"/>
            <a:ext cx="3488971" cy="1709415"/>
            <a:chOff x="0" y="0"/>
            <a:chExt cx="1031370" cy="505318"/>
          </a:xfrm>
        </p:grpSpPr>
        <p:sp>
          <p:nvSpPr>
            <p:cNvPr id="27" name="Freeform 27"/>
            <p:cNvSpPr/>
            <p:nvPr/>
          </p:nvSpPr>
          <p:spPr>
            <a:xfrm>
              <a:off x="0" y="0"/>
              <a:ext cx="1031370" cy="505318"/>
            </a:xfrm>
            <a:custGeom>
              <a:avLst/>
              <a:gdLst/>
              <a:ahLst/>
              <a:cxnLst/>
              <a:rect l="l" t="t" r="r" b="b"/>
              <a:pathLst>
                <a:path w="1031370" h="505318">
                  <a:moveTo>
                    <a:pt x="99854" y="0"/>
                  </a:moveTo>
                  <a:lnTo>
                    <a:pt x="931516" y="0"/>
                  </a:lnTo>
                  <a:cubicBezTo>
                    <a:pt x="957999" y="0"/>
                    <a:pt x="983397" y="10520"/>
                    <a:pt x="1002123" y="29246"/>
                  </a:cubicBezTo>
                  <a:cubicBezTo>
                    <a:pt x="1020849" y="47973"/>
                    <a:pt x="1031370" y="73371"/>
                    <a:pt x="1031370" y="99854"/>
                  </a:cubicBezTo>
                  <a:lnTo>
                    <a:pt x="1031370" y="405464"/>
                  </a:lnTo>
                  <a:cubicBezTo>
                    <a:pt x="1031370" y="431947"/>
                    <a:pt x="1020849" y="457345"/>
                    <a:pt x="1002123" y="476071"/>
                  </a:cubicBezTo>
                  <a:cubicBezTo>
                    <a:pt x="983397" y="494798"/>
                    <a:pt x="957999" y="505318"/>
                    <a:pt x="931516" y="505318"/>
                  </a:cubicBezTo>
                  <a:lnTo>
                    <a:pt x="99854" y="505318"/>
                  </a:lnTo>
                  <a:cubicBezTo>
                    <a:pt x="44706" y="505318"/>
                    <a:pt x="0" y="460612"/>
                    <a:pt x="0" y="405464"/>
                  </a:cubicBezTo>
                  <a:lnTo>
                    <a:pt x="0" y="99854"/>
                  </a:lnTo>
                  <a:cubicBezTo>
                    <a:pt x="0" y="73371"/>
                    <a:pt x="10520" y="47973"/>
                    <a:pt x="29246" y="29246"/>
                  </a:cubicBezTo>
                  <a:cubicBezTo>
                    <a:pt x="47973" y="10520"/>
                    <a:pt x="73371" y="0"/>
                    <a:pt x="99854" y="0"/>
                  </a:cubicBezTo>
                  <a:close/>
                </a:path>
              </a:pathLst>
            </a:custGeom>
            <a:solidFill>
              <a:srgbClr val="737373"/>
            </a:solidFill>
          </p:spPr>
        </p:sp>
        <p:sp>
          <p:nvSpPr>
            <p:cNvPr id="28" name="TextBox 28"/>
            <p:cNvSpPr txBox="1"/>
            <p:nvPr/>
          </p:nvSpPr>
          <p:spPr>
            <a:xfrm>
              <a:off x="0" y="38100"/>
              <a:ext cx="1031370" cy="467218"/>
            </a:xfrm>
            <a:prstGeom prst="rect">
              <a:avLst/>
            </a:prstGeom>
          </p:spPr>
          <p:txBody>
            <a:bodyPr lIns="50800" tIns="50800" rIns="50800" bIns="50800" rtlCol="0" anchor="ctr"/>
            <a:lstStyle/>
            <a:p>
              <a:pPr algn="ctr">
                <a:lnSpc>
                  <a:spcPts val="2100"/>
                </a:lnSpc>
              </a:pPr>
              <a:r>
                <a:rPr lang="en-US" sz="2100" b="1">
                  <a:solidFill>
                    <a:srgbClr val="FFFFFF"/>
                  </a:solidFill>
                  <a:latin typeface="Inter Bold"/>
                  <a:ea typeface="Inter Bold"/>
                  <a:cs typeface="Inter Bold"/>
                  <a:sym typeface="Inter Bold"/>
                </a:rPr>
                <a:t>bureau_balance</a:t>
              </a:r>
            </a:p>
            <a:p>
              <a:pPr algn="ctr">
                <a:lnSpc>
                  <a:spcPts val="1800"/>
                </a:lnSpc>
              </a:pPr>
              <a:r>
                <a:rPr lang="en-US" sz="1800" b="1">
                  <a:solidFill>
                    <a:srgbClr val="FFFFFF"/>
                  </a:solidFill>
                  <a:latin typeface="Inter Bold"/>
                  <a:ea typeface="Inter Bold"/>
                  <a:cs typeface="Inter Bold"/>
                  <a:sym typeface="Inter Bold"/>
                </a:rPr>
                <a:t>(Monthly Credit Status)</a:t>
              </a:r>
            </a:p>
          </p:txBody>
        </p:sp>
      </p:grpSp>
      <p:grpSp>
        <p:nvGrpSpPr>
          <p:cNvPr id="29" name="Group 29"/>
          <p:cNvGrpSpPr/>
          <p:nvPr/>
        </p:nvGrpSpPr>
        <p:grpSpPr>
          <a:xfrm>
            <a:off x="10211128" y="5226889"/>
            <a:ext cx="1216115" cy="552595"/>
            <a:chOff x="0" y="0"/>
            <a:chExt cx="901671" cy="409713"/>
          </a:xfrm>
        </p:grpSpPr>
        <p:sp>
          <p:nvSpPr>
            <p:cNvPr id="30" name="Freeform 30"/>
            <p:cNvSpPr/>
            <p:nvPr/>
          </p:nvSpPr>
          <p:spPr>
            <a:xfrm>
              <a:off x="0" y="0"/>
              <a:ext cx="901671" cy="409713"/>
            </a:xfrm>
            <a:custGeom>
              <a:avLst/>
              <a:gdLst/>
              <a:ahLst/>
              <a:cxnLst/>
              <a:rect l="l" t="t" r="r" b="b"/>
              <a:pathLst>
                <a:path w="901671" h="409713">
                  <a:moveTo>
                    <a:pt x="239386" y="165616"/>
                  </a:moveTo>
                  <a:lnTo>
                    <a:pt x="901671" y="165616"/>
                  </a:lnTo>
                  <a:lnTo>
                    <a:pt x="901671" y="244082"/>
                  </a:lnTo>
                  <a:lnTo>
                    <a:pt x="239373" y="244082"/>
                  </a:lnTo>
                  <a:lnTo>
                    <a:pt x="302255" y="409713"/>
                  </a:lnTo>
                  <a:lnTo>
                    <a:pt x="0" y="204857"/>
                  </a:lnTo>
                  <a:lnTo>
                    <a:pt x="302255" y="0"/>
                  </a:lnTo>
                  <a:lnTo>
                    <a:pt x="239386" y="165616"/>
                  </a:lnTo>
                  <a:close/>
                </a:path>
              </a:pathLst>
            </a:custGeom>
            <a:solidFill>
              <a:srgbClr val="282638"/>
            </a:solidFill>
          </p:spPr>
        </p:sp>
        <p:sp>
          <p:nvSpPr>
            <p:cNvPr id="31" name="TextBox 31"/>
            <p:cNvSpPr txBox="1"/>
            <p:nvPr/>
          </p:nvSpPr>
          <p:spPr>
            <a:xfrm>
              <a:off x="120650" y="203200"/>
              <a:ext cx="781021" cy="41413"/>
            </a:xfrm>
            <a:prstGeom prst="rect">
              <a:avLst/>
            </a:prstGeom>
          </p:spPr>
          <p:txBody>
            <a:bodyPr lIns="50800" tIns="50800" rIns="50800" bIns="50800" rtlCol="0" anchor="ctr"/>
            <a:lstStyle/>
            <a:p>
              <a:pPr algn="ctr">
                <a:lnSpc>
                  <a:spcPts val="2100"/>
                </a:lnSpc>
              </a:pPr>
              <a:endParaRPr/>
            </a:p>
          </p:txBody>
        </p:sp>
      </p:grpSp>
      <p:grpSp>
        <p:nvGrpSpPr>
          <p:cNvPr id="32" name="Group 32"/>
          <p:cNvGrpSpPr/>
          <p:nvPr/>
        </p:nvGrpSpPr>
        <p:grpSpPr>
          <a:xfrm rot="-10800000">
            <a:off x="5508397" y="5226889"/>
            <a:ext cx="1216038" cy="552595"/>
            <a:chOff x="0" y="0"/>
            <a:chExt cx="901614" cy="409713"/>
          </a:xfrm>
        </p:grpSpPr>
        <p:sp>
          <p:nvSpPr>
            <p:cNvPr id="33" name="Freeform 33"/>
            <p:cNvSpPr/>
            <p:nvPr/>
          </p:nvSpPr>
          <p:spPr>
            <a:xfrm>
              <a:off x="0" y="0"/>
              <a:ext cx="901614" cy="409713"/>
            </a:xfrm>
            <a:custGeom>
              <a:avLst/>
              <a:gdLst/>
              <a:ahLst/>
              <a:cxnLst/>
              <a:rect l="l" t="t" r="r" b="b"/>
              <a:pathLst>
                <a:path w="901614" h="409713">
                  <a:moveTo>
                    <a:pt x="239386" y="165616"/>
                  </a:moveTo>
                  <a:lnTo>
                    <a:pt x="901614" y="165616"/>
                  </a:lnTo>
                  <a:lnTo>
                    <a:pt x="901614" y="244082"/>
                  </a:lnTo>
                  <a:lnTo>
                    <a:pt x="239373" y="244082"/>
                  </a:lnTo>
                  <a:lnTo>
                    <a:pt x="302255" y="409713"/>
                  </a:lnTo>
                  <a:lnTo>
                    <a:pt x="0" y="204857"/>
                  </a:lnTo>
                  <a:lnTo>
                    <a:pt x="302255" y="0"/>
                  </a:lnTo>
                  <a:lnTo>
                    <a:pt x="239386" y="165616"/>
                  </a:lnTo>
                  <a:close/>
                </a:path>
              </a:pathLst>
            </a:custGeom>
            <a:solidFill>
              <a:srgbClr val="282638"/>
            </a:solidFill>
          </p:spPr>
        </p:sp>
        <p:sp>
          <p:nvSpPr>
            <p:cNvPr id="34" name="TextBox 34"/>
            <p:cNvSpPr txBox="1"/>
            <p:nvPr/>
          </p:nvSpPr>
          <p:spPr>
            <a:xfrm>
              <a:off x="120650" y="203200"/>
              <a:ext cx="780964" cy="41413"/>
            </a:xfrm>
            <a:prstGeom prst="rect">
              <a:avLst/>
            </a:prstGeom>
          </p:spPr>
          <p:txBody>
            <a:bodyPr lIns="50800" tIns="50800" rIns="50800" bIns="50800" rtlCol="0" anchor="ctr"/>
            <a:lstStyle/>
            <a:p>
              <a:pPr algn="ctr">
                <a:lnSpc>
                  <a:spcPts val="2100"/>
                </a:lnSpc>
              </a:pPr>
              <a:endParaRPr/>
            </a:p>
          </p:txBody>
        </p:sp>
      </p:grpSp>
      <p:grpSp>
        <p:nvGrpSpPr>
          <p:cNvPr id="35" name="Group 35"/>
          <p:cNvGrpSpPr/>
          <p:nvPr/>
        </p:nvGrpSpPr>
        <p:grpSpPr>
          <a:xfrm rot="5400000">
            <a:off x="3261924" y="6358561"/>
            <a:ext cx="829677" cy="578773"/>
            <a:chOff x="0" y="0"/>
            <a:chExt cx="615152" cy="429123"/>
          </a:xfrm>
        </p:grpSpPr>
        <p:sp>
          <p:nvSpPr>
            <p:cNvPr id="36" name="Freeform 36"/>
            <p:cNvSpPr/>
            <p:nvPr/>
          </p:nvSpPr>
          <p:spPr>
            <a:xfrm>
              <a:off x="0" y="0"/>
              <a:ext cx="615152" cy="429123"/>
            </a:xfrm>
            <a:custGeom>
              <a:avLst/>
              <a:gdLst/>
              <a:ahLst/>
              <a:cxnLst/>
              <a:rect l="l" t="t" r="r" b="b"/>
              <a:pathLst>
                <a:path w="615152" h="429123">
                  <a:moveTo>
                    <a:pt x="239386" y="165742"/>
                  </a:moveTo>
                  <a:lnTo>
                    <a:pt x="615152" y="165742"/>
                  </a:lnTo>
                  <a:lnTo>
                    <a:pt x="615152" y="263362"/>
                  </a:lnTo>
                  <a:lnTo>
                    <a:pt x="239373" y="263362"/>
                  </a:lnTo>
                  <a:lnTo>
                    <a:pt x="302255" y="429123"/>
                  </a:lnTo>
                  <a:lnTo>
                    <a:pt x="0" y="214561"/>
                  </a:lnTo>
                  <a:lnTo>
                    <a:pt x="302255" y="0"/>
                  </a:lnTo>
                  <a:lnTo>
                    <a:pt x="239386" y="165742"/>
                  </a:lnTo>
                  <a:close/>
                </a:path>
              </a:pathLst>
            </a:custGeom>
            <a:solidFill>
              <a:srgbClr val="282638"/>
            </a:solidFill>
          </p:spPr>
        </p:sp>
        <p:sp>
          <p:nvSpPr>
            <p:cNvPr id="37" name="TextBox 37"/>
            <p:cNvSpPr txBox="1"/>
            <p:nvPr/>
          </p:nvSpPr>
          <p:spPr>
            <a:xfrm>
              <a:off x="120650" y="203200"/>
              <a:ext cx="494502" cy="60823"/>
            </a:xfrm>
            <a:prstGeom prst="rect">
              <a:avLst/>
            </a:prstGeom>
          </p:spPr>
          <p:txBody>
            <a:bodyPr lIns="50800" tIns="50800" rIns="50800" bIns="50800" rtlCol="0" anchor="ctr"/>
            <a:lstStyle/>
            <a:p>
              <a:pPr algn="ctr">
                <a:lnSpc>
                  <a:spcPts val="2100"/>
                </a:lnSpc>
              </a:pPr>
              <a:endParaRPr/>
            </a:p>
          </p:txBody>
        </p:sp>
      </p:grpSp>
      <p:grpSp>
        <p:nvGrpSpPr>
          <p:cNvPr id="38" name="Group 38"/>
          <p:cNvGrpSpPr/>
          <p:nvPr/>
        </p:nvGrpSpPr>
        <p:grpSpPr>
          <a:xfrm rot="5400000">
            <a:off x="8260362" y="6565980"/>
            <a:ext cx="414839" cy="578773"/>
            <a:chOff x="0" y="0"/>
            <a:chExt cx="307576" cy="429123"/>
          </a:xfrm>
        </p:grpSpPr>
        <p:sp>
          <p:nvSpPr>
            <p:cNvPr id="39" name="Freeform 39"/>
            <p:cNvSpPr/>
            <p:nvPr/>
          </p:nvSpPr>
          <p:spPr>
            <a:xfrm>
              <a:off x="0" y="0"/>
              <a:ext cx="307576" cy="429123"/>
            </a:xfrm>
            <a:custGeom>
              <a:avLst/>
              <a:gdLst/>
              <a:ahLst/>
              <a:cxnLst/>
              <a:rect l="l" t="t" r="r" b="b"/>
              <a:pathLst>
                <a:path w="307576" h="429123">
                  <a:moveTo>
                    <a:pt x="239386" y="165742"/>
                  </a:moveTo>
                  <a:lnTo>
                    <a:pt x="307576" y="165742"/>
                  </a:lnTo>
                  <a:lnTo>
                    <a:pt x="307576" y="263362"/>
                  </a:lnTo>
                  <a:lnTo>
                    <a:pt x="239373" y="263362"/>
                  </a:lnTo>
                  <a:lnTo>
                    <a:pt x="302255" y="429123"/>
                  </a:lnTo>
                  <a:lnTo>
                    <a:pt x="0" y="214561"/>
                  </a:lnTo>
                  <a:lnTo>
                    <a:pt x="302255" y="0"/>
                  </a:lnTo>
                  <a:lnTo>
                    <a:pt x="239386" y="165742"/>
                  </a:lnTo>
                  <a:close/>
                </a:path>
              </a:pathLst>
            </a:custGeom>
            <a:solidFill>
              <a:srgbClr val="282638"/>
            </a:solidFill>
          </p:spPr>
        </p:sp>
        <p:sp>
          <p:nvSpPr>
            <p:cNvPr id="40" name="TextBox 40"/>
            <p:cNvSpPr txBox="1"/>
            <p:nvPr/>
          </p:nvSpPr>
          <p:spPr>
            <a:xfrm>
              <a:off x="120650" y="203200"/>
              <a:ext cx="186926" cy="60823"/>
            </a:xfrm>
            <a:prstGeom prst="rect">
              <a:avLst/>
            </a:prstGeom>
          </p:spPr>
          <p:txBody>
            <a:bodyPr lIns="50800" tIns="50800" rIns="50800" bIns="50800" rtlCol="0" anchor="ctr"/>
            <a:lstStyle/>
            <a:p>
              <a:pPr algn="ctr">
                <a:lnSpc>
                  <a:spcPts val="2100"/>
                </a:lnSpc>
              </a:pPr>
              <a:endParaRPr/>
            </a:p>
          </p:txBody>
        </p:sp>
      </p:grpSp>
      <p:grpSp>
        <p:nvGrpSpPr>
          <p:cNvPr id="41" name="Group 41"/>
          <p:cNvGrpSpPr/>
          <p:nvPr/>
        </p:nvGrpSpPr>
        <p:grpSpPr>
          <a:xfrm rot="-5400000">
            <a:off x="8260362" y="3771208"/>
            <a:ext cx="414839" cy="578773"/>
            <a:chOff x="0" y="0"/>
            <a:chExt cx="307576" cy="429123"/>
          </a:xfrm>
        </p:grpSpPr>
        <p:sp>
          <p:nvSpPr>
            <p:cNvPr id="42" name="Freeform 42"/>
            <p:cNvSpPr/>
            <p:nvPr/>
          </p:nvSpPr>
          <p:spPr>
            <a:xfrm>
              <a:off x="0" y="0"/>
              <a:ext cx="307576" cy="429123"/>
            </a:xfrm>
            <a:custGeom>
              <a:avLst/>
              <a:gdLst/>
              <a:ahLst/>
              <a:cxnLst/>
              <a:rect l="l" t="t" r="r" b="b"/>
              <a:pathLst>
                <a:path w="307576" h="429123">
                  <a:moveTo>
                    <a:pt x="239386" y="165742"/>
                  </a:moveTo>
                  <a:lnTo>
                    <a:pt x="307576" y="165742"/>
                  </a:lnTo>
                  <a:lnTo>
                    <a:pt x="307576" y="263362"/>
                  </a:lnTo>
                  <a:lnTo>
                    <a:pt x="239373" y="263362"/>
                  </a:lnTo>
                  <a:lnTo>
                    <a:pt x="302255" y="429123"/>
                  </a:lnTo>
                  <a:lnTo>
                    <a:pt x="0" y="214561"/>
                  </a:lnTo>
                  <a:lnTo>
                    <a:pt x="302255" y="0"/>
                  </a:lnTo>
                  <a:lnTo>
                    <a:pt x="239386" y="165742"/>
                  </a:lnTo>
                  <a:close/>
                </a:path>
              </a:pathLst>
            </a:custGeom>
            <a:solidFill>
              <a:srgbClr val="282638"/>
            </a:solidFill>
          </p:spPr>
        </p:sp>
        <p:sp>
          <p:nvSpPr>
            <p:cNvPr id="43" name="TextBox 43"/>
            <p:cNvSpPr txBox="1"/>
            <p:nvPr/>
          </p:nvSpPr>
          <p:spPr>
            <a:xfrm>
              <a:off x="120650" y="203200"/>
              <a:ext cx="186926" cy="60823"/>
            </a:xfrm>
            <a:prstGeom prst="rect">
              <a:avLst/>
            </a:prstGeom>
          </p:spPr>
          <p:txBody>
            <a:bodyPr lIns="50800" tIns="50800" rIns="50800" bIns="50800" rtlCol="0" anchor="ctr"/>
            <a:lstStyle/>
            <a:p>
              <a:pPr algn="ctr">
                <a:lnSpc>
                  <a:spcPts val="2100"/>
                </a:lnSpc>
              </a:pPr>
              <a:endParaRPr/>
            </a:p>
          </p:txBody>
        </p:sp>
      </p:grpSp>
      <p:sp>
        <p:nvSpPr>
          <p:cNvPr id="44" name="TextBox 44"/>
          <p:cNvSpPr txBox="1"/>
          <p:nvPr/>
        </p:nvSpPr>
        <p:spPr>
          <a:xfrm>
            <a:off x="954956" y="9821836"/>
            <a:ext cx="16709912" cy="245745"/>
          </a:xfrm>
          <a:prstGeom prst="rect">
            <a:avLst/>
          </a:prstGeom>
        </p:spPr>
        <p:txBody>
          <a:bodyPr lIns="0" tIns="0" rIns="0" bIns="0" rtlCol="0" anchor="t">
            <a:spAutoFit/>
          </a:bodyPr>
          <a:lstStyle/>
          <a:p>
            <a:pPr algn="ctr">
              <a:lnSpc>
                <a:spcPts val="1800"/>
              </a:lnSpc>
              <a:spcBef>
                <a:spcPct val="0"/>
              </a:spcBef>
            </a:pPr>
            <a:r>
              <a:rPr lang="en-US" sz="1800">
                <a:solidFill>
                  <a:srgbClr val="000000"/>
                </a:solidFill>
                <a:latin typeface="Inter"/>
                <a:ea typeface="Inter"/>
                <a:cs typeface="Inter"/>
                <a:sym typeface="Inter"/>
              </a:rPr>
              <a:t>All auxiliary tables are aggregated at the customer level using SK_ID_CURR and merged into the central application dataset for analysis and modeling.</a:t>
            </a:r>
          </a:p>
        </p:txBody>
      </p:sp>
      <p:grpSp>
        <p:nvGrpSpPr>
          <p:cNvPr id="45" name="Group 45"/>
          <p:cNvGrpSpPr/>
          <p:nvPr/>
        </p:nvGrpSpPr>
        <p:grpSpPr>
          <a:xfrm rot="5400000">
            <a:off x="12847926" y="6337693"/>
            <a:ext cx="829677" cy="578773"/>
            <a:chOff x="0" y="0"/>
            <a:chExt cx="615152" cy="429123"/>
          </a:xfrm>
        </p:grpSpPr>
        <p:sp>
          <p:nvSpPr>
            <p:cNvPr id="46" name="Freeform 46"/>
            <p:cNvSpPr/>
            <p:nvPr/>
          </p:nvSpPr>
          <p:spPr>
            <a:xfrm>
              <a:off x="0" y="0"/>
              <a:ext cx="615152" cy="429123"/>
            </a:xfrm>
            <a:custGeom>
              <a:avLst/>
              <a:gdLst/>
              <a:ahLst/>
              <a:cxnLst/>
              <a:rect l="l" t="t" r="r" b="b"/>
              <a:pathLst>
                <a:path w="615152" h="429123">
                  <a:moveTo>
                    <a:pt x="239386" y="165742"/>
                  </a:moveTo>
                  <a:lnTo>
                    <a:pt x="615152" y="165742"/>
                  </a:lnTo>
                  <a:lnTo>
                    <a:pt x="615152" y="263362"/>
                  </a:lnTo>
                  <a:lnTo>
                    <a:pt x="239373" y="263362"/>
                  </a:lnTo>
                  <a:lnTo>
                    <a:pt x="302255" y="429123"/>
                  </a:lnTo>
                  <a:lnTo>
                    <a:pt x="0" y="214561"/>
                  </a:lnTo>
                  <a:lnTo>
                    <a:pt x="302255" y="0"/>
                  </a:lnTo>
                  <a:lnTo>
                    <a:pt x="239386" y="165742"/>
                  </a:lnTo>
                  <a:close/>
                </a:path>
              </a:pathLst>
            </a:custGeom>
            <a:solidFill>
              <a:srgbClr val="282638"/>
            </a:solidFill>
          </p:spPr>
        </p:sp>
        <p:sp>
          <p:nvSpPr>
            <p:cNvPr id="47" name="TextBox 47"/>
            <p:cNvSpPr txBox="1"/>
            <p:nvPr/>
          </p:nvSpPr>
          <p:spPr>
            <a:xfrm>
              <a:off x="120650" y="203200"/>
              <a:ext cx="494502" cy="60823"/>
            </a:xfrm>
            <a:prstGeom prst="rect">
              <a:avLst/>
            </a:prstGeom>
          </p:spPr>
          <p:txBody>
            <a:bodyPr lIns="50800" tIns="50800" rIns="50800" bIns="50800" rtlCol="0" anchor="ctr"/>
            <a:lstStyle/>
            <a:p>
              <a:pPr algn="ctr">
                <a:lnSpc>
                  <a:spcPts val="2100"/>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606061" y="-1766020"/>
            <a:ext cx="12761668" cy="13819041"/>
            <a:chOff x="0" y="0"/>
            <a:chExt cx="750608" cy="812800"/>
          </a:xfrm>
        </p:grpSpPr>
        <p:sp>
          <p:nvSpPr>
            <p:cNvPr id="3" name="Freeform 3"/>
            <p:cNvSpPr/>
            <p:nvPr/>
          </p:nvSpPr>
          <p:spPr>
            <a:xfrm>
              <a:off x="0" y="0"/>
              <a:ext cx="750608" cy="812800"/>
            </a:xfrm>
            <a:custGeom>
              <a:avLst/>
              <a:gdLst/>
              <a:ahLst/>
              <a:cxnLst/>
              <a:rect l="l" t="t" r="r" b="b"/>
              <a:pathLst>
                <a:path w="750608" h="812800">
                  <a:moveTo>
                    <a:pt x="375304" y="0"/>
                  </a:moveTo>
                  <a:cubicBezTo>
                    <a:pt x="168029" y="0"/>
                    <a:pt x="0" y="181951"/>
                    <a:pt x="0" y="406400"/>
                  </a:cubicBezTo>
                  <a:cubicBezTo>
                    <a:pt x="0" y="630849"/>
                    <a:pt x="168029" y="812800"/>
                    <a:pt x="375304" y="812800"/>
                  </a:cubicBezTo>
                  <a:cubicBezTo>
                    <a:pt x="582579" y="812800"/>
                    <a:pt x="750608" y="630849"/>
                    <a:pt x="750608" y="406400"/>
                  </a:cubicBezTo>
                  <a:cubicBezTo>
                    <a:pt x="750608" y="181951"/>
                    <a:pt x="582579" y="0"/>
                    <a:pt x="375304" y="0"/>
                  </a:cubicBezTo>
                  <a:close/>
                </a:path>
              </a:pathLst>
            </a:custGeom>
            <a:solidFill>
              <a:srgbClr val="20334A"/>
            </a:solidFill>
          </p:spPr>
        </p:sp>
        <p:sp>
          <p:nvSpPr>
            <p:cNvPr id="4" name="TextBox 4"/>
            <p:cNvSpPr txBox="1"/>
            <p:nvPr/>
          </p:nvSpPr>
          <p:spPr>
            <a:xfrm>
              <a:off x="70370" y="114300"/>
              <a:ext cx="609869" cy="622300"/>
            </a:xfrm>
            <a:prstGeom prst="rect">
              <a:avLst/>
            </a:prstGeom>
          </p:spPr>
          <p:txBody>
            <a:bodyPr lIns="50800" tIns="50800" rIns="50800" bIns="50800" rtlCol="0" anchor="ctr"/>
            <a:lstStyle/>
            <a:p>
              <a:pPr algn="ctr">
                <a:lnSpc>
                  <a:spcPts val="2100"/>
                </a:lnSpc>
              </a:pPr>
              <a:endParaRPr/>
            </a:p>
          </p:txBody>
        </p:sp>
      </p:grpSp>
      <p:sp>
        <p:nvSpPr>
          <p:cNvPr id="5" name="TextBox 5"/>
          <p:cNvSpPr txBox="1"/>
          <p:nvPr/>
        </p:nvSpPr>
        <p:spPr>
          <a:xfrm>
            <a:off x="1028700" y="1799524"/>
            <a:ext cx="6921283" cy="1657985"/>
          </a:xfrm>
          <a:prstGeom prst="rect">
            <a:avLst/>
          </a:prstGeom>
        </p:spPr>
        <p:txBody>
          <a:bodyPr lIns="0" tIns="0" rIns="0" bIns="0" rtlCol="0" anchor="t">
            <a:spAutoFit/>
          </a:bodyPr>
          <a:lstStyle/>
          <a:p>
            <a:pPr algn="l">
              <a:lnSpc>
                <a:spcPts val="6399"/>
              </a:lnSpc>
            </a:pPr>
            <a:r>
              <a:rPr lang="en-US" sz="6399" b="1">
                <a:solidFill>
                  <a:srgbClr val="000000"/>
                </a:solidFill>
                <a:latin typeface="Neue Machina Ultra-Bold"/>
                <a:ea typeface="Neue Machina Ultra-Bold"/>
                <a:cs typeface="Neue Machina Ultra-Bold"/>
                <a:sym typeface="Neue Machina Ultra-Bold"/>
              </a:rPr>
              <a:t>Dataset Overview</a:t>
            </a:r>
          </a:p>
        </p:txBody>
      </p:sp>
      <p:sp>
        <p:nvSpPr>
          <p:cNvPr id="6" name="Freeform 6"/>
          <p:cNvSpPr/>
          <p:nvPr/>
        </p:nvSpPr>
        <p:spPr>
          <a:xfrm>
            <a:off x="17238542" y="-194781"/>
            <a:ext cx="2098915" cy="1602808"/>
          </a:xfrm>
          <a:custGeom>
            <a:avLst/>
            <a:gdLst/>
            <a:ahLst/>
            <a:cxnLst/>
            <a:rect l="l" t="t" r="r" b="b"/>
            <a:pathLst>
              <a:path w="2098915" h="1602808">
                <a:moveTo>
                  <a:pt x="0" y="0"/>
                </a:moveTo>
                <a:lnTo>
                  <a:pt x="2098916" y="0"/>
                </a:lnTo>
                <a:lnTo>
                  <a:pt x="2098916" y="1602807"/>
                </a:lnTo>
                <a:lnTo>
                  <a:pt x="0" y="1602807"/>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7" name="Freeform 7"/>
          <p:cNvSpPr/>
          <p:nvPr/>
        </p:nvSpPr>
        <p:spPr>
          <a:xfrm>
            <a:off x="-660612" y="1408026"/>
            <a:ext cx="1321225" cy="554394"/>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3"/>
                </a:ext>
              </a:extLst>
            </a:blip>
            <a:stretch>
              <a:fillRect r="-71029" b="-123065"/>
            </a:stretch>
          </a:blipFill>
        </p:spPr>
      </p:sp>
      <p:sp>
        <p:nvSpPr>
          <p:cNvPr id="8" name="Freeform 8"/>
          <p:cNvSpPr/>
          <p:nvPr/>
        </p:nvSpPr>
        <p:spPr>
          <a:xfrm>
            <a:off x="17259300" y="9064355"/>
            <a:ext cx="1864644" cy="728906"/>
          </a:xfrm>
          <a:custGeom>
            <a:avLst/>
            <a:gdLst/>
            <a:ahLst/>
            <a:cxnLst/>
            <a:rect l="l" t="t" r="r" b="b"/>
            <a:pathLst>
              <a:path w="1864644" h="728906">
                <a:moveTo>
                  <a:pt x="0" y="0"/>
                </a:moveTo>
                <a:lnTo>
                  <a:pt x="1864644" y="0"/>
                </a:lnTo>
                <a:lnTo>
                  <a:pt x="1864644" y="728906"/>
                </a:lnTo>
                <a:lnTo>
                  <a:pt x="0" y="728906"/>
                </a:lnTo>
                <a:lnTo>
                  <a:pt x="0" y="0"/>
                </a:lnTo>
                <a:close/>
              </a:path>
            </a:pathLst>
          </a:custGeom>
          <a:blipFill>
            <a:blip>
              <a:alphaModFix amt="39000"/>
              <a:extLst>
                <a:ext uri="{96DAC541-7B7A-43D3-8B79-37D633B846F1}">
                  <asvg:svgBlip xmlns:asvg="http://schemas.microsoft.com/office/drawing/2016/SVG/main" r:embed="rId4"/>
                </a:ext>
              </a:extLst>
            </a:blip>
            <a:stretch>
              <a:fillRect/>
            </a:stretch>
          </a:blipFill>
          <a:ln cap="sq">
            <a:noFill/>
            <a:prstDash val="solid"/>
            <a:miter/>
          </a:ln>
        </p:spPr>
      </p:sp>
      <p:sp>
        <p:nvSpPr>
          <p:cNvPr id="9" name="Freeform 9"/>
          <p:cNvSpPr/>
          <p:nvPr/>
        </p:nvSpPr>
        <p:spPr>
          <a:xfrm>
            <a:off x="-954956" y="9258300"/>
            <a:ext cx="1909912" cy="1878659"/>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5"/>
                </a:ext>
              </a:extLst>
            </a:blip>
            <a:stretch>
              <a:fillRect/>
            </a:stretch>
          </a:blipFill>
        </p:spPr>
      </p:sp>
      <p:sp>
        <p:nvSpPr>
          <p:cNvPr id="10" name="Freeform 10"/>
          <p:cNvSpPr/>
          <p:nvPr/>
        </p:nvSpPr>
        <p:spPr>
          <a:xfrm rot="5400000">
            <a:off x="6894851" y="1089594"/>
            <a:ext cx="550257" cy="1560007"/>
          </a:xfrm>
          <a:custGeom>
            <a:avLst/>
            <a:gdLst/>
            <a:ahLst/>
            <a:cxnLst/>
            <a:rect l="l" t="t" r="r" b="b"/>
            <a:pathLst>
              <a:path w="550257" h="1560007">
                <a:moveTo>
                  <a:pt x="0" y="0"/>
                </a:moveTo>
                <a:lnTo>
                  <a:pt x="550257" y="0"/>
                </a:lnTo>
                <a:lnTo>
                  <a:pt x="550257" y="1560007"/>
                </a:lnTo>
                <a:lnTo>
                  <a:pt x="0" y="156000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Freeform 11"/>
          <p:cNvSpPr/>
          <p:nvPr/>
        </p:nvSpPr>
        <p:spPr>
          <a:xfrm rot="5400000">
            <a:off x="13329253" y="3181008"/>
            <a:ext cx="1342903" cy="712959"/>
          </a:xfrm>
          <a:custGeom>
            <a:avLst/>
            <a:gdLst/>
            <a:ahLst/>
            <a:cxnLst/>
            <a:rect l="l" t="t" r="r" b="b"/>
            <a:pathLst>
              <a:path w="1342903" h="712959">
                <a:moveTo>
                  <a:pt x="0" y="0"/>
                </a:moveTo>
                <a:lnTo>
                  <a:pt x="1342903" y="0"/>
                </a:lnTo>
                <a:lnTo>
                  <a:pt x="1342903" y="712960"/>
                </a:lnTo>
                <a:lnTo>
                  <a:pt x="0" y="71296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2" name="TextBox 12"/>
          <p:cNvSpPr txBox="1"/>
          <p:nvPr/>
        </p:nvSpPr>
        <p:spPr>
          <a:xfrm>
            <a:off x="954956" y="3563911"/>
            <a:ext cx="6921283" cy="2045970"/>
          </a:xfrm>
          <a:prstGeom prst="rect">
            <a:avLst/>
          </a:prstGeom>
        </p:spPr>
        <p:txBody>
          <a:bodyPr lIns="0" tIns="0" rIns="0" bIns="0" rtlCol="0" anchor="t">
            <a:spAutoFit/>
          </a:bodyPr>
          <a:lstStyle/>
          <a:p>
            <a:pPr algn="l">
              <a:lnSpc>
                <a:spcPts val="2700"/>
              </a:lnSpc>
            </a:pPr>
            <a:r>
              <a:rPr lang="en-US" sz="1800" b="1">
                <a:solidFill>
                  <a:srgbClr val="000000"/>
                </a:solidFill>
                <a:latin typeface="Inter Bold"/>
                <a:ea typeface="Inter Bold"/>
                <a:cs typeface="Inter Bold"/>
                <a:sym typeface="Inter Bold"/>
              </a:rPr>
              <a:t>🔷 </a:t>
            </a:r>
            <a:r>
              <a:rPr lang="en-US" sz="1800" b="1" u="sng">
                <a:solidFill>
                  <a:srgbClr val="000000"/>
                </a:solidFill>
                <a:latin typeface="Inter Bold"/>
                <a:ea typeface="Inter Bold"/>
                <a:cs typeface="Inter Bold"/>
                <a:sym typeface="Inter Bold"/>
              </a:rPr>
              <a:t>Main Description</a:t>
            </a:r>
          </a:p>
          <a:p>
            <a:pPr algn="l">
              <a:lnSpc>
                <a:spcPts val="2700"/>
              </a:lnSpc>
            </a:pPr>
            <a:r>
              <a:rPr lang="en-US" sz="1800">
                <a:solidFill>
                  <a:srgbClr val="000000"/>
                </a:solidFill>
                <a:latin typeface="Inter"/>
                <a:ea typeface="Inter"/>
                <a:cs typeface="Inter"/>
                <a:sym typeface="Inter"/>
              </a:rPr>
              <a:t>The Home Credit Default Risk dataset is a multi-table financial dataset designed to assess customer credit risk and predict loan default behavior. It contains detailed information about customer demographics, financial profiles, credit history, and repayment behavior.</a:t>
            </a:r>
          </a:p>
        </p:txBody>
      </p:sp>
      <p:sp>
        <p:nvSpPr>
          <p:cNvPr id="13" name="TextBox 13"/>
          <p:cNvSpPr txBox="1"/>
          <p:nvPr/>
        </p:nvSpPr>
        <p:spPr>
          <a:xfrm>
            <a:off x="1028700" y="5716283"/>
            <a:ext cx="6921283" cy="2388870"/>
          </a:xfrm>
          <a:prstGeom prst="rect">
            <a:avLst/>
          </a:prstGeom>
        </p:spPr>
        <p:txBody>
          <a:bodyPr lIns="0" tIns="0" rIns="0" bIns="0" rtlCol="0" anchor="t">
            <a:spAutoFit/>
          </a:bodyPr>
          <a:lstStyle/>
          <a:p>
            <a:pPr algn="l">
              <a:lnSpc>
                <a:spcPts val="2700"/>
              </a:lnSpc>
            </a:pPr>
            <a:r>
              <a:rPr lang="en-US" sz="1800" b="1">
                <a:solidFill>
                  <a:srgbClr val="000000"/>
                </a:solidFill>
                <a:latin typeface="Inter Bold"/>
                <a:ea typeface="Inter Bold"/>
                <a:cs typeface="Inter Bold"/>
                <a:sym typeface="Inter Bold"/>
              </a:rPr>
              <a:t>🔷 </a:t>
            </a:r>
            <a:r>
              <a:rPr lang="en-US" sz="1800" b="1" u="sng">
                <a:solidFill>
                  <a:srgbClr val="000000"/>
                </a:solidFill>
                <a:latin typeface="Inter Bold"/>
                <a:ea typeface="Inter Bold"/>
                <a:cs typeface="Inter Bold"/>
                <a:sym typeface="Inter Bold"/>
              </a:rPr>
              <a:t>Key Characteristics:</a:t>
            </a:r>
          </a:p>
          <a:p>
            <a:pPr marL="388620" lvl="1" indent="-194310" algn="l">
              <a:lnSpc>
                <a:spcPts val="2700"/>
              </a:lnSpc>
              <a:buFont typeface="Arial"/>
              <a:buChar char="•"/>
            </a:pPr>
            <a:r>
              <a:rPr lang="en-US" sz="1800">
                <a:solidFill>
                  <a:srgbClr val="000000"/>
                </a:solidFill>
                <a:latin typeface="Inter"/>
                <a:ea typeface="Inter"/>
                <a:cs typeface="Inter"/>
                <a:sym typeface="Inter"/>
              </a:rPr>
              <a:t>~300,000+ customer records</a:t>
            </a:r>
          </a:p>
          <a:p>
            <a:pPr marL="388620" lvl="1" indent="-194310" algn="l">
              <a:lnSpc>
                <a:spcPts val="2700"/>
              </a:lnSpc>
              <a:buFont typeface="Arial"/>
              <a:buChar char="•"/>
            </a:pPr>
            <a:r>
              <a:rPr lang="en-US" sz="1800">
                <a:solidFill>
                  <a:srgbClr val="000000"/>
                </a:solidFill>
                <a:latin typeface="Inter"/>
                <a:ea typeface="Inter"/>
                <a:cs typeface="Inter"/>
                <a:sym typeface="Inter"/>
              </a:rPr>
              <a:t>7 interconnected relational tables</a:t>
            </a:r>
          </a:p>
          <a:p>
            <a:pPr marL="388620" lvl="1" indent="-194310" algn="l">
              <a:lnSpc>
                <a:spcPts val="2700"/>
              </a:lnSpc>
              <a:buFont typeface="Arial"/>
              <a:buChar char="•"/>
            </a:pPr>
            <a:r>
              <a:rPr lang="en-US" sz="1800">
                <a:solidFill>
                  <a:srgbClr val="000000"/>
                </a:solidFill>
                <a:latin typeface="Inter"/>
                <a:ea typeface="Inter"/>
                <a:cs typeface="Inter"/>
                <a:sym typeface="Inter"/>
              </a:rPr>
              <a:t>100+ features across multiple domains</a:t>
            </a:r>
          </a:p>
          <a:p>
            <a:pPr marL="388620" lvl="1" indent="-194310" algn="l">
              <a:lnSpc>
                <a:spcPts val="2700"/>
              </a:lnSpc>
              <a:buFont typeface="Arial"/>
              <a:buChar char="•"/>
            </a:pPr>
            <a:r>
              <a:rPr lang="en-US" sz="1800">
                <a:solidFill>
                  <a:srgbClr val="000000"/>
                </a:solidFill>
                <a:latin typeface="Inter"/>
                <a:ea typeface="Inter"/>
                <a:cs typeface="Inter"/>
                <a:sym typeface="Inter"/>
              </a:rPr>
              <a:t>Combination of static and behavioral data</a:t>
            </a:r>
          </a:p>
          <a:p>
            <a:pPr marL="388620" lvl="1" indent="-194310" algn="l">
              <a:lnSpc>
                <a:spcPts val="2700"/>
              </a:lnSpc>
              <a:buFont typeface="Arial"/>
              <a:buChar char="•"/>
            </a:pPr>
            <a:r>
              <a:rPr lang="en-US" sz="1800">
                <a:solidFill>
                  <a:srgbClr val="000000"/>
                </a:solidFill>
                <a:latin typeface="Inter"/>
                <a:ea typeface="Inter"/>
                <a:cs typeface="Inter"/>
                <a:sym typeface="Inter"/>
              </a:rPr>
              <a:t>Real-world credit risk modeling problem</a:t>
            </a:r>
          </a:p>
          <a:p>
            <a:pPr algn="l">
              <a:lnSpc>
                <a:spcPts val="2700"/>
              </a:lnSpc>
            </a:pPr>
            <a:endParaRPr lang="en-US" sz="1800">
              <a:solidFill>
                <a:srgbClr val="000000"/>
              </a:solidFill>
              <a:latin typeface="Inter"/>
              <a:ea typeface="Inter"/>
              <a:cs typeface="Inter"/>
              <a:sym typeface="Inter"/>
            </a:endParaRPr>
          </a:p>
        </p:txBody>
      </p:sp>
      <p:sp>
        <p:nvSpPr>
          <p:cNvPr id="14" name="TextBox 14"/>
          <p:cNvSpPr txBox="1"/>
          <p:nvPr/>
        </p:nvSpPr>
        <p:spPr>
          <a:xfrm>
            <a:off x="1028700" y="8172396"/>
            <a:ext cx="6921283" cy="1360170"/>
          </a:xfrm>
          <a:prstGeom prst="rect">
            <a:avLst/>
          </a:prstGeom>
        </p:spPr>
        <p:txBody>
          <a:bodyPr lIns="0" tIns="0" rIns="0" bIns="0" rtlCol="0" anchor="t">
            <a:spAutoFit/>
          </a:bodyPr>
          <a:lstStyle/>
          <a:p>
            <a:pPr algn="l">
              <a:lnSpc>
                <a:spcPts val="2700"/>
              </a:lnSpc>
            </a:pPr>
            <a:r>
              <a:rPr lang="en-US" sz="1800" b="1">
                <a:solidFill>
                  <a:srgbClr val="000000"/>
                </a:solidFill>
                <a:latin typeface="Inter Bold"/>
                <a:ea typeface="Inter Bold"/>
                <a:cs typeface="Inter Bold"/>
                <a:sym typeface="Inter Bold"/>
              </a:rPr>
              <a:t>🔷 </a:t>
            </a:r>
            <a:r>
              <a:rPr lang="en-US" sz="1800" b="1" u="sng">
                <a:solidFill>
                  <a:srgbClr val="000000"/>
                </a:solidFill>
                <a:latin typeface="Inter Bold"/>
                <a:ea typeface="Inter Bold"/>
                <a:cs typeface="Inter Bold"/>
                <a:sym typeface="Inter Bold"/>
              </a:rPr>
              <a:t>Target Variable:</a:t>
            </a:r>
          </a:p>
          <a:p>
            <a:pPr marL="388620" lvl="1" indent="-194310" algn="l">
              <a:lnSpc>
                <a:spcPts val="2700"/>
              </a:lnSpc>
              <a:buFont typeface="Arial"/>
              <a:buChar char="•"/>
            </a:pPr>
            <a:r>
              <a:rPr lang="en-US" sz="1800">
                <a:solidFill>
                  <a:srgbClr val="000000"/>
                </a:solidFill>
                <a:latin typeface="Inter"/>
                <a:ea typeface="Inter"/>
                <a:cs typeface="Inter"/>
                <a:sym typeface="Inter"/>
              </a:rPr>
              <a:t>TARGET = 1 → Customer will default</a:t>
            </a:r>
          </a:p>
          <a:p>
            <a:pPr marL="388620" lvl="1" indent="-194310" algn="l">
              <a:lnSpc>
                <a:spcPts val="2700"/>
              </a:lnSpc>
              <a:buFont typeface="Arial"/>
              <a:buChar char="•"/>
            </a:pPr>
            <a:r>
              <a:rPr lang="en-US" sz="1800">
                <a:solidFill>
                  <a:srgbClr val="000000"/>
                </a:solidFill>
                <a:latin typeface="Inter"/>
                <a:ea typeface="Inter"/>
                <a:cs typeface="Inter"/>
                <a:sym typeface="Inter"/>
              </a:rPr>
              <a:t>TARGET = 0 → Customer will not default</a:t>
            </a:r>
          </a:p>
          <a:p>
            <a:pPr algn="l">
              <a:lnSpc>
                <a:spcPts val="2700"/>
              </a:lnSpc>
            </a:pPr>
            <a:endParaRPr lang="en-US" sz="1800">
              <a:solidFill>
                <a:srgbClr val="000000"/>
              </a:solidFill>
              <a:latin typeface="Inter"/>
              <a:ea typeface="Inter"/>
              <a:cs typeface="Inter"/>
              <a:sym typeface="Inter"/>
            </a:endParaRPr>
          </a:p>
        </p:txBody>
      </p:sp>
      <p:sp>
        <p:nvSpPr>
          <p:cNvPr id="15" name="Freeform 15"/>
          <p:cNvSpPr/>
          <p:nvPr/>
        </p:nvSpPr>
        <p:spPr>
          <a:xfrm rot="5400000">
            <a:off x="13415935" y="6369629"/>
            <a:ext cx="1229659" cy="652837"/>
          </a:xfrm>
          <a:custGeom>
            <a:avLst/>
            <a:gdLst/>
            <a:ahLst/>
            <a:cxnLst/>
            <a:rect l="l" t="t" r="r" b="b"/>
            <a:pathLst>
              <a:path w="1229659" h="652837">
                <a:moveTo>
                  <a:pt x="0" y="0"/>
                </a:moveTo>
                <a:lnTo>
                  <a:pt x="1229660" y="0"/>
                </a:lnTo>
                <a:lnTo>
                  <a:pt x="1229660" y="652838"/>
                </a:lnTo>
                <a:lnTo>
                  <a:pt x="0" y="652838"/>
                </a:lnTo>
                <a:lnTo>
                  <a:pt x="0" y="0"/>
                </a:lnTo>
                <a:close/>
              </a:path>
            </a:pathLst>
          </a:custGeom>
          <a:blipFill>
            <a:blip>
              <a:extLst>
                <a:ext uri="{96DAC541-7B7A-43D3-8B79-37D633B846F1}">
                  <asvg:svgBlip xmlns:asvg="http://schemas.microsoft.com/office/drawing/2016/SVG/main" r:embed="rId7"/>
                </a:ext>
              </a:extLst>
            </a:blip>
            <a:stretch>
              <a:fillRect/>
            </a:stretch>
          </a:blipFill>
        </p:spPr>
      </p:sp>
      <p:grpSp>
        <p:nvGrpSpPr>
          <p:cNvPr id="16" name="Group 16"/>
          <p:cNvGrpSpPr/>
          <p:nvPr/>
        </p:nvGrpSpPr>
        <p:grpSpPr>
          <a:xfrm>
            <a:off x="11570536" y="1028700"/>
            <a:ext cx="4903021" cy="1837336"/>
            <a:chOff x="0" y="0"/>
            <a:chExt cx="1449375" cy="543132"/>
          </a:xfrm>
        </p:grpSpPr>
        <p:sp>
          <p:nvSpPr>
            <p:cNvPr id="17" name="Freeform 17"/>
            <p:cNvSpPr/>
            <p:nvPr/>
          </p:nvSpPr>
          <p:spPr>
            <a:xfrm>
              <a:off x="0" y="0"/>
              <a:ext cx="1449375" cy="543132"/>
            </a:xfrm>
            <a:custGeom>
              <a:avLst/>
              <a:gdLst/>
              <a:ahLst/>
              <a:cxnLst/>
              <a:rect l="l" t="t" r="r" b="b"/>
              <a:pathLst>
                <a:path w="1449375" h="543132">
                  <a:moveTo>
                    <a:pt x="71055" y="0"/>
                  </a:moveTo>
                  <a:lnTo>
                    <a:pt x="1378320" y="0"/>
                  </a:lnTo>
                  <a:cubicBezTo>
                    <a:pt x="1397165" y="0"/>
                    <a:pt x="1415238" y="7486"/>
                    <a:pt x="1428564" y="20812"/>
                  </a:cubicBezTo>
                  <a:cubicBezTo>
                    <a:pt x="1441889" y="34137"/>
                    <a:pt x="1449375" y="52210"/>
                    <a:pt x="1449375" y="71055"/>
                  </a:cubicBezTo>
                  <a:lnTo>
                    <a:pt x="1449375" y="472077"/>
                  </a:lnTo>
                  <a:cubicBezTo>
                    <a:pt x="1449375" y="490922"/>
                    <a:pt x="1441889" y="508995"/>
                    <a:pt x="1428564" y="522321"/>
                  </a:cubicBezTo>
                  <a:cubicBezTo>
                    <a:pt x="1415238" y="535646"/>
                    <a:pt x="1397165" y="543132"/>
                    <a:pt x="1378320" y="543132"/>
                  </a:cubicBezTo>
                  <a:lnTo>
                    <a:pt x="71055" y="543132"/>
                  </a:lnTo>
                  <a:cubicBezTo>
                    <a:pt x="52210" y="543132"/>
                    <a:pt x="34137" y="535646"/>
                    <a:pt x="20812" y="522321"/>
                  </a:cubicBezTo>
                  <a:cubicBezTo>
                    <a:pt x="7486" y="508995"/>
                    <a:pt x="0" y="490922"/>
                    <a:pt x="0" y="472077"/>
                  </a:cubicBezTo>
                  <a:lnTo>
                    <a:pt x="0" y="71055"/>
                  </a:lnTo>
                  <a:cubicBezTo>
                    <a:pt x="0" y="52210"/>
                    <a:pt x="7486" y="34137"/>
                    <a:pt x="20812" y="20812"/>
                  </a:cubicBezTo>
                  <a:cubicBezTo>
                    <a:pt x="34137" y="7486"/>
                    <a:pt x="52210" y="0"/>
                    <a:pt x="71055" y="0"/>
                  </a:cubicBezTo>
                  <a:close/>
                </a:path>
              </a:pathLst>
            </a:custGeom>
            <a:solidFill>
              <a:srgbClr val="857666"/>
            </a:solidFill>
          </p:spPr>
        </p:sp>
        <p:sp>
          <p:nvSpPr>
            <p:cNvPr id="18" name="TextBox 18"/>
            <p:cNvSpPr txBox="1"/>
            <p:nvPr/>
          </p:nvSpPr>
          <p:spPr>
            <a:xfrm>
              <a:off x="0" y="-161925"/>
              <a:ext cx="1449375" cy="705057"/>
            </a:xfrm>
            <a:prstGeom prst="rect">
              <a:avLst/>
            </a:prstGeom>
          </p:spPr>
          <p:txBody>
            <a:bodyPr lIns="50800" tIns="50800" rIns="50800" bIns="50800" rtlCol="0" anchor="ctr"/>
            <a:lstStyle/>
            <a:p>
              <a:pPr algn="ctr">
                <a:lnSpc>
                  <a:spcPts val="4200"/>
                </a:lnSpc>
              </a:pPr>
              <a:r>
                <a:rPr lang="en-US" sz="2100" b="1" u="sng">
                  <a:solidFill>
                    <a:srgbClr val="FFFFFF"/>
                  </a:solidFill>
                  <a:latin typeface="Inter Bold"/>
                  <a:ea typeface="Inter Bold"/>
                  <a:cs typeface="Inter Bold"/>
                  <a:sym typeface="Inter Bold"/>
                </a:rPr>
                <a:t>Multiple Data Sources</a:t>
              </a:r>
            </a:p>
            <a:p>
              <a:pPr algn="ctr">
                <a:lnSpc>
                  <a:spcPts val="1800"/>
                </a:lnSpc>
              </a:pPr>
              <a:r>
                <a:rPr lang="en-US" sz="1800" i="1">
                  <a:solidFill>
                    <a:srgbClr val="FFFFFF"/>
                  </a:solidFill>
                  <a:latin typeface="Inter Italics"/>
                  <a:ea typeface="Inter Italics"/>
                  <a:cs typeface="Inter Italics"/>
                  <a:sym typeface="Inter Italics"/>
                </a:rPr>
                <a:t>(bureau, POS_CASH, credit_card, installments, previous_application)</a:t>
              </a:r>
            </a:p>
          </p:txBody>
        </p:sp>
      </p:grpSp>
      <p:grpSp>
        <p:nvGrpSpPr>
          <p:cNvPr id="19" name="Group 19"/>
          <p:cNvGrpSpPr/>
          <p:nvPr/>
        </p:nvGrpSpPr>
        <p:grpSpPr>
          <a:xfrm>
            <a:off x="11570536" y="4224832"/>
            <a:ext cx="4903021" cy="1837336"/>
            <a:chOff x="0" y="0"/>
            <a:chExt cx="1449375" cy="543132"/>
          </a:xfrm>
        </p:grpSpPr>
        <p:sp>
          <p:nvSpPr>
            <p:cNvPr id="20" name="Freeform 20"/>
            <p:cNvSpPr/>
            <p:nvPr/>
          </p:nvSpPr>
          <p:spPr>
            <a:xfrm>
              <a:off x="0" y="0"/>
              <a:ext cx="1449375" cy="543132"/>
            </a:xfrm>
            <a:custGeom>
              <a:avLst/>
              <a:gdLst/>
              <a:ahLst/>
              <a:cxnLst/>
              <a:rect l="l" t="t" r="r" b="b"/>
              <a:pathLst>
                <a:path w="1449375" h="543132">
                  <a:moveTo>
                    <a:pt x="71055" y="0"/>
                  </a:moveTo>
                  <a:lnTo>
                    <a:pt x="1378320" y="0"/>
                  </a:lnTo>
                  <a:cubicBezTo>
                    <a:pt x="1397165" y="0"/>
                    <a:pt x="1415238" y="7486"/>
                    <a:pt x="1428564" y="20812"/>
                  </a:cubicBezTo>
                  <a:cubicBezTo>
                    <a:pt x="1441889" y="34137"/>
                    <a:pt x="1449375" y="52210"/>
                    <a:pt x="1449375" y="71055"/>
                  </a:cubicBezTo>
                  <a:lnTo>
                    <a:pt x="1449375" y="472077"/>
                  </a:lnTo>
                  <a:cubicBezTo>
                    <a:pt x="1449375" y="490922"/>
                    <a:pt x="1441889" y="508995"/>
                    <a:pt x="1428564" y="522321"/>
                  </a:cubicBezTo>
                  <a:cubicBezTo>
                    <a:pt x="1415238" y="535646"/>
                    <a:pt x="1397165" y="543132"/>
                    <a:pt x="1378320" y="543132"/>
                  </a:cubicBezTo>
                  <a:lnTo>
                    <a:pt x="71055" y="543132"/>
                  </a:lnTo>
                  <a:cubicBezTo>
                    <a:pt x="52210" y="543132"/>
                    <a:pt x="34137" y="535646"/>
                    <a:pt x="20812" y="522321"/>
                  </a:cubicBezTo>
                  <a:cubicBezTo>
                    <a:pt x="7486" y="508995"/>
                    <a:pt x="0" y="490922"/>
                    <a:pt x="0" y="472077"/>
                  </a:cubicBezTo>
                  <a:lnTo>
                    <a:pt x="0" y="71055"/>
                  </a:lnTo>
                  <a:cubicBezTo>
                    <a:pt x="0" y="52210"/>
                    <a:pt x="7486" y="34137"/>
                    <a:pt x="20812" y="20812"/>
                  </a:cubicBezTo>
                  <a:cubicBezTo>
                    <a:pt x="34137" y="7486"/>
                    <a:pt x="52210" y="0"/>
                    <a:pt x="71055" y="0"/>
                  </a:cubicBezTo>
                  <a:close/>
                </a:path>
              </a:pathLst>
            </a:custGeom>
            <a:solidFill>
              <a:srgbClr val="5E7396"/>
            </a:solidFill>
          </p:spPr>
        </p:sp>
        <p:sp>
          <p:nvSpPr>
            <p:cNvPr id="21" name="TextBox 21"/>
            <p:cNvSpPr txBox="1"/>
            <p:nvPr/>
          </p:nvSpPr>
          <p:spPr>
            <a:xfrm>
              <a:off x="0" y="-161925"/>
              <a:ext cx="1449375" cy="705057"/>
            </a:xfrm>
            <a:prstGeom prst="rect">
              <a:avLst/>
            </a:prstGeom>
          </p:spPr>
          <p:txBody>
            <a:bodyPr lIns="50800" tIns="50800" rIns="50800" bIns="50800" rtlCol="0" anchor="ctr"/>
            <a:lstStyle/>
            <a:p>
              <a:pPr algn="ctr">
                <a:lnSpc>
                  <a:spcPts val="4200"/>
                </a:lnSpc>
              </a:pPr>
              <a:r>
                <a:rPr lang="en-US" sz="2100" b="1" u="sng">
                  <a:solidFill>
                    <a:srgbClr val="FFFFFF"/>
                  </a:solidFill>
                  <a:latin typeface="Inter Bold"/>
                  <a:ea typeface="Inter Bold"/>
                  <a:cs typeface="Inter Bold"/>
                  <a:sym typeface="Inter Bold"/>
                </a:rPr>
                <a:t>Feature Engineering &amp; Aggregation</a:t>
              </a:r>
            </a:p>
            <a:p>
              <a:pPr algn="ctr">
                <a:lnSpc>
                  <a:spcPts val="1800"/>
                </a:lnSpc>
              </a:pPr>
              <a:r>
                <a:rPr lang="en-US" sz="1800" i="1">
                  <a:solidFill>
                    <a:srgbClr val="FFFFFF"/>
                  </a:solidFill>
                  <a:latin typeface="Inter Italics"/>
                  <a:ea typeface="Inter Italics"/>
                  <a:cs typeface="Inter Italics"/>
                  <a:sym typeface="Inter Italics"/>
                </a:rPr>
                <a:t>(GroupBy, Merging, Handling Missing Values)</a:t>
              </a:r>
            </a:p>
          </p:txBody>
        </p:sp>
      </p:grpSp>
      <p:grpSp>
        <p:nvGrpSpPr>
          <p:cNvPr id="22" name="Group 22"/>
          <p:cNvGrpSpPr/>
          <p:nvPr/>
        </p:nvGrpSpPr>
        <p:grpSpPr>
          <a:xfrm>
            <a:off x="11570536" y="7310878"/>
            <a:ext cx="4903021" cy="1837336"/>
            <a:chOff x="0" y="0"/>
            <a:chExt cx="1449375" cy="543132"/>
          </a:xfrm>
        </p:grpSpPr>
        <p:sp>
          <p:nvSpPr>
            <p:cNvPr id="23" name="Freeform 23"/>
            <p:cNvSpPr/>
            <p:nvPr/>
          </p:nvSpPr>
          <p:spPr>
            <a:xfrm>
              <a:off x="0" y="0"/>
              <a:ext cx="1449375" cy="543132"/>
            </a:xfrm>
            <a:custGeom>
              <a:avLst/>
              <a:gdLst/>
              <a:ahLst/>
              <a:cxnLst/>
              <a:rect l="l" t="t" r="r" b="b"/>
              <a:pathLst>
                <a:path w="1449375" h="543132">
                  <a:moveTo>
                    <a:pt x="71055" y="0"/>
                  </a:moveTo>
                  <a:lnTo>
                    <a:pt x="1378320" y="0"/>
                  </a:lnTo>
                  <a:cubicBezTo>
                    <a:pt x="1397165" y="0"/>
                    <a:pt x="1415238" y="7486"/>
                    <a:pt x="1428564" y="20812"/>
                  </a:cubicBezTo>
                  <a:cubicBezTo>
                    <a:pt x="1441889" y="34137"/>
                    <a:pt x="1449375" y="52210"/>
                    <a:pt x="1449375" y="71055"/>
                  </a:cubicBezTo>
                  <a:lnTo>
                    <a:pt x="1449375" y="472077"/>
                  </a:lnTo>
                  <a:cubicBezTo>
                    <a:pt x="1449375" y="490922"/>
                    <a:pt x="1441889" y="508995"/>
                    <a:pt x="1428564" y="522321"/>
                  </a:cubicBezTo>
                  <a:cubicBezTo>
                    <a:pt x="1415238" y="535646"/>
                    <a:pt x="1397165" y="543132"/>
                    <a:pt x="1378320" y="543132"/>
                  </a:cubicBezTo>
                  <a:lnTo>
                    <a:pt x="71055" y="543132"/>
                  </a:lnTo>
                  <a:cubicBezTo>
                    <a:pt x="52210" y="543132"/>
                    <a:pt x="34137" y="535646"/>
                    <a:pt x="20812" y="522321"/>
                  </a:cubicBezTo>
                  <a:cubicBezTo>
                    <a:pt x="7486" y="508995"/>
                    <a:pt x="0" y="490922"/>
                    <a:pt x="0" y="472077"/>
                  </a:cubicBezTo>
                  <a:lnTo>
                    <a:pt x="0" y="71055"/>
                  </a:lnTo>
                  <a:cubicBezTo>
                    <a:pt x="0" y="52210"/>
                    <a:pt x="7486" y="34137"/>
                    <a:pt x="20812" y="20812"/>
                  </a:cubicBezTo>
                  <a:cubicBezTo>
                    <a:pt x="34137" y="7486"/>
                    <a:pt x="52210" y="0"/>
                    <a:pt x="71055" y="0"/>
                  </a:cubicBezTo>
                  <a:close/>
                </a:path>
              </a:pathLst>
            </a:custGeom>
            <a:solidFill>
              <a:srgbClr val="6B7C80"/>
            </a:solidFill>
          </p:spPr>
        </p:sp>
        <p:sp>
          <p:nvSpPr>
            <p:cNvPr id="24" name="TextBox 24"/>
            <p:cNvSpPr txBox="1"/>
            <p:nvPr/>
          </p:nvSpPr>
          <p:spPr>
            <a:xfrm>
              <a:off x="0" y="-161925"/>
              <a:ext cx="1449375" cy="705057"/>
            </a:xfrm>
            <a:prstGeom prst="rect">
              <a:avLst/>
            </a:prstGeom>
          </p:spPr>
          <p:txBody>
            <a:bodyPr lIns="50800" tIns="50800" rIns="50800" bIns="50800" rtlCol="0" anchor="ctr"/>
            <a:lstStyle/>
            <a:p>
              <a:pPr algn="ctr">
                <a:lnSpc>
                  <a:spcPts val="4200"/>
                </a:lnSpc>
              </a:pPr>
              <a:r>
                <a:rPr lang="en-US" sz="2100" b="1" u="sng">
                  <a:solidFill>
                    <a:srgbClr val="FFFFFF"/>
                  </a:solidFill>
                  <a:latin typeface="Inter Bold"/>
                  <a:ea typeface="Inter Bold"/>
                  <a:cs typeface="Inter Bold"/>
                  <a:sym typeface="Inter Bold"/>
                </a:rPr>
                <a:t>Final Dataset</a:t>
              </a:r>
            </a:p>
            <a:p>
              <a:pPr algn="ctr">
                <a:lnSpc>
                  <a:spcPts val="1800"/>
                </a:lnSpc>
              </a:pPr>
              <a:r>
                <a:rPr lang="en-US" sz="1800" b="1" i="1">
                  <a:solidFill>
                    <a:srgbClr val="FFFFFF"/>
                  </a:solidFill>
                  <a:latin typeface="Inter Bold Italics"/>
                  <a:ea typeface="Inter Bold Italics"/>
                  <a:cs typeface="Inter Bold Italics"/>
                  <a:sym typeface="Inter Bold Italics"/>
                </a:rPr>
                <a:t>(Customer-Level Data for Analysis &amp; ML)</a:t>
              </a:r>
            </a:p>
          </p:txBody>
        </p:sp>
      </p:grpSp>
      <p:sp>
        <p:nvSpPr>
          <p:cNvPr id="25" name="TextBox 25"/>
          <p:cNvSpPr txBox="1"/>
          <p:nvPr/>
        </p:nvSpPr>
        <p:spPr>
          <a:xfrm>
            <a:off x="1028700" y="9648989"/>
            <a:ext cx="8623112" cy="548640"/>
          </a:xfrm>
          <a:prstGeom prst="rect">
            <a:avLst/>
          </a:prstGeom>
        </p:spPr>
        <p:txBody>
          <a:bodyPr lIns="0" tIns="0" rIns="0" bIns="0" rtlCol="0" anchor="t">
            <a:spAutoFit/>
          </a:bodyPr>
          <a:lstStyle/>
          <a:p>
            <a:pPr algn="ctr">
              <a:lnSpc>
                <a:spcPts val="2100"/>
              </a:lnSpc>
              <a:spcBef>
                <a:spcPct val="0"/>
              </a:spcBef>
            </a:pPr>
            <a:r>
              <a:rPr lang="en-US" sz="2100" i="1">
                <a:solidFill>
                  <a:srgbClr val="000000"/>
                </a:solidFill>
                <a:latin typeface="Inter Italics"/>
                <a:ea typeface="Inter Italics"/>
                <a:cs typeface="Inter Italics"/>
                <a:sym typeface="Inter Italics"/>
              </a:rPr>
              <a:t>This dataset enables both exploratory analysis of customer behavior and predictive modeling of credit risk.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3432540" y="3619701"/>
            <a:ext cx="11558062" cy="2885673"/>
          </a:xfrm>
          <a:prstGeom prst="rect">
            <a:avLst/>
          </a:prstGeom>
        </p:spPr>
        <p:txBody>
          <a:bodyPr lIns="0" tIns="0" rIns="0" bIns="0" rtlCol="0" anchor="t">
            <a:spAutoFit/>
          </a:bodyPr>
          <a:lstStyle/>
          <a:p>
            <a:pPr algn="ctr">
              <a:lnSpc>
                <a:spcPts val="11572"/>
              </a:lnSpc>
            </a:pPr>
            <a:r>
              <a:rPr lang="en-US" sz="8265" b="1">
                <a:solidFill>
                  <a:srgbClr val="000000"/>
                </a:solidFill>
                <a:latin typeface="Neue Machina Ultra-Bold"/>
                <a:ea typeface="Neue Machina Ultra-Bold"/>
                <a:cs typeface="Neue Machina Ultra-Bold"/>
                <a:sym typeface="Neue Machina Ultra-Bold"/>
              </a:rPr>
              <a:t>Data </a:t>
            </a:r>
          </a:p>
          <a:p>
            <a:pPr algn="ctr">
              <a:lnSpc>
                <a:spcPts val="11572"/>
              </a:lnSpc>
            </a:pPr>
            <a:r>
              <a:rPr lang="en-US" sz="8265" b="1">
                <a:solidFill>
                  <a:srgbClr val="000000"/>
                </a:solidFill>
                <a:latin typeface="Neue Machina Ultra-Bold"/>
                <a:ea typeface="Neue Machina Ultra-Bold"/>
                <a:cs typeface="Neue Machina Ultra-Bold"/>
                <a:sym typeface="Neue Machina Ultra-Bold"/>
              </a:rPr>
              <a:t>  Dictionary</a:t>
            </a:r>
          </a:p>
        </p:txBody>
      </p:sp>
      <p:grpSp>
        <p:nvGrpSpPr>
          <p:cNvPr id="4" name="Group 4"/>
          <p:cNvGrpSpPr/>
          <p:nvPr/>
        </p:nvGrpSpPr>
        <p:grpSpPr>
          <a:xfrm>
            <a:off x="-1130300" y="4057750"/>
            <a:ext cx="3086100" cy="2171499"/>
            <a:chOff x="0" y="0"/>
            <a:chExt cx="812800" cy="571917"/>
          </a:xfrm>
        </p:grpSpPr>
        <p:sp>
          <p:nvSpPr>
            <p:cNvPr id="5" name="Freeform 5"/>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20334A"/>
            </a:solidFill>
          </p:spPr>
        </p:sp>
        <p:sp>
          <p:nvSpPr>
            <p:cNvPr id="6" name="TextBox 6"/>
            <p:cNvSpPr txBox="1"/>
            <p:nvPr/>
          </p:nvSpPr>
          <p:spPr>
            <a:xfrm>
              <a:off x="0" y="-38100"/>
              <a:ext cx="812800" cy="610017"/>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467343" y="4057750"/>
            <a:ext cx="3086100" cy="2171499"/>
            <a:chOff x="0" y="0"/>
            <a:chExt cx="812800" cy="571917"/>
          </a:xfrm>
        </p:grpSpPr>
        <p:sp>
          <p:nvSpPr>
            <p:cNvPr id="8" name="Freeform 8"/>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20334A"/>
            </a:solidFill>
          </p:spPr>
        </p:sp>
        <p:sp>
          <p:nvSpPr>
            <p:cNvPr id="9" name="TextBox 9"/>
            <p:cNvSpPr txBox="1"/>
            <p:nvPr/>
          </p:nvSpPr>
          <p:spPr>
            <a:xfrm>
              <a:off x="0" y="-38100"/>
              <a:ext cx="812800" cy="610017"/>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3432540" y="3619701"/>
            <a:ext cx="11558062" cy="4352523"/>
          </a:xfrm>
          <a:prstGeom prst="rect">
            <a:avLst/>
          </a:prstGeom>
        </p:spPr>
        <p:txBody>
          <a:bodyPr lIns="0" tIns="0" rIns="0" bIns="0" rtlCol="0" anchor="t">
            <a:spAutoFit/>
          </a:bodyPr>
          <a:lstStyle/>
          <a:p>
            <a:pPr algn="ctr">
              <a:lnSpc>
                <a:spcPts val="11572"/>
              </a:lnSpc>
            </a:pPr>
            <a:r>
              <a:rPr lang="en-US" sz="8265" b="1">
                <a:solidFill>
                  <a:srgbClr val="000000"/>
                </a:solidFill>
                <a:latin typeface="Neue Machina Ultra-Bold"/>
                <a:ea typeface="Neue Machina Ultra-Bold"/>
                <a:cs typeface="Neue Machina Ultra-Bold"/>
                <a:sym typeface="Neue Machina Ultra-Bold"/>
              </a:rPr>
              <a:t>APPLICATION DATA </a:t>
            </a:r>
          </a:p>
          <a:p>
            <a:pPr algn="ctr">
              <a:lnSpc>
                <a:spcPts val="11572"/>
              </a:lnSpc>
            </a:pPr>
            <a:r>
              <a:rPr lang="en-US" sz="8265" b="1">
                <a:solidFill>
                  <a:srgbClr val="000000"/>
                </a:solidFill>
                <a:latin typeface="Neue Machina Ultra-Bold"/>
                <a:ea typeface="Neue Machina Ultra-Bold"/>
                <a:cs typeface="Neue Machina Ultra-Bold"/>
                <a:sym typeface="Neue Machina Ultra-Bold"/>
              </a:rPr>
              <a:t>(CENTER TABLE)</a:t>
            </a:r>
          </a:p>
        </p:txBody>
      </p:sp>
      <p:grpSp>
        <p:nvGrpSpPr>
          <p:cNvPr id="4" name="Group 4"/>
          <p:cNvGrpSpPr/>
          <p:nvPr/>
        </p:nvGrpSpPr>
        <p:grpSpPr>
          <a:xfrm>
            <a:off x="-1130300" y="4057750"/>
            <a:ext cx="3086100" cy="2171499"/>
            <a:chOff x="0" y="0"/>
            <a:chExt cx="812800" cy="571917"/>
          </a:xfrm>
        </p:grpSpPr>
        <p:sp>
          <p:nvSpPr>
            <p:cNvPr id="5" name="Freeform 5"/>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20334A"/>
            </a:solidFill>
          </p:spPr>
        </p:sp>
        <p:sp>
          <p:nvSpPr>
            <p:cNvPr id="6" name="TextBox 6"/>
            <p:cNvSpPr txBox="1"/>
            <p:nvPr/>
          </p:nvSpPr>
          <p:spPr>
            <a:xfrm>
              <a:off x="0" y="-38100"/>
              <a:ext cx="812800" cy="610017"/>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467343" y="4057750"/>
            <a:ext cx="3086100" cy="2171499"/>
            <a:chOff x="0" y="0"/>
            <a:chExt cx="812800" cy="571917"/>
          </a:xfrm>
        </p:grpSpPr>
        <p:sp>
          <p:nvSpPr>
            <p:cNvPr id="8" name="Freeform 8"/>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20334A"/>
            </a:solidFill>
          </p:spPr>
        </p:sp>
        <p:sp>
          <p:nvSpPr>
            <p:cNvPr id="9" name="TextBox 9"/>
            <p:cNvSpPr txBox="1"/>
            <p:nvPr/>
          </p:nvSpPr>
          <p:spPr>
            <a:xfrm>
              <a:off x="0" y="-38100"/>
              <a:ext cx="812800" cy="610017"/>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7316179" y="0"/>
            <a:ext cx="971821" cy="1348740"/>
          </a:xfrm>
          <a:custGeom>
            <a:avLst/>
            <a:gdLst/>
            <a:ahLst/>
            <a:cxnLst/>
            <a:rect l="l" t="t" r="r" b="b"/>
            <a:pathLst>
              <a:path w="1943641" h="1484235">
                <a:moveTo>
                  <a:pt x="0" y="0"/>
                </a:moveTo>
                <a:lnTo>
                  <a:pt x="1943642" y="0"/>
                </a:lnTo>
                <a:lnTo>
                  <a:pt x="1943642" y="1484235"/>
                </a:lnTo>
                <a:lnTo>
                  <a:pt x="0" y="1484235"/>
                </a:lnTo>
                <a:lnTo>
                  <a:pt x="0" y="0"/>
                </a:lnTo>
                <a:close/>
              </a:path>
            </a:pathLst>
          </a:custGeom>
          <a:blipFill>
            <a:blip>
              <a:alphaModFix amt="39000"/>
              <a:extLst>
                <a:ext uri="{96DAC541-7B7A-43D3-8B79-37D633B846F1}">
                  <asvg:svgBlip xmlns:asvg="http://schemas.microsoft.com/office/drawing/2016/SVG/main" r:embed="rId2"/>
                </a:ext>
              </a:extLst>
            </a:blip>
            <a:stretch>
              <a:fillRect t="-10046" r="-100000"/>
            </a:stretch>
          </a:blipFill>
          <a:ln cap="sq">
            <a:noFill/>
            <a:prstDash val="solid"/>
            <a:miter/>
          </a:ln>
        </p:spPr>
      </p:sp>
      <p:sp>
        <p:nvSpPr>
          <p:cNvPr id="2" name="TextBox 2"/>
          <p:cNvSpPr txBox="1"/>
          <p:nvPr/>
        </p:nvSpPr>
        <p:spPr>
          <a:xfrm>
            <a:off x="1028700" y="775655"/>
            <a:ext cx="15187663" cy="1106165"/>
          </a:xfrm>
          <a:prstGeom prst="rect">
            <a:avLst/>
          </a:prstGeom>
        </p:spPr>
        <p:txBody>
          <a:bodyPr lIns="0" tIns="0" rIns="0" bIns="0" rtlCol="0" anchor="t">
            <a:spAutoFit/>
          </a:bodyPr>
          <a:lstStyle/>
          <a:p>
            <a:pPr algn="l">
              <a:lnSpc>
                <a:spcPts val="5500"/>
              </a:lnSpc>
            </a:pPr>
            <a:r>
              <a:rPr lang="en-US" sz="5500" b="1">
                <a:solidFill>
                  <a:srgbClr val="000000"/>
                </a:solidFill>
                <a:latin typeface="Neue Machina Ultra-Bold"/>
                <a:ea typeface="Neue Machina Ultra-Bold"/>
                <a:cs typeface="Neue Machina Ultra-Bold"/>
                <a:sym typeface="Neue Machina Ultra-Bold"/>
              </a:rPr>
              <a:t>Application Data</a:t>
            </a:r>
          </a:p>
          <a:p>
            <a:pPr algn="l">
              <a:lnSpc>
                <a:spcPts val="4200"/>
              </a:lnSpc>
            </a:pPr>
            <a:r>
              <a:rPr lang="en-US" sz="2100" b="1">
                <a:solidFill>
                  <a:srgbClr val="000000"/>
                </a:solidFill>
                <a:latin typeface="Neue Machina Ultra-Bold"/>
                <a:ea typeface="Neue Machina Ultra-Bold"/>
                <a:cs typeface="Neue Machina Ultra-Bold"/>
                <a:sym typeface="Neue Machina Ultra-Bold"/>
              </a:rPr>
              <a:t> - (307511, 122)</a:t>
            </a:r>
          </a:p>
        </p:txBody>
      </p:sp>
      <p:sp>
        <p:nvSpPr>
          <p:cNvPr id="4" name="Freeform 4"/>
          <p:cNvSpPr/>
          <p:nvPr/>
        </p:nvSpPr>
        <p:spPr>
          <a:xfrm>
            <a:off x="-660612" y="1408026"/>
            <a:ext cx="1321225" cy="554394"/>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3"/>
                </a:ext>
              </a:extLst>
            </a:blip>
            <a:stretch>
              <a:fillRect r="-71029" b="-123065"/>
            </a:stretch>
          </a:blipFill>
        </p:spPr>
      </p:sp>
      <p:sp>
        <p:nvSpPr>
          <p:cNvPr id="5" name="Freeform 5"/>
          <p:cNvSpPr/>
          <p:nvPr/>
        </p:nvSpPr>
        <p:spPr>
          <a:xfrm>
            <a:off x="17515409" y="9050126"/>
            <a:ext cx="1864644" cy="728906"/>
          </a:xfrm>
          <a:custGeom>
            <a:avLst/>
            <a:gdLst/>
            <a:ahLst/>
            <a:cxnLst/>
            <a:rect l="l" t="t" r="r" b="b"/>
            <a:pathLst>
              <a:path w="1864644" h="728906">
                <a:moveTo>
                  <a:pt x="0" y="0"/>
                </a:moveTo>
                <a:lnTo>
                  <a:pt x="1864644" y="0"/>
                </a:lnTo>
                <a:lnTo>
                  <a:pt x="1864644" y="728907"/>
                </a:lnTo>
                <a:lnTo>
                  <a:pt x="0" y="728907"/>
                </a:lnTo>
                <a:lnTo>
                  <a:pt x="0" y="0"/>
                </a:lnTo>
                <a:close/>
              </a:path>
            </a:pathLst>
          </a:custGeom>
          <a:blipFill>
            <a:blip>
              <a:alphaModFix amt="39000"/>
              <a:extLst>
                <a:ext uri="{96DAC541-7B7A-43D3-8B79-37D633B846F1}">
                  <asvg:svgBlip xmlns:asvg="http://schemas.microsoft.com/office/drawing/2016/SVG/main" r:embed="rId4"/>
                </a:ext>
              </a:extLst>
            </a:blip>
            <a:stretch>
              <a:fillRect/>
            </a:stretch>
          </a:blipFill>
        </p:spPr>
      </p:sp>
      <p:sp>
        <p:nvSpPr>
          <p:cNvPr id="6" name="Freeform 6"/>
          <p:cNvSpPr/>
          <p:nvPr/>
        </p:nvSpPr>
        <p:spPr>
          <a:xfrm>
            <a:off x="-954956" y="9258300"/>
            <a:ext cx="1909912" cy="1878659"/>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5"/>
                </a:ext>
              </a:extLst>
            </a:blip>
            <a:stretch>
              <a:fillRect/>
            </a:stretch>
          </a:blipFill>
        </p:spPr>
      </p:sp>
      <p:sp>
        <p:nvSpPr>
          <p:cNvPr id="7" name="Freeform 7"/>
          <p:cNvSpPr/>
          <p:nvPr/>
        </p:nvSpPr>
        <p:spPr>
          <a:xfrm rot="5400000">
            <a:off x="16721238" y="843865"/>
            <a:ext cx="550257" cy="1560007"/>
          </a:xfrm>
          <a:custGeom>
            <a:avLst/>
            <a:gdLst/>
            <a:ahLst/>
            <a:cxnLst/>
            <a:rect l="l" t="t" r="r" b="b"/>
            <a:pathLst>
              <a:path w="550257" h="1560007">
                <a:moveTo>
                  <a:pt x="0" y="0"/>
                </a:moveTo>
                <a:lnTo>
                  <a:pt x="550257" y="0"/>
                </a:lnTo>
                <a:lnTo>
                  <a:pt x="550257" y="1560007"/>
                </a:lnTo>
                <a:lnTo>
                  <a:pt x="0" y="1560007"/>
                </a:lnTo>
                <a:lnTo>
                  <a:pt x="0" y="0"/>
                </a:lnTo>
                <a:close/>
              </a:path>
            </a:pathLst>
          </a:custGeom>
          <a:blipFill>
            <a:blip>
              <a:extLst>
                <a:ext uri="{96DAC541-7B7A-43D3-8B79-37D633B846F1}">
                  <asvg:svgBlip xmlns:asvg="http://schemas.microsoft.com/office/drawing/2016/SVG/main" r:embed="rId6"/>
                </a:ext>
              </a:extLst>
            </a:blip>
            <a:stretch>
              <a:fillRect/>
            </a:stretch>
          </a:blipFill>
        </p:spPr>
      </p:sp>
      <p:graphicFrame>
        <p:nvGraphicFramePr>
          <p:cNvPr id="8" name="Table 8"/>
          <p:cNvGraphicFramePr>
            <a:graphicFrameLocks noGrp="1"/>
          </p:cNvGraphicFramePr>
          <p:nvPr/>
        </p:nvGraphicFramePr>
        <p:xfrm>
          <a:off x="1028700" y="2143760"/>
          <a:ext cx="16230600" cy="7953007"/>
        </p:xfrm>
        <a:graphic>
          <a:graphicData uri="http://schemas.openxmlformats.org/drawingml/2006/table">
            <a:tbl>
              <a:tblPr/>
              <a:tblGrid>
                <a:gridCol w="4718256">
                  <a:extLst>
                    <a:ext uri="{9D8B030D-6E8A-4147-A177-3AD203B41FA5}">
                      <a16:colId xmlns:a16="http://schemas.microsoft.com/office/drawing/2014/main" val="20000"/>
                    </a:ext>
                  </a:extLst>
                </a:gridCol>
                <a:gridCol w="5745102">
                  <a:extLst>
                    <a:ext uri="{9D8B030D-6E8A-4147-A177-3AD203B41FA5}">
                      <a16:colId xmlns:a16="http://schemas.microsoft.com/office/drawing/2014/main" val="20001"/>
                    </a:ext>
                  </a:extLst>
                </a:gridCol>
                <a:gridCol w="5767242">
                  <a:extLst>
                    <a:ext uri="{9D8B030D-6E8A-4147-A177-3AD203B41FA5}">
                      <a16:colId xmlns:a16="http://schemas.microsoft.com/office/drawing/2014/main" val="20002"/>
                    </a:ext>
                  </a:extLst>
                </a:gridCol>
              </a:tblGrid>
              <a:tr h="568997">
                <a:tc>
                  <a:txBody>
                    <a:bodyPr/>
                    <a:lstStyle/>
                    <a:p>
                      <a:pPr algn="ctr">
                        <a:lnSpc>
                          <a:spcPts val="2940"/>
                        </a:lnSpc>
                        <a:defRPr/>
                      </a:pPr>
                      <a:r>
                        <a:rPr lang="en-US" sz="2100" b="1">
                          <a:solidFill>
                            <a:srgbClr val="FFFFFF"/>
                          </a:solidFill>
                          <a:latin typeface="Inter Bold"/>
                          <a:ea typeface="Inter Bold"/>
                          <a:cs typeface="Inter Bold"/>
                          <a:sym typeface="Inter Bold"/>
                        </a:rPr>
                        <a:t>Feature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tc>
                  <a:txBody>
                    <a:bodyPr/>
                    <a:lstStyle/>
                    <a:p>
                      <a:pPr algn="ctr">
                        <a:lnSpc>
                          <a:spcPts val="2940"/>
                        </a:lnSpc>
                        <a:defRPr/>
                      </a:pPr>
                      <a:r>
                        <a:rPr lang="en-US" sz="2100" b="1">
                          <a:solidFill>
                            <a:srgbClr val="FFFFFF"/>
                          </a:solidFill>
                          <a:latin typeface="Inter Bold"/>
                          <a:ea typeface="Inter Bold"/>
                          <a:cs typeface="Inter Bold"/>
                          <a:sym typeface="Inter Bold"/>
                        </a:rPr>
                        <a:t>Description</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tc>
                  <a:txBody>
                    <a:bodyPr/>
                    <a:lstStyle/>
                    <a:p>
                      <a:pPr algn="ctr">
                        <a:lnSpc>
                          <a:spcPts val="2940"/>
                        </a:lnSpc>
                        <a:defRPr/>
                      </a:pPr>
                      <a:r>
                        <a:rPr lang="en-US" sz="2100" b="1">
                          <a:solidFill>
                            <a:srgbClr val="FFFFFF"/>
                          </a:solidFill>
                          <a:latin typeface="Inter Bold"/>
                          <a:ea typeface="Inter Bold"/>
                          <a:cs typeface="Inter Bold"/>
                          <a:sym typeface="Inter Bold"/>
                        </a:rPr>
                        <a:t>Type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extLst>
                  <a:ext uri="{0D108BD9-81ED-4DB2-BD59-A6C34878D82A}">
                    <a16:rowId xmlns:a16="http://schemas.microsoft.com/office/drawing/2014/main" val="10000"/>
                  </a:ext>
                </a:extLst>
              </a:tr>
              <a:tr h="568997">
                <a:tc>
                  <a:txBody>
                    <a:bodyPr/>
                    <a:lstStyle/>
                    <a:p>
                      <a:pPr algn="ctr">
                        <a:lnSpc>
                          <a:spcPts val="2940"/>
                        </a:lnSpc>
                        <a:defRPr/>
                      </a:pPr>
                      <a:r>
                        <a:rPr lang="en-US" sz="2100">
                          <a:solidFill>
                            <a:srgbClr val="000000"/>
                          </a:solidFill>
                          <a:latin typeface="Canva Sans"/>
                          <a:ea typeface="Canva Sans"/>
                          <a:cs typeface="Canva Sans"/>
                          <a:sym typeface="Canva Sans"/>
                        </a:rPr>
                        <a:t>SK_ID_CURR</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Unique customer identifier</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1"/>
                  </a:ext>
                </a:extLst>
              </a:tr>
              <a:tr h="568997">
                <a:tc>
                  <a:txBody>
                    <a:bodyPr/>
                    <a:lstStyle/>
                    <a:p>
                      <a:pPr algn="ctr">
                        <a:lnSpc>
                          <a:spcPts val="2940"/>
                        </a:lnSpc>
                        <a:defRPr/>
                      </a:pPr>
                      <a:r>
                        <a:rPr lang="en-US" sz="2100">
                          <a:solidFill>
                            <a:srgbClr val="000000"/>
                          </a:solidFill>
                          <a:latin typeface="Inter"/>
                          <a:ea typeface="Inter"/>
                          <a:cs typeface="Inter"/>
                          <a:sym typeface="Inter"/>
                        </a:rPr>
                        <a:t>TARGET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Default flag (1 = default, 0 = no default)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Target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2"/>
                  </a:ext>
                </a:extLst>
              </a:tr>
              <a:tr h="568997">
                <a:tc>
                  <a:txBody>
                    <a:bodyPr/>
                    <a:lstStyle/>
                    <a:p>
                      <a:pPr algn="ctr">
                        <a:lnSpc>
                          <a:spcPts val="2940"/>
                        </a:lnSpc>
                        <a:defRPr/>
                      </a:pPr>
                      <a:r>
                        <a:rPr lang="en-US" sz="2100">
                          <a:solidFill>
                            <a:srgbClr val="000000"/>
                          </a:solidFill>
                          <a:latin typeface="Inter"/>
                          <a:ea typeface="Inter"/>
                          <a:cs typeface="Inter"/>
                          <a:sym typeface="Inter"/>
                        </a:rPr>
                        <a:t>AMT_INCOME_TOTAL</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Total income of the customer</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3"/>
                  </a:ext>
                </a:extLst>
              </a:tr>
              <a:tr h="568997">
                <a:tc>
                  <a:txBody>
                    <a:bodyPr/>
                    <a:lstStyle/>
                    <a:p>
                      <a:pPr algn="ctr">
                        <a:lnSpc>
                          <a:spcPts val="2940"/>
                        </a:lnSpc>
                        <a:defRPr/>
                      </a:pPr>
                      <a:r>
                        <a:rPr lang="en-US" sz="2100">
                          <a:solidFill>
                            <a:srgbClr val="000000"/>
                          </a:solidFill>
                          <a:latin typeface="Inter"/>
                          <a:ea typeface="Inter"/>
                          <a:cs typeface="Inter"/>
                          <a:sym typeface="Inter"/>
                        </a:rPr>
                        <a:t>AMT_CREDIT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Loan amount requested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4"/>
                  </a:ext>
                </a:extLst>
              </a:tr>
              <a:tr h="568997">
                <a:tc>
                  <a:txBody>
                    <a:bodyPr/>
                    <a:lstStyle/>
                    <a:p>
                      <a:pPr algn="ctr">
                        <a:lnSpc>
                          <a:spcPts val="2940"/>
                        </a:lnSpc>
                        <a:defRPr/>
                      </a:pPr>
                      <a:r>
                        <a:rPr lang="en-US" sz="2100">
                          <a:solidFill>
                            <a:srgbClr val="000000"/>
                          </a:solidFill>
                          <a:latin typeface="Inter"/>
                          <a:ea typeface="Inter"/>
                          <a:cs typeface="Inter"/>
                          <a:sym typeface="Inter"/>
                        </a:rPr>
                        <a:t>AMT_ANNUITY</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Loan annuity amount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5"/>
                  </a:ext>
                </a:extLst>
              </a:tr>
              <a:tr h="568997">
                <a:tc>
                  <a:txBody>
                    <a:bodyPr/>
                    <a:lstStyle/>
                    <a:p>
                      <a:pPr algn="ctr">
                        <a:lnSpc>
                          <a:spcPts val="2940"/>
                        </a:lnSpc>
                        <a:defRPr/>
                      </a:pPr>
                      <a:r>
                        <a:rPr lang="en-US" sz="2100">
                          <a:solidFill>
                            <a:srgbClr val="000000"/>
                          </a:solidFill>
                          <a:latin typeface="Inter"/>
                          <a:ea typeface="Inter"/>
                          <a:cs typeface="Inter"/>
                          <a:sym typeface="Inter"/>
                        </a:rPr>
                        <a:t>AMT_GOODS_PRICE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Price of goods financed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6"/>
                  </a:ext>
                </a:extLst>
              </a:tr>
              <a:tr h="568997">
                <a:tc>
                  <a:txBody>
                    <a:bodyPr/>
                    <a:lstStyle/>
                    <a:p>
                      <a:pPr algn="ctr">
                        <a:lnSpc>
                          <a:spcPts val="2940"/>
                        </a:lnSpc>
                        <a:defRPr/>
                      </a:pPr>
                      <a:r>
                        <a:rPr lang="en-US" sz="2100">
                          <a:solidFill>
                            <a:srgbClr val="000000"/>
                          </a:solidFill>
                          <a:latin typeface="Inter"/>
                          <a:ea typeface="Inter"/>
                          <a:cs typeface="Inter"/>
                          <a:sym typeface="Inter"/>
                        </a:rPr>
                        <a:t>NAME_CONTRACT_TYPE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Type of loan (Cash/ Revolving)</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Categorical</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7"/>
                  </a:ext>
                </a:extLst>
              </a:tr>
              <a:tr h="568997">
                <a:tc>
                  <a:txBody>
                    <a:bodyPr/>
                    <a:lstStyle/>
                    <a:p>
                      <a:pPr algn="ctr">
                        <a:lnSpc>
                          <a:spcPts val="2940"/>
                        </a:lnSpc>
                        <a:defRPr/>
                      </a:pPr>
                      <a:r>
                        <a:rPr lang="en-US" sz="2100">
                          <a:solidFill>
                            <a:srgbClr val="000000"/>
                          </a:solidFill>
                          <a:latin typeface="Inter"/>
                          <a:ea typeface="Inter"/>
                          <a:cs typeface="Inter"/>
                          <a:sym typeface="Inter"/>
                        </a:rPr>
                        <a:t>CODE_GENDER</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Gender of customer</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Categorical</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8"/>
                  </a:ext>
                </a:extLst>
              </a:tr>
              <a:tr h="568997">
                <a:tc>
                  <a:txBody>
                    <a:bodyPr/>
                    <a:lstStyle/>
                    <a:p>
                      <a:pPr algn="ctr">
                        <a:lnSpc>
                          <a:spcPts val="2940"/>
                        </a:lnSpc>
                        <a:defRPr/>
                      </a:pPr>
                      <a:r>
                        <a:rPr lang="en-US" sz="2100">
                          <a:solidFill>
                            <a:srgbClr val="000000"/>
                          </a:solidFill>
                          <a:latin typeface="Inter"/>
                          <a:ea typeface="Inter"/>
                          <a:cs typeface="Inter"/>
                          <a:sym typeface="Inter"/>
                        </a:rPr>
                        <a:t>FLAG_OWN_CAR</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Owns a car (Y/N)</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Binary</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9"/>
                  </a:ext>
                </a:extLst>
              </a:tr>
              <a:tr h="568997">
                <a:tc>
                  <a:txBody>
                    <a:bodyPr/>
                    <a:lstStyle/>
                    <a:p>
                      <a:pPr algn="ctr">
                        <a:lnSpc>
                          <a:spcPts val="2940"/>
                        </a:lnSpc>
                        <a:defRPr/>
                      </a:pPr>
                      <a:r>
                        <a:rPr lang="en-US" sz="2100">
                          <a:solidFill>
                            <a:srgbClr val="000000"/>
                          </a:solidFill>
                          <a:latin typeface="Inter"/>
                          <a:ea typeface="Inter"/>
                          <a:cs typeface="Inter"/>
                          <a:sym typeface="Inter"/>
                        </a:rPr>
                        <a:t>FLAG_OWN_REALITY</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Owns property (Y/N)</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Binary</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10"/>
                  </a:ext>
                </a:extLst>
              </a:tr>
              <a:tr h="564680">
                <a:tc>
                  <a:txBody>
                    <a:bodyPr/>
                    <a:lstStyle/>
                    <a:p>
                      <a:pPr algn="ctr">
                        <a:lnSpc>
                          <a:spcPts val="2940"/>
                        </a:lnSpc>
                        <a:defRPr/>
                      </a:pPr>
                      <a:r>
                        <a:rPr lang="en-US" sz="2100">
                          <a:solidFill>
                            <a:srgbClr val="000000"/>
                          </a:solidFill>
                          <a:latin typeface="Inter"/>
                          <a:ea typeface="Inter"/>
                          <a:cs typeface="Inter"/>
                          <a:sym typeface="Inter"/>
                        </a:rPr>
                        <a:t>DAYS_BIRTH</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Age of customer (in days)</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11"/>
                  </a:ext>
                </a:extLst>
              </a:tr>
              <a:tr h="564680">
                <a:tc>
                  <a:txBody>
                    <a:bodyPr/>
                    <a:lstStyle/>
                    <a:p>
                      <a:pPr algn="ctr">
                        <a:lnSpc>
                          <a:spcPts val="2940"/>
                        </a:lnSpc>
                        <a:defRPr/>
                      </a:pPr>
                      <a:r>
                        <a:rPr lang="en-US" sz="2100">
                          <a:solidFill>
                            <a:srgbClr val="000000"/>
                          </a:solidFill>
                          <a:latin typeface="Inter"/>
                          <a:ea typeface="Inter"/>
                          <a:cs typeface="Inter"/>
                          <a:sym typeface="Inter"/>
                        </a:rPr>
                        <a:t>DAYS_EMPLOYED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Employment duration (in days)</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12"/>
                  </a:ext>
                </a:extLst>
              </a:tr>
              <a:tr h="564680">
                <a:tc>
                  <a:txBody>
                    <a:bodyPr/>
                    <a:lstStyle/>
                    <a:p>
                      <a:pPr algn="ctr">
                        <a:lnSpc>
                          <a:spcPts val="2940"/>
                        </a:lnSpc>
                        <a:defRPr/>
                      </a:pPr>
                      <a:r>
                        <a:rPr lang="en-US" sz="2100">
                          <a:solidFill>
                            <a:srgbClr val="000000"/>
                          </a:solidFill>
                          <a:latin typeface="Inter"/>
                          <a:ea typeface="Inter"/>
                          <a:cs typeface="Inter"/>
                          <a:sym typeface="Inter"/>
                        </a:rPr>
                        <a:t>OCCUPATION_TYPE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Type of occupation</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Categorical</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3432540" y="3619701"/>
            <a:ext cx="11558062" cy="2885673"/>
          </a:xfrm>
          <a:prstGeom prst="rect">
            <a:avLst/>
          </a:prstGeom>
        </p:spPr>
        <p:txBody>
          <a:bodyPr lIns="0" tIns="0" rIns="0" bIns="0" rtlCol="0" anchor="t">
            <a:spAutoFit/>
          </a:bodyPr>
          <a:lstStyle/>
          <a:p>
            <a:pPr algn="ctr">
              <a:lnSpc>
                <a:spcPts val="11572"/>
              </a:lnSpc>
            </a:pPr>
            <a:r>
              <a:rPr lang="en-US" sz="8265" b="1">
                <a:solidFill>
                  <a:srgbClr val="000000"/>
                </a:solidFill>
                <a:latin typeface="Neue Machina Ultra-Bold"/>
                <a:ea typeface="Neue Machina Ultra-Bold"/>
                <a:cs typeface="Neue Machina Ultra-Bold"/>
                <a:sym typeface="Neue Machina Ultra-Bold"/>
              </a:rPr>
              <a:t>CREDIT</a:t>
            </a:r>
          </a:p>
          <a:p>
            <a:pPr algn="ctr">
              <a:lnSpc>
                <a:spcPts val="11572"/>
              </a:lnSpc>
            </a:pPr>
            <a:r>
              <a:rPr lang="en-US" sz="8265" b="1">
                <a:solidFill>
                  <a:srgbClr val="000000"/>
                </a:solidFill>
                <a:latin typeface="Neue Machina Ultra-Bold"/>
                <a:ea typeface="Neue Machina Ultra-Bold"/>
                <a:cs typeface="Neue Machina Ultra-Bold"/>
                <a:sym typeface="Neue Machina Ultra-Bold"/>
              </a:rPr>
              <a:t>HISTORY</a:t>
            </a:r>
          </a:p>
        </p:txBody>
      </p:sp>
      <p:grpSp>
        <p:nvGrpSpPr>
          <p:cNvPr id="4" name="Group 4"/>
          <p:cNvGrpSpPr/>
          <p:nvPr/>
        </p:nvGrpSpPr>
        <p:grpSpPr>
          <a:xfrm>
            <a:off x="-1130300" y="4057750"/>
            <a:ext cx="3086100" cy="2171499"/>
            <a:chOff x="0" y="0"/>
            <a:chExt cx="812800" cy="571917"/>
          </a:xfrm>
        </p:grpSpPr>
        <p:sp>
          <p:nvSpPr>
            <p:cNvPr id="5" name="Freeform 5"/>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20334A"/>
            </a:solidFill>
          </p:spPr>
        </p:sp>
        <p:sp>
          <p:nvSpPr>
            <p:cNvPr id="6" name="TextBox 6"/>
            <p:cNvSpPr txBox="1"/>
            <p:nvPr/>
          </p:nvSpPr>
          <p:spPr>
            <a:xfrm>
              <a:off x="0" y="-38100"/>
              <a:ext cx="812800" cy="610017"/>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467343" y="4057750"/>
            <a:ext cx="3086100" cy="2171499"/>
            <a:chOff x="0" y="0"/>
            <a:chExt cx="812800" cy="571917"/>
          </a:xfrm>
        </p:grpSpPr>
        <p:sp>
          <p:nvSpPr>
            <p:cNvPr id="8" name="Freeform 8"/>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20334A"/>
            </a:solidFill>
          </p:spPr>
        </p:sp>
        <p:sp>
          <p:nvSpPr>
            <p:cNvPr id="9" name="TextBox 9"/>
            <p:cNvSpPr txBox="1"/>
            <p:nvPr/>
          </p:nvSpPr>
          <p:spPr>
            <a:xfrm>
              <a:off x="0" y="-38100"/>
              <a:ext cx="812800" cy="610017"/>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592750"/>
            <a:ext cx="12398922" cy="972820"/>
          </a:xfrm>
          <a:prstGeom prst="rect">
            <a:avLst/>
          </a:prstGeom>
        </p:spPr>
        <p:txBody>
          <a:bodyPr lIns="0" tIns="0" rIns="0" bIns="0" rtlCol="0" anchor="t">
            <a:spAutoFit/>
          </a:bodyPr>
          <a:lstStyle/>
          <a:p>
            <a:pPr algn="l">
              <a:lnSpc>
                <a:spcPts val="5500"/>
              </a:lnSpc>
            </a:pPr>
            <a:r>
              <a:rPr lang="en-US" sz="5500" b="1">
                <a:solidFill>
                  <a:srgbClr val="000000"/>
                </a:solidFill>
                <a:latin typeface="Neue Machina Ultra-Bold"/>
                <a:ea typeface="Neue Machina Ultra-Bold"/>
                <a:cs typeface="Neue Machina Ultra-Bold"/>
                <a:sym typeface="Neue Machina Ultra-Bold"/>
              </a:rPr>
              <a:t>External Credit History  </a:t>
            </a:r>
          </a:p>
          <a:p>
            <a:pPr algn="l">
              <a:lnSpc>
                <a:spcPts val="2100"/>
              </a:lnSpc>
            </a:pPr>
            <a:r>
              <a:rPr lang="en-US" sz="2100" b="1">
                <a:solidFill>
                  <a:srgbClr val="000000"/>
                </a:solidFill>
                <a:latin typeface="Neue Machina Ultra-Bold"/>
                <a:ea typeface="Neue Machina Ultra-Bold"/>
                <a:cs typeface="Neue Machina Ultra-Bold"/>
                <a:sym typeface="Neue Machina Ultra-Bold"/>
              </a:rPr>
              <a:t>bureau- (1716428, 17)</a:t>
            </a:r>
          </a:p>
        </p:txBody>
      </p:sp>
      <p:sp>
        <p:nvSpPr>
          <p:cNvPr id="3" name="Freeform 3"/>
          <p:cNvSpPr/>
          <p:nvPr/>
        </p:nvSpPr>
        <p:spPr>
          <a:xfrm>
            <a:off x="17316179" y="-135495"/>
            <a:ext cx="1943641" cy="1484235"/>
          </a:xfrm>
          <a:custGeom>
            <a:avLst/>
            <a:gdLst/>
            <a:ahLst/>
            <a:cxnLst/>
            <a:rect l="l" t="t" r="r" b="b"/>
            <a:pathLst>
              <a:path w="1943641" h="1484235">
                <a:moveTo>
                  <a:pt x="0" y="0"/>
                </a:moveTo>
                <a:lnTo>
                  <a:pt x="1943642" y="0"/>
                </a:lnTo>
                <a:lnTo>
                  <a:pt x="1943642" y="1484235"/>
                </a:lnTo>
                <a:lnTo>
                  <a:pt x="0" y="1484235"/>
                </a:lnTo>
                <a:lnTo>
                  <a:pt x="0" y="0"/>
                </a:lnTo>
                <a:close/>
              </a:path>
            </a:pathLst>
          </a:custGeom>
          <a:blipFill>
            <a:blip>
              <a:alphaModFix amt="39000"/>
              <a:extLst>
                <a:ext uri="{96DAC541-7B7A-43D3-8B79-37D633B846F1}">
                  <asvg:svgBlip xmlns:asvg="http://schemas.microsoft.com/office/drawing/2016/SVG/main" r:embed="rId2"/>
                </a:ext>
              </a:extLst>
            </a:blip>
            <a:stretch>
              <a:fillRect/>
            </a:stretch>
          </a:blipFill>
          <a:ln cap="sq">
            <a:noFill/>
            <a:prstDash val="solid"/>
            <a:miter/>
          </a:ln>
        </p:spPr>
      </p:sp>
      <p:sp>
        <p:nvSpPr>
          <p:cNvPr id="4" name="Freeform 4"/>
          <p:cNvSpPr/>
          <p:nvPr/>
        </p:nvSpPr>
        <p:spPr>
          <a:xfrm>
            <a:off x="-660612" y="1408026"/>
            <a:ext cx="1321225" cy="554394"/>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3"/>
                </a:ext>
              </a:extLst>
            </a:blip>
            <a:stretch>
              <a:fillRect r="-71029" b="-123065"/>
            </a:stretch>
          </a:blipFill>
        </p:spPr>
      </p:sp>
      <p:sp>
        <p:nvSpPr>
          <p:cNvPr id="5" name="Freeform 5"/>
          <p:cNvSpPr/>
          <p:nvPr/>
        </p:nvSpPr>
        <p:spPr>
          <a:xfrm>
            <a:off x="17515409" y="9050126"/>
            <a:ext cx="1864644" cy="728906"/>
          </a:xfrm>
          <a:custGeom>
            <a:avLst/>
            <a:gdLst/>
            <a:ahLst/>
            <a:cxnLst/>
            <a:rect l="l" t="t" r="r" b="b"/>
            <a:pathLst>
              <a:path w="1864644" h="728906">
                <a:moveTo>
                  <a:pt x="0" y="0"/>
                </a:moveTo>
                <a:lnTo>
                  <a:pt x="1864644" y="0"/>
                </a:lnTo>
                <a:lnTo>
                  <a:pt x="1864644" y="728907"/>
                </a:lnTo>
                <a:lnTo>
                  <a:pt x="0" y="728907"/>
                </a:lnTo>
                <a:lnTo>
                  <a:pt x="0" y="0"/>
                </a:lnTo>
                <a:close/>
              </a:path>
            </a:pathLst>
          </a:custGeom>
          <a:blipFill>
            <a:blip>
              <a:alphaModFix amt="39000"/>
              <a:extLst>
                <a:ext uri="{96DAC541-7B7A-43D3-8B79-37D633B846F1}">
                  <asvg:svgBlip xmlns:asvg="http://schemas.microsoft.com/office/drawing/2016/SVG/main" r:embed="rId4"/>
                </a:ext>
              </a:extLst>
            </a:blip>
            <a:stretch>
              <a:fillRect/>
            </a:stretch>
          </a:blipFill>
        </p:spPr>
      </p:sp>
      <p:sp>
        <p:nvSpPr>
          <p:cNvPr id="6" name="Freeform 6"/>
          <p:cNvSpPr/>
          <p:nvPr/>
        </p:nvSpPr>
        <p:spPr>
          <a:xfrm>
            <a:off x="-954956" y="9258300"/>
            <a:ext cx="1909912" cy="1878659"/>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5"/>
                </a:ext>
              </a:extLst>
            </a:blip>
            <a:stretch>
              <a:fillRect/>
            </a:stretch>
          </a:blipFill>
        </p:spPr>
      </p:sp>
      <p:sp>
        <p:nvSpPr>
          <p:cNvPr id="7" name="Freeform 7"/>
          <p:cNvSpPr/>
          <p:nvPr/>
        </p:nvSpPr>
        <p:spPr>
          <a:xfrm rot="5400000">
            <a:off x="15773047" y="628023"/>
            <a:ext cx="550257" cy="1560007"/>
          </a:xfrm>
          <a:custGeom>
            <a:avLst/>
            <a:gdLst/>
            <a:ahLst/>
            <a:cxnLst/>
            <a:rect l="l" t="t" r="r" b="b"/>
            <a:pathLst>
              <a:path w="550257" h="1560007">
                <a:moveTo>
                  <a:pt x="0" y="0"/>
                </a:moveTo>
                <a:lnTo>
                  <a:pt x="550257" y="0"/>
                </a:lnTo>
                <a:lnTo>
                  <a:pt x="550257" y="1560007"/>
                </a:lnTo>
                <a:lnTo>
                  <a:pt x="0" y="1560007"/>
                </a:lnTo>
                <a:lnTo>
                  <a:pt x="0" y="0"/>
                </a:lnTo>
                <a:close/>
              </a:path>
            </a:pathLst>
          </a:custGeom>
          <a:blipFill>
            <a:blip>
              <a:extLst>
                <a:ext uri="{96DAC541-7B7A-43D3-8B79-37D633B846F1}">
                  <asvg:svgBlip xmlns:asvg="http://schemas.microsoft.com/office/drawing/2016/SVG/main" r:embed="rId6"/>
                </a:ext>
              </a:extLst>
            </a:blip>
            <a:stretch>
              <a:fillRect/>
            </a:stretch>
          </a:blipFill>
        </p:spPr>
      </p:sp>
      <p:graphicFrame>
        <p:nvGraphicFramePr>
          <p:cNvPr id="8" name="Table 8"/>
          <p:cNvGraphicFramePr>
            <a:graphicFrameLocks noGrp="1"/>
          </p:cNvGraphicFramePr>
          <p:nvPr/>
        </p:nvGraphicFramePr>
        <p:xfrm>
          <a:off x="1028700" y="2143760"/>
          <a:ext cx="16230600" cy="5134536"/>
        </p:xfrm>
        <a:graphic>
          <a:graphicData uri="http://schemas.openxmlformats.org/drawingml/2006/table">
            <a:tbl>
              <a:tblPr/>
              <a:tblGrid>
                <a:gridCol w="4718256">
                  <a:extLst>
                    <a:ext uri="{9D8B030D-6E8A-4147-A177-3AD203B41FA5}">
                      <a16:colId xmlns:a16="http://schemas.microsoft.com/office/drawing/2014/main" val="20000"/>
                    </a:ext>
                  </a:extLst>
                </a:gridCol>
                <a:gridCol w="5745102">
                  <a:extLst>
                    <a:ext uri="{9D8B030D-6E8A-4147-A177-3AD203B41FA5}">
                      <a16:colId xmlns:a16="http://schemas.microsoft.com/office/drawing/2014/main" val="20001"/>
                    </a:ext>
                  </a:extLst>
                </a:gridCol>
                <a:gridCol w="5767242">
                  <a:extLst>
                    <a:ext uri="{9D8B030D-6E8A-4147-A177-3AD203B41FA5}">
                      <a16:colId xmlns:a16="http://schemas.microsoft.com/office/drawing/2014/main" val="20002"/>
                    </a:ext>
                  </a:extLst>
                </a:gridCol>
              </a:tblGrid>
              <a:tr h="570504">
                <a:tc>
                  <a:txBody>
                    <a:bodyPr/>
                    <a:lstStyle/>
                    <a:p>
                      <a:pPr algn="ctr">
                        <a:lnSpc>
                          <a:spcPts val="2940"/>
                        </a:lnSpc>
                        <a:defRPr/>
                      </a:pPr>
                      <a:r>
                        <a:rPr lang="en-US" sz="2100" b="1">
                          <a:solidFill>
                            <a:srgbClr val="FFFFFF"/>
                          </a:solidFill>
                          <a:latin typeface="Inter Bold"/>
                          <a:ea typeface="Inter Bold"/>
                          <a:cs typeface="Inter Bold"/>
                          <a:sym typeface="Inter Bold"/>
                        </a:rPr>
                        <a:t>Feature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tc>
                  <a:txBody>
                    <a:bodyPr/>
                    <a:lstStyle/>
                    <a:p>
                      <a:pPr algn="ctr">
                        <a:lnSpc>
                          <a:spcPts val="2940"/>
                        </a:lnSpc>
                        <a:defRPr/>
                      </a:pPr>
                      <a:r>
                        <a:rPr lang="en-US" sz="2100" b="1">
                          <a:solidFill>
                            <a:srgbClr val="FFFFFF"/>
                          </a:solidFill>
                          <a:latin typeface="Inter Bold"/>
                          <a:ea typeface="Inter Bold"/>
                          <a:cs typeface="Inter Bold"/>
                          <a:sym typeface="Inter Bold"/>
                        </a:rPr>
                        <a:t>Description</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tc>
                  <a:txBody>
                    <a:bodyPr/>
                    <a:lstStyle/>
                    <a:p>
                      <a:pPr algn="ctr">
                        <a:lnSpc>
                          <a:spcPts val="2940"/>
                        </a:lnSpc>
                        <a:defRPr/>
                      </a:pPr>
                      <a:r>
                        <a:rPr lang="en-US" sz="2100" b="1">
                          <a:solidFill>
                            <a:srgbClr val="FFFFFF"/>
                          </a:solidFill>
                          <a:latin typeface="Inter Bold"/>
                          <a:ea typeface="Inter Bold"/>
                          <a:cs typeface="Inter Bold"/>
                          <a:sym typeface="Inter Bold"/>
                        </a:rPr>
                        <a:t>Type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extLst>
                  <a:ext uri="{0D108BD9-81ED-4DB2-BD59-A6C34878D82A}">
                    <a16:rowId xmlns:a16="http://schemas.microsoft.com/office/drawing/2014/main" val="10000"/>
                  </a:ext>
                </a:extLst>
              </a:tr>
              <a:tr h="570504">
                <a:tc>
                  <a:txBody>
                    <a:bodyPr/>
                    <a:lstStyle/>
                    <a:p>
                      <a:pPr algn="ctr">
                        <a:lnSpc>
                          <a:spcPts val="2940"/>
                        </a:lnSpc>
                        <a:defRPr/>
                      </a:pPr>
                      <a:r>
                        <a:rPr lang="en-US" sz="2100">
                          <a:solidFill>
                            <a:srgbClr val="000000"/>
                          </a:solidFill>
                          <a:latin typeface="Canva Sans"/>
                          <a:ea typeface="Canva Sans"/>
                          <a:cs typeface="Canva Sans"/>
                          <a:sym typeface="Canva Sans"/>
                        </a:rPr>
                        <a:t>SK_ID_BUREAU</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Unique bureau loan 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1"/>
                  </a:ext>
                </a:extLst>
              </a:tr>
              <a:tr h="570504">
                <a:tc>
                  <a:txBody>
                    <a:bodyPr/>
                    <a:lstStyle/>
                    <a:p>
                      <a:pPr algn="ctr">
                        <a:lnSpc>
                          <a:spcPts val="2940"/>
                        </a:lnSpc>
                        <a:defRPr/>
                      </a:pPr>
                      <a:r>
                        <a:rPr lang="en-US" sz="2100">
                          <a:solidFill>
                            <a:srgbClr val="000000"/>
                          </a:solidFill>
                          <a:latin typeface="Inter"/>
                          <a:ea typeface="Inter"/>
                          <a:cs typeface="Inter"/>
                          <a:sym typeface="Inter"/>
                        </a:rPr>
                        <a:t>SK_ID_CURR</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Customer 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Key</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2"/>
                  </a:ext>
                </a:extLst>
              </a:tr>
              <a:tr h="570504">
                <a:tc>
                  <a:txBody>
                    <a:bodyPr/>
                    <a:lstStyle/>
                    <a:p>
                      <a:pPr algn="ctr">
                        <a:lnSpc>
                          <a:spcPts val="2940"/>
                        </a:lnSpc>
                        <a:defRPr/>
                      </a:pPr>
                      <a:r>
                        <a:rPr lang="en-US" sz="2100">
                          <a:solidFill>
                            <a:srgbClr val="000000"/>
                          </a:solidFill>
                          <a:latin typeface="Inter"/>
                          <a:ea typeface="Inter"/>
                          <a:cs typeface="Inter"/>
                          <a:sym typeface="Inter"/>
                        </a:rPr>
                        <a:t>CREDIT_ACTIVE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Status of credit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Categorical</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3"/>
                  </a:ext>
                </a:extLst>
              </a:tr>
              <a:tr h="570504">
                <a:tc>
                  <a:txBody>
                    <a:bodyPr/>
                    <a:lstStyle/>
                    <a:p>
                      <a:pPr algn="ctr">
                        <a:lnSpc>
                          <a:spcPts val="2940"/>
                        </a:lnSpc>
                        <a:defRPr/>
                      </a:pPr>
                      <a:r>
                        <a:rPr lang="en-US" sz="2100">
                          <a:solidFill>
                            <a:srgbClr val="000000"/>
                          </a:solidFill>
                          <a:latin typeface="Inter"/>
                          <a:ea typeface="Inter"/>
                          <a:cs typeface="Inter"/>
                          <a:sym typeface="Inter"/>
                        </a:rPr>
                        <a:t>CREDIT_TYPE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Type of credit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Categorical</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4"/>
                  </a:ext>
                </a:extLst>
              </a:tr>
              <a:tr h="570504">
                <a:tc>
                  <a:txBody>
                    <a:bodyPr/>
                    <a:lstStyle/>
                    <a:p>
                      <a:pPr algn="ctr">
                        <a:lnSpc>
                          <a:spcPts val="2940"/>
                        </a:lnSpc>
                        <a:defRPr/>
                      </a:pPr>
                      <a:r>
                        <a:rPr lang="en-US" sz="2100">
                          <a:solidFill>
                            <a:srgbClr val="000000"/>
                          </a:solidFill>
                          <a:latin typeface="Inter"/>
                          <a:ea typeface="Inter"/>
                          <a:cs typeface="Inter"/>
                          <a:sym typeface="Inter"/>
                        </a:rPr>
                        <a:t>AMT_CREDIT_SUM</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Total credit amount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5"/>
                  </a:ext>
                </a:extLst>
              </a:tr>
              <a:tr h="570504">
                <a:tc>
                  <a:txBody>
                    <a:bodyPr/>
                    <a:lstStyle/>
                    <a:p>
                      <a:pPr algn="ctr">
                        <a:lnSpc>
                          <a:spcPts val="2940"/>
                        </a:lnSpc>
                        <a:defRPr/>
                      </a:pPr>
                      <a:r>
                        <a:rPr lang="en-US" sz="2100">
                          <a:solidFill>
                            <a:srgbClr val="000000"/>
                          </a:solidFill>
                          <a:latin typeface="Inter"/>
                          <a:ea typeface="Inter"/>
                          <a:cs typeface="Inter"/>
                          <a:sym typeface="Inter"/>
                        </a:rPr>
                        <a:t>AMT_CREDIT_SUM_DEBT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Outstanding debt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6"/>
                  </a:ext>
                </a:extLst>
              </a:tr>
              <a:tr h="570504">
                <a:tc>
                  <a:txBody>
                    <a:bodyPr/>
                    <a:lstStyle/>
                    <a:p>
                      <a:pPr algn="ctr">
                        <a:lnSpc>
                          <a:spcPts val="2940"/>
                        </a:lnSpc>
                        <a:defRPr/>
                      </a:pPr>
                      <a:r>
                        <a:rPr lang="en-US" sz="2100">
                          <a:solidFill>
                            <a:srgbClr val="000000"/>
                          </a:solidFill>
                          <a:latin typeface="Inter"/>
                          <a:ea typeface="Inter"/>
                          <a:cs typeface="Inter"/>
                          <a:sym typeface="Inter"/>
                        </a:rPr>
                        <a:t>DAYS_CREDIT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Days since credit taken</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7"/>
                  </a:ext>
                </a:extLst>
              </a:tr>
              <a:tr h="570504">
                <a:tc>
                  <a:txBody>
                    <a:bodyPr/>
                    <a:lstStyle/>
                    <a:p>
                      <a:pPr algn="ctr">
                        <a:lnSpc>
                          <a:spcPts val="2940"/>
                        </a:lnSpc>
                        <a:defRPr/>
                      </a:pPr>
                      <a:r>
                        <a:rPr lang="en-US" sz="2100">
                          <a:solidFill>
                            <a:srgbClr val="000000"/>
                          </a:solidFill>
                          <a:latin typeface="Inter"/>
                          <a:ea typeface="Inter"/>
                          <a:cs typeface="Inter"/>
                          <a:sym typeface="Inter"/>
                        </a:rPr>
                        <a:t>DAYS_CREDIT_ENDDATE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Credit end date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592750"/>
            <a:ext cx="12398922" cy="972820"/>
          </a:xfrm>
          <a:prstGeom prst="rect">
            <a:avLst/>
          </a:prstGeom>
        </p:spPr>
        <p:txBody>
          <a:bodyPr lIns="0" tIns="0" rIns="0" bIns="0" rtlCol="0" anchor="t">
            <a:spAutoFit/>
          </a:bodyPr>
          <a:lstStyle/>
          <a:p>
            <a:pPr algn="l">
              <a:lnSpc>
                <a:spcPts val="5500"/>
              </a:lnSpc>
            </a:pPr>
            <a:r>
              <a:rPr lang="en-US" sz="5500" b="1">
                <a:solidFill>
                  <a:srgbClr val="000000"/>
                </a:solidFill>
                <a:latin typeface="Neue Machina Ultra-Bold"/>
                <a:ea typeface="Neue Machina Ultra-Bold"/>
                <a:cs typeface="Neue Machina Ultra-Bold"/>
                <a:sym typeface="Neue Machina Ultra-Bold"/>
              </a:rPr>
              <a:t>Monthly Credit Status </a:t>
            </a:r>
          </a:p>
          <a:p>
            <a:pPr algn="l">
              <a:lnSpc>
                <a:spcPts val="2100"/>
              </a:lnSpc>
            </a:pPr>
            <a:r>
              <a:rPr lang="en-US" sz="2100" b="1">
                <a:solidFill>
                  <a:srgbClr val="000000"/>
                </a:solidFill>
                <a:latin typeface="Neue Machina Ultra-Bold"/>
                <a:ea typeface="Neue Machina Ultra-Bold"/>
                <a:cs typeface="Neue Machina Ultra-Bold"/>
                <a:sym typeface="Neue Machina Ultra-Bold"/>
              </a:rPr>
              <a:t>bureau_balance-(27299925, 3)</a:t>
            </a:r>
          </a:p>
        </p:txBody>
      </p:sp>
      <p:sp>
        <p:nvSpPr>
          <p:cNvPr id="3" name="Freeform 3"/>
          <p:cNvSpPr/>
          <p:nvPr/>
        </p:nvSpPr>
        <p:spPr>
          <a:xfrm>
            <a:off x="17316179" y="-135495"/>
            <a:ext cx="1943641" cy="1484235"/>
          </a:xfrm>
          <a:custGeom>
            <a:avLst/>
            <a:gdLst/>
            <a:ahLst/>
            <a:cxnLst/>
            <a:rect l="l" t="t" r="r" b="b"/>
            <a:pathLst>
              <a:path w="1943641" h="1484235">
                <a:moveTo>
                  <a:pt x="0" y="0"/>
                </a:moveTo>
                <a:lnTo>
                  <a:pt x="1943642" y="0"/>
                </a:lnTo>
                <a:lnTo>
                  <a:pt x="1943642" y="1484235"/>
                </a:lnTo>
                <a:lnTo>
                  <a:pt x="0" y="1484235"/>
                </a:lnTo>
                <a:lnTo>
                  <a:pt x="0" y="0"/>
                </a:lnTo>
                <a:close/>
              </a:path>
            </a:pathLst>
          </a:custGeom>
          <a:blipFill>
            <a:blip>
              <a:alphaModFix amt="39000"/>
              <a:extLst>
                <a:ext uri="{96DAC541-7B7A-43D3-8B79-37D633B846F1}">
                  <asvg:svgBlip xmlns:asvg="http://schemas.microsoft.com/office/drawing/2016/SVG/main" r:embed="rId2"/>
                </a:ext>
              </a:extLst>
            </a:blip>
            <a:stretch>
              <a:fillRect/>
            </a:stretch>
          </a:blipFill>
          <a:ln cap="sq">
            <a:noFill/>
            <a:prstDash val="solid"/>
            <a:miter/>
          </a:ln>
        </p:spPr>
      </p:sp>
      <p:sp>
        <p:nvSpPr>
          <p:cNvPr id="4" name="Freeform 4"/>
          <p:cNvSpPr/>
          <p:nvPr/>
        </p:nvSpPr>
        <p:spPr>
          <a:xfrm>
            <a:off x="-660612" y="1408026"/>
            <a:ext cx="1321225" cy="554394"/>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3"/>
                </a:ext>
              </a:extLst>
            </a:blip>
            <a:stretch>
              <a:fillRect r="-71029" b="-123065"/>
            </a:stretch>
          </a:blipFill>
        </p:spPr>
      </p:sp>
      <p:sp>
        <p:nvSpPr>
          <p:cNvPr id="5" name="Freeform 5"/>
          <p:cNvSpPr/>
          <p:nvPr/>
        </p:nvSpPr>
        <p:spPr>
          <a:xfrm>
            <a:off x="17515409" y="9050126"/>
            <a:ext cx="1864644" cy="728906"/>
          </a:xfrm>
          <a:custGeom>
            <a:avLst/>
            <a:gdLst/>
            <a:ahLst/>
            <a:cxnLst/>
            <a:rect l="l" t="t" r="r" b="b"/>
            <a:pathLst>
              <a:path w="1864644" h="728906">
                <a:moveTo>
                  <a:pt x="0" y="0"/>
                </a:moveTo>
                <a:lnTo>
                  <a:pt x="1864644" y="0"/>
                </a:lnTo>
                <a:lnTo>
                  <a:pt x="1864644" y="728907"/>
                </a:lnTo>
                <a:lnTo>
                  <a:pt x="0" y="728907"/>
                </a:lnTo>
                <a:lnTo>
                  <a:pt x="0" y="0"/>
                </a:lnTo>
                <a:close/>
              </a:path>
            </a:pathLst>
          </a:custGeom>
          <a:blipFill>
            <a:blip>
              <a:alphaModFix amt="39000"/>
              <a:extLst>
                <a:ext uri="{96DAC541-7B7A-43D3-8B79-37D633B846F1}">
                  <asvg:svgBlip xmlns:asvg="http://schemas.microsoft.com/office/drawing/2016/SVG/main" r:embed="rId4"/>
                </a:ext>
              </a:extLst>
            </a:blip>
            <a:stretch>
              <a:fillRect/>
            </a:stretch>
          </a:blipFill>
        </p:spPr>
      </p:sp>
      <p:sp>
        <p:nvSpPr>
          <p:cNvPr id="6" name="Freeform 6"/>
          <p:cNvSpPr/>
          <p:nvPr/>
        </p:nvSpPr>
        <p:spPr>
          <a:xfrm>
            <a:off x="-954956" y="9258300"/>
            <a:ext cx="1909912" cy="1878659"/>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5"/>
                </a:ext>
              </a:extLst>
            </a:blip>
            <a:stretch>
              <a:fillRect/>
            </a:stretch>
          </a:blipFill>
        </p:spPr>
      </p:sp>
      <p:sp>
        <p:nvSpPr>
          <p:cNvPr id="7" name="Freeform 7"/>
          <p:cNvSpPr/>
          <p:nvPr/>
        </p:nvSpPr>
        <p:spPr>
          <a:xfrm rot="5400000">
            <a:off x="15773047" y="628023"/>
            <a:ext cx="550257" cy="1560007"/>
          </a:xfrm>
          <a:custGeom>
            <a:avLst/>
            <a:gdLst/>
            <a:ahLst/>
            <a:cxnLst/>
            <a:rect l="l" t="t" r="r" b="b"/>
            <a:pathLst>
              <a:path w="550257" h="1560007">
                <a:moveTo>
                  <a:pt x="0" y="0"/>
                </a:moveTo>
                <a:lnTo>
                  <a:pt x="550257" y="0"/>
                </a:lnTo>
                <a:lnTo>
                  <a:pt x="550257" y="1560007"/>
                </a:lnTo>
                <a:lnTo>
                  <a:pt x="0" y="1560007"/>
                </a:lnTo>
                <a:lnTo>
                  <a:pt x="0" y="0"/>
                </a:lnTo>
                <a:close/>
              </a:path>
            </a:pathLst>
          </a:custGeom>
          <a:blipFill>
            <a:blip>
              <a:extLst>
                <a:ext uri="{96DAC541-7B7A-43D3-8B79-37D633B846F1}">
                  <asvg:svgBlip xmlns:asvg="http://schemas.microsoft.com/office/drawing/2016/SVG/main" r:embed="rId6"/>
                </a:ext>
              </a:extLst>
            </a:blip>
            <a:stretch>
              <a:fillRect/>
            </a:stretch>
          </a:blipFill>
        </p:spPr>
      </p:sp>
      <p:graphicFrame>
        <p:nvGraphicFramePr>
          <p:cNvPr id="8" name="Table 8"/>
          <p:cNvGraphicFramePr>
            <a:graphicFrameLocks noGrp="1"/>
          </p:cNvGraphicFramePr>
          <p:nvPr/>
        </p:nvGraphicFramePr>
        <p:xfrm>
          <a:off x="1028700" y="2143760"/>
          <a:ext cx="16230600" cy="2869455"/>
        </p:xfrm>
        <a:graphic>
          <a:graphicData uri="http://schemas.openxmlformats.org/drawingml/2006/table">
            <a:tbl>
              <a:tblPr/>
              <a:tblGrid>
                <a:gridCol w="4718256">
                  <a:extLst>
                    <a:ext uri="{9D8B030D-6E8A-4147-A177-3AD203B41FA5}">
                      <a16:colId xmlns:a16="http://schemas.microsoft.com/office/drawing/2014/main" val="20000"/>
                    </a:ext>
                  </a:extLst>
                </a:gridCol>
                <a:gridCol w="5745102">
                  <a:extLst>
                    <a:ext uri="{9D8B030D-6E8A-4147-A177-3AD203B41FA5}">
                      <a16:colId xmlns:a16="http://schemas.microsoft.com/office/drawing/2014/main" val="20001"/>
                    </a:ext>
                  </a:extLst>
                </a:gridCol>
                <a:gridCol w="5767242">
                  <a:extLst>
                    <a:ext uri="{9D8B030D-6E8A-4147-A177-3AD203B41FA5}">
                      <a16:colId xmlns:a16="http://schemas.microsoft.com/office/drawing/2014/main" val="20002"/>
                    </a:ext>
                  </a:extLst>
                </a:gridCol>
              </a:tblGrid>
              <a:tr h="573891">
                <a:tc>
                  <a:txBody>
                    <a:bodyPr/>
                    <a:lstStyle/>
                    <a:p>
                      <a:pPr algn="ctr">
                        <a:lnSpc>
                          <a:spcPts val="2940"/>
                        </a:lnSpc>
                        <a:defRPr/>
                      </a:pPr>
                      <a:r>
                        <a:rPr lang="en-US" sz="2100" b="1">
                          <a:solidFill>
                            <a:srgbClr val="FFFFFF"/>
                          </a:solidFill>
                          <a:latin typeface="Inter Bold"/>
                          <a:ea typeface="Inter Bold"/>
                          <a:cs typeface="Inter Bold"/>
                          <a:sym typeface="Inter Bold"/>
                        </a:rPr>
                        <a:t>Feature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tc>
                  <a:txBody>
                    <a:bodyPr/>
                    <a:lstStyle/>
                    <a:p>
                      <a:pPr algn="ctr">
                        <a:lnSpc>
                          <a:spcPts val="2940"/>
                        </a:lnSpc>
                        <a:defRPr/>
                      </a:pPr>
                      <a:r>
                        <a:rPr lang="en-US" sz="2100" b="1">
                          <a:solidFill>
                            <a:srgbClr val="FFFFFF"/>
                          </a:solidFill>
                          <a:latin typeface="Inter Bold"/>
                          <a:ea typeface="Inter Bold"/>
                          <a:cs typeface="Inter Bold"/>
                          <a:sym typeface="Inter Bold"/>
                        </a:rPr>
                        <a:t>Description</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tc>
                  <a:txBody>
                    <a:bodyPr/>
                    <a:lstStyle/>
                    <a:p>
                      <a:pPr algn="ctr">
                        <a:lnSpc>
                          <a:spcPts val="2940"/>
                        </a:lnSpc>
                        <a:defRPr/>
                      </a:pPr>
                      <a:r>
                        <a:rPr lang="en-US" sz="2100" b="1">
                          <a:solidFill>
                            <a:srgbClr val="FFFFFF"/>
                          </a:solidFill>
                          <a:latin typeface="Inter Bold"/>
                          <a:ea typeface="Inter Bold"/>
                          <a:cs typeface="Inter Bold"/>
                          <a:sym typeface="Inter Bold"/>
                        </a:rPr>
                        <a:t>Type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extLst>
                  <a:ext uri="{0D108BD9-81ED-4DB2-BD59-A6C34878D82A}">
                    <a16:rowId xmlns:a16="http://schemas.microsoft.com/office/drawing/2014/main" val="10000"/>
                  </a:ext>
                </a:extLst>
              </a:tr>
              <a:tr h="573891">
                <a:tc>
                  <a:txBody>
                    <a:bodyPr/>
                    <a:lstStyle/>
                    <a:p>
                      <a:pPr algn="ctr">
                        <a:lnSpc>
                          <a:spcPts val="2940"/>
                        </a:lnSpc>
                        <a:defRPr/>
                      </a:pPr>
                      <a:r>
                        <a:rPr lang="en-US" sz="2100">
                          <a:solidFill>
                            <a:srgbClr val="000000"/>
                          </a:solidFill>
                          <a:latin typeface="Canva Sans"/>
                          <a:ea typeface="Canva Sans"/>
                          <a:cs typeface="Canva Sans"/>
                          <a:sym typeface="Canva Sans"/>
                        </a:rPr>
                        <a:t>SK_ID_BUREAU</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Unique bureau loan 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1"/>
                  </a:ext>
                </a:extLst>
              </a:tr>
              <a:tr h="573891">
                <a:tc>
                  <a:txBody>
                    <a:bodyPr/>
                    <a:lstStyle/>
                    <a:p>
                      <a:pPr algn="ctr">
                        <a:lnSpc>
                          <a:spcPts val="2940"/>
                        </a:lnSpc>
                        <a:defRPr/>
                      </a:pPr>
                      <a:r>
                        <a:rPr lang="en-US" sz="2100">
                          <a:solidFill>
                            <a:srgbClr val="000000"/>
                          </a:solidFill>
                          <a:latin typeface="Inter"/>
                          <a:ea typeface="Inter"/>
                          <a:cs typeface="Inter"/>
                          <a:sym typeface="Inter"/>
                        </a:rPr>
                        <a:t>MONTHS_BALANCE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Month of record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2"/>
                  </a:ext>
                </a:extLst>
              </a:tr>
              <a:tr h="573891">
                <a:tc>
                  <a:txBody>
                    <a:bodyPr/>
                    <a:lstStyle/>
                    <a:p>
                      <a:pPr algn="ctr">
                        <a:lnSpc>
                          <a:spcPts val="2940"/>
                        </a:lnSpc>
                        <a:defRPr/>
                      </a:pPr>
                      <a:r>
                        <a:rPr lang="en-US" sz="2100">
                          <a:solidFill>
                            <a:srgbClr val="000000"/>
                          </a:solidFill>
                          <a:latin typeface="Inter"/>
                          <a:ea typeface="Inter"/>
                          <a:cs typeface="Inter"/>
                          <a:sym typeface="Inter"/>
                        </a:rPr>
                        <a:t>STATUS</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Credit status per month</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Categorical</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3"/>
                  </a:ext>
                </a:extLst>
              </a:tr>
              <a:tr h="573891">
                <a:tc>
                  <a:txBody>
                    <a:bodyPr/>
                    <a:lstStyle/>
                    <a:p>
                      <a:pPr algn="ctr">
                        <a:lnSpc>
                          <a:spcPts val="2940"/>
                        </a:lnSpc>
                        <a:defRPr/>
                      </a:pPr>
                      <a:r>
                        <a:rPr lang="en-US" sz="2100">
                          <a:solidFill>
                            <a:srgbClr val="000000"/>
                          </a:solidFill>
                          <a:latin typeface="Inter"/>
                          <a:ea typeface="Inter"/>
                          <a:cs typeface="Inter"/>
                          <a:sym typeface="Inter"/>
                        </a:rPr>
                        <a:t>CREDIT_TYPE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Type of credit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Categorical</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3432540" y="3619701"/>
            <a:ext cx="11558062" cy="2885673"/>
          </a:xfrm>
          <a:prstGeom prst="rect">
            <a:avLst/>
          </a:prstGeom>
        </p:spPr>
        <p:txBody>
          <a:bodyPr lIns="0" tIns="0" rIns="0" bIns="0" rtlCol="0" anchor="t">
            <a:spAutoFit/>
          </a:bodyPr>
          <a:lstStyle/>
          <a:p>
            <a:pPr algn="ctr">
              <a:lnSpc>
                <a:spcPts val="11572"/>
              </a:lnSpc>
            </a:pPr>
            <a:r>
              <a:rPr lang="en-US" sz="8265" b="1">
                <a:solidFill>
                  <a:srgbClr val="000000"/>
                </a:solidFill>
                <a:latin typeface="Neue Machina Ultra-Bold"/>
                <a:ea typeface="Neue Machina Ultra-Bold"/>
                <a:cs typeface="Neue Machina Ultra-Bold"/>
                <a:sym typeface="Neue Machina Ultra-Bold"/>
              </a:rPr>
              <a:t>PREVIOUS</a:t>
            </a:r>
          </a:p>
          <a:p>
            <a:pPr algn="ctr">
              <a:lnSpc>
                <a:spcPts val="11572"/>
              </a:lnSpc>
            </a:pPr>
            <a:r>
              <a:rPr lang="en-US" sz="8265" b="1">
                <a:solidFill>
                  <a:srgbClr val="000000"/>
                </a:solidFill>
                <a:latin typeface="Neue Machina Ultra-Bold"/>
                <a:ea typeface="Neue Machina Ultra-Bold"/>
                <a:cs typeface="Neue Machina Ultra-Bold"/>
                <a:sym typeface="Neue Machina Ultra-Bold"/>
              </a:rPr>
              <a:t>APPLICATIONS</a:t>
            </a:r>
          </a:p>
        </p:txBody>
      </p:sp>
      <p:grpSp>
        <p:nvGrpSpPr>
          <p:cNvPr id="4" name="Group 4"/>
          <p:cNvGrpSpPr/>
          <p:nvPr/>
        </p:nvGrpSpPr>
        <p:grpSpPr>
          <a:xfrm>
            <a:off x="-1130300" y="4057750"/>
            <a:ext cx="3086100" cy="2171499"/>
            <a:chOff x="0" y="0"/>
            <a:chExt cx="812800" cy="571917"/>
          </a:xfrm>
        </p:grpSpPr>
        <p:sp>
          <p:nvSpPr>
            <p:cNvPr id="5" name="Freeform 5"/>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20334A"/>
            </a:solidFill>
          </p:spPr>
        </p:sp>
        <p:sp>
          <p:nvSpPr>
            <p:cNvPr id="6" name="TextBox 6"/>
            <p:cNvSpPr txBox="1"/>
            <p:nvPr/>
          </p:nvSpPr>
          <p:spPr>
            <a:xfrm>
              <a:off x="0" y="-38100"/>
              <a:ext cx="812800" cy="610017"/>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467343" y="4057750"/>
            <a:ext cx="3086100" cy="2171499"/>
            <a:chOff x="0" y="0"/>
            <a:chExt cx="812800" cy="571917"/>
          </a:xfrm>
        </p:grpSpPr>
        <p:sp>
          <p:nvSpPr>
            <p:cNvPr id="8" name="Freeform 8"/>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20334A"/>
            </a:solidFill>
          </p:spPr>
        </p:sp>
        <p:sp>
          <p:nvSpPr>
            <p:cNvPr id="9" name="TextBox 9"/>
            <p:cNvSpPr txBox="1"/>
            <p:nvPr/>
          </p:nvSpPr>
          <p:spPr>
            <a:xfrm>
              <a:off x="0" y="-38100"/>
              <a:ext cx="812800" cy="610017"/>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592750"/>
            <a:ext cx="12398922" cy="1106165"/>
          </a:xfrm>
          <a:prstGeom prst="rect">
            <a:avLst/>
          </a:prstGeom>
        </p:spPr>
        <p:txBody>
          <a:bodyPr lIns="0" tIns="0" rIns="0" bIns="0" rtlCol="0" anchor="t">
            <a:spAutoFit/>
          </a:bodyPr>
          <a:lstStyle/>
          <a:p>
            <a:pPr algn="l">
              <a:lnSpc>
                <a:spcPts val="5500"/>
              </a:lnSpc>
            </a:pPr>
            <a:r>
              <a:rPr lang="en-US" sz="5500" b="1">
                <a:solidFill>
                  <a:srgbClr val="000000"/>
                </a:solidFill>
                <a:latin typeface="Neue Machina Ultra-Bold"/>
                <a:ea typeface="Neue Machina Ultra-Bold"/>
                <a:cs typeface="Neue Machina Ultra-Bold"/>
                <a:sym typeface="Neue Machina Ultra-Bold"/>
              </a:rPr>
              <a:t>Previous Loans</a:t>
            </a:r>
          </a:p>
          <a:p>
            <a:pPr algn="l">
              <a:lnSpc>
                <a:spcPts val="4200"/>
              </a:lnSpc>
            </a:pPr>
            <a:r>
              <a:rPr lang="en-US" sz="2100" b="1">
                <a:solidFill>
                  <a:srgbClr val="000000"/>
                </a:solidFill>
                <a:latin typeface="Neue Machina Ultra-Bold"/>
                <a:ea typeface="Neue Machina Ultra-Bold"/>
                <a:cs typeface="Neue Machina Ultra-Bold"/>
                <a:sym typeface="Neue Machina Ultra-Bold"/>
              </a:rPr>
              <a:t> previous_application- (1670214, 37)</a:t>
            </a:r>
          </a:p>
        </p:txBody>
      </p:sp>
      <p:sp>
        <p:nvSpPr>
          <p:cNvPr id="3" name="Freeform 3"/>
          <p:cNvSpPr/>
          <p:nvPr/>
        </p:nvSpPr>
        <p:spPr>
          <a:xfrm>
            <a:off x="17316179" y="-135495"/>
            <a:ext cx="1943641" cy="1484235"/>
          </a:xfrm>
          <a:custGeom>
            <a:avLst/>
            <a:gdLst/>
            <a:ahLst/>
            <a:cxnLst/>
            <a:rect l="l" t="t" r="r" b="b"/>
            <a:pathLst>
              <a:path w="1943641" h="1484235">
                <a:moveTo>
                  <a:pt x="0" y="0"/>
                </a:moveTo>
                <a:lnTo>
                  <a:pt x="1943642" y="0"/>
                </a:lnTo>
                <a:lnTo>
                  <a:pt x="1943642" y="1484235"/>
                </a:lnTo>
                <a:lnTo>
                  <a:pt x="0" y="1484235"/>
                </a:lnTo>
                <a:lnTo>
                  <a:pt x="0" y="0"/>
                </a:lnTo>
                <a:close/>
              </a:path>
            </a:pathLst>
          </a:custGeom>
          <a:blipFill>
            <a:blip>
              <a:alphaModFix amt="39000"/>
              <a:extLst>
                <a:ext uri="{96DAC541-7B7A-43D3-8B79-37D633B846F1}">
                  <asvg:svgBlip xmlns:asvg="http://schemas.microsoft.com/office/drawing/2016/SVG/main" r:embed="rId2"/>
                </a:ext>
              </a:extLst>
            </a:blip>
            <a:stretch>
              <a:fillRect/>
            </a:stretch>
          </a:blipFill>
          <a:ln cap="sq">
            <a:noFill/>
            <a:prstDash val="solid"/>
            <a:miter/>
          </a:ln>
        </p:spPr>
      </p:sp>
      <p:sp>
        <p:nvSpPr>
          <p:cNvPr id="4" name="Freeform 4"/>
          <p:cNvSpPr/>
          <p:nvPr/>
        </p:nvSpPr>
        <p:spPr>
          <a:xfrm>
            <a:off x="-660612" y="1408026"/>
            <a:ext cx="1321225" cy="554394"/>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3"/>
                </a:ext>
              </a:extLst>
            </a:blip>
            <a:stretch>
              <a:fillRect r="-71029" b="-123065"/>
            </a:stretch>
          </a:blipFill>
        </p:spPr>
      </p:sp>
      <p:sp>
        <p:nvSpPr>
          <p:cNvPr id="5" name="Freeform 5"/>
          <p:cNvSpPr/>
          <p:nvPr/>
        </p:nvSpPr>
        <p:spPr>
          <a:xfrm>
            <a:off x="17515409" y="9050126"/>
            <a:ext cx="1864644" cy="728906"/>
          </a:xfrm>
          <a:custGeom>
            <a:avLst/>
            <a:gdLst/>
            <a:ahLst/>
            <a:cxnLst/>
            <a:rect l="l" t="t" r="r" b="b"/>
            <a:pathLst>
              <a:path w="1864644" h="728906">
                <a:moveTo>
                  <a:pt x="0" y="0"/>
                </a:moveTo>
                <a:lnTo>
                  <a:pt x="1864644" y="0"/>
                </a:lnTo>
                <a:lnTo>
                  <a:pt x="1864644" y="728907"/>
                </a:lnTo>
                <a:lnTo>
                  <a:pt x="0" y="728907"/>
                </a:lnTo>
                <a:lnTo>
                  <a:pt x="0" y="0"/>
                </a:lnTo>
                <a:close/>
              </a:path>
            </a:pathLst>
          </a:custGeom>
          <a:blipFill>
            <a:blip>
              <a:alphaModFix amt="39000"/>
              <a:extLst>
                <a:ext uri="{96DAC541-7B7A-43D3-8B79-37D633B846F1}">
                  <asvg:svgBlip xmlns:asvg="http://schemas.microsoft.com/office/drawing/2016/SVG/main" r:embed="rId4"/>
                </a:ext>
              </a:extLst>
            </a:blip>
            <a:stretch>
              <a:fillRect/>
            </a:stretch>
          </a:blipFill>
        </p:spPr>
      </p:sp>
      <p:sp>
        <p:nvSpPr>
          <p:cNvPr id="6" name="Freeform 6"/>
          <p:cNvSpPr/>
          <p:nvPr/>
        </p:nvSpPr>
        <p:spPr>
          <a:xfrm>
            <a:off x="-954956" y="9258300"/>
            <a:ext cx="1909912" cy="1878659"/>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5"/>
                </a:ext>
              </a:extLst>
            </a:blip>
            <a:stretch>
              <a:fillRect/>
            </a:stretch>
          </a:blipFill>
        </p:spPr>
      </p:sp>
      <p:sp>
        <p:nvSpPr>
          <p:cNvPr id="7" name="Freeform 7"/>
          <p:cNvSpPr/>
          <p:nvPr/>
        </p:nvSpPr>
        <p:spPr>
          <a:xfrm rot="5400000">
            <a:off x="15773047" y="628023"/>
            <a:ext cx="550257" cy="1560007"/>
          </a:xfrm>
          <a:custGeom>
            <a:avLst/>
            <a:gdLst/>
            <a:ahLst/>
            <a:cxnLst/>
            <a:rect l="l" t="t" r="r" b="b"/>
            <a:pathLst>
              <a:path w="550257" h="1560007">
                <a:moveTo>
                  <a:pt x="0" y="0"/>
                </a:moveTo>
                <a:lnTo>
                  <a:pt x="550257" y="0"/>
                </a:lnTo>
                <a:lnTo>
                  <a:pt x="550257" y="1560007"/>
                </a:lnTo>
                <a:lnTo>
                  <a:pt x="0" y="1560007"/>
                </a:lnTo>
                <a:lnTo>
                  <a:pt x="0" y="0"/>
                </a:lnTo>
                <a:close/>
              </a:path>
            </a:pathLst>
          </a:custGeom>
          <a:blipFill>
            <a:blip>
              <a:extLst>
                <a:ext uri="{96DAC541-7B7A-43D3-8B79-37D633B846F1}">
                  <asvg:svgBlip xmlns:asvg="http://schemas.microsoft.com/office/drawing/2016/SVG/main" r:embed="rId6"/>
                </a:ext>
              </a:extLst>
            </a:blip>
            <a:stretch>
              <a:fillRect/>
            </a:stretch>
          </a:blipFill>
        </p:spPr>
      </p:sp>
      <p:graphicFrame>
        <p:nvGraphicFramePr>
          <p:cNvPr id="8" name="Table 8"/>
          <p:cNvGraphicFramePr>
            <a:graphicFrameLocks noGrp="1"/>
          </p:cNvGraphicFramePr>
          <p:nvPr/>
        </p:nvGraphicFramePr>
        <p:xfrm>
          <a:off x="1028700" y="2143760"/>
          <a:ext cx="16230600" cy="4568264"/>
        </p:xfrm>
        <a:graphic>
          <a:graphicData uri="http://schemas.openxmlformats.org/drawingml/2006/table">
            <a:tbl>
              <a:tblPr/>
              <a:tblGrid>
                <a:gridCol w="4718256">
                  <a:extLst>
                    <a:ext uri="{9D8B030D-6E8A-4147-A177-3AD203B41FA5}">
                      <a16:colId xmlns:a16="http://schemas.microsoft.com/office/drawing/2014/main" val="20000"/>
                    </a:ext>
                  </a:extLst>
                </a:gridCol>
                <a:gridCol w="5745102">
                  <a:extLst>
                    <a:ext uri="{9D8B030D-6E8A-4147-A177-3AD203B41FA5}">
                      <a16:colId xmlns:a16="http://schemas.microsoft.com/office/drawing/2014/main" val="20001"/>
                    </a:ext>
                  </a:extLst>
                </a:gridCol>
                <a:gridCol w="5767242">
                  <a:extLst>
                    <a:ext uri="{9D8B030D-6E8A-4147-A177-3AD203B41FA5}">
                      <a16:colId xmlns:a16="http://schemas.microsoft.com/office/drawing/2014/main" val="20002"/>
                    </a:ext>
                  </a:extLst>
                </a:gridCol>
              </a:tblGrid>
              <a:tr h="571033">
                <a:tc>
                  <a:txBody>
                    <a:bodyPr/>
                    <a:lstStyle/>
                    <a:p>
                      <a:pPr algn="ctr">
                        <a:lnSpc>
                          <a:spcPts val="2940"/>
                        </a:lnSpc>
                        <a:defRPr/>
                      </a:pPr>
                      <a:r>
                        <a:rPr lang="en-US" sz="2100" b="1">
                          <a:solidFill>
                            <a:srgbClr val="FFFFFF"/>
                          </a:solidFill>
                          <a:latin typeface="Inter Bold"/>
                          <a:ea typeface="Inter Bold"/>
                          <a:cs typeface="Inter Bold"/>
                          <a:sym typeface="Inter Bold"/>
                        </a:rPr>
                        <a:t>Feature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tc>
                  <a:txBody>
                    <a:bodyPr/>
                    <a:lstStyle/>
                    <a:p>
                      <a:pPr algn="ctr">
                        <a:lnSpc>
                          <a:spcPts val="2940"/>
                        </a:lnSpc>
                        <a:defRPr/>
                      </a:pPr>
                      <a:r>
                        <a:rPr lang="en-US" sz="2100" b="1">
                          <a:solidFill>
                            <a:srgbClr val="FFFFFF"/>
                          </a:solidFill>
                          <a:latin typeface="Inter Bold"/>
                          <a:ea typeface="Inter Bold"/>
                          <a:cs typeface="Inter Bold"/>
                          <a:sym typeface="Inter Bold"/>
                        </a:rPr>
                        <a:t>Description</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tc>
                  <a:txBody>
                    <a:bodyPr/>
                    <a:lstStyle/>
                    <a:p>
                      <a:pPr algn="ctr">
                        <a:lnSpc>
                          <a:spcPts val="2940"/>
                        </a:lnSpc>
                        <a:defRPr/>
                      </a:pPr>
                      <a:r>
                        <a:rPr lang="en-US" sz="2100" b="1">
                          <a:solidFill>
                            <a:srgbClr val="FFFFFF"/>
                          </a:solidFill>
                          <a:latin typeface="Inter Bold"/>
                          <a:ea typeface="Inter Bold"/>
                          <a:cs typeface="Inter Bold"/>
                          <a:sym typeface="Inter Bold"/>
                        </a:rPr>
                        <a:t>Type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extLst>
                  <a:ext uri="{0D108BD9-81ED-4DB2-BD59-A6C34878D82A}">
                    <a16:rowId xmlns:a16="http://schemas.microsoft.com/office/drawing/2014/main" val="10000"/>
                  </a:ext>
                </a:extLst>
              </a:tr>
              <a:tr h="571033">
                <a:tc>
                  <a:txBody>
                    <a:bodyPr/>
                    <a:lstStyle/>
                    <a:p>
                      <a:pPr algn="ctr">
                        <a:lnSpc>
                          <a:spcPts val="2940"/>
                        </a:lnSpc>
                        <a:defRPr/>
                      </a:pPr>
                      <a:r>
                        <a:rPr lang="en-US" sz="2100">
                          <a:solidFill>
                            <a:srgbClr val="000000"/>
                          </a:solidFill>
                          <a:latin typeface="Canva Sans"/>
                          <a:ea typeface="Canva Sans"/>
                          <a:cs typeface="Canva Sans"/>
                          <a:sym typeface="Canva Sans"/>
                        </a:rPr>
                        <a:t>SK_ID_PREV</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Previous loan 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1"/>
                  </a:ext>
                </a:extLst>
              </a:tr>
              <a:tr h="571033">
                <a:tc>
                  <a:txBody>
                    <a:bodyPr/>
                    <a:lstStyle/>
                    <a:p>
                      <a:pPr algn="ctr">
                        <a:lnSpc>
                          <a:spcPts val="2940"/>
                        </a:lnSpc>
                        <a:defRPr/>
                      </a:pPr>
                      <a:r>
                        <a:rPr lang="en-US" sz="2100">
                          <a:solidFill>
                            <a:srgbClr val="000000"/>
                          </a:solidFill>
                          <a:latin typeface="Inter"/>
                          <a:ea typeface="Inter"/>
                          <a:cs typeface="Inter"/>
                          <a:sym typeface="Inter"/>
                        </a:rPr>
                        <a:t>SK_ID_CURR</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Customer 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Key</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2"/>
                  </a:ext>
                </a:extLst>
              </a:tr>
              <a:tr h="571033">
                <a:tc>
                  <a:txBody>
                    <a:bodyPr/>
                    <a:lstStyle/>
                    <a:p>
                      <a:pPr algn="ctr">
                        <a:lnSpc>
                          <a:spcPts val="2940"/>
                        </a:lnSpc>
                        <a:defRPr/>
                      </a:pPr>
                      <a:r>
                        <a:rPr lang="en-US" sz="2100">
                          <a:solidFill>
                            <a:srgbClr val="000000"/>
                          </a:solidFill>
                          <a:latin typeface="Inter"/>
                          <a:ea typeface="Inter"/>
                          <a:cs typeface="Inter"/>
                          <a:sym typeface="Inter"/>
                        </a:rPr>
                        <a:t>NAME_CONTRACT_TYPE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Loan type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Categorical</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3"/>
                  </a:ext>
                </a:extLst>
              </a:tr>
              <a:tr h="571033">
                <a:tc>
                  <a:txBody>
                    <a:bodyPr/>
                    <a:lstStyle/>
                    <a:p>
                      <a:pPr algn="ctr">
                        <a:lnSpc>
                          <a:spcPts val="2940"/>
                        </a:lnSpc>
                        <a:defRPr/>
                      </a:pPr>
                      <a:r>
                        <a:rPr lang="en-US" sz="2100">
                          <a:solidFill>
                            <a:srgbClr val="000000"/>
                          </a:solidFill>
                          <a:latin typeface="Inter"/>
                          <a:ea typeface="Inter"/>
                          <a:cs typeface="Inter"/>
                          <a:sym typeface="Inter"/>
                        </a:rPr>
                        <a:t>AMT_APPLICATION</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Applied amount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4"/>
                  </a:ext>
                </a:extLst>
              </a:tr>
              <a:tr h="571033">
                <a:tc>
                  <a:txBody>
                    <a:bodyPr/>
                    <a:lstStyle/>
                    <a:p>
                      <a:pPr algn="ctr">
                        <a:lnSpc>
                          <a:spcPts val="2940"/>
                        </a:lnSpc>
                        <a:defRPr/>
                      </a:pPr>
                      <a:r>
                        <a:rPr lang="en-US" sz="2100">
                          <a:solidFill>
                            <a:srgbClr val="000000"/>
                          </a:solidFill>
                          <a:latin typeface="Inter"/>
                          <a:ea typeface="Inter"/>
                          <a:cs typeface="Inter"/>
                          <a:sym typeface="Inter"/>
                        </a:rPr>
                        <a:t>AMT_CREDIT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Approved credti amount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5"/>
                  </a:ext>
                </a:extLst>
              </a:tr>
              <a:tr h="571033">
                <a:tc>
                  <a:txBody>
                    <a:bodyPr/>
                    <a:lstStyle/>
                    <a:p>
                      <a:pPr algn="ctr">
                        <a:lnSpc>
                          <a:spcPts val="2940"/>
                        </a:lnSpc>
                        <a:defRPr/>
                      </a:pPr>
                      <a:r>
                        <a:rPr lang="en-US" sz="2100">
                          <a:solidFill>
                            <a:srgbClr val="000000"/>
                          </a:solidFill>
                          <a:latin typeface="Inter"/>
                          <a:ea typeface="Inter"/>
                          <a:cs typeface="Inter"/>
                          <a:sym typeface="Inter"/>
                        </a:rPr>
                        <a:t>NAME_CONTRACT_STATUS</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Approved/ Rejected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Categorical</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6"/>
                  </a:ext>
                </a:extLst>
              </a:tr>
              <a:tr h="571033">
                <a:tc>
                  <a:txBody>
                    <a:bodyPr/>
                    <a:lstStyle/>
                    <a:p>
                      <a:pPr algn="ctr">
                        <a:lnSpc>
                          <a:spcPts val="2940"/>
                        </a:lnSpc>
                        <a:defRPr/>
                      </a:pPr>
                      <a:r>
                        <a:rPr lang="en-US" sz="2100">
                          <a:solidFill>
                            <a:srgbClr val="000000"/>
                          </a:solidFill>
                          <a:latin typeface="Inter"/>
                          <a:ea typeface="Inter"/>
                          <a:cs typeface="Inter"/>
                          <a:sym typeface="Inter"/>
                        </a:rPr>
                        <a:t>RATE_DOWN_PAYMENT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Down payment rate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Categorical</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3432540" y="3619701"/>
            <a:ext cx="11558062" cy="2885673"/>
          </a:xfrm>
          <a:prstGeom prst="rect">
            <a:avLst/>
          </a:prstGeom>
        </p:spPr>
        <p:txBody>
          <a:bodyPr lIns="0" tIns="0" rIns="0" bIns="0" rtlCol="0" anchor="t">
            <a:spAutoFit/>
          </a:bodyPr>
          <a:lstStyle/>
          <a:p>
            <a:pPr algn="ctr">
              <a:lnSpc>
                <a:spcPts val="11572"/>
              </a:lnSpc>
            </a:pPr>
            <a:r>
              <a:rPr lang="en-US" sz="8265" b="1">
                <a:solidFill>
                  <a:srgbClr val="000000"/>
                </a:solidFill>
                <a:latin typeface="Neue Machina Ultra-Bold"/>
                <a:ea typeface="Neue Machina Ultra-Bold"/>
                <a:cs typeface="Neue Machina Ultra-Bold"/>
                <a:sym typeface="Neue Machina Ultra-Bold"/>
              </a:rPr>
              <a:t>Behavioral</a:t>
            </a:r>
          </a:p>
          <a:p>
            <a:pPr algn="ctr">
              <a:lnSpc>
                <a:spcPts val="11572"/>
              </a:lnSpc>
            </a:pPr>
            <a:r>
              <a:rPr lang="en-US" sz="8265" b="1">
                <a:solidFill>
                  <a:srgbClr val="000000"/>
                </a:solidFill>
                <a:latin typeface="Neue Machina Ultra-Bold"/>
                <a:ea typeface="Neue Machina Ultra-Bold"/>
                <a:cs typeface="Neue Machina Ultra-Bold"/>
                <a:sym typeface="Neue Machina Ultra-Bold"/>
              </a:rPr>
              <a:t>Tables</a:t>
            </a:r>
          </a:p>
        </p:txBody>
      </p:sp>
      <p:grpSp>
        <p:nvGrpSpPr>
          <p:cNvPr id="4" name="Group 4"/>
          <p:cNvGrpSpPr/>
          <p:nvPr/>
        </p:nvGrpSpPr>
        <p:grpSpPr>
          <a:xfrm>
            <a:off x="-1130300" y="4057750"/>
            <a:ext cx="3086100" cy="2171499"/>
            <a:chOff x="0" y="0"/>
            <a:chExt cx="812800" cy="571917"/>
          </a:xfrm>
        </p:grpSpPr>
        <p:sp>
          <p:nvSpPr>
            <p:cNvPr id="5" name="Freeform 5"/>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20334A"/>
            </a:solidFill>
          </p:spPr>
        </p:sp>
        <p:sp>
          <p:nvSpPr>
            <p:cNvPr id="6" name="TextBox 6"/>
            <p:cNvSpPr txBox="1"/>
            <p:nvPr/>
          </p:nvSpPr>
          <p:spPr>
            <a:xfrm>
              <a:off x="0" y="-38100"/>
              <a:ext cx="812800" cy="610017"/>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467343" y="4057750"/>
            <a:ext cx="3086100" cy="2171499"/>
            <a:chOff x="0" y="0"/>
            <a:chExt cx="812800" cy="571917"/>
          </a:xfrm>
        </p:grpSpPr>
        <p:sp>
          <p:nvSpPr>
            <p:cNvPr id="8" name="Freeform 8"/>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20334A"/>
            </a:solidFill>
          </p:spPr>
        </p:sp>
        <p:sp>
          <p:nvSpPr>
            <p:cNvPr id="9" name="TextBox 9"/>
            <p:cNvSpPr txBox="1"/>
            <p:nvPr/>
          </p:nvSpPr>
          <p:spPr>
            <a:xfrm>
              <a:off x="0" y="-38100"/>
              <a:ext cx="812800" cy="610017"/>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592750"/>
            <a:ext cx="12398922" cy="1106165"/>
          </a:xfrm>
          <a:prstGeom prst="rect">
            <a:avLst/>
          </a:prstGeom>
        </p:spPr>
        <p:txBody>
          <a:bodyPr lIns="0" tIns="0" rIns="0" bIns="0" rtlCol="0" anchor="t">
            <a:spAutoFit/>
          </a:bodyPr>
          <a:lstStyle/>
          <a:p>
            <a:pPr algn="l">
              <a:lnSpc>
                <a:spcPts val="5500"/>
              </a:lnSpc>
            </a:pPr>
            <a:r>
              <a:rPr lang="en-US" sz="5500" b="1" dirty="0">
                <a:solidFill>
                  <a:srgbClr val="000000"/>
                </a:solidFill>
                <a:latin typeface="Neue Machina Ultra-Bold"/>
                <a:ea typeface="Neue Machina Ultra-Bold"/>
                <a:cs typeface="Neue Machina Ultra-Bold"/>
                <a:sym typeface="Neue Machina Ultra-Bold"/>
              </a:rPr>
              <a:t>Behavioral Data</a:t>
            </a:r>
          </a:p>
          <a:p>
            <a:pPr algn="l">
              <a:lnSpc>
                <a:spcPts val="4200"/>
              </a:lnSpc>
            </a:pPr>
            <a:r>
              <a:rPr lang="en-US" sz="2100" b="1" dirty="0">
                <a:solidFill>
                  <a:srgbClr val="000000"/>
                </a:solidFill>
                <a:latin typeface="Neue Machina Ultra-Bold"/>
                <a:ea typeface="Neue Machina Ultra-Bold"/>
                <a:cs typeface="Neue Machina Ultra-Bold"/>
                <a:sym typeface="Neue Machina Ultra-Bold"/>
              </a:rPr>
              <a:t> </a:t>
            </a:r>
            <a:r>
              <a:rPr lang="en-US" sz="2100" b="1" dirty="0" err="1">
                <a:solidFill>
                  <a:srgbClr val="000000"/>
                </a:solidFill>
                <a:latin typeface="Neue Machina Ultra-Bold"/>
                <a:ea typeface="Neue Machina Ultra-Bold"/>
                <a:cs typeface="Neue Machina Ultra-Bold"/>
                <a:sym typeface="Neue Machina Ultra-Bold"/>
              </a:rPr>
              <a:t>installments_payments</a:t>
            </a:r>
            <a:r>
              <a:rPr lang="en-US" sz="2100" b="1" dirty="0">
                <a:solidFill>
                  <a:srgbClr val="000000"/>
                </a:solidFill>
                <a:latin typeface="Neue Machina Ultra-Bold"/>
                <a:ea typeface="Neue Machina Ultra-Bold"/>
                <a:cs typeface="Neue Machina Ultra-Bold"/>
                <a:sym typeface="Neue Machina Ultra-Bold"/>
              </a:rPr>
              <a:t>- (13605401, 8)</a:t>
            </a:r>
          </a:p>
        </p:txBody>
      </p:sp>
      <p:sp>
        <p:nvSpPr>
          <p:cNvPr id="3" name="Freeform 3"/>
          <p:cNvSpPr/>
          <p:nvPr/>
        </p:nvSpPr>
        <p:spPr>
          <a:xfrm>
            <a:off x="17316179" y="0"/>
            <a:ext cx="971821" cy="1348740"/>
          </a:xfrm>
          <a:custGeom>
            <a:avLst/>
            <a:gdLst/>
            <a:ahLst/>
            <a:cxnLst/>
            <a:rect l="l" t="t" r="r" b="b"/>
            <a:pathLst>
              <a:path w="1943641" h="1484235">
                <a:moveTo>
                  <a:pt x="0" y="0"/>
                </a:moveTo>
                <a:lnTo>
                  <a:pt x="1943642" y="0"/>
                </a:lnTo>
                <a:lnTo>
                  <a:pt x="1943642" y="1484235"/>
                </a:lnTo>
                <a:lnTo>
                  <a:pt x="0" y="1484235"/>
                </a:lnTo>
                <a:lnTo>
                  <a:pt x="0" y="0"/>
                </a:lnTo>
                <a:close/>
              </a:path>
            </a:pathLst>
          </a:custGeom>
          <a:blipFill>
            <a:blip>
              <a:alphaModFix amt="39000"/>
              <a:extLst>
                <a:ext uri="{96DAC541-7B7A-43D3-8B79-37D633B846F1}">
                  <asvg:svgBlip xmlns:asvg="http://schemas.microsoft.com/office/drawing/2016/SVG/main" r:embed="rId2"/>
                </a:ext>
              </a:extLst>
            </a:blip>
            <a:stretch>
              <a:fillRect t="-10046" r="-100000"/>
            </a:stretch>
          </a:blipFill>
          <a:ln cap="sq">
            <a:noFill/>
            <a:prstDash val="solid"/>
            <a:miter/>
          </a:ln>
        </p:spPr>
      </p:sp>
      <p:sp>
        <p:nvSpPr>
          <p:cNvPr id="4" name="Freeform 4"/>
          <p:cNvSpPr/>
          <p:nvPr/>
        </p:nvSpPr>
        <p:spPr>
          <a:xfrm>
            <a:off x="-16866" y="1348740"/>
            <a:ext cx="677479" cy="613680"/>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3"/>
                </a:ext>
              </a:extLst>
            </a:blip>
            <a:stretch>
              <a:fillRect l="-95022" t="9661" r="-138520" b="-111177"/>
            </a:stretch>
          </a:blipFill>
        </p:spPr>
      </p:sp>
      <p:sp>
        <p:nvSpPr>
          <p:cNvPr id="5" name="Freeform 5"/>
          <p:cNvSpPr/>
          <p:nvPr/>
        </p:nvSpPr>
        <p:spPr>
          <a:xfrm>
            <a:off x="17316179" y="9105900"/>
            <a:ext cx="971821" cy="728906"/>
          </a:xfrm>
          <a:custGeom>
            <a:avLst/>
            <a:gdLst/>
            <a:ahLst/>
            <a:cxnLst/>
            <a:rect l="l" t="t" r="r" b="b"/>
            <a:pathLst>
              <a:path w="1864644" h="728906">
                <a:moveTo>
                  <a:pt x="0" y="0"/>
                </a:moveTo>
                <a:lnTo>
                  <a:pt x="1864644" y="0"/>
                </a:lnTo>
                <a:lnTo>
                  <a:pt x="1864644" y="728907"/>
                </a:lnTo>
                <a:lnTo>
                  <a:pt x="0" y="728907"/>
                </a:lnTo>
                <a:lnTo>
                  <a:pt x="0" y="0"/>
                </a:lnTo>
                <a:close/>
              </a:path>
            </a:pathLst>
          </a:custGeom>
          <a:blipFill>
            <a:blip>
              <a:alphaModFix amt="39000"/>
              <a:extLst>
                <a:ext uri="{96DAC541-7B7A-43D3-8B79-37D633B846F1}">
                  <asvg:svgBlip xmlns:asvg="http://schemas.microsoft.com/office/drawing/2016/SVG/main" r:embed="rId4"/>
                </a:ext>
              </a:extLst>
            </a:blip>
            <a:stretch>
              <a:fillRect l="1" r="-91872"/>
            </a:stretch>
          </a:blipFill>
        </p:spPr>
      </p:sp>
      <p:sp>
        <p:nvSpPr>
          <p:cNvPr id="6" name="Freeform 6"/>
          <p:cNvSpPr/>
          <p:nvPr/>
        </p:nvSpPr>
        <p:spPr>
          <a:xfrm>
            <a:off x="-16866" y="9258301"/>
            <a:ext cx="971821" cy="1028700"/>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5"/>
                </a:ext>
              </a:extLst>
            </a:blip>
            <a:stretch>
              <a:fillRect l="-96529" b="-82625"/>
            </a:stretch>
          </a:blipFill>
        </p:spPr>
      </p:sp>
      <p:sp>
        <p:nvSpPr>
          <p:cNvPr id="7" name="Freeform 7"/>
          <p:cNvSpPr/>
          <p:nvPr/>
        </p:nvSpPr>
        <p:spPr>
          <a:xfrm rot="5400000">
            <a:off x="15773047" y="628023"/>
            <a:ext cx="550257" cy="1560007"/>
          </a:xfrm>
          <a:custGeom>
            <a:avLst/>
            <a:gdLst/>
            <a:ahLst/>
            <a:cxnLst/>
            <a:rect l="l" t="t" r="r" b="b"/>
            <a:pathLst>
              <a:path w="550257" h="1560007">
                <a:moveTo>
                  <a:pt x="0" y="0"/>
                </a:moveTo>
                <a:lnTo>
                  <a:pt x="550257" y="0"/>
                </a:lnTo>
                <a:lnTo>
                  <a:pt x="550257" y="1560007"/>
                </a:lnTo>
                <a:lnTo>
                  <a:pt x="0" y="1560007"/>
                </a:lnTo>
                <a:lnTo>
                  <a:pt x="0" y="0"/>
                </a:lnTo>
                <a:close/>
              </a:path>
            </a:pathLst>
          </a:custGeom>
          <a:blipFill>
            <a:blip>
              <a:extLst>
                <a:ext uri="{96DAC541-7B7A-43D3-8B79-37D633B846F1}">
                  <asvg:svgBlip xmlns:asvg="http://schemas.microsoft.com/office/drawing/2016/SVG/main" r:embed="rId6"/>
                </a:ext>
              </a:extLst>
            </a:blip>
            <a:stretch>
              <a:fillRect/>
            </a:stretch>
          </a:blipFill>
        </p:spPr>
      </p:sp>
      <p:graphicFrame>
        <p:nvGraphicFramePr>
          <p:cNvPr id="8" name="Table 8"/>
          <p:cNvGraphicFramePr>
            <a:graphicFrameLocks noGrp="1"/>
          </p:cNvGraphicFramePr>
          <p:nvPr/>
        </p:nvGraphicFramePr>
        <p:xfrm>
          <a:off x="1028700" y="2143760"/>
          <a:ext cx="16230600" cy="4001998"/>
        </p:xfrm>
        <a:graphic>
          <a:graphicData uri="http://schemas.openxmlformats.org/drawingml/2006/table">
            <a:tbl>
              <a:tblPr/>
              <a:tblGrid>
                <a:gridCol w="4718256">
                  <a:extLst>
                    <a:ext uri="{9D8B030D-6E8A-4147-A177-3AD203B41FA5}">
                      <a16:colId xmlns:a16="http://schemas.microsoft.com/office/drawing/2014/main" val="20000"/>
                    </a:ext>
                  </a:extLst>
                </a:gridCol>
                <a:gridCol w="5745102">
                  <a:extLst>
                    <a:ext uri="{9D8B030D-6E8A-4147-A177-3AD203B41FA5}">
                      <a16:colId xmlns:a16="http://schemas.microsoft.com/office/drawing/2014/main" val="20001"/>
                    </a:ext>
                  </a:extLst>
                </a:gridCol>
                <a:gridCol w="5767242">
                  <a:extLst>
                    <a:ext uri="{9D8B030D-6E8A-4147-A177-3AD203B41FA5}">
                      <a16:colId xmlns:a16="http://schemas.microsoft.com/office/drawing/2014/main" val="20002"/>
                    </a:ext>
                  </a:extLst>
                </a:gridCol>
              </a:tblGrid>
              <a:tr h="571714">
                <a:tc>
                  <a:txBody>
                    <a:bodyPr/>
                    <a:lstStyle/>
                    <a:p>
                      <a:pPr algn="ctr">
                        <a:lnSpc>
                          <a:spcPts val="2940"/>
                        </a:lnSpc>
                        <a:defRPr/>
                      </a:pPr>
                      <a:r>
                        <a:rPr lang="en-US" sz="2100" b="1">
                          <a:solidFill>
                            <a:srgbClr val="FFFFFF"/>
                          </a:solidFill>
                          <a:latin typeface="Inter Bold"/>
                          <a:ea typeface="Inter Bold"/>
                          <a:cs typeface="Inter Bold"/>
                          <a:sym typeface="Inter Bold"/>
                        </a:rPr>
                        <a:t>Feature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tc>
                  <a:txBody>
                    <a:bodyPr/>
                    <a:lstStyle/>
                    <a:p>
                      <a:pPr algn="ctr">
                        <a:lnSpc>
                          <a:spcPts val="2940"/>
                        </a:lnSpc>
                        <a:defRPr/>
                      </a:pPr>
                      <a:r>
                        <a:rPr lang="en-US" sz="2100" b="1">
                          <a:solidFill>
                            <a:srgbClr val="FFFFFF"/>
                          </a:solidFill>
                          <a:latin typeface="Inter Bold"/>
                          <a:ea typeface="Inter Bold"/>
                          <a:cs typeface="Inter Bold"/>
                          <a:sym typeface="Inter Bold"/>
                        </a:rPr>
                        <a:t>Description</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tc>
                  <a:txBody>
                    <a:bodyPr/>
                    <a:lstStyle/>
                    <a:p>
                      <a:pPr algn="ctr">
                        <a:lnSpc>
                          <a:spcPts val="2940"/>
                        </a:lnSpc>
                        <a:defRPr/>
                      </a:pPr>
                      <a:r>
                        <a:rPr lang="en-US" sz="2100" b="1">
                          <a:solidFill>
                            <a:srgbClr val="FFFFFF"/>
                          </a:solidFill>
                          <a:latin typeface="Inter Bold"/>
                          <a:ea typeface="Inter Bold"/>
                          <a:cs typeface="Inter Bold"/>
                          <a:sym typeface="Inter Bold"/>
                        </a:rPr>
                        <a:t>Type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extLst>
                  <a:ext uri="{0D108BD9-81ED-4DB2-BD59-A6C34878D82A}">
                    <a16:rowId xmlns:a16="http://schemas.microsoft.com/office/drawing/2014/main" val="10000"/>
                  </a:ext>
                </a:extLst>
              </a:tr>
              <a:tr h="571714">
                <a:tc>
                  <a:txBody>
                    <a:bodyPr/>
                    <a:lstStyle/>
                    <a:p>
                      <a:pPr algn="ctr">
                        <a:lnSpc>
                          <a:spcPts val="2940"/>
                        </a:lnSpc>
                        <a:defRPr/>
                      </a:pPr>
                      <a:r>
                        <a:rPr lang="en-US" sz="2100">
                          <a:solidFill>
                            <a:srgbClr val="000000"/>
                          </a:solidFill>
                          <a:latin typeface="Canva Sans"/>
                          <a:ea typeface="Canva Sans"/>
                          <a:cs typeface="Canva Sans"/>
                          <a:sym typeface="Canva Sans"/>
                        </a:rPr>
                        <a:t>SK_ID_PREV</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Previous loan 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1"/>
                  </a:ext>
                </a:extLst>
              </a:tr>
              <a:tr h="571714">
                <a:tc>
                  <a:txBody>
                    <a:bodyPr/>
                    <a:lstStyle/>
                    <a:p>
                      <a:pPr algn="ctr">
                        <a:lnSpc>
                          <a:spcPts val="2940"/>
                        </a:lnSpc>
                        <a:defRPr/>
                      </a:pPr>
                      <a:r>
                        <a:rPr lang="en-US" sz="2100">
                          <a:solidFill>
                            <a:srgbClr val="000000"/>
                          </a:solidFill>
                          <a:latin typeface="Inter"/>
                          <a:ea typeface="Inter"/>
                          <a:cs typeface="Inter"/>
                          <a:sym typeface="Inter"/>
                        </a:rPr>
                        <a:t>SK_ID_CURR</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Customer 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Key</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2"/>
                  </a:ext>
                </a:extLst>
              </a:tr>
              <a:tr h="571714">
                <a:tc>
                  <a:txBody>
                    <a:bodyPr/>
                    <a:lstStyle/>
                    <a:p>
                      <a:pPr algn="ctr">
                        <a:lnSpc>
                          <a:spcPts val="2940"/>
                        </a:lnSpc>
                        <a:defRPr/>
                      </a:pPr>
                      <a:r>
                        <a:rPr lang="en-US" sz="2100">
                          <a:solidFill>
                            <a:srgbClr val="000000"/>
                          </a:solidFill>
                          <a:latin typeface="Inter"/>
                          <a:ea typeface="Inter"/>
                          <a:cs typeface="Inter"/>
                          <a:sym typeface="Inter"/>
                        </a:rPr>
                        <a:t>AMT_INSTALLMENT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Installment amount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3"/>
                  </a:ext>
                </a:extLst>
              </a:tr>
              <a:tr h="571714">
                <a:tc>
                  <a:txBody>
                    <a:bodyPr/>
                    <a:lstStyle/>
                    <a:p>
                      <a:pPr algn="ctr">
                        <a:lnSpc>
                          <a:spcPts val="2940"/>
                        </a:lnSpc>
                        <a:defRPr/>
                      </a:pPr>
                      <a:r>
                        <a:rPr lang="en-US" sz="2100">
                          <a:solidFill>
                            <a:srgbClr val="000000"/>
                          </a:solidFill>
                          <a:latin typeface="Inter"/>
                          <a:ea typeface="Inter"/>
                          <a:cs typeface="Inter"/>
                          <a:sym typeface="Inter"/>
                        </a:rPr>
                        <a:t>DAYS_ENTRY_PAYMENT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Payment date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4"/>
                  </a:ext>
                </a:extLst>
              </a:tr>
              <a:tr h="571714">
                <a:tc>
                  <a:txBody>
                    <a:bodyPr/>
                    <a:lstStyle/>
                    <a:p>
                      <a:pPr algn="ctr">
                        <a:lnSpc>
                          <a:spcPts val="2940"/>
                        </a:lnSpc>
                        <a:defRPr/>
                      </a:pPr>
                      <a:r>
                        <a:rPr lang="en-US" sz="2100">
                          <a:solidFill>
                            <a:srgbClr val="000000"/>
                          </a:solidFill>
                          <a:latin typeface="Inter"/>
                          <a:ea typeface="Inter"/>
                          <a:cs typeface="Inter"/>
                          <a:sym typeface="Inter"/>
                        </a:rPr>
                        <a:t>DAYS_INSTALLMENT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Due date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5"/>
                  </a:ext>
                </a:extLst>
              </a:tr>
              <a:tr h="571714">
                <a:tc>
                  <a:txBody>
                    <a:bodyPr/>
                    <a:lstStyle/>
                    <a:p>
                      <a:pPr algn="ctr">
                        <a:lnSpc>
                          <a:spcPts val="2940"/>
                        </a:lnSpc>
                        <a:defRPr/>
                      </a:pPr>
                      <a:r>
                        <a:rPr lang="en-US" sz="2100">
                          <a:solidFill>
                            <a:srgbClr val="000000"/>
                          </a:solidFill>
                          <a:latin typeface="Inter"/>
                          <a:ea typeface="Inter"/>
                          <a:cs typeface="Inter"/>
                          <a:sym typeface="Inter"/>
                        </a:rPr>
                        <a:t>AMT_PAYMENT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Payment made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592750"/>
            <a:ext cx="14561619" cy="1106165"/>
          </a:xfrm>
          <a:prstGeom prst="rect">
            <a:avLst/>
          </a:prstGeom>
        </p:spPr>
        <p:txBody>
          <a:bodyPr lIns="0" tIns="0" rIns="0" bIns="0" rtlCol="0" anchor="t">
            <a:spAutoFit/>
          </a:bodyPr>
          <a:lstStyle/>
          <a:p>
            <a:pPr algn="l">
              <a:lnSpc>
                <a:spcPts val="5500"/>
              </a:lnSpc>
            </a:pPr>
            <a:r>
              <a:rPr lang="en-US" sz="5500" b="1">
                <a:solidFill>
                  <a:srgbClr val="000000"/>
                </a:solidFill>
                <a:latin typeface="Neue Machina Ultra-Bold"/>
                <a:ea typeface="Neue Machina Ultra-Bold"/>
                <a:cs typeface="Neue Machina Ultra-Bold"/>
                <a:sym typeface="Neue Machina Ultra-Bold"/>
              </a:rPr>
              <a:t>Spending Behavior</a:t>
            </a:r>
          </a:p>
          <a:p>
            <a:pPr algn="l">
              <a:lnSpc>
                <a:spcPts val="4200"/>
              </a:lnSpc>
            </a:pPr>
            <a:r>
              <a:rPr lang="en-US" sz="2100" b="1">
                <a:solidFill>
                  <a:srgbClr val="000000"/>
                </a:solidFill>
                <a:latin typeface="Neue Machina Ultra-Bold"/>
                <a:ea typeface="Neue Machina Ultra-Bold"/>
                <a:cs typeface="Neue Machina Ultra-Bold"/>
                <a:sym typeface="Neue Machina Ultra-Bold"/>
              </a:rPr>
              <a:t> credit_card_balance- (3840312, 23)</a:t>
            </a:r>
          </a:p>
        </p:txBody>
      </p:sp>
      <p:sp>
        <p:nvSpPr>
          <p:cNvPr id="7" name="Freeform 7"/>
          <p:cNvSpPr/>
          <p:nvPr/>
        </p:nvSpPr>
        <p:spPr>
          <a:xfrm rot="5400000">
            <a:off x="15773047" y="628023"/>
            <a:ext cx="550257" cy="1560007"/>
          </a:xfrm>
          <a:custGeom>
            <a:avLst/>
            <a:gdLst/>
            <a:ahLst/>
            <a:cxnLst/>
            <a:rect l="l" t="t" r="r" b="b"/>
            <a:pathLst>
              <a:path w="550257" h="1560007">
                <a:moveTo>
                  <a:pt x="0" y="0"/>
                </a:moveTo>
                <a:lnTo>
                  <a:pt x="550257" y="0"/>
                </a:lnTo>
                <a:lnTo>
                  <a:pt x="550257" y="1560007"/>
                </a:lnTo>
                <a:lnTo>
                  <a:pt x="0" y="1560007"/>
                </a:lnTo>
                <a:lnTo>
                  <a:pt x="0" y="0"/>
                </a:lnTo>
                <a:close/>
              </a:path>
            </a:pathLst>
          </a:custGeom>
          <a:blipFill>
            <a:blip>
              <a:extLst>
                <a:ext uri="{96DAC541-7B7A-43D3-8B79-37D633B846F1}">
                  <asvg:svgBlip xmlns:asvg="http://schemas.microsoft.com/office/drawing/2016/SVG/main" r:embed="rId2"/>
                </a:ext>
              </a:extLst>
            </a:blip>
            <a:stretch>
              <a:fillRect/>
            </a:stretch>
          </a:blipFill>
        </p:spPr>
      </p:sp>
      <p:graphicFrame>
        <p:nvGraphicFramePr>
          <p:cNvPr id="8" name="Table 8"/>
          <p:cNvGraphicFramePr>
            <a:graphicFrameLocks noGrp="1"/>
          </p:cNvGraphicFramePr>
          <p:nvPr/>
        </p:nvGraphicFramePr>
        <p:xfrm>
          <a:off x="1028700" y="2143760"/>
          <a:ext cx="16230600" cy="4001998"/>
        </p:xfrm>
        <a:graphic>
          <a:graphicData uri="http://schemas.openxmlformats.org/drawingml/2006/table">
            <a:tbl>
              <a:tblPr/>
              <a:tblGrid>
                <a:gridCol w="4718256">
                  <a:extLst>
                    <a:ext uri="{9D8B030D-6E8A-4147-A177-3AD203B41FA5}">
                      <a16:colId xmlns:a16="http://schemas.microsoft.com/office/drawing/2014/main" val="20000"/>
                    </a:ext>
                  </a:extLst>
                </a:gridCol>
                <a:gridCol w="5745102">
                  <a:extLst>
                    <a:ext uri="{9D8B030D-6E8A-4147-A177-3AD203B41FA5}">
                      <a16:colId xmlns:a16="http://schemas.microsoft.com/office/drawing/2014/main" val="20001"/>
                    </a:ext>
                  </a:extLst>
                </a:gridCol>
                <a:gridCol w="5767242">
                  <a:extLst>
                    <a:ext uri="{9D8B030D-6E8A-4147-A177-3AD203B41FA5}">
                      <a16:colId xmlns:a16="http://schemas.microsoft.com/office/drawing/2014/main" val="20002"/>
                    </a:ext>
                  </a:extLst>
                </a:gridCol>
              </a:tblGrid>
              <a:tr h="571714">
                <a:tc>
                  <a:txBody>
                    <a:bodyPr/>
                    <a:lstStyle/>
                    <a:p>
                      <a:pPr algn="ctr">
                        <a:lnSpc>
                          <a:spcPts val="2940"/>
                        </a:lnSpc>
                        <a:defRPr/>
                      </a:pPr>
                      <a:r>
                        <a:rPr lang="en-US" sz="2100" b="1">
                          <a:solidFill>
                            <a:srgbClr val="FFFFFF"/>
                          </a:solidFill>
                          <a:latin typeface="Inter Bold"/>
                          <a:ea typeface="Inter Bold"/>
                          <a:cs typeface="Inter Bold"/>
                          <a:sym typeface="Inter Bold"/>
                        </a:rPr>
                        <a:t>Feature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tc>
                  <a:txBody>
                    <a:bodyPr/>
                    <a:lstStyle/>
                    <a:p>
                      <a:pPr algn="ctr">
                        <a:lnSpc>
                          <a:spcPts val="2940"/>
                        </a:lnSpc>
                        <a:defRPr/>
                      </a:pPr>
                      <a:r>
                        <a:rPr lang="en-US" sz="2100" b="1">
                          <a:solidFill>
                            <a:srgbClr val="FFFFFF"/>
                          </a:solidFill>
                          <a:latin typeface="Inter Bold"/>
                          <a:ea typeface="Inter Bold"/>
                          <a:cs typeface="Inter Bold"/>
                          <a:sym typeface="Inter Bold"/>
                        </a:rPr>
                        <a:t>Description</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tc>
                  <a:txBody>
                    <a:bodyPr/>
                    <a:lstStyle/>
                    <a:p>
                      <a:pPr algn="ctr">
                        <a:lnSpc>
                          <a:spcPts val="2940"/>
                        </a:lnSpc>
                        <a:defRPr/>
                      </a:pPr>
                      <a:r>
                        <a:rPr lang="en-US" sz="2100" b="1">
                          <a:solidFill>
                            <a:srgbClr val="FFFFFF"/>
                          </a:solidFill>
                          <a:latin typeface="Inter Bold"/>
                          <a:ea typeface="Inter Bold"/>
                          <a:cs typeface="Inter Bold"/>
                          <a:sym typeface="Inter Bold"/>
                        </a:rPr>
                        <a:t>Type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extLst>
                  <a:ext uri="{0D108BD9-81ED-4DB2-BD59-A6C34878D82A}">
                    <a16:rowId xmlns:a16="http://schemas.microsoft.com/office/drawing/2014/main" val="10000"/>
                  </a:ext>
                </a:extLst>
              </a:tr>
              <a:tr h="571714">
                <a:tc>
                  <a:txBody>
                    <a:bodyPr/>
                    <a:lstStyle/>
                    <a:p>
                      <a:pPr algn="ctr">
                        <a:lnSpc>
                          <a:spcPts val="2940"/>
                        </a:lnSpc>
                        <a:defRPr/>
                      </a:pPr>
                      <a:r>
                        <a:rPr lang="en-US" sz="2100">
                          <a:solidFill>
                            <a:srgbClr val="000000"/>
                          </a:solidFill>
                          <a:latin typeface="Canva Sans"/>
                          <a:ea typeface="Canva Sans"/>
                          <a:cs typeface="Canva Sans"/>
                          <a:sym typeface="Canva Sans"/>
                        </a:rPr>
                        <a:t>SK_ID_PREV</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Previous loan 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1"/>
                  </a:ext>
                </a:extLst>
              </a:tr>
              <a:tr h="571714">
                <a:tc>
                  <a:txBody>
                    <a:bodyPr/>
                    <a:lstStyle/>
                    <a:p>
                      <a:pPr algn="ctr">
                        <a:lnSpc>
                          <a:spcPts val="2940"/>
                        </a:lnSpc>
                        <a:defRPr/>
                      </a:pPr>
                      <a:r>
                        <a:rPr lang="en-US" sz="2100">
                          <a:solidFill>
                            <a:srgbClr val="000000"/>
                          </a:solidFill>
                          <a:latin typeface="Inter"/>
                          <a:ea typeface="Inter"/>
                          <a:cs typeface="Inter"/>
                          <a:sym typeface="Inter"/>
                        </a:rPr>
                        <a:t>SK_ID_CURR</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Customer 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Key</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2"/>
                  </a:ext>
                </a:extLst>
              </a:tr>
              <a:tr h="571714">
                <a:tc>
                  <a:txBody>
                    <a:bodyPr/>
                    <a:lstStyle/>
                    <a:p>
                      <a:pPr algn="ctr">
                        <a:lnSpc>
                          <a:spcPts val="2940"/>
                        </a:lnSpc>
                        <a:defRPr/>
                      </a:pPr>
                      <a:r>
                        <a:rPr lang="en-US" sz="2100">
                          <a:solidFill>
                            <a:srgbClr val="000000"/>
                          </a:solidFill>
                          <a:latin typeface="Inter"/>
                          <a:ea typeface="Inter"/>
                          <a:cs typeface="Inter"/>
                          <a:sym typeface="Inter"/>
                        </a:rPr>
                        <a:t>AMT_BALANCE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Current balance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3"/>
                  </a:ext>
                </a:extLst>
              </a:tr>
              <a:tr h="571714">
                <a:tc>
                  <a:txBody>
                    <a:bodyPr/>
                    <a:lstStyle/>
                    <a:p>
                      <a:pPr algn="ctr">
                        <a:lnSpc>
                          <a:spcPts val="2940"/>
                        </a:lnSpc>
                        <a:defRPr/>
                      </a:pPr>
                      <a:r>
                        <a:rPr lang="en-US" sz="2100">
                          <a:solidFill>
                            <a:srgbClr val="000000"/>
                          </a:solidFill>
                          <a:latin typeface="Inter"/>
                          <a:ea typeface="Inter"/>
                          <a:cs typeface="Inter"/>
                          <a:sym typeface="Inter"/>
                        </a:rPr>
                        <a:t>AMT_CREDIT_LIMIT_ACTUAL</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Credit limit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4"/>
                  </a:ext>
                </a:extLst>
              </a:tr>
              <a:tr h="571714">
                <a:tc>
                  <a:txBody>
                    <a:bodyPr/>
                    <a:lstStyle/>
                    <a:p>
                      <a:pPr algn="ctr">
                        <a:lnSpc>
                          <a:spcPts val="2940"/>
                        </a:lnSpc>
                        <a:defRPr/>
                      </a:pPr>
                      <a:r>
                        <a:rPr lang="en-US" sz="2100">
                          <a:solidFill>
                            <a:srgbClr val="000000"/>
                          </a:solidFill>
                          <a:latin typeface="Inter"/>
                          <a:ea typeface="Inter"/>
                          <a:cs typeface="Inter"/>
                          <a:sym typeface="Inter"/>
                        </a:rPr>
                        <a:t>AMT_DRAWINGS_CURRENT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Amount spent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5"/>
                  </a:ext>
                </a:extLst>
              </a:tr>
              <a:tr h="571714">
                <a:tc>
                  <a:txBody>
                    <a:bodyPr/>
                    <a:lstStyle/>
                    <a:p>
                      <a:pPr algn="ctr">
                        <a:lnSpc>
                          <a:spcPts val="2940"/>
                        </a:lnSpc>
                        <a:defRPr/>
                      </a:pPr>
                      <a:r>
                        <a:rPr lang="en-US" sz="2100">
                          <a:solidFill>
                            <a:srgbClr val="000000"/>
                          </a:solidFill>
                          <a:latin typeface="Inter"/>
                          <a:ea typeface="Inter"/>
                          <a:cs typeface="Inter"/>
                          <a:sym typeface="Inter"/>
                        </a:rPr>
                        <a:t>AMT_PAYMENT_CURRENT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Payment made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6"/>
                  </a:ext>
                </a:extLst>
              </a:tr>
            </a:tbl>
          </a:graphicData>
        </a:graphic>
      </p:graphicFrame>
      <p:sp>
        <p:nvSpPr>
          <p:cNvPr id="9" name="Freeform 3">
            <a:extLst>
              <a:ext uri="{FF2B5EF4-FFF2-40B4-BE49-F238E27FC236}">
                <a16:creationId xmlns:a16="http://schemas.microsoft.com/office/drawing/2014/main" id="{BEE6D201-B136-6DBC-E188-AC312CF34967}"/>
              </a:ext>
            </a:extLst>
          </p:cNvPr>
          <p:cNvSpPr/>
          <p:nvPr/>
        </p:nvSpPr>
        <p:spPr>
          <a:xfrm>
            <a:off x="17316179" y="0"/>
            <a:ext cx="971821" cy="1348740"/>
          </a:xfrm>
          <a:custGeom>
            <a:avLst/>
            <a:gdLst/>
            <a:ahLst/>
            <a:cxnLst/>
            <a:rect l="l" t="t" r="r" b="b"/>
            <a:pathLst>
              <a:path w="1943641" h="1484235">
                <a:moveTo>
                  <a:pt x="0" y="0"/>
                </a:moveTo>
                <a:lnTo>
                  <a:pt x="1943642" y="0"/>
                </a:lnTo>
                <a:lnTo>
                  <a:pt x="1943642" y="1484235"/>
                </a:lnTo>
                <a:lnTo>
                  <a:pt x="0" y="1484235"/>
                </a:lnTo>
                <a:lnTo>
                  <a:pt x="0" y="0"/>
                </a:lnTo>
                <a:close/>
              </a:path>
            </a:pathLst>
          </a:custGeom>
          <a:blipFill>
            <a:blip>
              <a:alphaModFix amt="39000"/>
              <a:extLst>
                <a:ext uri="{96DAC541-7B7A-43D3-8B79-37D633B846F1}">
                  <asvg:svgBlip xmlns:asvg="http://schemas.microsoft.com/office/drawing/2016/SVG/main" r:embed="rId3"/>
                </a:ext>
              </a:extLst>
            </a:blip>
            <a:stretch>
              <a:fillRect t="-10046" r="-100000"/>
            </a:stretch>
          </a:blipFill>
          <a:ln cap="sq">
            <a:noFill/>
            <a:prstDash val="solid"/>
            <a:miter/>
          </a:ln>
        </p:spPr>
      </p:sp>
      <p:sp>
        <p:nvSpPr>
          <p:cNvPr id="10" name="Freeform 4">
            <a:extLst>
              <a:ext uri="{FF2B5EF4-FFF2-40B4-BE49-F238E27FC236}">
                <a16:creationId xmlns:a16="http://schemas.microsoft.com/office/drawing/2014/main" id="{2994196B-93AF-17CF-BDB3-A4081898DE18}"/>
              </a:ext>
            </a:extLst>
          </p:cNvPr>
          <p:cNvSpPr/>
          <p:nvPr/>
        </p:nvSpPr>
        <p:spPr>
          <a:xfrm>
            <a:off x="-16866" y="1348740"/>
            <a:ext cx="677479" cy="613680"/>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4"/>
                </a:ext>
              </a:extLst>
            </a:blip>
            <a:stretch>
              <a:fillRect l="-95022" t="9661" r="-138520" b="-111177"/>
            </a:stretch>
          </a:blipFill>
        </p:spPr>
      </p:sp>
      <p:sp>
        <p:nvSpPr>
          <p:cNvPr id="11" name="Freeform 5">
            <a:extLst>
              <a:ext uri="{FF2B5EF4-FFF2-40B4-BE49-F238E27FC236}">
                <a16:creationId xmlns:a16="http://schemas.microsoft.com/office/drawing/2014/main" id="{8E217006-7EAB-831E-D4C2-96C5561B4ADD}"/>
              </a:ext>
            </a:extLst>
          </p:cNvPr>
          <p:cNvSpPr/>
          <p:nvPr/>
        </p:nvSpPr>
        <p:spPr>
          <a:xfrm>
            <a:off x="17316179" y="9105900"/>
            <a:ext cx="971821" cy="728906"/>
          </a:xfrm>
          <a:custGeom>
            <a:avLst/>
            <a:gdLst/>
            <a:ahLst/>
            <a:cxnLst/>
            <a:rect l="l" t="t" r="r" b="b"/>
            <a:pathLst>
              <a:path w="1864644" h="728906">
                <a:moveTo>
                  <a:pt x="0" y="0"/>
                </a:moveTo>
                <a:lnTo>
                  <a:pt x="1864644" y="0"/>
                </a:lnTo>
                <a:lnTo>
                  <a:pt x="1864644" y="728907"/>
                </a:lnTo>
                <a:lnTo>
                  <a:pt x="0" y="728907"/>
                </a:lnTo>
                <a:lnTo>
                  <a:pt x="0" y="0"/>
                </a:lnTo>
                <a:close/>
              </a:path>
            </a:pathLst>
          </a:custGeom>
          <a:blipFill>
            <a:blip>
              <a:alphaModFix amt="39000"/>
              <a:extLst>
                <a:ext uri="{96DAC541-7B7A-43D3-8B79-37D633B846F1}">
                  <asvg:svgBlip xmlns:asvg="http://schemas.microsoft.com/office/drawing/2016/SVG/main" r:embed="rId5"/>
                </a:ext>
              </a:extLst>
            </a:blip>
            <a:stretch>
              <a:fillRect l="1" r="-91872"/>
            </a:stretch>
          </a:blipFill>
        </p:spPr>
      </p:sp>
      <p:sp>
        <p:nvSpPr>
          <p:cNvPr id="12" name="Freeform 6">
            <a:extLst>
              <a:ext uri="{FF2B5EF4-FFF2-40B4-BE49-F238E27FC236}">
                <a16:creationId xmlns:a16="http://schemas.microsoft.com/office/drawing/2014/main" id="{388AFAC6-F64A-B1FD-E2F6-4940842E46D5}"/>
              </a:ext>
            </a:extLst>
          </p:cNvPr>
          <p:cNvSpPr/>
          <p:nvPr/>
        </p:nvSpPr>
        <p:spPr>
          <a:xfrm>
            <a:off x="-16866" y="9258301"/>
            <a:ext cx="971821" cy="1028700"/>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6"/>
                </a:ext>
              </a:extLst>
            </a:blip>
            <a:stretch>
              <a:fillRect l="-96529" b="-82625"/>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592750"/>
            <a:ext cx="14561619" cy="1106165"/>
          </a:xfrm>
          <a:prstGeom prst="rect">
            <a:avLst/>
          </a:prstGeom>
        </p:spPr>
        <p:txBody>
          <a:bodyPr lIns="0" tIns="0" rIns="0" bIns="0" rtlCol="0" anchor="t">
            <a:spAutoFit/>
          </a:bodyPr>
          <a:lstStyle/>
          <a:p>
            <a:pPr algn="l">
              <a:lnSpc>
                <a:spcPts val="5500"/>
              </a:lnSpc>
            </a:pPr>
            <a:r>
              <a:rPr lang="en-US" sz="5500" b="1">
                <a:solidFill>
                  <a:srgbClr val="000000"/>
                </a:solidFill>
                <a:latin typeface="Neue Machina Ultra-Bold"/>
                <a:ea typeface="Neue Machina Ultra-Bold"/>
                <a:cs typeface="Neue Machina Ultra-Bold"/>
                <a:sym typeface="Neue Machina Ultra-Bold"/>
              </a:rPr>
              <a:t>Short-term Loans</a:t>
            </a:r>
          </a:p>
          <a:p>
            <a:pPr algn="l">
              <a:lnSpc>
                <a:spcPts val="4200"/>
              </a:lnSpc>
            </a:pPr>
            <a:r>
              <a:rPr lang="en-US" sz="2100" b="1">
                <a:solidFill>
                  <a:srgbClr val="000000"/>
                </a:solidFill>
                <a:latin typeface="Neue Machina Ultra-Bold"/>
                <a:ea typeface="Neue Machina Ultra-Bold"/>
                <a:cs typeface="Neue Machina Ultra-Bold"/>
                <a:sym typeface="Neue Machina Ultra-Bold"/>
              </a:rPr>
              <a:t> POS_CASH_balance- (10001358, 8)</a:t>
            </a:r>
          </a:p>
        </p:txBody>
      </p:sp>
      <p:sp>
        <p:nvSpPr>
          <p:cNvPr id="7" name="Freeform 7"/>
          <p:cNvSpPr/>
          <p:nvPr/>
        </p:nvSpPr>
        <p:spPr>
          <a:xfrm rot="5400000">
            <a:off x="15773047" y="628023"/>
            <a:ext cx="550257" cy="1560007"/>
          </a:xfrm>
          <a:custGeom>
            <a:avLst/>
            <a:gdLst/>
            <a:ahLst/>
            <a:cxnLst/>
            <a:rect l="l" t="t" r="r" b="b"/>
            <a:pathLst>
              <a:path w="550257" h="1560007">
                <a:moveTo>
                  <a:pt x="0" y="0"/>
                </a:moveTo>
                <a:lnTo>
                  <a:pt x="550257" y="0"/>
                </a:lnTo>
                <a:lnTo>
                  <a:pt x="550257" y="1560007"/>
                </a:lnTo>
                <a:lnTo>
                  <a:pt x="0" y="1560007"/>
                </a:lnTo>
                <a:lnTo>
                  <a:pt x="0" y="0"/>
                </a:lnTo>
                <a:close/>
              </a:path>
            </a:pathLst>
          </a:custGeom>
          <a:blipFill>
            <a:blip>
              <a:extLst>
                <a:ext uri="{96DAC541-7B7A-43D3-8B79-37D633B846F1}">
                  <asvg:svgBlip xmlns:asvg="http://schemas.microsoft.com/office/drawing/2016/SVG/main" r:embed="rId2"/>
                </a:ext>
              </a:extLst>
            </a:blip>
            <a:stretch>
              <a:fillRect/>
            </a:stretch>
          </a:blipFill>
        </p:spPr>
      </p:sp>
      <p:graphicFrame>
        <p:nvGraphicFramePr>
          <p:cNvPr id="8" name="Table 8"/>
          <p:cNvGraphicFramePr>
            <a:graphicFrameLocks noGrp="1"/>
          </p:cNvGraphicFramePr>
          <p:nvPr/>
        </p:nvGraphicFramePr>
        <p:xfrm>
          <a:off x="1028700" y="2143760"/>
          <a:ext cx="16230600" cy="4001998"/>
        </p:xfrm>
        <a:graphic>
          <a:graphicData uri="http://schemas.openxmlformats.org/drawingml/2006/table">
            <a:tbl>
              <a:tblPr/>
              <a:tblGrid>
                <a:gridCol w="4718256">
                  <a:extLst>
                    <a:ext uri="{9D8B030D-6E8A-4147-A177-3AD203B41FA5}">
                      <a16:colId xmlns:a16="http://schemas.microsoft.com/office/drawing/2014/main" val="20000"/>
                    </a:ext>
                  </a:extLst>
                </a:gridCol>
                <a:gridCol w="5745102">
                  <a:extLst>
                    <a:ext uri="{9D8B030D-6E8A-4147-A177-3AD203B41FA5}">
                      <a16:colId xmlns:a16="http://schemas.microsoft.com/office/drawing/2014/main" val="20001"/>
                    </a:ext>
                  </a:extLst>
                </a:gridCol>
                <a:gridCol w="5767242">
                  <a:extLst>
                    <a:ext uri="{9D8B030D-6E8A-4147-A177-3AD203B41FA5}">
                      <a16:colId xmlns:a16="http://schemas.microsoft.com/office/drawing/2014/main" val="20002"/>
                    </a:ext>
                  </a:extLst>
                </a:gridCol>
              </a:tblGrid>
              <a:tr h="571714">
                <a:tc>
                  <a:txBody>
                    <a:bodyPr/>
                    <a:lstStyle/>
                    <a:p>
                      <a:pPr algn="ctr">
                        <a:lnSpc>
                          <a:spcPts val="2940"/>
                        </a:lnSpc>
                        <a:defRPr/>
                      </a:pPr>
                      <a:r>
                        <a:rPr lang="en-US" sz="2100" b="1">
                          <a:solidFill>
                            <a:srgbClr val="FFFFFF"/>
                          </a:solidFill>
                          <a:latin typeface="Inter Bold"/>
                          <a:ea typeface="Inter Bold"/>
                          <a:cs typeface="Inter Bold"/>
                          <a:sym typeface="Inter Bold"/>
                        </a:rPr>
                        <a:t>Feature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tc>
                  <a:txBody>
                    <a:bodyPr/>
                    <a:lstStyle/>
                    <a:p>
                      <a:pPr algn="ctr">
                        <a:lnSpc>
                          <a:spcPts val="2940"/>
                        </a:lnSpc>
                        <a:defRPr/>
                      </a:pPr>
                      <a:r>
                        <a:rPr lang="en-US" sz="2100" b="1">
                          <a:solidFill>
                            <a:srgbClr val="FFFFFF"/>
                          </a:solidFill>
                          <a:latin typeface="Inter Bold"/>
                          <a:ea typeface="Inter Bold"/>
                          <a:cs typeface="Inter Bold"/>
                          <a:sym typeface="Inter Bold"/>
                        </a:rPr>
                        <a:t>Description</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tc>
                  <a:txBody>
                    <a:bodyPr/>
                    <a:lstStyle/>
                    <a:p>
                      <a:pPr algn="ctr">
                        <a:lnSpc>
                          <a:spcPts val="2940"/>
                        </a:lnSpc>
                        <a:defRPr/>
                      </a:pPr>
                      <a:r>
                        <a:rPr lang="en-US" sz="2100" b="1">
                          <a:solidFill>
                            <a:srgbClr val="FFFFFF"/>
                          </a:solidFill>
                          <a:latin typeface="Inter Bold"/>
                          <a:ea typeface="Inter Bold"/>
                          <a:cs typeface="Inter Bold"/>
                          <a:sym typeface="Inter Bold"/>
                        </a:rPr>
                        <a:t>Type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E7396"/>
                    </a:solidFill>
                  </a:tcPr>
                </a:tc>
                <a:extLst>
                  <a:ext uri="{0D108BD9-81ED-4DB2-BD59-A6C34878D82A}">
                    <a16:rowId xmlns:a16="http://schemas.microsoft.com/office/drawing/2014/main" val="10000"/>
                  </a:ext>
                </a:extLst>
              </a:tr>
              <a:tr h="571714">
                <a:tc>
                  <a:txBody>
                    <a:bodyPr/>
                    <a:lstStyle/>
                    <a:p>
                      <a:pPr algn="ctr">
                        <a:lnSpc>
                          <a:spcPts val="2940"/>
                        </a:lnSpc>
                        <a:defRPr/>
                      </a:pPr>
                      <a:r>
                        <a:rPr lang="en-US" sz="2100">
                          <a:solidFill>
                            <a:srgbClr val="000000"/>
                          </a:solidFill>
                          <a:latin typeface="Canva Sans"/>
                          <a:ea typeface="Canva Sans"/>
                          <a:cs typeface="Canva Sans"/>
                          <a:sym typeface="Canva Sans"/>
                        </a:rPr>
                        <a:t>SK_ID_PREV</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Previous loan 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1"/>
                  </a:ext>
                </a:extLst>
              </a:tr>
              <a:tr h="571714">
                <a:tc>
                  <a:txBody>
                    <a:bodyPr/>
                    <a:lstStyle/>
                    <a:p>
                      <a:pPr algn="ctr">
                        <a:lnSpc>
                          <a:spcPts val="2940"/>
                        </a:lnSpc>
                        <a:defRPr/>
                      </a:pPr>
                      <a:r>
                        <a:rPr lang="en-US" sz="2100">
                          <a:solidFill>
                            <a:srgbClr val="000000"/>
                          </a:solidFill>
                          <a:latin typeface="Inter"/>
                          <a:ea typeface="Inter"/>
                          <a:cs typeface="Inter"/>
                          <a:sym typeface="Inter"/>
                        </a:rPr>
                        <a:t>SK_ID_CURR</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Customer ID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Key</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2"/>
                  </a:ext>
                </a:extLst>
              </a:tr>
              <a:tr h="571714">
                <a:tc>
                  <a:txBody>
                    <a:bodyPr/>
                    <a:lstStyle/>
                    <a:p>
                      <a:pPr algn="ctr">
                        <a:lnSpc>
                          <a:spcPts val="2940"/>
                        </a:lnSpc>
                        <a:defRPr/>
                      </a:pPr>
                      <a:r>
                        <a:rPr lang="en-US" sz="2100">
                          <a:solidFill>
                            <a:srgbClr val="000000"/>
                          </a:solidFill>
                          <a:latin typeface="Inter"/>
                          <a:ea typeface="Inter"/>
                          <a:cs typeface="Inter"/>
                          <a:sym typeface="Inter"/>
                        </a:rPr>
                        <a:t>CNT_INSTALLMENT</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Total installments</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3"/>
                  </a:ext>
                </a:extLst>
              </a:tr>
              <a:tr h="571714">
                <a:tc>
                  <a:txBody>
                    <a:bodyPr/>
                    <a:lstStyle/>
                    <a:p>
                      <a:pPr algn="ctr">
                        <a:lnSpc>
                          <a:spcPts val="2940"/>
                        </a:lnSpc>
                        <a:defRPr/>
                      </a:pPr>
                      <a:r>
                        <a:rPr lang="en-US" sz="2100">
                          <a:solidFill>
                            <a:srgbClr val="000000"/>
                          </a:solidFill>
                          <a:latin typeface="Inter"/>
                          <a:ea typeface="Inter"/>
                          <a:cs typeface="Inter"/>
                          <a:sym typeface="Inter"/>
                        </a:rPr>
                        <a:t>CNT_INSTALLMENT_FUTURE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Remaining installments</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4"/>
                  </a:ext>
                </a:extLst>
              </a:tr>
              <a:tr h="571714">
                <a:tc>
                  <a:txBody>
                    <a:bodyPr/>
                    <a:lstStyle/>
                    <a:p>
                      <a:pPr algn="ctr">
                        <a:lnSpc>
                          <a:spcPts val="2940"/>
                        </a:lnSpc>
                        <a:defRPr/>
                      </a:pPr>
                      <a:r>
                        <a:rPr lang="en-US" sz="2100">
                          <a:solidFill>
                            <a:srgbClr val="000000"/>
                          </a:solidFill>
                          <a:latin typeface="Inter"/>
                          <a:ea typeface="Inter"/>
                          <a:cs typeface="Inter"/>
                          <a:sym typeface="Inter"/>
                        </a:rPr>
                        <a:t>MONTHS_BALANCE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Time index</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5"/>
                  </a:ext>
                </a:extLst>
              </a:tr>
              <a:tr h="571714">
                <a:tc>
                  <a:txBody>
                    <a:bodyPr/>
                    <a:lstStyle/>
                    <a:p>
                      <a:pPr algn="ctr">
                        <a:lnSpc>
                          <a:spcPts val="2940"/>
                        </a:lnSpc>
                        <a:defRPr/>
                      </a:pPr>
                      <a:r>
                        <a:rPr lang="en-US" sz="2100">
                          <a:solidFill>
                            <a:srgbClr val="000000"/>
                          </a:solidFill>
                          <a:latin typeface="Inter"/>
                          <a:ea typeface="Inter"/>
                          <a:cs typeface="Inter"/>
                          <a:sym typeface="Inter"/>
                        </a:rPr>
                        <a:t>SK_DPD</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Days past due</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tc>
                  <a:txBody>
                    <a:bodyPr/>
                    <a:lstStyle/>
                    <a:p>
                      <a:pPr algn="ctr">
                        <a:lnSpc>
                          <a:spcPts val="2940"/>
                        </a:lnSpc>
                        <a:defRPr/>
                      </a:pPr>
                      <a:r>
                        <a:rPr lang="en-US" sz="2100">
                          <a:solidFill>
                            <a:srgbClr val="000000"/>
                          </a:solidFill>
                          <a:latin typeface="Inter"/>
                          <a:ea typeface="Inter"/>
                          <a:cs typeface="Inter"/>
                          <a:sym typeface="Inter"/>
                        </a:rPr>
                        <a:t>Numeric</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6E8F2"/>
                    </a:solidFill>
                  </a:tcPr>
                </a:tc>
                <a:extLst>
                  <a:ext uri="{0D108BD9-81ED-4DB2-BD59-A6C34878D82A}">
                    <a16:rowId xmlns:a16="http://schemas.microsoft.com/office/drawing/2014/main" val="10006"/>
                  </a:ext>
                </a:extLst>
              </a:tr>
            </a:tbl>
          </a:graphicData>
        </a:graphic>
      </p:graphicFrame>
      <p:sp>
        <p:nvSpPr>
          <p:cNvPr id="9" name="TextBox 9"/>
          <p:cNvSpPr txBox="1"/>
          <p:nvPr/>
        </p:nvSpPr>
        <p:spPr>
          <a:xfrm>
            <a:off x="1028700" y="8775806"/>
            <a:ext cx="16230600" cy="567690"/>
          </a:xfrm>
          <a:prstGeom prst="rect">
            <a:avLst/>
          </a:prstGeom>
        </p:spPr>
        <p:txBody>
          <a:bodyPr lIns="0" tIns="0" rIns="0" bIns="0" rtlCol="0" anchor="t">
            <a:spAutoFit/>
          </a:bodyPr>
          <a:lstStyle/>
          <a:p>
            <a:pPr algn="ctr">
              <a:lnSpc>
                <a:spcPts val="2100"/>
              </a:lnSpc>
              <a:spcBef>
                <a:spcPct val="0"/>
              </a:spcBef>
            </a:pPr>
            <a:r>
              <a:rPr lang="en-US" sz="2100" b="1">
                <a:solidFill>
                  <a:srgbClr val="000000"/>
                </a:solidFill>
                <a:latin typeface="Neue Machina Ultra-Bold"/>
                <a:ea typeface="Neue Machina Ultra-Bold"/>
                <a:cs typeface="Neue Machina Ultra-Bold"/>
                <a:sym typeface="Neue Machina Ultra-Bold"/>
              </a:rPr>
              <a:t>These features collectively capture customer financial profile, credit history, and behavioral patterns essential for credit risk modeling.</a:t>
            </a:r>
          </a:p>
        </p:txBody>
      </p:sp>
      <p:sp>
        <p:nvSpPr>
          <p:cNvPr id="10" name="Freeform 3">
            <a:extLst>
              <a:ext uri="{FF2B5EF4-FFF2-40B4-BE49-F238E27FC236}">
                <a16:creationId xmlns:a16="http://schemas.microsoft.com/office/drawing/2014/main" id="{B99F956E-FB34-7D93-6213-2750FC5381B6}"/>
              </a:ext>
            </a:extLst>
          </p:cNvPr>
          <p:cNvSpPr/>
          <p:nvPr/>
        </p:nvSpPr>
        <p:spPr>
          <a:xfrm>
            <a:off x="17316179" y="0"/>
            <a:ext cx="971821" cy="1348740"/>
          </a:xfrm>
          <a:custGeom>
            <a:avLst/>
            <a:gdLst/>
            <a:ahLst/>
            <a:cxnLst/>
            <a:rect l="l" t="t" r="r" b="b"/>
            <a:pathLst>
              <a:path w="1943641" h="1484235">
                <a:moveTo>
                  <a:pt x="0" y="0"/>
                </a:moveTo>
                <a:lnTo>
                  <a:pt x="1943642" y="0"/>
                </a:lnTo>
                <a:lnTo>
                  <a:pt x="1943642" y="1484235"/>
                </a:lnTo>
                <a:lnTo>
                  <a:pt x="0" y="1484235"/>
                </a:lnTo>
                <a:lnTo>
                  <a:pt x="0" y="0"/>
                </a:lnTo>
                <a:close/>
              </a:path>
            </a:pathLst>
          </a:custGeom>
          <a:blipFill>
            <a:blip>
              <a:alphaModFix amt="39000"/>
              <a:extLst>
                <a:ext uri="{96DAC541-7B7A-43D3-8B79-37D633B846F1}">
                  <asvg:svgBlip xmlns:asvg="http://schemas.microsoft.com/office/drawing/2016/SVG/main" r:embed="rId3"/>
                </a:ext>
              </a:extLst>
            </a:blip>
            <a:stretch>
              <a:fillRect t="-10046" r="-100000"/>
            </a:stretch>
          </a:blipFill>
          <a:ln cap="sq">
            <a:noFill/>
            <a:prstDash val="solid"/>
            <a:miter/>
          </a:ln>
        </p:spPr>
      </p:sp>
      <p:sp>
        <p:nvSpPr>
          <p:cNvPr id="11" name="Freeform 4">
            <a:extLst>
              <a:ext uri="{FF2B5EF4-FFF2-40B4-BE49-F238E27FC236}">
                <a16:creationId xmlns:a16="http://schemas.microsoft.com/office/drawing/2014/main" id="{F61EF209-F28E-0C88-1741-E9BA4DB05A07}"/>
              </a:ext>
            </a:extLst>
          </p:cNvPr>
          <p:cNvSpPr/>
          <p:nvPr/>
        </p:nvSpPr>
        <p:spPr>
          <a:xfrm>
            <a:off x="-16866" y="1348740"/>
            <a:ext cx="677479" cy="613680"/>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4"/>
                </a:ext>
              </a:extLst>
            </a:blip>
            <a:stretch>
              <a:fillRect l="-95022" t="9661" r="-138520" b="-111177"/>
            </a:stretch>
          </a:blipFill>
        </p:spPr>
      </p:sp>
      <p:sp>
        <p:nvSpPr>
          <p:cNvPr id="12" name="Freeform 5">
            <a:extLst>
              <a:ext uri="{FF2B5EF4-FFF2-40B4-BE49-F238E27FC236}">
                <a16:creationId xmlns:a16="http://schemas.microsoft.com/office/drawing/2014/main" id="{96B5AFF8-44D8-74BE-04EC-BDB60D2D9E55}"/>
              </a:ext>
            </a:extLst>
          </p:cNvPr>
          <p:cNvSpPr/>
          <p:nvPr/>
        </p:nvSpPr>
        <p:spPr>
          <a:xfrm>
            <a:off x="17316179" y="9105900"/>
            <a:ext cx="971821" cy="728906"/>
          </a:xfrm>
          <a:custGeom>
            <a:avLst/>
            <a:gdLst/>
            <a:ahLst/>
            <a:cxnLst/>
            <a:rect l="l" t="t" r="r" b="b"/>
            <a:pathLst>
              <a:path w="1864644" h="728906">
                <a:moveTo>
                  <a:pt x="0" y="0"/>
                </a:moveTo>
                <a:lnTo>
                  <a:pt x="1864644" y="0"/>
                </a:lnTo>
                <a:lnTo>
                  <a:pt x="1864644" y="728907"/>
                </a:lnTo>
                <a:lnTo>
                  <a:pt x="0" y="728907"/>
                </a:lnTo>
                <a:lnTo>
                  <a:pt x="0" y="0"/>
                </a:lnTo>
                <a:close/>
              </a:path>
            </a:pathLst>
          </a:custGeom>
          <a:blipFill>
            <a:blip>
              <a:alphaModFix amt="39000"/>
              <a:extLst>
                <a:ext uri="{96DAC541-7B7A-43D3-8B79-37D633B846F1}">
                  <asvg:svgBlip xmlns:asvg="http://schemas.microsoft.com/office/drawing/2016/SVG/main" r:embed="rId5"/>
                </a:ext>
              </a:extLst>
            </a:blip>
            <a:stretch>
              <a:fillRect l="1" r="-91872"/>
            </a:stretch>
          </a:blipFill>
        </p:spPr>
      </p:sp>
      <p:sp>
        <p:nvSpPr>
          <p:cNvPr id="13" name="Freeform 6">
            <a:extLst>
              <a:ext uri="{FF2B5EF4-FFF2-40B4-BE49-F238E27FC236}">
                <a16:creationId xmlns:a16="http://schemas.microsoft.com/office/drawing/2014/main" id="{BC051651-088B-3351-CBFD-73E095DA958B}"/>
              </a:ext>
            </a:extLst>
          </p:cNvPr>
          <p:cNvSpPr/>
          <p:nvPr/>
        </p:nvSpPr>
        <p:spPr>
          <a:xfrm>
            <a:off x="-16866" y="9258301"/>
            <a:ext cx="971821" cy="1028700"/>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6"/>
                </a:ext>
              </a:extLst>
            </a:blip>
            <a:stretch>
              <a:fillRect l="-96529" b="-82625"/>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32470" y="3315177"/>
            <a:ext cx="3002460" cy="3002460"/>
            <a:chOff x="0" y="0"/>
            <a:chExt cx="812800" cy="812800"/>
          </a:xfrm>
        </p:grpSpPr>
        <p:sp>
          <p:nvSpPr>
            <p:cNvPr id="3" name="Freeform 3"/>
            <p:cNvSpPr/>
            <p:nvPr/>
          </p:nvSpPr>
          <p:spPr>
            <a:xfrm>
              <a:off x="32042" y="32042"/>
              <a:ext cx="748716" cy="748716"/>
            </a:xfrm>
            <a:custGeom>
              <a:avLst/>
              <a:gdLst/>
              <a:ahLst/>
              <a:cxnLst/>
              <a:rect l="l" t="t" r="r" b="b"/>
              <a:pathLst>
                <a:path w="748716" h="748716">
                  <a:moveTo>
                    <a:pt x="429057" y="22657"/>
                  </a:moveTo>
                  <a:lnTo>
                    <a:pt x="726059" y="319659"/>
                  </a:lnTo>
                  <a:cubicBezTo>
                    <a:pt x="756269" y="349869"/>
                    <a:pt x="756269" y="398847"/>
                    <a:pt x="726059" y="429057"/>
                  </a:cubicBezTo>
                  <a:lnTo>
                    <a:pt x="429057" y="726059"/>
                  </a:lnTo>
                  <a:cubicBezTo>
                    <a:pt x="398847" y="756269"/>
                    <a:pt x="349869" y="756269"/>
                    <a:pt x="319659" y="726059"/>
                  </a:cubicBezTo>
                  <a:lnTo>
                    <a:pt x="22657" y="429057"/>
                  </a:lnTo>
                  <a:cubicBezTo>
                    <a:pt x="-7553" y="398847"/>
                    <a:pt x="-7553" y="349869"/>
                    <a:pt x="22657" y="319659"/>
                  </a:cubicBezTo>
                  <a:lnTo>
                    <a:pt x="319659" y="22657"/>
                  </a:lnTo>
                  <a:cubicBezTo>
                    <a:pt x="349869" y="-7553"/>
                    <a:pt x="398847" y="-7553"/>
                    <a:pt x="429057" y="22657"/>
                  </a:cubicBezTo>
                  <a:close/>
                </a:path>
              </a:pathLst>
            </a:custGeom>
            <a:solidFill>
              <a:srgbClr val="20334A"/>
            </a:solidFill>
          </p:spPr>
        </p:sp>
        <p:sp>
          <p:nvSpPr>
            <p:cNvPr id="4" name="TextBox 4"/>
            <p:cNvSpPr txBox="1"/>
            <p:nvPr/>
          </p:nvSpPr>
          <p:spPr>
            <a:xfrm>
              <a:off x="139700" y="177800"/>
              <a:ext cx="533400" cy="495300"/>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8403283" y="4733005"/>
            <a:ext cx="3002460" cy="3002460"/>
            <a:chOff x="0" y="0"/>
            <a:chExt cx="812800" cy="812800"/>
          </a:xfrm>
        </p:grpSpPr>
        <p:sp>
          <p:nvSpPr>
            <p:cNvPr id="6" name="Freeform 6"/>
            <p:cNvSpPr/>
            <p:nvPr/>
          </p:nvSpPr>
          <p:spPr>
            <a:xfrm>
              <a:off x="32042" y="32042"/>
              <a:ext cx="748716" cy="748716"/>
            </a:xfrm>
            <a:custGeom>
              <a:avLst/>
              <a:gdLst/>
              <a:ahLst/>
              <a:cxnLst/>
              <a:rect l="l" t="t" r="r" b="b"/>
              <a:pathLst>
                <a:path w="748716" h="748716">
                  <a:moveTo>
                    <a:pt x="429057" y="22657"/>
                  </a:moveTo>
                  <a:lnTo>
                    <a:pt x="726059" y="319659"/>
                  </a:lnTo>
                  <a:cubicBezTo>
                    <a:pt x="756269" y="349869"/>
                    <a:pt x="756269" y="398847"/>
                    <a:pt x="726059" y="429057"/>
                  </a:cubicBezTo>
                  <a:lnTo>
                    <a:pt x="429057" y="726059"/>
                  </a:lnTo>
                  <a:cubicBezTo>
                    <a:pt x="398847" y="756269"/>
                    <a:pt x="349869" y="756269"/>
                    <a:pt x="319659" y="726059"/>
                  </a:cubicBezTo>
                  <a:lnTo>
                    <a:pt x="22657" y="429057"/>
                  </a:lnTo>
                  <a:cubicBezTo>
                    <a:pt x="-7553" y="398847"/>
                    <a:pt x="-7553" y="349869"/>
                    <a:pt x="22657" y="319659"/>
                  </a:cubicBezTo>
                  <a:lnTo>
                    <a:pt x="319659" y="22657"/>
                  </a:lnTo>
                  <a:cubicBezTo>
                    <a:pt x="349869" y="-7553"/>
                    <a:pt x="398847" y="-7553"/>
                    <a:pt x="429057" y="22657"/>
                  </a:cubicBezTo>
                  <a:close/>
                </a:path>
              </a:pathLst>
            </a:custGeom>
            <a:solidFill>
              <a:srgbClr val="5E7396"/>
            </a:solidFill>
          </p:spPr>
        </p:sp>
        <p:sp>
          <p:nvSpPr>
            <p:cNvPr id="7" name="TextBox 7"/>
            <p:cNvSpPr txBox="1"/>
            <p:nvPr/>
          </p:nvSpPr>
          <p:spPr>
            <a:xfrm>
              <a:off x="139700" y="177800"/>
              <a:ext cx="533400" cy="495300"/>
            </a:xfrm>
            <a:prstGeom prst="rect">
              <a:avLst/>
            </a:prstGeom>
          </p:spPr>
          <p:txBody>
            <a:bodyPr lIns="50800" tIns="50800" rIns="50800" bIns="50800" rtlCol="0" anchor="ctr"/>
            <a:lstStyle/>
            <a:p>
              <a:pPr algn="ctr">
                <a:lnSpc>
                  <a:spcPts val="2100"/>
                </a:lnSpc>
              </a:pPr>
              <a:endParaRPr/>
            </a:p>
          </p:txBody>
        </p:sp>
      </p:grpSp>
      <p:grpSp>
        <p:nvGrpSpPr>
          <p:cNvPr id="8" name="Group 8"/>
          <p:cNvGrpSpPr/>
          <p:nvPr/>
        </p:nvGrpSpPr>
        <p:grpSpPr>
          <a:xfrm>
            <a:off x="6632470" y="6166238"/>
            <a:ext cx="3002460" cy="3002460"/>
            <a:chOff x="0" y="0"/>
            <a:chExt cx="812800" cy="812800"/>
          </a:xfrm>
        </p:grpSpPr>
        <p:sp>
          <p:nvSpPr>
            <p:cNvPr id="9" name="Freeform 9"/>
            <p:cNvSpPr/>
            <p:nvPr/>
          </p:nvSpPr>
          <p:spPr>
            <a:xfrm>
              <a:off x="32042" y="32042"/>
              <a:ext cx="748716" cy="748716"/>
            </a:xfrm>
            <a:custGeom>
              <a:avLst/>
              <a:gdLst/>
              <a:ahLst/>
              <a:cxnLst/>
              <a:rect l="l" t="t" r="r" b="b"/>
              <a:pathLst>
                <a:path w="748716" h="748716">
                  <a:moveTo>
                    <a:pt x="429057" y="22657"/>
                  </a:moveTo>
                  <a:lnTo>
                    <a:pt x="726059" y="319659"/>
                  </a:lnTo>
                  <a:cubicBezTo>
                    <a:pt x="756269" y="349869"/>
                    <a:pt x="756269" y="398847"/>
                    <a:pt x="726059" y="429057"/>
                  </a:cubicBezTo>
                  <a:lnTo>
                    <a:pt x="429057" y="726059"/>
                  </a:lnTo>
                  <a:cubicBezTo>
                    <a:pt x="398847" y="756269"/>
                    <a:pt x="349869" y="756269"/>
                    <a:pt x="319659" y="726059"/>
                  </a:cubicBezTo>
                  <a:lnTo>
                    <a:pt x="22657" y="429057"/>
                  </a:lnTo>
                  <a:cubicBezTo>
                    <a:pt x="-7553" y="398847"/>
                    <a:pt x="-7553" y="349869"/>
                    <a:pt x="22657" y="319659"/>
                  </a:cubicBezTo>
                  <a:lnTo>
                    <a:pt x="319659" y="22657"/>
                  </a:lnTo>
                  <a:cubicBezTo>
                    <a:pt x="349869" y="-7553"/>
                    <a:pt x="398847" y="-7553"/>
                    <a:pt x="429057" y="22657"/>
                  </a:cubicBezTo>
                  <a:close/>
                </a:path>
              </a:pathLst>
            </a:custGeom>
            <a:solidFill>
              <a:srgbClr val="C79E76"/>
            </a:solidFill>
          </p:spPr>
        </p:sp>
        <p:sp>
          <p:nvSpPr>
            <p:cNvPr id="10" name="TextBox 10"/>
            <p:cNvSpPr txBox="1"/>
            <p:nvPr/>
          </p:nvSpPr>
          <p:spPr>
            <a:xfrm>
              <a:off x="139700" y="177800"/>
              <a:ext cx="533400" cy="495300"/>
            </a:xfrm>
            <a:prstGeom prst="rect">
              <a:avLst/>
            </a:prstGeom>
          </p:spPr>
          <p:txBody>
            <a:bodyPr lIns="50800" tIns="50800" rIns="50800" bIns="50800" rtlCol="0" anchor="ctr"/>
            <a:lstStyle/>
            <a:p>
              <a:pPr algn="ctr">
                <a:lnSpc>
                  <a:spcPts val="2100"/>
                </a:lnSpc>
              </a:pPr>
              <a:endParaRPr/>
            </a:p>
          </p:txBody>
        </p:sp>
      </p:grpSp>
      <p:grpSp>
        <p:nvGrpSpPr>
          <p:cNvPr id="11" name="Group 11"/>
          <p:cNvGrpSpPr/>
          <p:nvPr/>
        </p:nvGrpSpPr>
        <p:grpSpPr>
          <a:xfrm>
            <a:off x="10937095" y="5697591"/>
            <a:ext cx="937296" cy="937296"/>
            <a:chOff x="0" y="0"/>
            <a:chExt cx="812800" cy="812800"/>
          </a:xfrm>
        </p:grpSpPr>
        <p:sp>
          <p:nvSpPr>
            <p:cNvPr id="12" name="Freeform 12"/>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5E7396"/>
            </a:solidFill>
          </p:spPr>
        </p:sp>
        <p:sp>
          <p:nvSpPr>
            <p:cNvPr id="13" name="TextBox 13"/>
            <p:cNvSpPr txBox="1"/>
            <p:nvPr/>
          </p:nvSpPr>
          <p:spPr>
            <a:xfrm>
              <a:off x="0" y="241300"/>
              <a:ext cx="711200" cy="368300"/>
            </a:xfrm>
            <a:prstGeom prst="rect">
              <a:avLst/>
            </a:prstGeom>
          </p:spPr>
          <p:txBody>
            <a:bodyPr lIns="50800" tIns="50800" rIns="50800" bIns="50800" rtlCol="0" anchor="ctr"/>
            <a:lstStyle/>
            <a:p>
              <a:pPr algn="ctr">
                <a:lnSpc>
                  <a:spcPts val="2100"/>
                </a:lnSpc>
              </a:pPr>
              <a:endParaRPr/>
            </a:p>
          </p:txBody>
        </p:sp>
      </p:grpSp>
      <p:grpSp>
        <p:nvGrpSpPr>
          <p:cNvPr id="14" name="Group 14"/>
          <p:cNvGrpSpPr/>
          <p:nvPr/>
        </p:nvGrpSpPr>
        <p:grpSpPr>
          <a:xfrm>
            <a:off x="6163822" y="4347759"/>
            <a:ext cx="937296" cy="937296"/>
            <a:chOff x="0" y="0"/>
            <a:chExt cx="812800" cy="812800"/>
          </a:xfrm>
        </p:grpSpPr>
        <p:sp>
          <p:nvSpPr>
            <p:cNvPr id="15" name="Freeform 15"/>
            <p:cNvSpPr/>
            <p:nvPr/>
          </p:nvSpPr>
          <p:spPr>
            <a:xfrm>
              <a:off x="0" y="0"/>
              <a:ext cx="812800" cy="812800"/>
            </a:xfrm>
            <a:custGeom>
              <a:avLst/>
              <a:gdLst/>
              <a:ahLst/>
              <a:cxnLst/>
              <a:rect l="l" t="t" r="r" b="b"/>
              <a:pathLst>
                <a:path w="812800" h="812800">
                  <a:moveTo>
                    <a:pt x="0" y="406400"/>
                  </a:moveTo>
                  <a:lnTo>
                    <a:pt x="406400" y="0"/>
                  </a:lnTo>
                  <a:lnTo>
                    <a:pt x="406400" y="203200"/>
                  </a:lnTo>
                  <a:lnTo>
                    <a:pt x="812800" y="203200"/>
                  </a:lnTo>
                  <a:lnTo>
                    <a:pt x="812800" y="609600"/>
                  </a:lnTo>
                  <a:lnTo>
                    <a:pt x="406400" y="609600"/>
                  </a:lnTo>
                  <a:lnTo>
                    <a:pt x="406400" y="812800"/>
                  </a:lnTo>
                  <a:lnTo>
                    <a:pt x="0" y="406400"/>
                  </a:lnTo>
                  <a:close/>
                </a:path>
              </a:pathLst>
            </a:custGeom>
            <a:solidFill>
              <a:srgbClr val="20334A"/>
            </a:solidFill>
          </p:spPr>
        </p:sp>
        <p:sp>
          <p:nvSpPr>
            <p:cNvPr id="16" name="TextBox 16"/>
            <p:cNvSpPr txBox="1"/>
            <p:nvPr/>
          </p:nvSpPr>
          <p:spPr>
            <a:xfrm>
              <a:off x="101600" y="241300"/>
              <a:ext cx="711200" cy="368300"/>
            </a:xfrm>
            <a:prstGeom prst="rect">
              <a:avLst/>
            </a:prstGeom>
          </p:spPr>
          <p:txBody>
            <a:bodyPr lIns="50800" tIns="50800" rIns="50800" bIns="50800" rtlCol="0" anchor="ctr"/>
            <a:lstStyle/>
            <a:p>
              <a:pPr algn="ctr">
                <a:lnSpc>
                  <a:spcPts val="2100"/>
                </a:lnSpc>
              </a:pPr>
              <a:endParaRPr/>
            </a:p>
          </p:txBody>
        </p:sp>
      </p:grpSp>
      <p:grpSp>
        <p:nvGrpSpPr>
          <p:cNvPr id="17" name="Group 17"/>
          <p:cNvGrpSpPr/>
          <p:nvPr/>
        </p:nvGrpSpPr>
        <p:grpSpPr>
          <a:xfrm>
            <a:off x="6163822" y="7198821"/>
            <a:ext cx="937296" cy="937296"/>
            <a:chOff x="0" y="0"/>
            <a:chExt cx="812800" cy="812800"/>
          </a:xfrm>
        </p:grpSpPr>
        <p:sp>
          <p:nvSpPr>
            <p:cNvPr id="18" name="Freeform 18"/>
            <p:cNvSpPr/>
            <p:nvPr/>
          </p:nvSpPr>
          <p:spPr>
            <a:xfrm>
              <a:off x="0" y="0"/>
              <a:ext cx="812800" cy="812800"/>
            </a:xfrm>
            <a:custGeom>
              <a:avLst/>
              <a:gdLst/>
              <a:ahLst/>
              <a:cxnLst/>
              <a:rect l="l" t="t" r="r" b="b"/>
              <a:pathLst>
                <a:path w="812800" h="812800">
                  <a:moveTo>
                    <a:pt x="0" y="406400"/>
                  </a:moveTo>
                  <a:lnTo>
                    <a:pt x="406400" y="0"/>
                  </a:lnTo>
                  <a:lnTo>
                    <a:pt x="406400" y="203200"/>
                  </a:lnTo>
                  <a:lnTo>
                    <a:pt x="812800" y="203200"/>
                  </a:lnTo>
                  <a:lnTo>
                    <a:pt x="812800" y="609600"/>
                  </a:lnTo>
                  <a:lnTo>
                    <a:pt x="406400" y="609600"/>
                  </a:lnTo>
                  <a:lnTo>
                    <a:pt x="406400" y="812800"/>
                  </a:lnTo>
                  <a:lnTo>
                    <a:pt x="0" y="406400"/>
                  </a:lnTo>
                  <a:close/>
                </a:path>
              </a:pathLst>
            </a:custGeom>
            <a:solidFill>
              <a:srgbClr val="C79E76"/>
            </a:solidFill>
          </p:spPr>
        </p:sp>
        <p:sp>
          <p:nvSpPr>
            <p:cNvPr id="19" name="TextBox 19"/>
            <p:cNvSpPr txBox="1"/>
            <p:nvPr/>
          </p:nvSpPr>
          <p:spPr>
            <a:xfrm>
              <a:off x="101600" y="241300"/>
              <a:ext cx="711200" cy="368300"/>
            </a:xfrm>
            <a:prstGeom prst="rect">
              <a:avLst/>
            </a:prstGeom>
          </p:spPr>
          <p:txBody>
            <a:bodyPr lIns="50800" tIns="50800" rIns="50800" bIns="50800" rtlCol="0" anchor="ctr"/>
            <a:lstStyle/>
            <a:p>
              <a:pPr algn="ctr">
                <a:lnSpc>
                  <a:spcPts val="2100"/>
                </a:lnSpc>
              </a:pPr>
              <a:endParaRPr/>
            </a:p>
          </p:txBody>
        </p:sp>
      </p:grpSp>
      <p:grpSp>
        <p:nvGrpSpPr>
          <p:cNvPr id="20" name="Group 20"/>
          <p:cNvGrpSpPr/>
          <p:nvPr/>
        </p:nvGrpSpPr>
        <p:grpSpPr>
          <a:xfrm>
            <a:off x="8871930" y="5201653"/>
            <a:ext cx="2065164" cy="2065164"/>
            <a:chOff x="0" y="0"/>
            <a:chExt cx="812800" cy="812800"/>
          </a:xfrm>
        </p:grpSpPr>
        <p:sp>
          <p:nvSpPr>
            <p:cNvPr id="21" name="Freeform 21"/>
            <p:cNvSpPr/>
            <p:nvPr/>
          </p:nvSpPr>
          <p:spPr>
            <a:xfrm>
              <a:off x="27951" y="27951"/>
              <a:ext cx="756899" cy="756899"/>
            </a:xfrm>
            <a:custGeom>
              <a:avLst/>
              <a:gdLst/>
              <a:ahLst/>
              <a:cxnLst/>
              <a:rect l="l" t="t" r="r" b="b"/>
              <a:pathLst>
                <a:path w="756899" h="756899">
                  <a:moveTo>
                    <a:pt x="426164" y="19764"/>
                  </a:moveTo>
                  <a:lnTo>
                    <a:pt x="737134" y="330734"/>
                  </a:lnTo>
                  <a:cubicBezTo>
                    <a:pt x="749789" y="343389"/>
                    <a:pt x="756898" y="360553"/>
                    <a:pt x="756898" y="378449"/>
                  </a:cubicBezTo>
                  <a:cubicBezTo>
                    <a:pt x="756898" y="396345"/>
                    <a:pt x="749789" y="413509"/>
                    <a:pt x="737134" y="426164"/>
                  </a:cubicBezTo>
                  <a:lnTo>
                    <a:pt x="426164" y="737134"/>
                  </a:lnTo>
                  <a:cubicBezTo>
                    <a:pt x="413509" y="749789"/>
                    <a:pt x="396345" y="756898"/>
                    <a:pt x="378449" y="756898"/>
                  </a:cubicBezTo>
                  <a:cubicBezTo>
                    <a:pt x="360553" y="756898"/>
                    <a:pt x="343389" y="749789"/>
                    <a:pt x="330734" y="737134"/>
                  </a:cubicBezTo>
                  <a:lnTo>
                    <a:pt x="19764" y="426164"/>
                  </a:lnTo>
                  <a:cubicBezTo>
                    <a:pt x="7109" y="413509"/>
                    <a:pt x="0" y="396345"/>
                    <a:pt x="0" y="378449"/>
                  </a:cubicBezTo>
                  <a:cubicBezTo>
                    <a:pt x="0" y="360553"/>
                    <a:pt x="7109" y="343389"/>
                    <a:pt x="19764" y="330734"/>
                  </a:cubicBezTo>
                  <a:lnTo>
                    <a:pt x="330734" y="19764"/>
                  </a:lnTo>
                  <a:cubicBezTo>
                    <a:pt x="343389" y="7109"/>
                    <a:pt x="360553" y="0"/>
                    <a:pt x="378449" y="0"/>
                  </a:cubicBezTo>
                  <a:cubicBezTo>
                    <a:pt x="396345" y="0"/>
                    <a:pt x="413509" y="7109"/>
                    <a:pt x="426164" y="19764"/>
                  </a:cubicBezTo>
                  <a:close/>
                </a:path>
              </a:pathLst>
            </a:custGeom>
            <a:solidFill>
              <a:srgbClr val="FFFFFF"/>
            </a:solidFill>
          </p:spPr>
        </p:sp>
        <p:sp>
          <p:nvSpPr>
            <p:cNvPr id="22" name="TextBox 22"/>
            <p:cNvSpPr txBox="1"/>
            <p:nvPr/>
          </p:nvSpPr>
          <p:spPr>
            <a:xfrm>
              <a:off x="139700" y="177800"/>
              <a:ext cx="533400" cy="495300"/>
            </a:xfrm>
            <a:prstGeom prst="rect">
              <a:avLst/>
            </a:prstGeom>
          </p:spPr>
          <p:txBody>
            <a:bodyPr lIns="50800" tIns="50800" rIns="50800" bIns="50800" rtlCol="0" anchor="ctr"/>
            <a:lstStyle/>
            <a:p>
              <a:pPr algn="ctr">
                <a:lnSpc>
                  <a:spcPts val="2100"/>
                </a:lnSpc>
              </a:pPr>
              <a:endParaRPr/>
            </a:p>
          </p:txBody>
        </p:sp>
      </p:grpSp>
      <p:grpSp>
        <p:nvGrpSpPr>
          <p:cNvPr id="23" name="Group 23"/>
          <p:cNvGrpSpPr/>
          <p:nvPr/>
        </p:nvGrpSpPr>
        <p:grpSpPr>
          <a:xfrm>
            <a:off x="7101118" y="3729229"/>
            <a:ext cx="2065164" cy="2119760"/>
            <a:chOff x="0" y="0"/>
            <a:chExt cx="812800" cy="834288"/>
          </a:xfrm>
        </p:grpSpPr>
        <p:sp>
          <p:nvSpPr>
            <p:cNvPr id="24" name="Freeform 24"/>
            <p:cNvSpPr/>
            <p:nvPr/>
          </p:nvSpPr>
          <p:spPr>
            <a:xfrm>
              <a:off x="27436" y="28468"/>
              <a:ext cx="757927" cy="777352"/>
            </a:xfrm>
            <a:custGeom>
              <a:avLst/>
              <a:gdLst/>
              <a:ahLst/>
              <a:cxnLst/>
              <a:rect l="l" t="t" r="r" b="b"/>
              <a:pathLst>
                <a:path w="757927" h="777352">
                  <a:moveTo>
                    <a:pt x="426052" y="19865"/>
                  </a:moveTo>
                  <a:lnTo>
                    <a:pt x="738276" y="340343"/>
                  </a:lnTo>
                  <a:cubicBezTo>
                    <a:pt x="764478" y="367238"/>
                    <a:pt x="764478" y="410114"/>
                    <a:pt x="738276" y="437009"/>
                  </a:cubicBezTo>
                  <a:lnTo>
                    <a:pt x="426052" y="757487"/>
                  </a:lnTo>
                  <a:cubicBezTo>
                    <a:pt x="413678" y="770188"/>
                    <a:pt x="396697" y="777352"/>
                    <a:pt x="378964" y="777352"/>
                  </a:cubicBezTo>
                  <a:cubicBezTo>
                    <a:pt x="361231" y="777352"/>
                    <a:pt x="344250" y="770188"/>
                    <a:pt x="331876" y="757487"/>
                  </a:cubicBezTo>
                  <a:lnTo>
                    <a:pt x="19652" y="437009"/>
                  </a:lnTo>
                  <a:cubicBezTo>
                    <a:pt x="-6550" y="410114"/>
                    <a:pt x="-6550" y="367238"/>
                    <a:pt x="19652" y="340343"/>
                  </a:cubicBezTo>
                  <a:lnTo>
                    <a:pt x="331876" y="19865"/>
                  </a:lnTo>
                  <a:cubicBezTo>
                    <a:pt x="344250" y="7163"/>
                    <a:pt x="361231" y="0"/>
                    <a:pt x="378964" y="0"/>
                  </a:cubicBezTo>
                  <a:cubicBezTo>
                    <a:pt x="396697" y="0"/>
                    <a:pt x="413678" y="7163"/>
                    <a:pt x="426052" y="19865"/>
                  </a:cubicBezTo>
                  <a:close/>
                </a:path>
              </a:pathLst>
            </a:custGeom>
            <a:solidFill>
              <a:srgbClr val="FFFFFF"/>
            </a:solidFill>
          </p:spPr>
        </p:sp>
        <p:sp>
          <p:nvSpPr>
            <p:cNvPr id="25" name="TextBox 25"/>
            <p:cNvSpPr txBox="1"/>
            <p:nvPr/>
          </p:nvSpPr>
          <p:spPr>
            <a:xfrm>
              <a:off x="139700" y="181493"/>
              <a:ext cx="533400" cy="509401"/>
            </a:xfrm>
            <a:prstGeom prst="rect">
              <a:avLst/>
            </a:prstGeom>
          </p:spPr>
          <p:txBody>
            <a:bodyPr lIns="50800" tIns="50800" rIns="50800" bIns="50800" rtlCol="0" anchor="ctr"/>
            <a:lstStyle/>
            <a:p>
              <a:pPr algn="ctr">
                <a:lnSpc>
                  <a:spcPts val="2100"/>
                </a:lnSpc>
              </a:pPr>
              <a:endParaRPr/>
            </a:p>
          </p:txBody>
        </p:sp>
      </p:grpSp>
      <p:grpSp>
        <p:nvGrpSpPr>
          <p:cNvPr id="26" name="Group 26"/>
          <p:cNvGrpSpPr/>
          <p:nvPr/>
        </p:nvGrpSpPr>
        <p:grpSpPr>
          <a:xfrm>
            <a:off x="7101118" y="6634886"/>
            <a:ext cx="2065164" cy="2065164"/>
            <a:chOff x="0" y="0"/>
            <a:chExt cx="812800" cy="812800"/>
          </a:xfrm>
        </p:grpSpPr>
        <p:sp>
          <p:nvSpPr>
            <p:cNvPr id="27" name="Freeform 27"/>
            <p:cNvSpPr/>
            <p:nvPr/>
          </p:nvSpPr>
          <p:spPr>
            <a:xfrm>
              <a:off x="27951" y="27951"/>
              <a:ext cx="756899" cy="756899"/>
            </a:xfrm>
            <a:custGeom>
              <a:avLst/>
              <a:gdLst/>
              <a:ahLst/>
              <a:cxnLst/>
              <a:rect l="l" t="t" r="r" b="b"/>
              <a:pathLst>
                <a:path w="756899" h="756899">
                  <a:moveTo>
                    <a:pt x="426164" y="19764"/>
                  </a:moveTo>
                  <a:lnTo>
                    <a:pt x="737134" y="330734"/>
                  </a:lnTo>
                  <a:cubicBezTo>
                    <a:pt x="749789" y="343389"/>
                    <a:pt x="756898" y="360553"/>
                    <a:pt x="756898" y="378449"/>
                  </a:cubicBezTo>
                  <a:cubicBezTo>
                    <a:pt x="756898" y="396345"/>
                    <a:pt x="749789" y="413509"/>
                    <a:pt x="737134" y="426164"/>
                  </a:cubicBezTo>
                  <a:lnTo>
                    <a:pt x="426164" y="737134"/>
                  </a:lnTo>
                  <a:cubicBezTo>
                    <a:pt x="413509" y="749789"/>
                    <a:pt x="396345" y="756898"/>
                    <a:pt x="378449" y="756898"/>
                  </a:cubicBezTo>
                  <a:cubicBezTo>
                    <a:pt x="360553" y="756898"/>
                    <a:pt x="343389" y="749789"/>
                    <a:pt x="330734" y="737134"/>
                  </a:cubicBezTo>
                  <a:lnTo>
                    <a:pt x="19764" y="426164"/>
                  </a:lnTo>
                  <a:cubicBezTo>
                    <a:pt x="7109" y="413509"/>
                    <a:pt x="0" y="396345"/>
                    <a:pt x="0" y="378449"/>
                  </a:cubicBezTo>
                  <a:cubicBezTo>
                    <a:pt x="0" y="360553"/>
                    <a:pt x="7109" y="343389"/>
                    <a:pt x="19764" y="330734"/>
                  </a:cubicBezTo>
                  <a:lnTo>
                    <a:pt x="330734" y="19764"/>
                  </a:lnTo>
                  <a:cubicBezTo>
                    <a:pt x="343389" y="7109"/>
                    <a:pt x="360553" y="0"/>
                    <a:pt x="378449" y="0"/>
                  </a:cubicBezTo>
                  <a:cubicBezTo>
                    <a:pt x="396345" y="0"/>
                    <a:pt x="413509" y="7109"/>
                    <a:pt x="426164" y="19764"/>
                  </a:cubicBezTo>
                  <a:close/>
                </a:path>
              </a:pathLst>
            </a:custGeom>
            <a:solidFill>
              <a:srgbClr val="FFFFFF"/>
            </a:solidFill>
          </p:spPr>
        </p:sp>
        <p:sp>
          <p:nvSpPr>
            <p:cNvPr id="28" name="TextBox 28"/>
            <p:cNvSpPr txBox="1"/>
            <p:nvPr/>
          </p:nvSpPr>
          <p:spPr>
            <a:xfrm>
              <a:off x="139700" y="177800"/>
              <a:ext cx="533400" cy="495300"/>
            </a:xfrm>
            <a:prstGeom prst="rect">
              <a:avLst/>
            </a:prstGeom>
          </p:spPr>
          <p:txBody>
            <a:bodyPr lIns="50800" tIns="50800" rIns="50800" bIns="50800" rtlCol="0" anchor="ctr"/>
            <a:lstStyle/>
            <a:p>
              <a:pPr algn="ctr">
                <a:lnSpc>
                  <a:spcPts val="2100"/>
                </a:lnSpc>
              </a:pPr>
              <a:endParaRPr/>
            </a:p>
          </p:txBody>
        </p:sp>
      </p:grpSp>
      <p:sp>
        <p:nvSpPr>
          <p:cNvPr id="33" name="Freeform 33"/>
          <p:cNvSpPr/>
          <p:nvPr/>
        </p:nvSpPr>
        <p:spPr>
          <a:xfrm rot="5400000">
            <a:off x="12034146" y="8585040"/>
            <a:ext cx="744425" cy="2110483"/>
          </a:xfrm>
          <a:custGeom>
            <a:avLst/>
            <a:gdLst/>
            <a:ahLst/>
            <a:cxnLst/>
            <a:rect l="l" t="t" r="r" b="b"/>
            <a:pathLst>
              <a:path w="744425" h="2110483">
                <a:moveTo>
                  <a:pt x="0" y="0"/>
                </a:moveTo>
                <a:lnTo>
                  <a:pt x="744425" y="0"/>
                </a:lnTo>
                <a:lnTo>
                  <a:pt x="744425" y="2110483"/>
                </a:lnTo>
                <a:lnTo>
                  <a:pt x="0" y="211048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4" name="Freeform 34"/>
          <p:cNvSpPr/>
          <p:nvPr/>
        </p:nvSpPr>
        <p:spPr>
          <a:xfrm>
            <a:off x="9518473" y="5864150"/>
            <a:ext cx="772080" cy="740170"/>
          </a:xfrm>
          <a:custGeom>
            <a:avLst/>
            <a:gdLst/>
            <a:ahLst/>
            <a:cxnLst/>
            <a:rect l="l" t="t" r="r" b="b"/>
            <a:pathLst>
              <a:path w="772080" h="740170">
                <a:moveTo>
                  <a:pt x="0" y="0"/>
                </a:moveTo>
                <a:lnTo>
                  <a:pt x="772080" y="0"/>
                </a:lnTo>
                <a:lnTo>
                  <a:pt x="772080" y="740171"/>
                </a:lnTo>
                <a:lnTo>
                  <a:pt x="0" y="74017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5" name="Freeform 35"/>
          <p:cNvSpPr/>
          <p:nvPr/>
        </p:nvSpPr>
        <p:spPr>
          <a:xfrm>
            <a:off x="7747660" y="7250111"/>
            <a:ext cx="772080" cy="731370"/>
          </a:xfrm>
          <a:custGeom>
            <a:avLst/>
            <a:gdLst/>
            <a:ahLst/>
            <a:cxnLst/>
            <a:rect l="l" t="t" r="r" b="b"/>
            <a:pathLst>
              <a:path w="772080" h="731370">
                <a:moveTo>
                  <a:pt x="0" y="0"/>
                </a:moveTo>
                <a:lnTo>
                  <a:pt x="772080" y="0"/>
                </a:lnTo>
                <a:lnTo>
                  <a:pt x="772080" y="731370"/>
                </a:lnTo>
                <a:lnTo>
                  <a:pt x="0" y="73137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6" name="TextBox 36"/>
          <p:cNvSpPr txBox="1"/>
          <p:nvPr/>
        </p:nvSpPr>
        <p:spPr>
          <a:xfrm>
            <a:off x="1028700" y="2162026"/>
            <a:ext cx="16230600" cy="848360"/>
          </a:xfrm>
          <a:prstGeom prst="rect">
            <a:avLst/>
          </a:prstGeom>
        </p:spPr>
        <p:txBody>
          <a:bodyPr lIns="0" tIns="0" rIns="0" bIns="0" rtlCol="0" anchor="t">
            <a:spAutoFit/>
          </a:bodyPr>
          <a:lstStyle/>
          <a:p>
            <a:pPr algn="ctr">
              <a:lnSpc>
                <a:spcPts val="6399"/>
              </a:lnSpc>
            </a:pPr>
            <a:r>
              <a:rPr lang="en-US" sz="6399" b="1">
                <a:solidFill>
                  <a:srgbClr val="000000"/>
                </a:solidFill>
                <a:latin typeface="Neue Machina Ultra-Bold"/>
                <a:ea typeface="Neue Machina Ultra-Bold"/>
                <a:cs typeface="Neue Machina Ultra-Bold"/>
                <a:sym typeface="Neue Machina Ultra-Bold"/>
              </a:rPr>
              <a:t>Potential Analysis &amp; Use Cases</a:t>
            </a:r>
          </a:p>
        </p:txBody>
      </p:sp>
      <p:sp>
        <p:nvSpPr>
          <p:cNvPr id="37" name="TextBox 37"/>
          <p:cNvSpPr txBox="1"/>
          <p:nvPr/>
        </p:nvSpPr>
        <p:spPr>
          <a:xfrm>
            <a:off x="1335738" y="3734286"/>
            <a:ext cx="4828084" cy="361950"/>
          </a:xfrm>
          <a:prstGeom prst="rect">
            <a:avLst/>
          </a:prstGeom>
        </p:spPr>
        <p:txBody>
          <a:bodyPr lIns="0" tIns="0" rIns="0" bIns="0" rtlCol="0" anchor="t">
            <a:spAutoFit/>
          </a:bodyPr>
          <a:lstStyle/>
          <a:p>
            <a:pPr algn="l">
              <a:lnSpc>
                <a:spcPts val="2879"/>
              </a:lnSpc>
            </a:pPr>
            <a:r>
              <a:rPr lang="en-US" sz="2399" b="1">
                <a:solidFill>
                  <a:srgbClr val="000000"/>
                </a:solidFill>
                <a:latin typeface="Inter Bold"/>
                <a:ea typeface="Inter Bold"/>
                <a:cs typeface="Inter Bold"/>
                <a:sym typeface="Inter Bold"/>
              </a:rPr>
              <a:t>Exploratory Analysis</a:t>
            </a:r>
          </a:p>
        </p:txBody>
      </p:sp>
      <p:sp>
        <p:nvSpPr>
          <p:cNvPr id="38" name="TextBox 38"/>
          <p:cNvSpPr txBox="1"/>
          <p:nvPr/>
        </p:nvSpPr>
        <p:spPr>
          <a:xfrm>
            <a:off x="12595744" y="4029561"/>
            <a:ext cx="4828084" cy="422911"/>
          </a:xfrm>
          <a:prstGeom prst="rect">
            <a:avLst/>
          </a:prstGeom>
        </p:spPr>
        <p:txBody>
          <a:bodyPr lIns="0" tIns="0" rIns="0" bIns="0" rtlCol="0" anchor="t">
            <a:spAutoFit/>
          </a:bodyPr>
          <a:lstStyle/>
          <a:p>
            <a:pPr algn="r">
              <a:lnSpc>
                <a:spcPts val="3599"/>
              </a:lnSpc>
            </a:pPr>
            <a:r>
              <a:rPr lang="en-US" sz="2399" b="1">
                <a:solidFill>
                  <a:srgbClr val="000000"/>
                </a:solidFill>
                <a:latin typeface="Inter Bold"/>
                <a:ea typeface="Inter Bold"/>
                <a:cs typeface="Inter Bold"/>
                <a:sym typeface="Inter Bold"/>
              </a:rPr>
              <a:t>Predictive Modeling</a:t>
            </a:r>
          </a:p>
        </p:txBody>
      </p:sp>
      <p:sp>
        <p:nvSpPr>
          <p:cNvPr id="39" name="TextBox 39"/>
          <p:cNvSpPr txBox="1"/>
          <p:nvPr/>
        </p:nvSpPr>
        <p:spPr>
          <a:xfrm>
            <a:off x="12749553" y="6099563"/>
            <a:ext cx="4828084" cy="422911"/>
          </a:xfrm>
          <a:prstGeom prst="rect">
            <a:avLst/>
          </a:prstGeom>
        </p:spPr>
        <p:txBody>
          <a:bodyPr lIns="0" tIns="0" rIns="0" bIns="0" rtlCol="0" anchor="t">
            <a:spAutoFit/>
          </a:bodyPr>
          <a:lstStyle/>
          <a:p>
            <a:pPr algn="r">
              <a:lnSpc>
                <a:spcPts val="3599"/>
              </a:lnSpc>
            </a:pPr>
            <a:r>
              <a:rPr lang="en-US" sz="2399" b="1">
                <a:solidFill>
                  <a:srgbClr val="000000"/>
                </a:solidFill>
                <a:latin typeface="Inter Bold"/>
                <a:ea typeface="Inter Bold"/>
                <a:cs typeface="Inter Bold"/>
                <a:sym typeface="Inter Bold"/>
              </a:rPr>
              <a:t>Risk Assessment</a:t>
            </a:r>
          </a:p>
        </p:txBody>
      </p:sp>
      <p:sp>
        <p:nvSpPr>
          <p:cNvPr id="40" name="TextBox 40"/>
          <p:cNvSpPr txBox="1"/>
          <p:nvPr/>
        </p:nvSpPr>
        <p:spPr>
          <a:xfrm>
            <a:off x="1335738" y="4561967"/>
            <a:ext cx="4828084" cy="1017270"/>
          </a:xfrm>
          <a:prstGeom prst="rect">
            <a:avLst/>
          </a:prstGeom>
        </p:spPr>
        <p:txBody>
          <a:bodyPr lIns="0" tIns="0" rIns="0" bIns="0" rtlCol="0" anchor="t">
            <a:spAutoFit/>
          </a:bodyPr>
          <a:lstStyle/>
          <a:p>
            <a:pPr algn="l">
              <a:lnSpc>
                <a:spcPts val="2700"/>
              </a:lnSpc>
            </a:pPr>
            <a:r>
              <a:rPr lang="en-US" sz="1800">
                <a:solidFill>
                  <a:srgbClr val="000000"/>
                </a:solidFill>
                <a:latin typeface="Inter"/>
                <a:ea typeface="Inter"/>
                <a:cs typeface="Inter"/>
                <a:sym typeface="Inter"/>
              </a:rPr>
              <a:t>Analyze customer demographics, financial profiles, and credit history to identify patterns and behavioral trends.</a:t>
            </a:r>
          </a:p>
        </p:txBody>
      </p:sp>
      <p:sp>
        <p:nvSpPr>
          <p:cNvPr id="41" name="TextBox 41"/>
          <p:cNvSpPr txBox="1"/>
          <p:nvPr/>
        </p:nvSpPr>
        <p:spPr>
          <a:xfrm>
            <a:off x="12595744" y="4629408"/>
            <a:ext cx="4828084" cy="1017270"/>
          </a:xfrm>
          <a:prstGeom prst="rect">
            <a:avLst/>
          </a:prstGeom>
        </p:spPr>
        <p:txBody>
          <a:bodyPr lIns="0" tIns="0" rIns="0" bIns="0" rtlCol="0" anchor="t">
            <a:spAutoFit/>
          </a:bodyPr>
          <a:lstStyle/>
          <a:p>
            <a:pPr algn="r">
              <a:lnSpc>
                <a:spcPts val="2700"/>
              </a:lnSpc>
            </a:pPr>
            <a:r>
              <a:rPr lang="en-US" sz="1800">
                <a:solidFill>
                  <a:srgbClr val="000000"/>
                </a:solidFill>
                <a:latin typeface="Inter"/>
                <a:ea typeface="Inter"/>
                <a:cs typeface="Inter"/>
                <a:sym typeface="Inter"/>
              </a:rPr>
              <a:t>Build machine learning models to predict loan default probability using integrated multi-source data.</a:t>
            </a:r>
          </a:p>
        </p:txBody>
      </p:sp>
      <p:sp>
        <p:nvSpPr>
          <p:cNvPr id="42" name="TextBox 42"/>
          <p:cNvSpPr txBox="1"/>
          <p:nvPr/>
        </p:nvSpPr>
        <p:spPr>
          <a:xfrm>
            <a:off x="12749553" y="6699411"/>
            <a:ext cx="4828084" cy="1017270"/>
          </a:xfrm>
          <a:prstGeom prst="rect">
            <a:avLst/>
          </a:prstGeom>
        </p:spPr>
        <p:txBody>
          <a:bodyPr lIns="0" tIns="0" rIns="0" bIns="0" rtlCol="0" anchor="t">
            <a:spAutoFit/>
          </a:bodyPr>
          <a:lstStyle/>
          <a:p>
            <a:pPr algn="r">
              <a:lnSpc>
                <a:spcPts val="2700"/>
              </a:lnSpc>
            </a:pPr>
            <a:r>
              <a:rPr lang="en-US" sz="1800">
                <a:solidFill>
                  <a:srgbClr val="000000"/>
                </a:solidFill>
                <a:latin typeface="Inter"/>
                <a:ea typeface="Inter"/>
                <a:cs typeface="Inter"/>
                <a:sym typeface="Inter"/>
              </a:rPr>
              <a:t>Evaluate factors influencing loan default such as income, credit behavior, and repayment history.</a:t>
            </a:r>
          </a:p>
        </p:txBody>
      </p:sp>
      <p:sp>
        <p:nvSpPr>
          <p:cNvPr id="43" name="Freeform 43"/>
          <p:cNvSpPr/>
          <p:nvPr/>
        </p:nvSpPr>
        <p:spPr>
          <a:xfrm>
            <a:off x="7775840" y="4458546"/>
            <a:ext cx="715722" cy="715722"/>
          </a:xfrm>
          <a:custGeom>
            <a:avLst/>
            <a:gdLst/>
            <a:ahLst/>
            <a:cxnLst/>
            <a:rect l="l" t="t" r="r" b="b"/>
            <a:pathLst>
              <a:path w="715722" h="715722">
                <a:moveTo>
                  <a:pt x="0" y="0"/>
                </a:moveTo>
                <a:lnTo>
                  <a:pt x="715721" y="0"/>
                </a:lnTo>
                <a:lnTo>
                  <a:pt x="715721" y="715722"/>
                </a:lnTo>
                <a:lnTo>
                  <a:pt x="0" y="715722"/>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44" name="Group 44"/>
          <p:cNvGrpSpPr/>
          <p:nvPr/>
        </p:nvGrpSpPr>
        <p:grpSpPr>
          <a:xfrm>
            <a:off x="9593284" y="2718143"/>
            <a:ext cx="3002460" cy="3002460"/>
            <a:chOff x="0" y="0"/>
            <a:chExt cx="812800" cy="812800"/>
          </a:xfrm>
        </p:grpSpPr>
        <p:sp>
          <p:nvSpPr>
            <p:cNvPr id="45" name="Freeform 45"/>
            <p:cNvSpPr/>
            <p:nvPr/>
          </p:nvSpPr>
          <p:spPr>
            <a:xfrm>
              <a:off x="32042" y="32042"/>
              <a:ext cx="748716" cy="748716"/>
            </a:xfrm>
            <a:custGeom>
              <a:avLst/>
              <a:gdLst/>
              <a:ahLst/>
              <a:cxnLst/>
              <a:rect l="l" t="t" r="r" b="b"/>
              <a:pathLst>
                <a:path w="748716" h="748716">
                  <a:moveTo>
                    <a:pt x="429057" y="22657"/>
                  </a:moveTo>
                  <a:lnTo>
                    <a:pt x="726059" y="319659"/>
                  </a:lnTo>
                  <a:cubicBezTo>
                    <a:pt x="756269" y="349869"/>
                    <a:pt x="756269" y="398847"/>
                    <a:pt x="726059" y="429057"/>
                  </a:cubicBezTo>
                  <a:lnTo>
                    <a:pt x="429057" y="726059"/>
                  </a:lnTo>
                  <a:cubicBezTo>
                    <a:pt x="398847" y="756269"/>
                    <a:pt x="349869" y="756269"/>
                    <a:pt x="319659" y="726059"/>
                  </a:cubicBezTo>
                  <a:lnTo>
                    <a:pt x="22657" y="429057"/>
                  </a:lnTo>
                  <a:cubicBezTo>
                    <a:pt x="-7553" y="398847"/>
                    <a:pt x="-7553" y="349869"/>
                    <a:pt x="22657" y="319659"/>
                  </a:cubicBezTo>
                  <a:lnTo>
                    <a:pt x="319659" y="22657"/>
                  </a:lnTo>
                  <a:cubicBezTo>
                    <a:pt x="349869" y="-7553"/>
                    <a:pt x="398847" y="-7553"/>
                    <a:pt x="429057" y="22657"/>
                  </a:cubicBezTo>
                  <a:close/>
                </a:path>
              </a:pathLst>
            </a:custGeom>
            <a:solidFill>
              <a:srgbClr val="20334A"/>
            </a:solidFill>
          </p:spPr>
        </p:sp>
        <p:sp>
          <p:nvSpPr>
            <p:cNvPr id="46" name="TextBox 46"/>
            <p:cNvSpPr txBox="1"/>
            <p:nvPr/>
          </p:nvSpPr>
          <p:spPr>
            <a:xfrm>
              <a:off x="139700" y="177800"/>
              <a:ext cx="533400" cy="495300"/>
            </a:xfrm>
            <a:prstGeom prst="rect">
              <a:avLst/>
            </a:prstGeom>
          </p:spPr>
          <p:txBody>
            <a:bodyPr lIns="50800" tIns="50800" rIns="50800" bIns="50800" rtlCol="0" anchor="ctr"/>
            <a:lstStyle/>
            <a:p>
              <a:pPr algn="ctr">
                <a:lnSpc>
                  <a:spcPts val="2100"/>
                </a:lnSpc>
              </a:pPr>
              <a:endParaRPr/>
            </a:p>
          </p:txBody>
        </p:sp>
      </p:grpSp>
      <p:grpSp>
        <p:nvGrpSpPr>
          <p:cNvPr id="47" name="Group 47"/>
          <p:cNvGrpSpPr/>
          <p:nvPr/>
        </p:nvGrpSpPr>
        <p:grpSpPr>
          <a:xfrm rot="-10800000">
            <a:off x="12280905" y="3750725"/>
            <a:ext cx="937296" cy="937296"/>
            <a:chOff x="0" y="0"/>
            <a:chExt cx="812800" cy="812800"/>
          </a:xfrm>
        </p:grpSpPr>
        <p:sp>
          <p:nvSpPr>
            <p:cNvPr id="48" name="Freeform 48"/>
            <p:cNvSpPr/>
            <p:nvPr/>
          </p:nvSpPr>
          <p:spPr>
            <a:xfrm>
              <a:off x="0" y="0"/>
              <a:ext cx="812800" cy="812800"/>
            </a:xfrm>
            <a:custGeom>
              <a:avLst/>
              <a:gdLst/>
              <a:ahLst/>
              <a:cxnLst/>
              <a:rect l="l" t="t" r="r" b="b"/>
              <a:pathLst>
                <a:path w="812800" h="812800">
                  <a:moveTo>
                    <a:pt x="0" y="406400"/>
                  </a:moveTo>
                  <a:lnTo>
                    <a:pt x="406400" y="0"/>
                  </a:lnTo>
                  <a:lnTo>
                    <a:pt x="406400" y="203200"/>
                  </a:lnTo>
                  <a:lnTo>
                    <a:pt x="812800" y="203200"/>
                  </a:lnTo>
                  <a:lnTo>
                    <a:pt x="812800" y="609600"/>
                  </a:lnTo>
                  <a:lnTo>
                    <a:pt x="406400" y="609600"/>
                  </a:lnTo>
                  <a:lnTo>
                    <a:pt x="406400" y="812800"/>
                  </a:lnTo>
                  <a:lnTo>
                    <a:pt x="0" y="406400"/>
                  </a:lnTo>
                  <a:close/>
                </a:path>
              </a:pathLst>
            </a:custGeom>
            <a:solidFill>
              <a:srgbClr val="20334A"/>
            </a:solidFill>
          </p:spPr>
        </p:sp>
        <p:sp>
          <p:nvSpPr>
            <p:cNvPr id="49" name="TextBox 49"/>
            <p:cNvSpPr txBox="1"/>
            <p:nvPr/>
          </p:nvSpPr>
          <p:spPr>
            <a:xfrm>
              <a:off x="101600" y="241300"/>
              <a:ext cx="711200" cy="368300"/>
            </a:xfrm>
            <a:prstGeom prst="rect">
              <a:avLst/>
            </a:prstGeom>
          </p:spPr>
          <p:txBody>
            <a:bodyPr lIns="50800" tIns="50800" rIns="50800" bIns="50800" rtlCol="0" anchor="ctr"/>
            <a:lstStyle/>
            <a:p>
              <a:pPr algn="ctr">
                <a:lnSpc>
                  <a:spcPts val="2100"/>
                </a:lnSpc>
              </a:pPr>
              <a:endParaRPr/>
            </a:p>
          </p:txBody>
        </p:sp>
      </p:grpSp>
      <p:grpSp>
        <p:nvGrpSpPr>
          <p:cNvPr id="50" name="Group 50"/>
          <p:cNvGrpSpPr/>
          <p:nvPr/>
        </p:nvGrpSpPr>
        <p:grpSpPr>
          <a:xfrm>
            <a:off x="10061932" y="3132195"/>
            <a:ext cx="2065164" cy="2119760"/>
            <a:chOff x="0" y="0"/>
            <a:chExt cx="812800" cy="834288"/>
          </a:xfrm>
        </p:grpSpPr>
        <p:sp>
          <p:nvSpPr>
            <p:cNvPr id="51" name="Freeform 51"/>
            <p:cNvSpPr/>
            <p:nvPr/>
          </p:nvSpPr>
          <p:spPr>
            <a:xfrm>
              <a:off x="27436" y="28468"/>
              <a:ext cx="757927" cy="777352"/>
            </a:xfrm>
            <a:custGeom>
              <a:avLst/>
              <a:gdLst/>
              <a:ahLst/>
              <a:cxnLst/>
              <a:rect l="l" t="t" r="r" b="b"/>
              <a:pathLst>
                <a:path w="757927" h="777352">
                  <a:moveTo>
                    <a:pt x="426052" y="19865"/>
                  </a:moveTo>
                  <a:lnTo>
                    <a:pt x="738276" y="340343"/>
                  </a:lnTo>
                  <a:cubicBezTo>
                    <a:pt x="764478" y="367238"/>
                    <a:pt x="764478" y="410114"/>
                    <a:pt x="738276" y="437009"/>
                  </a:cubicBezTo>
                  <a:lnTo>
                    <a:pt x="426052" y="757487"/>
                  </a:lnTo>
                  <a:cubicBezTo>
                    <a:pt x="413678" y="770188"/>
                    <a:pt x="396697" y="777352"/>
                    <a:pt x="378964" y="777352"/>
                  </a:cubicBezTo>
                  <a:cubicBezTo>
                    <a:pt x="361231" y="777352"/>
                    <a:pt x="344250" y="770188"/>
                    <a:pt x="331876" y="757487"/>
                  </a:cubicBezTo>
                  <a:lnTo>
                    <a:pt x="19652" y="437009"/>
                  </a:lnTo>
                  <a:cubicBezTo>
                    <a:pt x="-6550" y="410114"/>
                    <a:pt x="-6550" y="367238"/>
                    <a:pt x="19652" y="340343"/>
                  </a:cubicBezTo>
                  <a:lnTo>
                    <a:pt x="331876" y="19865"/>
                  </a:lnTo>
                  <a:cubicBezTo>
                    <a:pt x="344250" y="7163"/>
                    <a:pt x="361231" y="0"/>
                    <a:pt x="378964" y="0"/>
                  </a:cubicBezTo>
                  <a:cubicBezTo>
                    <a:pt x="396697" y="0"/>
                    <a:pt x="413678" y="7163"/>
                    <a:pt x="426052" y="19865"/>
                  </a:cubicBezTo>
                  <a:close/>
                </a:path>
              </a:pathLst>
            </a:custGeom>
            <a:solidFill>
              <a:srgbClr val="FFFFFF"/>
            </a:solidFill>
          </p:spPr>
        </p:sp>
        <p:sp>
          <p:nvSpPr>
            <p:cNvPr id="52" name="TextBox 52"/>
            <p:cNvSpPr txBox="1"/>
            <p:nvPr/>
          </p:nvSpPr>
          <p:spPr>
            <a:xfrm>
              <a:off x="139700" y="181493"/>
              <a:ext cx="533400" cy="509401"/>
            </a:xfrm>
            <a:prstGeom prst="rect">
              <a:avLst/>
            </a:prstGeom>
          </p:spPr>
          <p:txBody>
            <a:bodyPr lIns="50800" tIns="50800" rIns="50800" bIns="50800" rtlCol="0" anchor="ctr"/>
            <a:lstStyle/>
            <a:p>
              <a:pPr algn="ctr">
                <a:lnSpc>
                  <a:spcPts val="2100"/>
                </a:lnSpc>
              </a:pPr>
              <a:endParaRPr/>
            </a:p>
          </p:txBody>
        </p:sp>
      </p:grpSp>
      <p:sp>
        <p:nvSpPr>
          <p:cNvPr id="53" name="Freeform 53"/>
          <p:cNvSpPr/>
          <p:nvPr/>
        </p:nvSpPr>
        <p:spPr>
          <a:xfrm>
            <a:off x="10736653" y="3861512"/>
            <a:ext cx="715722" cy="715722"/>
          </a:xfrm>
          <a:custGeom>
            <a:avLst/>
            <a:gdLst/>
            <a:ahLst/>
            <a:cxnLst/>
            <a:rect l="l" t="t" r="r" b="b"/>
            <a:pathLst>
              <a:path w="715722" h="715722">
                <a:moveTo>
                  <a:pt x="0" y="0"/>
                </a:moveTo>
                <a:lnTo>
                  <a:pt x="715722" y="0"/>
                </a:lnTo>
                <a:lnTo>
                  <a:pt x="715722" y="715721"/>
                </a:lnTo>
                <a:lnTo>
                  <a:pt x="0" y="71572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54" name="TextBox 54"/>
          <p:cNvSpPr txBox="1"/>
          <p:nvPr/>
        </p:nvSpPr>
        <p:spPr>
          <a:xfrm>
            <a:off x="954956" y="7188962"/>
            <a:ext cx="4828084" cy="361950"/>
          </a:xfrm>
          <a:prstGeom prst="rect">
            <a:avLst/>
          </a:prstGeom>
        </p:spPr>
        <p:txBody>
          <a:bodyPr lIns="0" tIns="0" rIns="0" bIns="0" rtlCol="0" anchor="t">
            <a:spAutoFit/>
          </a:bodyPr>
          <a:lstStyle/>
          <a:p>
            <a:pPr algn="l">
              <a:lnSpc>
                <a:spcPts val="2879"/>
              </a:lnSpc>
            </a:pPr>
            <a:r>
              <a:rPr lang="en-US" sz="2399" b="1">
                <a:solidFill>
                  <a:srgbClr val="000000"/>
                </a:solidFill>
                <a:latin typeface="Inter Bold"/>
                <a:ea typeface="Inter Bold"/>
                <a:cs typeface="Inter Bold"/>
                <a:sym typeface="Inter Bold"/>
              </a:rPr>
              <a:t>Feature Engineering</a:t>
            </a:r>
          </a:p>
        </p:txBody>
      </p:sp>
      <p:sp>
        <p:nvSpPr>
          <p:cNvPr id="55" name="TextBox 55"/>
          <p:cNvSpPr txBox="1"/>
          <p:nvPr/>
        </p:nvSpPr>
        <p:spPr>
          <a:xfrm>
            <a:off x="954956" y="8016644"/>
            <a:ext cx="4828084" cy="1017270"/>
          </a:xfrm>
          <a:prstGeom prst="rect">
            <a:avLst/>
          </a:prstGeom>
        </p:spPr>
        <p:txBody>
          <a:bodyPr lIns="0" tIns="0" rIns="0" bIns="0" rtlCol="0" anchor="t">
            <a:spAutoFit/>
          </a:bodyPr>
          <a:lstStyle/>
          <a:p>
            <a:pPr algn="l">
              <a:lnSpc>
                <a:spcPts val="2700"/>
              </a:lnSpc>
            </a:pPr>
            <a:r>
              <a:rPr lang="en-US" sz="1800">
                <a:solidFill>
                  <a:srgbClr val="000000"/>
                </a:solidFill>
                <a:latin typeface="Inter"/>
                <a:ea typeface="Inter"/>
                <a:cs typeface="Inter"/>
                <a:sym typeface="Inter"/>
              </a:rPr>
              <a:t>Combine and transform data from multiple tables to create meaningful customer-level features for analysis and modeling.</a:t>
            </a:r>
          </a:p>
        </p:txBody>
      </p:sp>
      <p:sp>
        <p:nvSpPr>
          <p:cNvPr id="56" name="Freeform 3">
            <a:extLst>
              <a:ext uri="{FF2B5EF4-FFF2-40B4-BE49-F238E27FC236}">
                <a16:creationId xmlns:a16="http://schemas.microsoft.com/office/drawing/2014/main" id="{2878916D-EF21-2297-A151-9A8726C5D34C}"/>
              </a:ext>
            </a:extLst>
          </p:cNvPr>
          <p:cNvSpPr/>
          <p:nvPr/>
        </p:nvSpPr>
        <p:spPr>
          <a:xfrm>
            <a:off x="17316179" y="0"/>
            <a:ext cx="971821" cy="1348740"/>
          </a:xfrm>
          <a:custGeom>
            <a:avLst/>
            <a:gdLst/>
            <a:ahLst/>
            <a:cxnLst/>
            <a:rect l="l" t="t" r="r" b="b"/>
            <a:pathLst>
              <a:path w="1943641" h="1484235">
                <a:moveTo>
                  <a:pt x="0" y="0"/>
                </a:moveTo>
                <a:lnTo>
                  <a:pt x="1943642" y="0"/>
                </a:lnTo>
                <a:lnTo>
                  <a:pt x="1943642" y="1484235"/>
                </a:lnTo>
                <a:lnTo>
                  <a:pt x="0" y="1484235"/>
                </a:lnTo>
                <a:lnTo>
                  <a:pt x="0" y="0"/>
                </a:lnTo>
                <a:close/>
              </a:path>
            </a:pathLst>
          </a:custGeom>
          <a:blipFill>
            <a:blip>
              <a:alphaModFix amt="39000"/>
              <a:extLst>
                <a:ext uri="{96DAC541-7B7A-43D3-8B79-37D633B846F1}">
                  <asvg:svgBlip xmlns:asvg="http://schemas.microsoft.com/office/drawing/2016/SVG/main" r:embed="rId6"/>
                </a:ext>
              </a:extLst>
            </a:blip>
            <a:stretch>
              <a:fillRect t="-10046" r="-100000"/>
            </a:stretch>
          </a:blipFill>
          <a:ln cap="sq">
            <a:noFill/>
            <a:prstDash val="solid"/>
            <a:miter/>
          </a:ln>
        </p:spPr>
      </p:sp>
      <p:sp>
        <p:nvSpPr>
          <p:cNvPr id="57" name="Freeform 4">
            <a:extLst>
              <a:ext uri="{FF2B5EF4-FFF2-40B4-BE49-F238E27FC236}">
                <a16:creationId xmlns:a16="http://schemas.microsoft.com/office/drawing/2014/main" id="{AE9B4F48-6055-BB34-5378-F689AFDEBD05}"/>
              </a:ext>
            </a:extLst>
          </p:cNvPr>
          <p:cNvSpPr/>
          <p:nvPr/>
        </p:nvSpPr>
        <p:spPr>
          <a:xfrm>
            <a:off x="-16866" y="1348740"/>
            <a:ext cx="677479" cy="613680"/>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7"/>
                </a:ext>
              </a:extLst>
            </a:blip>
            <a:stretch>
              <a:fillRect l="-95022" t="9661" r="-138520" b="-111177"/>
            </a:stretch>
          </a:blipFill>
        </p:spPr>
      </p:sp>
      <p:sp>
        <p:nvSpPr>
          <p:cNvPr id="58" name="Freeform 5">
            <a:extLst>
              <a:ext uri="{FF2B5EF4-FFF2-40B4-BE49-F238E27FC236}">
                <a16:creationId xmlns:a16="http://schemas.microsoft.com/office/drawing/2014/main" id="{85DF8FBC-6206-FC44-4F6F-9F5C5CE1DBDD}"/>
              </a:ext>
            </a:extLst>
          </p:cNvPr>
          <p:cNvSpPr/>
          <p:nvPr/>
        </p:nvSpPr>
        <p:spPr>
          <a:xfrm>
            <a:off x="17316179" y="9105900"/>
            <a:ext cx="971821" cy="728906"/>
          </a:xfrm>
          <a:custGeom>
            <a:avLst/>
            <a:gdLst/>
            <a:ahLst/>
            <a:cxnLst/>
            <a:rect l="l" t="t" r="r" b="b"/>
            <a:pathLst>
              <a:path w="1864644" h="728906">
                <a:moveTo>
                  <a:pt x="0" y="0"/>
                </a:moveTo>
                <a:lnTo>
                  <a:pt x="1864644" y="0"/>
                </a:lnTo>
                <a:lnTo>
                  <a:pt x="1864644" y="728907"/>
                </a:lnTo>
                <a:lnTo>
                  <a:pt x="0" y="728907"/>
                </a:lnTo>
                <a:lnTo>
                  <a:pt x="0" y="0"/>
                </a:lnTo>
                <a:close/>
              </a:path>
            </a:pathLst>
          </a:custGeom>
          <a:blipFill>
            <a:blip>
              <a:alphaModFix amt="39000"/>
              <a:extLst>
                <a:ext uri="{96DAC541-7B7A-43D3-8B79-37D633B846F1}">
                  <asvg:svgBlip xmlns:asvg="http://schemas.microsoft.com/office/drawing/2016/SVG/main" r:embed="rId8"/>
                </a:ext>
              </a:extLst>
            </a:blip>
            <a:stretch>
              <a:fillRect l="1" r="-91872"/>
            </a:stretch>
          </a:blipFill>
        </p:spPr>
      </p:sp>
      <p:sp>
        <p:nvSpPr>
          <p:cNvPr id="59" name="Freeform 6">
            <a:extLst>
              <a:ext uri="{FF2B5EF4-FFF2-40B4-BE49-F238E27FC236}">
                <a16:creationId xmlns:a16="http://schemas.microsoft.com/office/drawing/2014/main" id="{F8271FF7-5597-7D37-CA97-DD6E3E41977D}"/>
              </a:ext>
            </a:extLst>
          </p:cNvPr>
          <p:cNvSpPr/>
          <p:nvPr/>
        </p:nvSpPr>
        <p:spPr>
          <a:xfrm>
            <a:off x="-16866" y="9258301"/>
            <a:ext cx="971821" cy="1028700"/>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9"/>
                </a:ext>
              </a:extLst>
            </a:blip>
            <a:stretch>
              <a:fillRect l="-96529" b="-82625"/>
            </a:stretch>
          </a:blipFill>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3010386"/>
            <a:ext cx="16230600" cy="2185919"/>
            <a:chOff x="0" y="0"/>
            <a:chExt cx="2285533" cy="307813"/>
          </a:xfrm>
        </p:grpSpPr>
        <p:sp>
          <p:nvSpPr>
            <p:cNvPr id="3" name="Freeform 3"/>
            <p:cNvSpPr/>
            <p:nvPr/>
          </p:nvSpPr>
          <p:spPr>
            <a:xfrm>
              <a:off x="0" y="0"/>
              <a:ext cx="2285533" cy="307813"/>
            </a:xfrm>
            <a:custGeom>
              <a:avLst/>
              <a:gdLst/>
              <a:ahLst/>
              <a:cxnLst/>
              <a:rect l="l" t="t" r="r" b="b"/>
              <a:pathLst>
                <a:path w="2285533" h="307813">
                  <a:moveTo>
                    <a:pt x="17649" y="0"/>
                  </a:moveTo>
                  <a:lnTo>
                    <a:pt x="2267884" y="0"/>
                  </a:lnTo>
                  <a:cubicBezTo>
                    <a:pt x="2272565" y="0"/>
                    <a:pt x="2277054" y="1859"/>
                    <a:pt x="2280364" y="5169"/>
                  </a:cubicBezTo>
                  <a:cubicBezTo>
                    <a:pt x="2283674" y="8479"/>
                    <a:pt x="2285533" y="12968"/>
                    <a:pt x="2285533" y="17649"/>
                  </a:cubicBezTo>
                  <a:lnTo>
                    <a:pt x="2285533" y="290164"/>
                  </a:lnTo>
                  <a:cubicBezTo>
                    <a:pt x="2285533" y="294845"/>
                    <a:pt x="2283674" y="299334"/>
                    <a:pt x="2280364" y="302644"/>
                  </a:cubicBezTo>
                  <a:cubicBezTo>
                    <a:pt x="2277054" y="305954"/>
                    <a:pt x="2272565" y="307813"/>
                    <a:pt x="2267884" y="307813"/>
                  </a:cubicBezTo>
                  <a:lnTo>
                    <a:pt x="17649" y="307813"/>
                  </a:lnTo>
                  <a:cubicBezTo>
                    <a:pt x="12968" y="307813"/>
                    <a:pt x="8479" y="305954"/>
                    <a:pt x="5169" y="302644"/>
                  </a:cubicBezTo>
                  <a:cubicBezTo>
                    <a:pt x="1859" y="299334"/>
                    <a:pt x="0" y="294845"/>
                    <a:pt x="0" y="290164"/>
                  </a:cubicBezTo>
                  <a:lnTo>
                    <a:pt x="0" y="17649"/>
                  </a:lnTo>
                  <a:cubicBezTo>
                    <a:pt x="0" y="12968"/>
                    <a:pt x="1859" y="8479"/>
                    <a:pt x="5169" y="5169"/>
                  </a:cubicBezTo>
                  <a:cubicBezTo>
                    <a:pt x="8479" y="1859"/>
                    <a:pt x="12968" y="0"/>
                    <a:pt x="17649" y="0"/>
                  </a:cubicBezTo>
                  <a:close/>
                </a:path>
              </a:pathLst>
            </a:custGeom>
            <a:solidFill>
              <a:srgbClr val="20334A"/>
            </a:solidFill>
          </p:spPr>
        </p:sp>
        <p:sp>
          <p:nvSpPr>
            <p:cNvPr id="4" name="TextBox 4"/>
            <p:cNvSpPr txBox="1"/>
            <p:nvPr/>
          </p:nvSpPr>
          <p:spPr>
            <a:xfrm>
              <a:off x="0" y="38100"/>
              <a:ext cx="2285533" cy="269713"/>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028700" y="5250042"/>
            <a:ext cx="16230600" cy="2185919"/>
            <a:chOff x="0" y="0"/>
            <a:chExt cx="2285533" cy="307813"/>
          </a:xfrm>
        </p:grpSpPr>
        <p:sp>
          <p:nvSpPr>
            <p:cNvPr id="6" name="Freeform 6"/>
            <p:cNvSpPr/>
            <p:nvPr/>
          </p:nvSpPr>
          <p:spPr>
            <a:xfrm>
              <a:off x="0" y="0"/>
              <a:ext cx="2285533" cy="307813"/>
            </a:xfrm>
            <a:custGeom>
              <a:avLst/>
              <a:gdLst/>
              <a:ahLst/>
              <a:cxnLst/>
              <a:rect l="l" t="t" r="r" b="b"/>
              <a:pathLst>
                <a:path w="2285533" h="307813">
                  <a:moveTo>
                    <a:pt x="17649" y="0"/>
                  </a:moveTo>
                  <a:lnTo>
                    <a:pt x="2267884" y="0"/>
                  </a:lnTo>
                  <a:cubicBezTo>
                    <a:pt x="2272565" y="0"/>
                    <a:pt x="2277054" y="1859"/>
                    <a:pt x="2280364" y="5169"/>
                  </a:cubicBezTo>
                  <a:cubicBezTo>
                    <a:pt x="2283674" y="8479"/>
                    <a:pt x="2285533" y="12968"/>
                    <a:pt x="2285533" y="17649"/>
                  </a:cubicBezTo>
                  <a:lnTo>
                    <a:pt x="2285533" y="290164"/>
                  </a:lnTo>
                  <a:cubicBezTo>
                    <a:pt x="2285533" y="294845"/>
                    <a:pt x="2283674" y="299334"/>
                    <a:pt x="2280364" y="302644"/>
                  </a:cubicBezTo>
                  <a:cubicBezTo>
                    <a:pt x="2277054" y="305954"/>
                    <a:pt x="2272565" y="307813"/>
                    <a:pt x="2267884" y="307813"/>
                  </a:cubicBezTo>
                  <a:lnTo>
                    <a:pt x="17649" y="307813"/>
                  </a:lnTo>
                  <a:cubicBezTo>
                    <a:pt x="12968" y="307813"/>
                    <a:pt x="8479" y="305954"/>
                    <a:pt x="5169" y="302644"/>
                  </a:cubicBezTo>
                  <a:cubicBezTo>
                    <a:pt x="1859" y="299334"/>
                    <a:pt x="0" y="294845"/>
                    <a:pt x="0" y="290164"/>
                  </a:cubicBezTo>
                  <a:lnTo>
                    <a:pt x="0" y="17649"/>
                  </a:lnTo>
                  <a:cubicBezTo>
                    <a:pt x="0" y="12968"/>
                    <a:pt x="1859" y="8479"/>
                    <a:pt x="5169" y="5169"/>
                  </a:cubicBezTo>
                  <a:cubicBezTo>
                    <a:pt x="8479" y="1859"/>
                    <a:pt x="12968" y="0"/>
                    <a:pt x="17649" y="0"/>
                  </a:cubicBezTo>
                  <a:close/>
                </a:path>
              </a:pathLst>
            </a:custGeom>
            <a:solidFill>
              <a:srgbClr val="5E7396"/>
            </a:solidFill>
          </p:spPr>
        </p:sp>
        <p:sp>
          <p:nvSpPr>
            <p:cNvPr id="7" name="TextBox 7"/>
            <p:cNvSpPr txBox="1"/>
            <p:nvPr/>
          </p:nvSpPr>
          <p:spPr>
            <a:xfrm>
              <a:off x="0" y="38100"/>
              <a:ext cx="2285533" cy="269713"/>
            </a:xfrm>
            <a:prstGeom prst="rect">
              <a:avLst/>
            </a:prstGeom>
          </p:spPr>
          <p:txBody>
            <a:bodyPr lIns="50800" tIns="50800" rIns="50800" bIns="50800" rtlCol="0" anchor="ctr"/>
            <a:lstStyle/>
            <a:p>
              <a:pPr algn="ctr">
                <a:lnSpc>
                  <a:spcPts val="2100"/>
                </a:lnSpc>
              </a:pPr>
              <a:endParaRPr/>
            </a:p>
          </p:txBody>
        </p:sp>
      </p:grpSp>
      <p:grpSp>
        <p:nvGrpSpPr>
          <p:cNvPr id="8" name="Group 8"/>
          <p:cNvGrpSpPr/>
          <p:nvPr/>
        </p:nvGrpSpPr>
        <p:grpSpPr>
          <a:xfrm>
            <a:off x="1733512" y="3475396"/>
            <a:ext cx="1168024" cy="116802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0" name="TextBox 10"/>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grpSp>
        <p:nvGrpSpPr>
          <p:cNvPr id="11" name="Group 11"/>
          <p:cNvGrpSpPr/>
          <p:nvPr/>
        </p:nvGrpSpPr>
        <p:grpSpPr>
          <a:xfrm>
            <a:off x="1733512" y="5715051"/>
            <a:ext cx="1168024" cy="116802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3" name="TextBox 13"/>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grpSp>
        <p:nvGrpSpPr>
          <p:cNvPr id="14" name="Group 14"/>
          <p:cNvGrpSpPr/>
          <p:nvPr/>
        </p:nvGrpSpPr>
        <p:grpSpPr>
          <a:xfrm>
            <a:off x="1028700" y="7489697"/>
            <a:ext cx="16230600" cy="2185919"/>
            <a:chOff x="0" y="0"/>
            <a:chExt cx="2285533" cy="307813"/>
          </a:xfrm>
        </p:grpSpPr>
        <p:sp>
          <p:nvSpPr>
            <p:cNvPr id="15" name="Freeform 15"/>
            <p:cNvSpPr/>
            <p:nvPr/>
          </p:nvSpPr>
          <p:spPr>
            <a:xfrm>
              <a:off x="0" y="0"/>
              <a:ext cx="2285533" cy="307813"/>
            </a:xfrm>
            <a:custGeom>
              <a:avLst/>
              <a:gdLst/>
              <a:ahLst/>
              <a:cxnLst/>
              <a:rect l="l" t="t" r="r" b="b"/>
              <a:pathLst>
                <a:path w="2285533" h="307813">
                  <a:moveTo>
                    <a:pt x="17649" y="0"/>
                  </a:moveTo>
                  <a:lnTo>
                    <a:pt x="2267884" y="0"/>
                  </a:lnTo>
                  <a:cubicBezTo>
                    <a:pt x="2272565" y="0"/>
                    <a:pt x="2277054" y="1859"/>
                    <a:pt x="2280364" y="5169"/>
                  </a:cubicBezTo>
                  <a:cubicBezTo>
                    <a:pt x="2283674" y="8479"/>
                    <a:pt x="2285533" y="12968"/>
                    <a:pt x="2285533" y="17649"/>
                  </a:cubicBezTo>
                  <a:lnTo>
                    <a:pt x="2285533" y="290164"/>
                  </a:lnTo>
                  <a:cubicBezTo>
                    <a:pt x="2285533" y="294845"/>
                    <a:pt x="2283674" y="299334"/>
                    <a:pt x="2280364" y="302644"/>
                  </a:cubicBezTo>
                  <a:cubicBezTo>
                    <a:pt x="2277054" y="305954"/>
                    <a:pt x="2272565" y="307813"/>
                    <a:pt x="2267884" y="307813"/>
                  </a:cubicBezTo>
                  <a:lnTo>
                    <a:pt x="17649" y="307813"/>
                  </a:lnTo>
                  <a:cubicBezTo>
                    <a:pt x="12968" y="307813"/>
                    <a:pt x="8479" y="305954"/>
                    <a:pt x="5169" y="302644"/>
                  </a:cubicBezTo>
                  <a:cubicBezTo>
                    <a:pt x="1859" y="299334"/>
                    <a:pt x="0" y="294845"/>
                    <a:pt x="0" y="290164"/>
                  </a:cubicBezTo>
                  <a:lnTo>
                    <a:pt x="0" y="17649"/>
                  </a:lnTo>
                  <a:cubicBezTo>
                    <a:pt x="0" y="12968"/>
                    <a:pt x="1859" y="8479"/>
                    <a:pt x="5169" y="5169"/>
                  </a:cubicBezTo>
                  <a:cubicBezTo>
                    <a:pt x="8479" y="1859"/>
                    <a:pt x="12968" y="0"/>
                    <a:pt x="17649" y="0"/>
                  </a:cubicBezTo>
                  <a:close/>
                </a:path>
              </a:pathLst>
            </a:custGeom>
            <a:solidFill>
              <a:srgbClr val="C79E76"/>
            </a:solidFill>
          </p:spPr>
        </p:sp>
        <p:sp>
          <p:nvSpPr>
            <p:cNvPr id="16" name="TextBox 16"/>
            <p:cNvSpPr txBox="1"/>
            <p:nvPr/>
          </p:nvSpPr>
          <p:spPr>
            <a:xfrm>
              <a:off x="0" y="38100"/>
              <a:ext cx="2285533" cy="269713"/>
            </a:xfrm>
            <a:prstGeom prst="rect">
              <a:avLst/>
            </a:prstGeom>
          </p:spPr>
          <p:txBody>
            <a:bodyPr lIns="50800" tIns="50800" rIns="50800" bIns="50800" rtlCol="0" anchor="ctr"/>
            <a:lstStyle/>
            <a:p>
              <a:pPr algn="ctr">
                <a:lnSpc>
                  <a:spcPts val="2100"/>
                </a:lnSpc>
              </a:pPr>
              <a:endParaRPr/>
            </a:p>
          </p:txBody>
        </p:sp>
      </p:grpSp>
      <p:grpSp>
        <p:nvGrpSpPr>
          <p:cNvPr id="17" name="Group 17"/>
          <p:cNvGrpSpPr/>
          <p:nvPr/>
        </p:nvGrpSpPr>
        <p:grpSpPr>
          <a:xfrm>
            <a:off x="1733512" y="7954707"/>
            <a:ext cx="1168024" cy="116802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9" name="TextBox 19"/>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sp>
        <p:nvSpPr>
          <p:cNvPr id="24" name="Freeform 24"/>
          <p:cNvSpPr/>
          <p:nvPr/>
        </p:nvSpPr>
        <p:spPr>
          <a:xfrm>
            <a:off x="2011229" y="5993882"/>
            <a:ext cx="612590" cy="610363"/>
          </a:xfrm>
          <a:custGeom>
            <a:avLst/>
            <a:gdLst/>
            <a:ahLst/>
            <a:cxnLst/>
            <a:rect l="l" t="t" r="r" b="b"/>
            <a:pathLst>
              <a:path w="612590" h="610363">
                <a:moveTo>
                  <a:pt x="0" y="0"/>
                </a:moveTo>
                <a:lnTo>
                  <a:pt x="612590" y="0"/>
                </a:lnTo>
                <a:lnTo>
                  <a:pt x="612590" y="610363"/>
                </a:lnTo>
                <a:lnTo>
                  <a:pt x="0" y="61036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5" name="Freeform 25"/>
          <p:cNvSpPr/>
          <p:nvPr/>
        </p:nvSpPr>
        <p:spPr>
          <a:xfrm>
            <a:off x="2011229" y="3648214"/>
            <a:ext cx="612590" cy="757863"/>
          </a:xfrm>
          <a:custGeom>
            <a:avLst/>
            <a:gdLst/>
            <a:ahLst/>
            <a:cxnLst/>
            <a:rect l="l" t="t" r="r" b="b"/>
            <a:pathLst>
              <a:path w="612590" h="757863">
                <a:moveTo>
                  <a:pt x="0" y="0"/>
                </a:moveTo>
                <a:lnTo>
                  <a:pt x="612590" y="0"/>
                </a:lnTo>
                <a:lnTo>
                  <a:pt x="612590" y="757863"/>
                </a:lnTo>
                <a:lnTo>
                  <a:pt x="0" y="7578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6" name="Freeform 26"/>
          <p:cNvSpPr/>
          <p:nvPr/>
        </p:nvSpPr>
        <p:spPr>
          <a:xfrm>
            <a:off x="2011229" y="8283686"/>
            <a:ext cx="584012" cy="584012"/>
          </a:xfrm>
          <a:custGeom>
            <a:avLst/>
            <a:gdLst/>
            <a:ahLst/>
            <a:cxnLst/>
            <a:rect l="l" t="t" r="r" b="b"/>
            <a:pathLst>
              <a:path w="584012" h="584012">
                <a:moveTo>
                  <a:pt x="0" y="0"/>
                </a:moveTo>
                <a:lnTo>
                  <a:pt x="584012" y="0"/>
                </a:lnTo>
                <a:lnTo>
                  <a:pt x="584012" y="584012"/>
                </a:lnTo>
                <a:lnTo>
                  <a:pt x="0" y="58401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7" name="TextBox 27"/>
          <p:cNvSpPr txBox="1"/>
          <p:nvPr/>
        </p:nvSpPr>
        <p:spPr>
          <a:xfrm>
            <a:off x="1028700" y="1876276"/>
            <a:ext cx="14813037" cy="848360"/>
          </a:xfrm>
          <a:prstGeom prst="rect">
            <a:avLst/>
          </a:prstGeom>
        </p:spPr>
        <p:txBody>
          <a:bodyPr lIns="0" tIns="0" rIns="0" bIns="0" rtlCol="0" anchor="t">
            <a:spAutoFit/>
          </a:bodyPr>
          <a:lstStyle/>
          <a:p>
            <a:pPr algn="l">
              <a:lnSpc>
                <a:spcPts val="6399"/>
              </a:lnSpc>
            </a:pPr>
            <a:r>
              <a:rPr lang="en-US" sz="6399" b="1">
                <a:solidFill>
                  <a:srgbClr val="000000"/>
                </a:solidFill>
                <a:latin typeface="Neue Machina Ultra-Bold"/>
                <a:ea typeface="Neue Machina Ultra-Bold"/>
                <a:cs typeface="Neue Machina Ultra-Bold"/>
                <a:sym typeface="Neue Machina Ultra-Bold"/>
              </a:rPr>
              <a:t>Why This Dataset is Valuable</a:t>
            </a:r>
          </a:p>
        </p:txBody>
      </p:sp>
      <p:sp>
        <p:nvSpPr>
          <p:cNvPr id="29" name="TextBox 29"/>
          <p:cNvSpPr txBox="1"/>
          <p:nvPr/>
        </p:nvSpPr>
        <p:spPr>
          <a:xfrm>
            <a:off x="3290583" y="3309075"/>
            <a:ext cx="13263905" cy="422911"/>
          </a:xfrm>
          <a:prstGeom prst="rect">
            <a:avLst/>
          </a:prstGeom>
        </p:spPr>
        <p:txBody>
          <a:bodyPr lIns="0" tIns="0" rIns="0" bIns="0" rtlCol="0" anchor="t">
            <a:spAutoFit/>
          </a:bodyPr>
          <a:lstStyle/>
          <a:p>
            <a:pPr algn="l">
              <a:lnSpc>
                <a:spcPts val="3599"/>
              </a:lnSpc>
            </a:pPr>
            <a:r>
              <a:rPr lang="en-US" sz="2399" b="1">
                <a:solidFill>
                  <a:srgbClr val="FFFFFF"/>
                </a:solidFill>
                <a:latin typeface="Inter Bold"/>
                <a:ea typeface="Inter Bold"/>
                <a:cs typeface="Inter Bold"/>
                <a:sym typeface="Inter Bold"/>
              </a:rPr>
              <a:t>Rich Multi-Table Structure</a:t>
            </a:r>
          </a:p>
        </p:txBody>
      </p:sp>
      <p:sp>
        <p:nvSpPr>
          <p:cNvPr id="30" name="TextBox 30"/>
          <p:cNvSpPr txBox="1"/>
          <p:nvPr/>
        </p:nvSpPr>
        <p:spPr>
          <a:xfrm>
            <a:off x="3290583" y="5548730"/>
            <a:ext cx="13263905" cy="422911"/>
          </a:xfrm>
          <a:prstGeom prst="rect">
            <a:avLst/>
          </a:prstGeom>
        </p:spPr>
        <p:txBody>
          <a:bodyPr lIns="0" tIns="0" rIns="0" bIns="0" rtlCol="0" anchor="t">
            <a:spAutoFit/>
          </a:bodyPr>
          <a:lstStyle/>
          <a:p>
            <a:pPr algn="l">
              <a:lnSpc>
                <a:spcPts val="3599"/>
              </a:lnSpc>
            </a:pPr>
            <a:r>
              <a:rPr lang="en-US" sz="2399" b="1">
                <a:solidFill>
                  <a:srgbClr val="FFFFFF"/>
                </a:solidFill>
                <a:latin typeface="Inter Bold"/>
                <a:ea typeface="Inter Bold"/>
                <a:cs typeface="Inter Bold"/>
                <a:sym typeface="Inter Bold"/>
              </a:rPr>
              <a:t>Strong Feature Engineering Potential</a:t>
            </a:r>
          </a:p>
        </p:txBody>
      </p:sp>
      <p:sp>
        <p:nvSpPr>
          <p:cNvPr id="31" name="TextBox 31"/>
          <p:cNvSpPr txBox="1"/>
          <p:nvPr/>
        </p:nvSpPr>
        <p:spPr>
          <a:xfrm>
            <a:off x="3290583" y="3813672"/>
            <a:ext cx="13263905" cy="674370"/>
          </a:xfrm>
          <a:prstGeom prst="rect">
            <a:avLst/>
          </a:prstGeom>
        </p:spPr>
        <p:txBody>
          <a:bodyPr lIns="0" tIns="0" rIns="0" bIns="0" rtlCol="0" anchor="t">
            <a:spAutoFit/>
          </a:bodyPr>
          <a:lstStyle/>
          <a:p>
            <a:pPr algn="l">
              <a:lnSpc>
                <a:spcPts val="2700"/>
              </a:lnSpc>
            </a:pPr>
            <a:r>
              <a:rPr lang="en-US" sz="1800">
                <a:solidFill>
                  <a:srgbClr val="FFFFFF"/>
                </a:solidFill>
                <a:latin typeface="Inter"/>
                <a:ea typeface="Inter"/>
                <a:cs typeface="Inter"/>
                <a:sym typeface="Inter"/>
              </a:rPr>
              <a:t>The dataset contains multiple interconnected tables capturing customer demographics, credit history, and behavioral data, enabling comprehensive analysis.</a:t>
            </a:r>
          </a:p>
        </p:txBody>
      </p:sp>
      <p:sp>
        <p:nvSpPr>
          <p:cNvPr id="32" name="TextBox 32"/>
          <p:cNvSpPr txBox="1"/>
          <p:nvPr/>
        </p:nvSpPr>
        <p:spPr>
          <a:xfrm>
            <a:off x="3290583" y="6053327"/>
            <a:ext cx="13263905" cy="674370"/>
          </a:xfrm>
          <a:prstGeom prst="rect">
            <a:avLst/>
          </a:prstGeom>
        </p:spPr>
        <p:txBody>
          <a:bodyPr lIns="0" tIns="0" rIns="0" bIns="0" rtlCol="0" anchor="t">
            <a:spAutoFit/>
          </a:bodyPr>
          <a:lstStyle/>
          <a:p>
            <a:pPr algn="l">
              <a:lnSpc>
                <a:spcPts val="2700"/>
              </a:lnSpc>
            </a:pPr>
            <a:r>
              <a:rPr lang="en-US" sz="1800">
                <a:solidFill>
                  <a:srgbClr val="FFFFFF"/>
                </a:solidFill>
                <a:latin typeface="Inter"/>
                <a:ea typeface="Inter"/>
                <a:cs typeface="Inter"/>
                <a:sym typeface="Inter"/>
              </a:rPr>
              <a:t>The availability of diverse data sources allows creation of powerful customer-level features through aggregation and transformation.</a:t>
            </a:r>
          </a:p>
        </p:txBody>
      </p:sp>
      <p:sp>
        <p:nvSpPr>
          <p:cNvPr id="33" name="TextBox 33"/>
          <p:cNvSpPr txBox="1"/>
          <p:nvPr/>
        </p:nvSpPr>
        <p:spPr>
          <a:xfrm>
            <a:off x="3290583" y="7788386"/>
            <a:ext cx="13263905" cy="422911"/>
          </a:xfrm>
          <a:prstGeom prst="rect">
            <a:avLst/>
          </a:prstGeom>
        </p:spPr>
        <p:txBody>
          <a:bodyPr lIns="0" tIns="0" rIns="0" bIns="0" rtlCol="0" anchor="t">
            <a:spAutoFit/>
          </a:bodyPr>
          <a:lstStyle/>
          <a:p>
            <a:pPr algn="l">
              <a:lnSpc>
                <a:spcPts val="3599"/>
              </a:lnSpc>
            </a:pPr>
            <a:r>
              <a:rPr lang="en-US" sz="2399" b="1">
                <a:solidFill>
                  <a:srgbClr val="000000"/>
                </a:solidFill>
                <a:latin typeface="Inter Bold"/>
                <a:ea typeface="Inter Bold"/>
                <a:cs typeface="Inter Bold"/>
                <a:sym typeface="Inter Bold"/>
              </a:rPr>
              <a:t>Business Relevance</a:t>
            </a:r>
          </a:p>
        </p:txBody>
      </p:sp>
      <p:sp>
        <p:nvSpPr>
          <p:cNvPr id="34" name="TextBox 34"/>
          <p:cNvSpPr txBox="1"/>
          <p:nvPr/>
        </p:nvSpPr>
        <p:spPr>
          <a:xfrm>
            <a:off x="3290583" y="8292983"/>
            <a:ext cx="13263905" cy="331470"/>
          </a:xfrm>
          <a:prstGeom prst="rect">
            <a:avLst/>
          </a:prstGeom>
        </p:spPr>
        <p:txBody>
          <a:bodyPr lIns="0" tIns="0" rIns="0" bIns="0" rtlCol="0" anchor="t">
            <a:spAutoFit/>
          </a:bodyPr>
          <a:lstStyle/>
          <a:p>
            <a:pPr algn="l">
              <a:lnSpc>
                <a:spcPts val="2700"/>
              </a:lnSpc>
            </a:pPr>
            <a:r>
              <a:rPr lang="en-US" sz="1800">
                <a:solidFill>
                  <a:srgbClr val="000000"/>
                </a:solidFill>
                <a:latin typeface="Inter"/>
                <a:ea typeface="Inter"/>
                <a:cs typeface="Inter"/>
                <a:sym typeface="Inter"/>
              </a:rPr>
              <a:t>Addresses real-world financial risk problems faced by lending institutions.</a:t>
            </a:r>
          </a:p>
        </p:txBody>
      </p:sp>
      <p:sp>
        <p:nvSpPr>
          <p:cNvPr id="35" name="Freeform 3">
            <a:extLst>
              <a:ext uri="{FF2B5EF4-FFF2-40B4-BE49-F238E27FC236}">
                <a16:creationId xmlns:a16="http://schemas.microsoft.com/office/drawing/2014/main" id="{EB74CB9B-8258-869F-BB8E-8A20D231DC5B}"/>
              </a:ext>
            </a:extLst>
          </p:cNvPr>
          <p:cNvSpPr/>
          <p:nvPr/>
        </p:nvSpPr>
        <p:spPr>
          <a:xfrm>
            <a:off x="17316179" y="0"/>
            <a:ext cx="971821" cy="1348740"/>
          </a:xfrm>
          <a:custGeom>
            <a:avLst/>
            <a:gdLst/>
            <a:ahLst/>
            <a:cxnLst/>
            <a:rect l="l" t="t" r="r" b="b"/>
            <a:pathLst>
              <a:path w="1943641" h="1484235">
                <a:moveTo>
                  <a:pt x="0" y="0"/>
                </a:moveTo>
                <a:lnTo>
                  <a:pt x="1943642" y="0"/>
                </a:lnTo>
                <a:lnTo>
                  <a:pt x="1943642" y="1484235"/>
                </a:lnTo>
                <a:lnTo>
                  <a:pt x="0" y="1484235"/>
                </a:lnTo>
                <a:lnTo>
                  <a:pt x="0" y="0"/>
                </a:lnTo>
                <a:close/>
              </a:path>
            </a:pathLst>
          </a:custGeom>
          <a:blipFill>
            <a:blip>
              <a:alphaModFix amt="39000"/>
              <a:extLst>
                <a:ext uri="{96DAC541-7B7A-43D3-8B79-37D633B846F1}">
                  <asvg:svgBlip xmlns:asvg="http://schemas.microsoft.com/office/drawing/2016/SVG/main" r:embed="rId5"/>
                </a:ext>
              </a:extLst>
            </a:blip>
            <a:stretch>
              <a:fillRect t="-10046" r="-100000"/>
            </a:stretch>
          </a:blipFill>
          <a:ln cap="sq">
            <a:noFill/>
            <a:prstDash val="solid"/>
            <a:miter/>
          </a:ln>
        </p:spPr>
      </p:sp>
      <p:sp>
        <p:nvSpPr>
          <p:cNvPr id="36" name="Freeform 4">
            <a:extLst>
              <a:ext uri="{FF2B5EF4-FFF2-40B4-BE49-F238E27FC236}">
                <a16:creationId xmlns:a16="http://schemas.microsoft.com/office/drawing/2014/main" id="{D7939FB3-3A42-961B-4CEE-B6132B884894}"/>
              </a:ext>
            </a:extLst>
          </p:cNvPr>
          <p:cNvSpPr/>
          <p:nvPr/>
        </p:nvSpPr>
        <p:spPr>
          <a:xfrm>
            <a:off x="-16866" y="1348740"/>
            <a:ext cx="677479" cy="613680"/>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6"/>
                </a:ext>
              </a:extLst>
            </a:blip>
            <a:stretch>
              <a:fillRect l="-95022" t="9661" r="-138520" b="-111177"/>
            </a:stretch>
          </a:blipFill>
        </p:spPr>
      </p:sp>
      <p:sp>
        <p:nvSpPr>
          <p:cNvPr id="37" name="Freeform 5">
            <a:extLst>
              <a:ext uri="{FF2B5EF4-FFF2-40B4-BE49-F238E27FC236}">
                <a16:creationId xmlns:a16="http://schemas.microsoft.com/office/drawing/2014/main" id="{4612BA2E-3F30-E8D4-7057-71BA1090338C}"/>
              </a:ext>
            </a:extLst>
          </p:cNvPr>
          <p:cNvSpPr/>
          <p:nvPr/>
        </p:nvSpPr>
        <p:spPr>
          <a:xfrm>
            <a:off x="17316179" y="9105900"/>
            <a:ext cx="971821" cy="728906"/>
          </a:xfrm>
          <a:custGeom>
            <a:avLst/>
            <a:gdLst/>
            <a:ahLst/>
            <a:cxnLst/>
            <a:rect l="l" t="t" r="r" b="b"/>
            <a:pathLst>
              <a:path w="1864644" h="728906">
                <a:moveTo>
                  <a:pt x="0" y="0"/>
                </a:moveTo>
                <a:lnTo>
                  <a:pt x="1864644" y="0"/>
                </a:lnTo>
                <a:lnTo>
                  <a:pt x="1864644" y="728907"/>
                </a:lnTo>
                <a:lnTo>
                  <a:pt x="0" y="728907"/>
                </a:lnTo>
                <a:lnTo>
                  <a:pt x="0" y="0"/>
                </a:lnTo>
                <a:close/>
              </a:path>
            </a:pathLst>
          </a:custGeom>
          <a:blipFill>
            <a:blip>
              <a:alphaModFix amt="39000"/>
              <a:extLst>
                <a:ext uri="{96DAC541-7B7A-43D3-8B79-37D633B846F1}">
                  <asvg:svgBlip xmlns:asvg="http://schemas.microsoft.com/office/drawing/2016/SVG/main" r:embed="rId7"/>
                </a:ext>
              </a:extLst>
            </a:blip>
            <a:stretch>
              <a:fillRect l="1" r="-91872"/>
            </a:stretch>
          </a:blipFill>
        </p:spPr>
      </p:sp>
      <p:sp>
        <p:nvSpPr>
          <p:cNvPr id="38" name="Freeform 6">
            <a:extLst>
              <a:ext uri="{FF2B5EF4-FFF2-40B4-BE49-F238E27FC236}">
                <a16:creationId xmlns:a16="http://schemas.microsoft.com/office/drawing/2014/main" id="{B49E8EE4-A013-9E84-09BF-5F632D7FA839}"/>
              </a:ext>
            </a:extLst>
          </p:cNvPr>
          <p:cNvSpPr/>
          <p:nvPr/>
        </p:nvSpPr>
        <p:spPr>
          <a:xfrm>
            <a:off x="-16866" y="9258301"/>
            <a:ext cx="971821" cy="1028700"/>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8"/>
                </a:ext>
              </a:extLst>
            </a:blip>
            <a:stretch>
              <a:fillRect l="-96529" b="-82625"/>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15850" y="5143500"/>
            <a:ext cx="6732750" cy="67327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7396"/>
            </a:solidFill>
          </p:spPr>
        </p:sp>
        <p:sp>
          <p:nvSpPr>
            <p:cNvPr id="4" name="TextBox 4"/>
            <p:cNvSpPr txBox="1"/>
            <p:nvPr/>
          </p:nvSpPr>
          <p:spPr>
            <a:xfrm>
              <a:off x="76200" y="114300"/>
              <a:ext cx="660400" cy="622300"/>
            </a:xfrm>
            <a:prstGeom prst="rect">
              <a:avLst/>
            </a:prstGeom>
          </p:spPr>
          <p:txBody>
            <a:bodyPr lIns="50800" tIns="50800" rIns="50800" bIns="50800" rtlCol="0" anchor="ctr"/>
            <a:lstStyle/>
            <a:p>
              <a:pPr algn="ctr">
                <a:lnSpc>
                  <a:spcPts val="2100"/>
                </a:lnSpc>
              </a:pPr>
              <a:endParaRPr/>
            </a:p>
          </p:txBody>
        </p:sp>
      </p:grpSp>
      <p:sp>
        <p:nvSpPr>
          <p:cNvPr id="6" name="Freeform 6"/>
          <p:cNvSpPr/>
          <p:nvPr/>
        </p:nvSpPr>
        <p:spPr>
          <a:xfrm>
            <a:off x="10860152" y="-5210428"/>
            <a:ext cx="12798295" cy="12798295"/>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334A"/>
          </a:solidFill>
        </p:spPr>
      </p:sp>
      <p:sp>
        <p:nvSpPr>
          <p:cNvPr id="7" name="TextBox 7"/>
          <p:cNvSpPr txBox="1"/>
          <p:nvPr/>
        </p:nvSpPr>
        <p:spPr>
          <a:xfrm>
            <a:off x="12059992" y="-3410668"/>
            <a:ext cx="10398615" cy="9798695"/>
          </a:xfrm>
          <a:prstGeom prst="rect">
            <a:avLst/>
          </a:prstGeom>
        </p:spPr>
        <p:txBody>
          <a:bodyPr lIns="50800" tIns="50800" rIns="50800" bIns="50800" rtlCol="0" anchor="ctr"/>
          <a:lstStyle/>
          <a:p>
            <a:pPr algn="ctr">
              <a:lnSpc>
                <a:spcPts val="2100"/>
              </a:lnSpc>
            </a:pPr>
            <a:endParaRPr/>
          </a:p>
        </p:txBody>
      </p:sp>
      <p:grpSp>
        <p:nvGrpSpPr>
          <p:cNvPr id="8" name="Group 8"/>
          <p:cNvGrpSpPr/>
          <p:nvPr/>
        </p:nvGrpSpPr>
        <p:grpSpPr>
          <a:xfrm>
            <a:off x="9639300" y="1197760"/>
            <a:ext cx="7962058" cy="796205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4931" r="-24931"/>
              </a:stretch>
            </a:blipFill>
            <a:ln w="180975" cap="sq">
              <a:solidFill>
                <a:srgbClr val="5E7396"/>
              </a:solidFill>
              <a:prstDash val="solid"/>
              <a:miter/>
            </a:ln>
          </p:spPr>
        </p:sp>
      </p:grpSp>
      <p:sp>
        <p:nvSpPr>
          <p:cNvPr id="10" name="TextBox 10"/>
          <p:cNvSpPr txBox="1"/>
          <p:nvPr/>
        </p:nvSpPr>
        <p:spPr>
          <a:xfrm>
            <a:off x="1028700" y="2799281"/>
            <a:ext cx="8018220" cy="1291590"/>
          </a:xfrm>
          <a:prstGeom prst="rect">
            <a:avLst/>
          </a:prstGeom>
        </p:spPr>
        <p:txBody>
          <a:bodyPr lIns="0" tIns="0" rIns="0" bIns="0" rtlCol="0" anchor="t">
            <a:spAutoFit/>
          </a:bodyPr>
          <a:lstStyle/>
          <a:p>
            <a:pPr marL="0" lvl="1" indent="0" algn="l">
              <a:lnSpc>
                <a:spcPts val="9600"/>
              </a:lnSpc>
              <a:spcBef>
                <a:spcPct val="0"/>
              </a:spcBef>
            </a:pPr>
            <a:r>
              <a:rPr lang="en-US" sz="9600" b="1" u="none" strike="noStrike">
                <a:solidFill>
                  <a:srgbClr val="5E7396"/>
                </a:solidFill>
                <a:latin typeface="Neue Machina Ultra-Bold"/>
                <a:ea typeface="Neue Machina Ultra-Bold"/>
                <a:cs typeface="Neue Machina Ultra-Bold"/>
                <a:sym typeface="Neue Machina Ultra-Bold"/>
              </a:rPr>
              <a:t>THANK YOU!</a:t>
            </a:r>
          </a:p>
        </p:txBody>
      </p:sp>
      <p:sp>
        <p:nvSpPr>
          <p:cNvPr id="11" name="TextBox 11"/>
          <p:cNvSpPr txBox="1"/>
          <p:nvPr/>
        </p:nvSpPr>
        <p:spPr>
          <a:xfrm>
            <a:off x="1028700" y="6617228"/>
            <a:ext cx="7285947" cy="674370"/>
          </a:xfrm>
          <a:prstGeom prst="rect">
            <a:avLst/>
          </a:prstGeom>
        </p:spPr>
        <p:txBody>
          <a:bodyPr lIns="0" tIns="0" rIns="0" bIns="0" rtlCol="0" anchor="t">
            <a:spAutoFit/>
          </a:bodyPr>
          <a:lstStyle/>
          <a:p>
            <a:pPr algn="l">
              <a:lnSpc>
                <a:spcPts val="2700"/>
              </a:lnSpc>
            </a:pPr>
            <a:r>
              <a:rPr lang="en-US" sz="1800">
                <a:solidFill>
                  <a:srgbClr val="000000"/>
                </a:solidFill>
                <a:latin typeface="Inter"/>
                <a:ea typeface="Inter"/>
                <a:cs typeface="Inter"/>
                <a:sym typeface="Inter"/>
              </a:rPr>
              <a:t>A robust multi-table dataset designed to support advanced feature engineering and real-world credit risk modeling.</a:t>
            </a:r>
          </a:p>
        </p:txBody>
      </p:sp>
      <p:sp>
        <p:nvSpPr>
          <p:cNvPr id="16" name="Freeform 16"/>
          <p:cNvSpPr/>
          <p:nvPr/>
        </p:nvSpPr>
        <p:spPr>
          <a:xfrm rot="5400000">
            <a:off x="8088868" y="8592597"/>
            <a:ext cx="550257" cy="1560007"/>
          </a:xfrm>
          <a:custGeom>
            <a:avLst/>
            <a:gdLst/>
            <a:ahLst/>
            <a:cxnLst/>
            <a:rect l="l" t="t" r="r" b="b"/>
            <a:pathLst>
              <a:path w="550257" h="1560007">
                <a:moveTo>
                  <a:pt x="0" y="0"/>
                </a:moveTo>
                <a:lnTo>
                  <a:pt x="550257" y="0"/>
                </a:lnTo>
                <a:lnTo>
                  <a:pt x="550257" y="1560006"/>
                </a:lnTo>
                <a:lnTo>
                  <a:pt x="0" y="156000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7" name="AutoShape 17"/>
          <p:cNvSpPr/>
          <p:nvPr/>
        </p:nvSpPr>
        <p:spPr>
          <a:xfrm flipV="1">
            <a:off x="3840480" y="9324975"/>
            <a:ext cx="3246120" cy="0"/>
          </a:xfrm>
          <a:prstGeom prst="line">
            <a:avLst/>
          </a:prstGeom>
          <a:ln w="38100" cap="flat">
            <a:solidFill>
              <a:srgbClr val="000000"/>
            </a:solidFill>
            <a:prstDash val="solid"/>
            <a:headEnd type="none" w="sm" len="sm"/>
            <a:tailEnd type="oval" w="lg" len="lg"/>
          </a:ln>
        </p:spPr>
      </p:sp>
      <p:grpSp>
        <p:nvGrpSpPr>
          <p:cNvPr id="18" name="Group 18"/>
          <p:cNvGrpSpPr/>
          <p:nvPr/>
        </p:nvGrpSpPr>
        <p:grpSpPr>
          <a:xfrm>
            <a:off x="-821310" y="8757161"/>
            <a:ext cx="5282784" cy="1002278"/>
            <a:chOff x="0" y="0"/>
            <a:chExt cx="2142045" cy="406400"/>
          </a:xfrm>
        </p:grpSpPr>
        <p:sp>
          <p:nvSpPr>
            <p:cNvPr id="19" name="Freeform 19"/>
            <p:cNvSpPr/>
            <p:nvPr/>
          </p:nvSpPr>
          <p:spPr>
            <a:xfrm>
              <a:off x="0" y="0"/>
              <a:ext cx="2142045" cy="406400"/>
            </a:xfrm>
            <a:custGeom>
              <a:avLst/>
              <a:gdLst/>
              <a:ahLst/>
              <a:cxnLst/>
              <a:rect l="l" t="t" r="r" b="b"/>
              <a:pathLst>
                <a:path w="2142045" h="406400">
                  <a:moveTo>
                    <a:pt x="1938845" y="0"/>
                  </a:moveTo>
                  <a:cubicBezTo>
                    <a:pt x="2051069" y="0"/>
                    <a:pt x="2142045" y="90976"/>
                    <a:pt x="2142045" y="203200"/>
                  </a:cubicBezTo>
                  <a:cubicBezTo>
                    <a:pt x="2142045" y="315424"/>
                    <a:pt x="2051069" y="406400"/>
                    <a:pt x="1938845" y="406400"/>
                  </a:cubicBezTo>
                  <a:lnTo>
                    <a:pt x="203200" y="406400"/>
                  </a:lnTo>
                  <a:cubicBezTo>
                    <a:pt x="90976" y="406400"/>
                    <a:pt x="0" y="315424"/>
                    <a:pt x="0" y="203200"/>
                  </a:cubicBezTo>
                  <a:cubicBezTo>
                    <a:pt x="0" y="90976"/>
                    <a:pt x="90976" y="0"/>
                    <a:pt x="203200" y="0"/>
                  </a:cubicBezTo>
                  <a:close/>
                </a:path>
              </a:pathLst>
            </a:custGeom>
            <a:solidFill>
              <a:srgbClr val="5E7396"/>
            </a:solidFill>
          </p:spPr>
        </p:sp>
        <p:sp>
          <p:nvSpPr>
            <p:cNvPr id="20" name="TextBox 20"/>
            <p:cNvSpPr txBox="1"/>
            <p:nvPr/>
          </p:nvSpPr>
          <p:spPr>
            <a:xfrm>
              <a:off x="0" y="38100"/>
              <a:ext cx="2142045" cy="368300"/>
            </a:xfrm>
            <a:prstGeom prst="rect">
              <a:avLst/>
            </a:prstGeom>
          </p:spPr>
          <p:txBody>
            <a:bodyPr lIns="50800" tIns="50800" rIns="50800" bIns="50800" rtlCol="0" anchor="ctr"/>
            <a:lstStyle/>
            <a:p>
              <a:pPr algn="ctr">
                <a:lnSpc>
                  <a:spcPts val="2100"/>
                </a:lnSpc>
              </a:pPr>
              <a:endParaRPr/>
            </a:p>
          </p:txBody>
        </p:sp>
      </p:grpSp>
      <p:grpSp>
        <p:nvGrpSpPr>
          <p:cNvPr id="21" name="Group 21"/>
          <p:cNvGrpSpPr/>
          <p:nvPr/>
        </p:nvGrpSpPr>
        <p:grpSpPr>
          <a:xfrm>
            <a:off x="1028700" y="5357696"/>
            <a:ext cx="6555293" cy="953452"/>
            <a:chOff x="0" y="0"/>
            <a:chExt cx="1726497" cy="251115"/>
          </a:xfrm>
        </p:grpSpPr>
        <p:sp>
          <p:nvSpPr>
            <p:cNvPr id="22" name="Freeform 22"/>
            <p:cNvSpPr/>
            <p:nvPr/>
          </p:nvSpPr>
          <p:spPr>
            <a:xfrm>
              <a:off x="0" y="0"/>
              <a:ext cx="1726497" cy="251115"/>
            </a:xfrm>
            <a:custGeom>
              <a:avLst/>
              <a:gdLst/>
              <a:ahLst/>
              <a:cxnLst/>
              <a:rect l="l" t="t" r="r" b="b"/>
              <a:pathLst>
                <a:path w="1726497" h="251115">
                  <a:moveTo>
                    <a:pt x="118102" y="0"/>
                  </a:moveTo>
                  <a:lnTo>
                    <a:pt x="1608395" y="0"/>
                  </a:lnTo>
                  <a:cubicBezTo>
                    <a:pt x="1673621" y="0"/>
                    <a:pt x="1726497" y="52876"/>
                    <a:pt x="1726497" y="118102"/>
                  </a:cubicBezTo>
                  <a:lnTo>
                    <a:pt x="1726497" y="133013"/>
                  </a:lnTo>
                  <a:cubicBezTo>
                    <a:pt x="1726497" y="198239"/>
                    <a:pt x="1673621" y="251115"/>
                    <a:pt x="1608395" y="251115"/>
                  </a:cubicBezTo>
                  <a:lnTo>
                    <a:pt x="118102" y="251115"/>
                  </a:lnTo>
                  <a:cubicBezTo>
                    <a:pt x="52876" y="251115"/>
                    <a:pt x="0" y="198239"/>
                    <a:pt x="0" y="133013"/>
                  </a:cubicBezTo>
                  <a:lnTo>
                    <a:pt x="0" y="118102"/>
                  </a:lnTo>
                  <a:cubicBezTo>
                    <a:pt x="0" y="52876"/>
                    <a:pt x="52876" y="0"/>
                    <a:pt x="118102" y="0"/>
                  </a:cubicBezTo>
                  <a:close/>
                </a:path>
              </a:pathLst>
            </a:custGeom>
            <a:solidFill>
              <a:srgbClr val="C79E76"/>
            </a:solidFill>
          </p:spPr>
        </p:sp>
        <p:sp>
          <p:nvSpPr>
            <p:cNvPr id="23" name="TextBox 23"/>
            <p:cNvSpPr txBox="1"/>
            <p:nvPr/>
          </p:nvSpPr>
          <p:spPr>
            <a:xfrm>
              <a:off x="0" y="-47625"/>
              <a:ext cx="1726497" cy="298740"/>
            </a:xfrm>
            <a:prstGeom prst="rect">
              <a:avLst/>
            </a:prstGeom>
          </p:spPr>
          <p:txBody>
            <a:bodyPr lIns="50800" tIns="50800" rIns="50800" bIns="50800" rtlCol="0" anchor="ctr"/>
            <a:lstStyle/>
            <a:p>
              <a:pPr algn="ctr">
                <a:lnSpc>
                  <a:spcPts val="3359"/>
                </a:lnSpc>
                <a:spcBef>
                  <a:spcPct val="0"/>
                </a:spcBef>
              </a:pPr>
              <a:r>
                <a:rPr lang="en-US" sz="2399">
                  <a:solidFill>
                    <a:srgbClr val="FFFFFF"/>
                  </a:solidFill>
                  <a:latin typeface="Inter"/>
                  <a:ea typeface="Inter"/>
                  <a:cs typeface="Inter"/>
                  <a:sym typeface="Inter"/>
                </a:rPr>
                <a:t>Presented by: Abhishek Kumar Pandey</a:t>
              </a:r>
            </a:p>
          </p:txBody>
        </p:sp>
      </p:grpSp>
      <p:sp>
        <p:nvSpPr>
          <p:cNvPr id="24" name="TextBox 24"/>
          <p:cNvSpPr txBox="1"/>
          <p:nvPr/>
        </p:nvSpPr>
        <p:spPr>
          <a:xfrm>
            <a:off x="1028700" y="9126855"/>
            <a:ext cx="3186739" cy="245745"/>
          </a:xfrm>
          <a:prstGeom prst="rect">
            <a:avLst/>
          </a:prstGeom>
        </p:spPr>
        <p:txBody>
          <a:bodyPr lIns="0" tIns="0" rIns="0" bIns="0" rtlCol="0" anchor="t">
            <a:spAutoFit/>
          </a:bodyPr>
          <a:lstStyle/>
          <a:p>
            <a:pPr algn="l">
              <a:lnSpc>
                <a:spcPts val="1800"/>
              </a:lnSpc>
              <a:spcBef>
                <a:spcPct val="0"/>
              </a:spcBef>
            </a:pPr>
            <a:r>
              <a:rPr lang="en-US" sz="1800">
                <a:solidFill>
                  <a:srgbClr val="FFFFFF"/>
                </a:solidFill>
                <a:latin typeface="Inter"/>
                <a:ea typeface="Inter"/>
                <a:cs typeface="Inter"/>
                <a:sym typeface="Inter"/>
              </a:rPr>
              <a:t>www.scaletrix.ai</a:t>
            </a:r>
          </a:p>
        </p:txBody>
      </p:sp>
      <p:sp>
        <p:nvSpPr>
          <p:cNvPr id="25" name="Freeform 3">
            <a:extLst>
              <a:ext uri="{FF2B5EF4-FFF2-40B4-BE49-F238E27FC236}">
                <a16:creationId xmlns:a16="http://schemas.microsoft.com/office/drawing/2014/main" id="{38D7CEE8-4DB9-C662-D4FB-2B34E2F6C312}"/>
              </a:ext>
            </a:extLst>
          </p:cNvPr>
          <p:cNvSpPr/>
          <p:nvPr/>
        </p:nvSpPr>
        <p:spPr>
          <a:xfrm>
            <a:off x="17316179" y="0"/>
            <a:ext cx="971821" cy="1348740"/>
          </a:xfrm>
          <a:custGeom>
            <a:avLst/>
            <a:gdLst/>
            <a:ahLst/>
            <a:cxnLst/>
            <a:rect l="l" t="t" r="r" b="b"/>
            <a:pathLst>
              <a:path w="1943641" h="1484235">
                <a:moveTo>
                  <a:pt x="0" y="0"/>
                </a:moveTo>
                <a:lnTo>
                  <a:pt x="1943642" y="0"/>
                </a:lnTo>
                <a:lnTo>
                  <a:pt x="1943642" y="1484235"/>
                </a:lnTo>
                <a:lnTo>
                  <a:pt x="0" y="1484235"/>
                </a:lnTo>
                <a:lnTo>
                  <a:pt x="0" y="0"/>
                </a:lnTo>
                <a:close/>
              </a:path>
            </a:pathLst>
          </a:custGeom>
          <a:blipFill>
            <a:blip>
              <a:alphaModFix amt="39000"/>
              <a:extLst>
                <a:ext uri="{96DAC541-7B7A-43D3-8B79-37D633B846F1}">
                  <asvg:svgBlip xmlns:asvg="http://schemas.microsoft.com/office/drawing/2016/SVG/main" r:embed="rId4"/>
                </a:ext>
              </a:extLst>
            </a:blip>
            <a:stretch>
              <a:fillRect t="-10046" r="-100000"/>
            </a:stretch>
          </a:blipFill>
          <a:ln cap="sq">
            <a:noFill/>
            <a:prstDash val="solid"/>
            <a:miter/>
          </a:ln>
        </p:spPr>
      </p:sp>
      <p:sp>
        <p:nvSpPr>
          <p:cNvPr id="26" name="Freeform 4">
            <a:extLst>
              <a:ext uri="{FF2B5EF4-FFF2-40B4-BE49-F238E27FC236}">
                <a16:creationId xmlns:a16="http://schemas.microsoft.com/office/drawing/2014/main" id="{36CA638F-3673-CCEE-9129-9BF955EEF476}"/>
              </a:ext>
            </a:extLst>
          </p:cNvPr>
          <p:cNvSpPr/>
          <p:nvPr/>
        </p:nvSpPr>
        <p:spPr>
          <a:xfrm>
            <a:off x="-16866" y="1348740"/>
            <a:ext cx="677479" cy="613680"/>
          </a:xfrm>
          <a:custGeom>
            <a:avLst/>
            <a:gdLst/>
            <a:ahLst/>
            <a:cxnLst/>
            <a:rect l="l" t="t" r="r" b="b"/>
            <a:pathLst>
              <a:path w="1321225" h="554394">
                <a:moveTo>
                  <a:pt x="0" y="0"/>
                </a:moveTo>
                <a:lnTo>
                  <a:pt x="1321224" y="0"/>
                </a:lnTo>
                <a:lnTo>
                  <a:pt x="1321224" y="554395"/>
                </a:lnTo>
                <a:lnTo>
                  <a:pt x="0" y="554395"/>
                </a:lnTo>
                <a:lnTo>
                  <a:pt x="0" y="0"/>
                </a:lnTo>
                <a:close/>
              </a:path>
            </a:pathLst>
          </a:custGeom>
          <a:blipFill>
            <a:blip>
              <a:extLst>
                <a:ext uri="{96DAC541-7B7A-43D3-8B79-37D633B846F1}">
                  <asvg:svgBlip xmlns:asvg="http://schemas.microsoft.com/office/drawing/2016/SVG/main" r:embed="rId5"/>
                </a:ext>
              </a:extLst>
            </a:blip>
            <a:stretch>
              <a:fillRect l="-95022" t="9661" r="-138520" b="-111177"/>
            </a:stretch>
          </a:blipFill>
        </p:spPr>
      </p:sp>
      <p:sp>
        <p:nvSpPr>
          <p:cNvPr id="27" name="Freeform 5">
            <a:extLst>
              <a:ext uri="{FF2B5EF4-FFF2-40B4-BE49-F238E27FC236}">
                <a16:creationId xmlns:a16="http://schemas.microsoft.com/office/drawing/2014/main" id="{BE59F95C-33F7-D6B9-CB8E-BEFA680110AC}"/>
              </a:ext>
            </a:extLst>
          </p:cNvPr>
          <p:cNvSpPr/>
          <p:nvPr/>
        </p:nvSpPr>
        <p:spPr>
          <a:xfrm>
            <a:off x="17316179" y="9105900"/>
            <a:ext cx="971821" cy="728906"/>
          </a:xfrm>
          <a:custGeom>
            <a:avLst/>
            <a:gdLst/>
            <a:ahLst/>
            <a:cxnLst/>
            <a:rect l="l" t="t" r="r" b="b"/>
            <a:pathLst>
              <a:path w="1864644" h="728906">
                <a:moveTo>
                  <a:pt x="0" y="0"/>
                </a:moveTo>
                <a:lnTo>
                  <a:pt x="1864644" y="0"/>
                </a:lnTo>
                <a:lnTo>
                  <a:pt x="1864644" y="728907"/>
                </a:lnTo>
                <a:lnTo>
                  <a:pt x="0" y="728907"/>
                </a:lnTo>
                <a:lnTo>
                  <a:pt x="0" y="0"/>
                </a:lnTo>
                <a:close/>
              </a:path>
            </a:pathLst>
          </a:custGeom>
          <a:blipFill>
            <a:blip>
              <a:alphaModFix amt="39000"/>
              <a:extLst>
                <a:ext uri="{96DAC541-7B7A-43D3-8B79-37D633B846F1}">
                  <asvg:svgBlip xmlns:asvg="http://schemas.microsoft.com/office/drawing/2016/SVG/main" r:embed="rId6"/>
                </a:ext>
              </a:extLst>
            </a:blip>
            <a:stretch>
              <a:fillRect l="1" r="-91872"/>
            </a:stretch>
          </a:blipFill>
        </p:spPr>
      </p:sp>
      <p:sp>
        <p:nvSpPr>
          <p:cNvPr id="28" name="Freeform 6">
            <a:extLst>
              <a:ext uri="{FF2B5EF4-FFF2-40B4-BE49-F238E27FC236}">
                <a16:creationId xmlns:a16="http://schemas.microsoft.com/office/drawing/2014/main" id="{9D9247EF-75E8-FF74-AEB1-DA92B38B7CD9}"/>
              </a:ext>
            </a:extLst>
          </p:cNvPr>
          <p:cNvSpPr/>
          <p:nvPr/>
        </p:nvSpPr>
        <p:spPr>
          <a:xfrm>
            <a:off x="-16866" y="9258301"/>
            <a:ext cx="971821" cy="1028700"/>
          </a:xfrm>
          <a:custGeom>
            <a:avLst/>
            <a:gdLst/>
            <a:ahLst/>
            <a:cxnLst/>
            <a:rect l="l" t="t" r="r" b="b"/>
            <a:pathLst>
              <a:path w="1909912" h="1878659">
                <a:moveTo>
                  <a:pt x="0" y="0"/>
                </a:moveTo>
                <a:lnTo>
                  <a:pt x="1909912" y="0"/>
                </a:lnTo>
                <a:lnTo>
                  <a:pt x="1909912" y="1878659"/>
                </a:lnTo>
                <a:lnTo>
                  <a:pt x="0" y="1878659"/>
                </a:lnTo>
                <a:lnTo>
                  <a:pt x="0" y="0"/>
                </a:lnTo>
                <a:close/>
              </a:path>
            </a:pathLst>
          </a:custGeom>
          <a:blipFill>
            <a:blip>
              <a:alphaModFix amt="38000"/>
              <a:extLst>
                <a:ext uri="{96DAC541-7B7A-43D3-8B79-37D633B846F1}">
                  <asvg:svgBlip xmlns:asvg="http://schemas.microsoft.com/office/drawing/2016/SVG/main" r:embed="rId7"/>
                </a:ext>
              </a:extLst>
            </a:blip>
            <a:stretch>
              <a:fillRect l="-96529" b="-82625"/>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1515</Words>
  <Application>Microsoft Office PowerPoint</Application>
  <PresentationFormat>Custom</PresentationFormat>
  <Paragraphs>301</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Neue Machina Ultra-Bold</vt:lpstr>
      <vt:lpstr>Arial</vt:lpstr>
      <vt:lpstr>Inter</vt:lpstr>
      <vt:lpstr>Inter Italics</vt:lpstr>
      <vt:lpstr>Inter Bold</vt:lpstr>
      <vt:lpstr>Inter Bold Italics</vt:lpstr>
      <vt:lpstr>Calibri</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www.scaletrix.ai</dc:title>
  <cp:lastModifiedBy>Abhishek Kumar Pandey</cp:lastModifiedBy>
  <cp:revision>3</cp:revision>
  <dcterms:created xsi:type="dcterms:W3CDTF">2006-08-16T00:00:00Z</dcterms:created>
  <dcterms:modified xsi:type="dcterms:W3CDTF">2026-04-30T12:24:55Z</dcterms:modified>
  <dc:identifier>DAHICNJTCnE</dc:identifier>
</cp:coreProperties>
</file>